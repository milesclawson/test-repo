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Warrior Prep Teacher Slide Deck.</a:t>
            </a:r>
          </a:p>
          <a:p/>
          <a:p>
            <a:r>
              <a:t>This deck is organized by unit and lesson. Each lesson follows the same structure:</a:t>
            </a:r>
          </a:p>
          <a:p>
            <a:r>
              <a:t>1. Lesson title &amp; objectives</a:t>
            </a:r>
          </a:p>
          <a:p>
            <a:r>
              <a:t>2. Reading (text on screen)</a:t>
            </a:r>
          </a:p>
          <a:p>
            <a:r>
              <a:t>3. Comprehension questions</a:t>
            </a:r>
          </a:p>
          <a:p>
            <a:r>
              <a:t>4. Teaching content slides</a:t>
            </a:r>
          </a:p>
          <a:p>
            <a:r>
              <a:t>5. Activity slides (with the activity on screen for projection)</a:t>
            </a:r>
          </a:p>
          <a:p>
            <a:r>
              <a:t>6. Exit ticket</a:t>
            </a:r>
          </a:p>
          <a:p/>
          <a:p>
            <a:r>
              <a:t>All teacher notes include talk tracks — suggested language, facilitation tips, and differentiation ideas.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1 OVERVIEW SLIDE</a:t>
            </a:r>
          </a:p>
          <a:p/>
          <a:p>
            <a:r>
              <a:t>SAY: 'We're starting Unit 1: Executive Functioning. Before we dive in, let me read the overview with you.'</a:t>
            </a:r>
          </a:p>
          <a:p/>
          <a:p>
            <a:r>
              <a:t>Read the overview paragraph aloud. Then say: 'Let's look at the vocabulary we'll be building in this unit. Some of these words you may have heard before — some may be new. Pay attention to the etymology column on your notes pages. The word roots help you understand the meaning AND help you decode other words with the same roots.'</a:t>
            </a:r>
          </a:p>
          <a:p/>
          <a:p>
            <a:r>
              <a:t>PREVIEW QUESTION: Ask students to predict which of these vocabulary words they think will be most challenging — and why. Quick pair-share.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VOCABULARY DEEP DIVE</a:t>
            </a:r>
          </a:p>
          <a:p/>
          <a:p>
            <a:r>
              <a:t>Walk through each word slowly. For each one:</a:t>
            </a:r>
          </a:p>
          <a:p>
            <a:r>
              <a:t>1. Read the word aloud — have students repeat it.</a:t>
            </a:r>
          </a:p>
          <a:p>
            <a:r>
              <a:t>2. Break down the etymology. Say: 'Look at the roots in this word. Does anyone know another word with the same root?'</a:t>
            </a:r>
          </a:p>
          <a:p>
            <a:r>
              <a:t>3. Read the definition. Ask: 'Put this in your own words.'</a:t>
            </a:r>
          </a:p>
          <a:p/>
          <a:p>
            <a:r>
              <a:t>MORPHOLOGY TIP: Point out patterns across the unit — e.g., Latin roots that appear in multiple words. Students who learn roots can decode thousands of academic words they've never seen.</a:t>
            </a:r>
          </a:p>
          <a:p/>
          <a:p>
            <a:r>
              <a:t>Have students write ALL words in their Cornell Notes vocabulary box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PRE-TEST — Unit 1</a:t>
            </a:r>
          </a:p>
          <a:p/>
          <a:p>
            <a:r>
              <a:t>SAY: 'Open your workbook to the Unit 1 pre-test page. Answer as completely as you can. This is NOT graded for correctness — it is a snapshot of where you start. Be honest — a blank answer is more useful than a guess.'</a:t>
            </a:r>
          </a:p>
          <a:p/>
          <a:p>
            <a:r>
              <a:t>TIME: 8-10 minutes. Circulate but do not help with content.</a:t>
            </a:r>
          </a:p>
          <a:p/>
          <a:p>
            <a:r>
              <a:t>AFTER: Collect or have students hold their pre-tests. You will return to them at the end of the unit to compare. Quickly preview the unit: 'Here is what we will be able to answer confidently by the end of this unit...'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1.1: What Is Executive Functioning?</a:t>
            </a:r>
          </a:p>
          <a:p/>
          <a:p>
            <a:r>
              <a:t>TYPE: Launch</a:t>
            </a:r>
          </a:p>
          <a:p/>
          <a:p>
            <a:r>
              <a:t>WHY THIS BELL RINGER: Launches Unit 1 by surfacing a real experience of inhibitory control — the exact EF skill we name and define today.</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Pair-share (1 min) → cold-call 2 students</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1.1: What Is Executive Functioning?</a:t>
            </a:r>
          </a:p>
          <a:p/>
          <a:p>
            <a:r>
              <a:t>50-MINUTE BREAKDOWN:</a:t>
            </a:r>
          </a:p>
          <a:p>
            <a:r>
              <a:t>  • Bell Ringer: 5 min</a:t>
            </a:r>
          </a:p>
          <a:p>
            <a:r>
              <a:t>  • Intro &amp; Objectives: 3 min</a:t>
            </a:r>
          </a:p>
          <a:p>
            <a:r>
              <a:t>  • Reading: 10 min</a:t>
            </a:r>
          </a:p>
          <a:p>
            <a:r>
              <a:t>  • Comprehension Questions: 7 min</a:t>
            </a:r>
          </a:p>
          <a:p>
            <a:r>
              <a:t>  • Teaching Content: 10 min</a:t>
            </a:r>
          </a:p>
          <a:p>
            <a:r>
              <a:t>  • Activity: 10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1.1.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1: Level 1 — Heavy scaffold (most notes provided)</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'The CEO of Your Brain'</a:t>
            </a:r>
          </a:p>
          <a:p/>
          <a:p>
            <a:r>
              <a:t>SAY: 'Turn to the reading page in your workbook — it's right after the Cornell Notes page. Today's reading is about The CEO of Your Brain.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'The CEO of Your Brain'</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1.1</a:t>
            </a:r>
          </a:p>
          <a:p/>
          <a:p>
            <a:r>
              <a:t>Primary: "Building the Brain's Air Traffic Control System" — Harvard Center on the Developing Child (2 min)</a:t>
            </a:r>
          </a:p>
          <a:p>
            <a:r>
              <a:t>URL: https://www.youtube.com/results?search_query=Building+the+Brain%27s+Air+Traffic+Control+System+Harvard</a:t>
            </a:r>
          </a:p>
          <a:p/>
          <a:p>
            <a:r>
              <a:t>Alt option: "Executive Function 101" — Crash Course Study Skills</a:t>
            </a:r>
          </a:p>
          <a:p>
            <a:r>
              <a:t>URL: https://www.youtube.com/results?search_query=crash+course+study+skills+executive+function</a:t>
            </a:r>
          </a:p>
          <a:p/>
          <a:p>
            <a:r>
              <a:t>WATCH-FOR PROMPT: Notice how they describe the prefrontal cortex and what 'executive function' actually controls.</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Group Chat at 11:47 PM"</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'The CEO of Your Brain'</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often think EF is about intelligence — it's not. It's about habits and strategies.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'EF Self-Assessment'</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often think EF is about intelligence — it's not. It's about habits and strategies.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EF Self-Assessment</a:t>
            </a:r>
          </a:p>
          <a:p/>
          <a:p>
            <a:r>
              <a:t>TIME: 10 minutes</a:t>
            </a:r>
          </a:p>
          <a:p/>
          <a:p>
            <a:r>
              <a:t>SETUP: Read the directions aloud. Clarify before students begin. Circulate during the activity.</a:t>
            </a:r>
          </a:p>
          <a:p/>
          <a:p>
            <a:r>
              <a:t>FACILITATION:</a:t>
            </a:r>
          </a:p>
          <a:p>
            <a:r>
              <a:t>Walk the room — encourage honest ratings, not inflated ones. After 4 minutes, cold-call: 'Who rated themselves a 2 or lower on one of these? What does that area look like for you?'</a:t>
            </a:r>
          </a:p>
          <a:p/>
          <a:p>
            <a:r>
              <a:t>DEBRIEF: Ask: 'What was your lowest rating? What does that tell you about where to focus first in this unit?'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1.1</a:t>
            </a:r>
          </a:p>
          <a:p/>
          <a:p>
            <a:r>
              <a:t>Format: Quick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1.2: Organization &amp; Planning</a:t>
            </a:r>
          </a:p>
          <a:p/>
          <a:p>
            <a:r>
              <a:t>TYPE: Review</a:t>
            </a:r>
          </a:p>
          <a:p/>
          <a:p>
            <a:r>
              <a:t>WHY THIS BELL RINGER: Retrieves lesson 1.1 vocabulary. Ranking requires students to apply, not just recall — sets up today's prioritization work.</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Thumbs up when ready → cold-call 1 student per skill</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1.2: Organization &amp; Planning</a:t>
            </a:r>
          </a:p>
          <a:p/>
          <a:p>
            <a:r>
              <a:t>50-MINUTE BREAKDOWN:</a:t>
            </a:r>
          </a:p>
          <a:p>
            <a:r>
              <a:t>  • Bell Ringer: 5 min</a:t>
            </a:r>
          </a:p>
          <a:p>
            <a:r>
              <a:t>  • Intro &amp; Objectives: 3 min</a:t>
            </a:r>
          </a:p>
          <a:p>
            <a:r>
              <a:t>  • Reading: 10 min</a:t>
            </a:r>
          </a:p>
          <a:p>
            <a:r>
              <a:t>  • Comprehension Questions: 7 min</a:t>
            </a:r>
          </a:p>
          <a:p>
            <a:r>
              <a:t>  • Teaching Content: 8 min</a:t>
            </a:r>
          </a:p>
          <a:p>
            <a:r>
              <a:t>  • Activity: 12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1.2.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1: Level 1 — Heavy scaffold (most notes provided)</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'The Art of Getting Things Done: Organization and Prioritization'</a:t>
            </a:r>
          </a:p>
          <a:p/>
          <a:p>
            <a:r>
              <a:t>SAY: 'Turn to the reading page in your workbook — it's right after the Cornell Notes page. Today's reading is about The Art of Getting Things Done: Organization and Prioritization.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'The Art of Getting Things Done: Organization and Prioritization'</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1.2</a:t>
            </a:r>
          </a:p>
          <a:p/>
          <a:p>
            <a:r>
              <a:t>Primary: "The Eisenhower Matrix — How to Manage Your Tasks" — Sprouts (4 min)</a:t>
            </a:r>
          </a:p>
          <a:p>
            <a:r>
              <a:t>URL: https://www.youtube.com/results?search_query=Eisenhower+Matrix+explained+Sprouts</a:t>
            </a:r>
          </a:p>
          <a:p/>
          <a:p>
            <a:r>
              <a:t>Alt option: "How to Plan Your Week Effectively" — Thomas Frank</a:t>
            </a:r>
          </a:p>
          <a:p>
            <a:r>
              <a:t>URL: https://www.youtube.com/results?search_query=Thomas+Frank+how+to+plan+your+week+effectively</a:t>
            </a:r>
          </a:p>
          <a:p/>
          <a:p>
            <a:r>
              <a:t>WATCH-FOR PROMPT: Pay attention to how they categorize tasks — which quadrant surprises you most?</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Stack"</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'Urgent vs. Important — What's the Difference?'</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often confuse 'urgent' and 'important.' Many urgent things are not actually important.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'Practice: Sort Your Tasks'</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often confuse 'urgent' and 'important.' Many urgent things are not actually important.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Eisenhower Matrix</a:t>
            </a:r>
          </a:p>
          <a:p/>
          <a:p>
            <a:r>
              <a:t>TIME: 12 minutes</a:t>
            </a:r>
          </a:p>
          <a:p/>
          <a:p>
            <a:r>
              <a:t>SETUP: Students will need to draw the matrix in their workbook (a large open area is provided). Consider drawing it on the board first so students can see the structure.</a:t>
            </a:r>
          </a:p>
          <a:p/>
          <a:p>
            <a:r>
              <a:t>FACILITATION:</a:t>
            </a:r>
          </a:p>
          <a:p>
            <a:r>
              <a:t>Circulate during sorting. Common mistakes: students put everything in 'Urgent + Important.' Help them distinguish urgency from importance.</a:t>
            </a:r>
          </a:p>
          <a:p/>
          <a:p>
            <a:r>
              <a:t>DEBRIEF: Compare matrices: Do partners agree on every task? Where did you disagree — and why? Connect back to the reading: what does this tell you about how you currently use your time?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'Planner Set-Up'</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often confuse 'urgent' and 'important.' Many urgent things are not actually important.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1.2</a:t>
            </a:r>
          </a:p>
          <a:p/>
          <a:p>
            <a:r>
              <a:t>Format: Rating Scale + Reflection</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1.3: Working Memory &amp; Focus</a:t>
            </a:r>
          </a:p>
          <a:p/>
          <a:p>
            <a:r>
              <a:t>TYPE: Anticipation</a:t>
            </a:r>
          </a:p>
          <a:p/>
          <a:p>
            <a:r>
              <a:t>WHY THIS BELL RINGER: Creates productive cognitive conflict before the lesson on multitasking and working memory.</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Show of hands Agree/Disagree → brief debate (don't confirm yet — the reading will)</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1.3: Working Memory &amp; Focus</a:t>
            </a:r>
          </a:p>
          <a:p/>
          <a:p>
            <a:r>
              <a:t>50-MINUTE BREAKDOWN:</a:t>
            </a:r>
          </a:p>
          <a:p>
            <a:r>
              <a:t>  • Bell Ringer: 5 min</a:t>
            </a:r>
          </a:p>
          <a:p>
            <a:r>
              <a:t>  • Intro &amp; Objectives: 3 min</a:t>
            </a:r>
          </a:p>
          <a:p>
            <a:r>
              <a:t>  • Reading: 10 min</a:t>
            </a:r>
          </a:p>
          <a:p>
            <a:r>
              <a:t>  • Comprehension Questions: 7 min</a:t>
            </a:r>
          </a:p>
          <a:p>
            <a:r>
              <a:t>  • Teaching Content: 10 min</a:t>
            </a:r>
          </a:p>
          <a:p>
            <a:r>
              <a:t>  • Activity: 10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1.3.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2: Level 2 — Partial scaffold (key notes provided)</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'Your Brain Is Not a Multitasker'</a:t>
            </a:r>
          </a:p>
          <a:p/>
          <a:p>
            <a:r>
              <a:t>SAY: 'Turn to the reading page in your workbook — it's right after the Cornell Notes page. Today's reading is about Your Brain Is Not a Multitasker.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'Your Brain Is Not a Multitasker'</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1.3</a:t>
            </a:r>
          </a:p>
          <a:p/>
          <a:p>
            <a:r>
              <a:t>Primary: "Multitasking Is a Myth — Your Brain on Distraction" — National Geographic (3 min)</a:t>
            </a:r>
          </a:p>
          <a:p>
            <a:r>
              <a:t>URL: https://www.youtube.com/results?search_query=multitasking+myth+brain+neuroscience+national+geographic</a:t>
            </a:r>
          </a:p>
          <a:p/>
          <a:p>
            <a:r>
              <a:t>Alt option: "Deep Work — Do Hard Things" — Cal Newport / TED</a:t>
            </a:r>
          </a:p>
          <a:p>
            <a:r>
              <a:t>URL: https://www.youtube.com/results?search_query=cal+newport+deep+work+TEDx+focus</a:t>
            </a:r>
          </a:p>
          <a:p/>
          <a:p>
            <a:r>
              <a:t>WATCH-FOR PROMPT: Watch for the experiment showing what happens to brain activity during task-switching.</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"Two Tabs"</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'The 40% Cost of Multitasking'</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Many students believe they CAN multitask effectively. The research is clear: they cannot.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'Distraction Audit'</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Many students believe they CAN multitask effectively. The research is clear: they cannot.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Distraction Audit</a:t>
            </a:r>
          </a:p>
          <a:p/>
          <a:p>
            <a:r>
              <a:t>TIME: 10 minutes</a:t>
            </a:r>
          </a:p>
          <a:p/>
          <a:p>
            <a:r>
              <a:t>SETUP: Read the directions aloud. Clarify before students begin. Circulate during the activity.</a:t>
            </a:r>
          </a:p>
          <a:p/>
          <a:p>
            <a:r>
              <a:t>FACILITATION:</a:t>
            </a:r>
          </a:p>
          <a:p>
            <a:r>
              <a:t>Some students may not want to admit to social media distraction — normalize it. Say: 'Most adults have this problem too. The point is to build awareness, not shame.'</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1.3</a:t>
            </a:r>
          </a:p>
          <a:p/>
          <a:p>
            <a:r>
              <a:t>Format: 3-2-1 Reflection</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1.4: Self-Regulation &amp; Goal-Setting</a:t>
            </a:r>
          </a:p>
          <a:p/>
          <a:p>
            <a:r>
              <a:t>TYPE: Review</a:t>
            </a:r>
          </a:p>
          <a:p/>
          <a:p>
            <a:r>
              <a:t>WHY THIS BELL RINGER: Final vocabulary consolidation before the SMART goal lesson — students will use all four terms in their goal-setting work.</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Partner check — compare definitions and agree on one shared version</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1.4: Self-Regulation &amp; Goal-Setting</a:t>
            </a:r>
          </a:p>
          <a:p/>
          <a:p>
            <a:r>
              <a:t>50-MINUTE BREAKDOWN:</a:t>
            </a:r>
          </a:p>
          <a:p>
            <a:r>
              <a:t>  • Bell Ringer: 5 min</a:t>
            </a:r>
          </a:p>
          <a:p>
            <a:r>
              <a:t>  • Intro &amp; Objectives: 3 min</a:t>
            </a:r>
          </a:p>
          <a:p>
            <a:r>
              <a:t>  • Reading: 10 min</a:t>
            </a:r>
          </a:p>
          <a:p>
            <a:r>
              <a:t>  • Comprehension Questions: 6 min</a:t>
            </a:r>
          </a:p>
          <a:p>
            <a:r>
              <a:t>  • Teaching Content: 8 min</a:t>
            </a:r>
          </a:p>
          <a:p>
            <a:r>
              <a:t>  • Activity: 13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1.4.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2: Level 2 — Partial scaffold (key notes provided)</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'The Science of Willpower — and Why Goals Beat Willpower Every Time'</a:t>
            </a:r>
          </a:p>
          <a:p/>
          <a:p>
            <a:r>
              <a:t>SAY: 'Turn to the reading page in your workbook — it's right after the Cornell Notes page. Today's reading is about The Science of Willpower — and Why Goals Beat Willpower Every Time.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'The Science of Willpower — and Why Goals Beat Willpower Every Time'</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1.4</a:t>
            </a:r>
          </a:p>
          <a:p/>
          <a:p>
            <a:r>
              <a:t>Primary: "Grit: The Power of Passion and Perseverance" — TED (Angela Duckworth) (6 min)</a:t>
            </a:r>
          </a:p>
          <a:p>
            <a:r>
              <a:t>URL: https://www.youtube.com/results?search_query=Angela+Duckworth+grit+power+passion+perseverance+TED</a:t>
            </a:r>
          </a:p>
          <a:p/>
          <a:p>
            <a:r>
              <a:t>Alt option: "The Marshmallow Test — Self-Control" — SciShow Psych</a:t>
            </a:r>
          </a:p>
          <a:p>
            <a:r>
              <a:t>URL: https://www.youtube.com/results?search_query=marshmallow+test+self+control+science+explained</a:t>
            </a:r>
          </a:p>
          <a:p/>
          <a:p>
            <a:r>
              <a:t>WATCH-FOR PROMPT: What does Duckworth say is MORE important than talent? Do you agree?</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Goal That Wasn't"</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'The Marshmallow Test — and What It Really Means'</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often think willpower is the key to self-regulation. The evidence shows strategies matter far more.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'Write Your SMART Goal'</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often think willpower is the key to self-regulation. The evidence shows strategies matter far more.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Write Your SMART Goal</a:t>
            </a:r>
          </a:p>
          <a:p/>
          <a:p>
            <a:r>
              <a:t>TIME: 13 minutes</a:t>
            </a:r>
          </a:p>
          <a:p/>
          <a:p>
            <a:r>
              <a:t>SETUP: Read the directions aloud. Clarify before students begin. Circulate during the activity.</a:t>
            </a:r>
          </a:p>
          <a:p/>
          <a:p>
            <a:r>
              <a:t>FACILITATION:</a:t>
            </a:r>
          </a:p>
          <a:p>
            <a:r>
              <a:t>The most common problem: vague goals. If you see 'I want to be more organized,' push back: 'What does organized look like? How will you measure it? By when?'</a:t>
            </a:r>
          </a:p>
          <a:p/>
          <a:p>
            <a:r>
              <a:t>DEBRIEF: Partners share goals. The listener's job: identify which SMART elements are strong and which need more specificity.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1.4</a:t>
            </a:r>
          </a:p>
          <a:p/>
          <a:p>
            <a:r>
              <a:t>Format: Vocabulary Check</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POST-TEST — Unit 1</a:t>
            </a:r>
          </a:p>
          <a:p/>
          <a:p>
            <a:r>
              <a:t>SAY: 'Before you write, spend 2 minutes flipping through your Cornell Notes and reading pages from this unit. This is an open-notes assessment.'</a:t>
            </a:r>
          </a:p>
          <a:p/>
          <a:p>
            <a:r>
              <a:t>TIME: 12-15 minutes for writing, 3 minutes for growth comparison.</a:t>
            </a:r>
          </a:p>
          <a:p/>
          <a:p>
            <a:r>
              <a:t>GROWTH CHECK: This is one of the most powerful moments in the unit. Have students physically flip back to their pre-test and identify 3 specific things that changed. Ask 2-3 students to share what changed for them.</a:t>
            </a:r>
          </a:p>
          <a:p/>
          <a:p>
            <a:r>
              <a:t>ASSESSMENT: Score on: vocabulary use (correct, not just mentioned), specificity (real examples, not vague claims), and connection to personal plan.</a:t>
            </a:r>
          </a:p>
          <a:p/>
          <a:p>
            <a:r>
              <a:t>TRANSITION: Say 'Great work on Unit 1. Let's take everything we learned and carry it into Unit 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2 OVERVIEW SLIDE</a:t>
            </a:r>
          </a:p>
          <a:p/>
          <a:p>
            <a:r>
              <a:t>SAY: 'We're starting Unit 2: Career Pathways at Two Rivers. Before we dive in, let me read the overview with you.'</a:t>
            </a:r>
          </a:p>
          <a:p/>
          <a:p>
            <a:r>
              <a:t>Read the overview paragraph aloud. Then say: 'Let's look at the vocabulary we'll be building in this unit. Some of these words you may have heard before — some may be new. Pay attention to the etymology column on your notes pages. The word roots help you understand the meaning AND help you decode other words with the same roots.'</a:t>
            </a:r>
          </a:p>
          <a:p/>
          <a:p>
            <a:r>
              <a:t>PREVIEW QUESTION: Ask students to predict which of these vocabulary words they think will be most challenging — and why. Quick pair-share.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VOCABULARY DEEP DIVE</a:t>
            </a:r>
          </a:p>
          <a:p/>
          <a:p>
            <a:r>
              <a:t>Walk through each word slowly. For each one:</a:t>
            </a:r>
          </a:p>
          <a:p>
            <a:r>
              <a:t>1. Read the word aloud — have students repeat it.</a:t>
            </a:r>
          </a:p>
          <a:p>
            <a:r>
              <a:t>2. Break down the etymology. Say: 'Look at the roots in this word. Does anyone know another word with the same root?'</a:t>
            </a:r>
          </a:p>
          <a:p>
            <a:r>
              <a:t>3. Read the definition. Ask: 'Put this in your own words.'</a:t>
            </a:r>
          </a:p>
          <a:p/>
          <a:p>
            <a:r>
              <a:t>MORPHOLOGY TIP: Point out patterns across the unit — e.g., Latin roots that appear in multiple words. Students who learn roots can decode thousands of academic words they've never seen.</a:t>
            </a:r>
          </a:p>
          <a:p/>
          <a:p>
            <a:r>
              <a:t>Have students write ALL words in their Cornell Notes vocabulary box now.</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PRE-TEST — Unit 2</a:t>
            </a:r>
          </a:p>
          <a:p/>
          <a:p>
            <a:r>
              <a:t>SAY: 'Open your workbook to the Unit 2 pre-test page. Answer as completely as you can. This is NOT graded for correctness — it is a snapshot of where you start. Be honest — a blank answer is more useful than a guess.'</a:t>
            </a:r>
          </a:p>
          <a:p/>
          <a:p>
            <a:r>
              <a:t>TIME: 8-10 minutes. Circulate but do not help with content.</a:t>
            </a:r>
          </a:p>
          <a:p/>
          <a:p>
            <a:r>
              <a:t>AFTER: Collect or have students hold their pre-tests. You will return to them at the end of the unit to compare. Quickly preview the unit: 'Here is what we will be able to answer confidently by the end of this unit...'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2.1: Minnesota Career Fields &amp; Pathways</a:t>
            </a:r>
          </a:p>
          <a:p/>
          <a:p>
            <a:r>
              <a:t>TYPE: Launch</a:t>
            </a:r>
          </a:p>
          <a:p/>
          <a:p>
            <a:r>
              <a:t>WHY THIS BELL RINGER: Surfaces prior knowledge and reveals what students already understand (or misunderstand) about the connection between school and careers — frames Unit 2.</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Table share (1 min) → 3 volunteers share out</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2.1: Minnesota Career Fields &amp; Pathways</a:t>
            </a:r>
          </a:p>
          <a:p/>
          <a:p>
            <a:r>
              <a:t>50-MINUTE BREAKDOWN:</a:t>
            </a:r>
          </a:p>
          <a:p>
            <a:r>
              <a:t>  • Bell Ringer: 5 min</a:t>
            </a:r>
          </a:p>
          <a:p>
            <a:r>
              <a:t>  • Intro &amp; Objectives: 3 min</a:t>
            </a:r>
          </a:p>
          <a:p>
            <a:r>
              <a:t>  • Reading: 10 min</a:t>
            </a:r>
          </a:p>
          <a:p>
            <a:r>
              <a:t>  • Comprehension Questions: 7 min</a:t>
            </a:r>
          </a:p>
          <a:p>
            <a:r>
              <a:t>  • Teaching Content: 8 min</a:t>
            </a:r>
          </a:p>
          <a:p>
            <a:r>
              <a:t>  • Activity: 12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2.1.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2: Level 2 — Partial scaffold (key notes provided)</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'Finding Your Path: Minnesota's Career Fields and What They Mean for You'</a:t>
            </a:r>
          </a:p>
          <a:p/>
          <a:p>
            <a:r>
              <a:t>SAY: 'Turn to the reading page in your workbook — it's right after the Cornell Notes page. Today's reading is about Finding Your Path: Minnesota's Career Fields and What They Mean for You.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'Finding Your Path: Minnesota's Career Fields and What They Mean for You'</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2.1</a:t>
            </a:r>
          </a:p>
          <a:p/>
          <a:p>
            <a:r>
              <a:t>Primary: "Minnesota Career Pathways — What's Your Direction?" — Minnesota Department of Education (4 min)</a:t>
            </a:r>
          </a:p>
          <a:p>
            <a:r>
              <a:t>URL: https://www.youtube.com/results?search_query=Minnesota+career+fields+clusters+pathways+MDE+students</a:t>
            </a:r>
          </a:p>
          <a:p/>
          <a:p>
            <a:r>
              <a:t>Alt option: "How to Choose a Career (That You'll Actually Love)" — Big Think</a:t>
            </a:r>
          </a:p>
          <a:p>
            <a:r>
              <a:t>URL: https://www.youtube.com/results?search_query=how+to+choose+a+career+you+love+big+think</a:t>
            </a:r>
          </a:p>
          <a:p/>
          <a:p>
            <a:r>
              <a:t>WATCH-FOR PROMPT: Which of the six career fields do you hear described in a way you hadn't considered?</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"What Do You Want to Be"</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'Reading: Minnesota Career Fields at Two Rivers'</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sometimes think career fields are rigid boxes — they are organizing tools, not limitations.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'Activity: Career Field Inventory'</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sometimes think career fields are rigid boxes — they are organizing tools, not limitations.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Career Field Inventory</a:t>
            </a:r>
          </a:p>
          <a:p/>
          <a:p>
            <a:r>
              <a:t>TIME: 12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Quick poll: How many gave a 5 to Engineering? Health Sciences? Business? etc. Ask one student from each field to share one career they listed.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2.1</a:t>
            </a:r>
          </a:p>
          <a:p/>
          <a:p>
            <a:r>
              <a:t>Format: Quick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2.2: STEM &amp; Health Pathways at TRHS</a:t>
            </a:r>
          </a:p>
          <a:p/>
          <a:p>
            <a:r>
              <a:t>TYPE: Review</a:t>
            </a:r>
          </a:p>
          <a:p/>
          <a:p>
            <a:r>
              <a:t>WHY THIS BELL RINGER: Retrieves lesson 2.1 content. Sets up today's focus on engineering/health pathways and the CAPS programs.</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Compare with a partner — fill in anything you missed</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2.2: STEM &amp; Health Pathways at TRHS</a:t>
            </a:r>
          </a:p>
          <a:p/>
          <a:p>
            <a:r>
              <a:t>50-MINUTE BREAKDOWN:</a:t>
            </a:r>
          </a:p>
          <a:p>
            <a:r>
              <a:t>  • Bell Ringer: 5 min</a:t>
            </a:r>
          </a:p>
          <a:p>
            <a:r>
              <a:t>  • Intro &amp; Objectives: 3 min</a:t>
            </a:r>
          </a:p>
          <a:p>
            <a:r>
              <a:t>  • Reading: 10 min</a:t>
            </a:r>
          </a:p>
          <a:p>
            <a:r>
              <a:t>  • Comprehension Questions: 7 min</a:t>
            </a:r>
          </a:p>
          <a:p>
            <a:r>
              <a:t>  • Teaching Content: 10 min</a:t>
            </a:r>
          </a:p>
          <a:p>
            <a:r>
              <a:t>  • Activity: 10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2.2.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2: Level 2 — Partial scaffold (key notes provided)</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'Building and Healing: STEM and Health Pathways at Two Rivers'</a:t>
            </a:r>
          </a:p>
          <a:p/>
          <a:p>
            <a:r>
              <a:t>SAY: 'Turn to the reading page in your workbook — it's right after the Cornell Notes page. Today's reading is about Building and Healing: STEM and Health Pathways at Two Rivers.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'Building and Healing: STEM and Health Pathways at Two Rivers'</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2.2</a:t>
            </a:r>
          </a:p>
          <a:p/>
          <a:p>
            <a:r>
              <a:t>Primary: "A Day in the Life — Skilled Trades &amp; Healthcare Careers" — CareerOneStop (U.S. Department of Labor) (5 min)</a:t>
            </a:r>
          </a:p>
          <a:p>
            <a:r>
              <a:t>URL: https://www.youtube.com/results?search_query=CareerOneStop+skilled+trades+healthcare+day+in+the+life</a:t>
            </a:r>
          </a:p>
          <a:p/>
          <a:p>
            <a:r>
              <a:t>Alt option: "Why Trades Are the Best Kept Secret in America" — Mike Rowe / TED</a:t>
            </a:r>
          </a:p>
          <a:p>
            <a:r>
              <a:t>URL: https://www.youtube.com/results?search_query=Mike+Rowe+skilled+trades+TED+talk</a:t>
            </a:r>
          </a:p>
          <a:p/>
          <a:p>
            <a:r>
              <a:t>WATCH-FOR PROMPT: What surprised you about what these workers actually do day-to-day?</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Video"</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'Reading: Course Descriptions from the Planning Guide'</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assume CAPS programs are only for students who already know exactly what they want to do.</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'Activity: Course Connection Chart'</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assume CAPS programs are only for students who already know exactly what they want to do.</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Course Connection Chart</a:t>
            </a:r>
          </a:p>
          <a:p/>
          <a:p>
            <a:r>
              <a:t>TIME: 10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2.2</a:t>
            </a:r>
          </a:p>
          <a:p/>
          <a:p>
            <a:r>
              <a:t>Format: Sentence Stems</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2.3: Arts, Business &amp; Human Services Pathways</a:t>
            </a:r>
          </a:p>
          <a:p/>
          <a:p>
            <a:r>
              <a:t>TYPE: Anticipation</a:t>
            </a:r>
          </a:p>
          <a:p/>
          <a:p>
            <a:r>
              <a:t>WHY THIS BELL RINGER: Challenges assumptions about arts/communication careers before the lesson expands what students think is possible in those fields.</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Pair-share → 2 volunteers</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2.3: Arts, Business &amp; Human Services Pathways</a:t>
            </a:r>
          </a:p>
          <a:p/>
          <a:p>
            <a:r>
              <a:t>50-MINUTE BREAKDOWN:</a:t>
            </a:r>
          </a:p>
          <a:p>
            <a:r>
              <a:t>  • Bell Ringer: 5 min</a:t>
            </a:r>
          </a:p>
          <a:p>
            <a:r>
              <a:t>  • Intro &amp; Objectives: 3 min</a:t>
            </a:r>
          </a:p>
          <a:p>
            <a:r>
              <a:t>  • Reading: 10 min</a:t>
            </a:r>
          </a:p>
          <a:p>
            <a:r>
              <a:t>  • Comprehension Questions: 7 min</a:t>
            </a:r>
          </a:p>
          <a:p>
            <a:r>
              <a:t>  • Teaching Content: 10 min</a:t>
            </a:r>
          </a:p>
          <a:p>
            <a:r>
              <a:t>  • Activity: 10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2.3.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3: Level 3 — Light scaffold (guiding questions only)</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'Create, Connect, Lead: Arts, Business, and Human Services at Two Rivers'</a:t>
            </a:r>
          </a:p>
          <a:p/>
          <a:p>
            <a:r>
              <a:t>SAY: 'Turn to the reading page in your workbook — it's right after the Cornell Notes page. Today's reading is about Create, Connect, Lead: Arts, Business, and Human Services at Two Rivers.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'Create, Connect, Lead: Arts, Business, and Human Services at Two Rivers'</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2.3</a:t>
            </a:r>
          </a:p>
          <a:p/>
          <a:p>
            <a:r>
              <a:t>Primary: "Careers in Tech, Arts, and Business — What Do They Pay?" — CareerOneStop (U.S. Department of Labor) (4 min)</a:t>
            </a:r>
          </a:p>
          <a:p>
            <a:r>
              <a:t>URL: https://www.youtube.com/results?search_query=CareerOneStop+careers+arts+business+technology+salary</a:t>
            </a:r>
          </a:p>
          <a:p/>
          <a:p>
            <a:r>
              <a:t>Alt option: "Computer Science Is Changing Everything" — Code.org</a:t>
            </a:r>
          </a:p>
          <a:p>
            <a:r>
              <a:t>URL: https://www.youtube.com/results?search_query=code.org+computer+science+changing+everything</a:t>
            </a:r>
          </a:p>
          <a:p/>
          <a:p>
            <a:r>
              <a:t>WATCH-FOR PROMPT: Pick one career from this video. Look up its median salary and write it down.</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"She Drew It"</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'Reading: Arts, Communications &amp; Information Systems'</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often underestimate the business field — it includes entrepreneurship, not just corporate work.</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'Reading: Business, Management &amp; Administration'</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often underestimate the business field — it includes entrepreneurship, not just corporate work.</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'Activity: Compare Two Pathways'</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often underestimate the business field — it includes entrepreneurship, not just corporate work.</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Compare Two Pathways</a:t>
            </a:r>
          </a:p>
          <a:p/>
          <a:p>
            <a:r>
              <a:t>TIME: 10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2.3</a:t>
            </a:r>
          </a:p>
          <a:p/>
          <a:p>
            <a:r>
              <a:t>Format: Rating Scale + Reflection</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2.4: Ag, Food &amp; Natural Resources — and Planning My Path</a:t>
            </a:r>
          </a:p>
          <a:p/>
          <a:p>
            <a:r>
              <a:t>TYPE: Review</a:t>
            </a:r>
          </a:p>
          <a:p/>
          <a:p>
            <a:r>
              <a:t>WHY THIS BELL RINGER: Synthesizes all of Unit 2 before the final lesson. Gaps in the map show where students need the reading today.</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Compare maps with a partner — what's on theirs that's not on yours?</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2.4: Ag, Food &amp; Natural Resources — and Planning My Path</a:t>
            </a:r>
          </a:p>
          <a:p/>
          <a:p>
            <a:r>
              <a:t>50-MINUTE BREAKDOWN:</a:t>
            </a:r>
          </a:p>
          <a:p>
            <a:r>
              <a:t>  • Bell Ringer: 5 min</a:t>
            </a:r>
          </a:p>
          <a:p>
            <a:r>
              <a:t>  • Intro &amp; Objectives: 3 min</a:t>
            </a:r>
          </a:p>
          <a:p>
            <a:r>
              <a:t>  • Reading: 10 min</a:t>
            </a:r>
          </a:p>
          <a:p>
            <a:r>
              <a:t>  • Comprehension Questions: 7 min</a:t>
            </a:r>
          </a:p>
          <a:p>
            <a:r>
              <a:t>  • Teaching Content: 8 min</a:t>
            </a:r>
          </a:p>
          <a:p>
            <a:r>
              <a:t>  • Activity: 12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2.4.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3: Level 3 — Light scaffold (guiding questions only)</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'From the Ground Up: Agriculture, Food, Natural Resources — and Planning Your Path'</a:t>
            </a:r>
          </a:p>
          <a:p/>
          <a:p>
            <a:r>
              <a:t>SAY: 'Turn to the reading page in your workbook — it's right after the Cornell Notes page. Today's reading is about From the Ground Up: Agriculture, Food, Natural Resources — and Planning Your Path.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'From the Ground Up: Agriculture, Food, Natural Resources — and Planning Your Path'</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2.4</a:t>
            </a:r>
          </a:p>
          <a:p/>
          <a:p>
            <a:r>
              <a:t>Primary: "Careers in Agriculture and Natural Resources" — CareerOneStop (U.S. Department of Labor) (4 min)</a:t>
            </a:r>
          </a:p>
          <a:p>
            <a:r>
              <a:t>URL: https://www.youtube.com/results?search_query=CareerOneStop+agriculture+natural+resources+careers</a:t>
            </a:r>
          </a:p>
          <a:p/>
          <a:p>
            <a:r>
              <a:t>Alt option: "Holland Code — What Career Fits Your Personality?" — Career Center / TED-Ed</a:t>
            </a:r>
          </a:p>
          <a:p>
            <a:r>
              <a:t>URL: https://www.youtube.com/results?search_query=Holland+code+RIASEC+career+personality+TED+Ed</a:t>
            </a:r>
          </a:p>
          <a:p/>
          <a:p>
            <a:r>
              <a:t>WATCH-FOR PROMPT: What is one job in this field you'd never heard of before?</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Planning Guide"</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'Reading: Agriculture, Food &amp; Natural Resources at TRHS'</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sometimes think planning careers in 8th grade means making permanent decisions — it doesn't.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'Activity: My Career Pathway Reflection'</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sometimes think planning careers in 8th grade means making permanent decisions — it doesn't.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Career Pathway Reflection</a:t>
            </a:r>
          </a:p>
          <a:p/>
          <a:p>
            <a:r>
              <a:t>TIME: 12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2.4</a:t>
            </a:r>
          </a:p>
          <a:p/>
          <a:p>
            <a:r>
              <a:t>Format: Postcard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POST-TEST — Unit 2</a:t>
            </a:r>
          </a:p>
          <a:p/>
          <a:p>
            <a:r>
              <a:t>SAY: 'Before you write, spend 2 minutes flipping through your Cornell Notes and reading pages from this unit. This is an open-notes assessment.'</a:t>
            </a:r>
          </a:p>
          <a:p/>
          <a:p>
            <a:r>
              <a:t>TIME: 12-15 minutes for writing, 3 minutes for growth comparison.</a:t>
            </a:r>
          </a:p>
          <a:p/>
          <a:p>
            <a:r>
              <a:t>GROWTH CHECK: This is one of the most powerful moments in the unit. Have students physically flip back to their pre-test and identify 3 specific things that changed. Ask 2-3 students to share what changed for them.</a:t>
            </a:r>
          </a:p>
          <a:p/>
          <a:p>
            <a:r>
              <a:t>ASSESSMENT: Score on: vocabulary use (correct, not just mentioned), specificity (real examples, not vague claims), and connection to personal plan.</a:t>
            </a:r>
          </a:p>
          <a:p/>
          <a:p>
            <a:r>
              <a:t>TRANSITION: Say 'Great work on Unit 2. Let's take everything we learned and carry it into Unit 3.'</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3 OVERVIEW SLIDE</a:t>
            </a:r>
          </a:p>
          <a:p/>
          <a:p>
            <a:r>
              <a:t>SAY: 'We're starting Unit 3: Academic Preparation for Rigorous Courses. Before we dive in, let me read the overview with you.'</a:t>
            </a:r>
          </a:p>
          <a:p/>
          <a:p>
            <a:r>
              <a:t>Read the overview paragraph aloud. Then say: 'Let's look at the vocabulary we'll be building in this unit. Some of these words you may have heard before — some may be new. Pay attention to the etymology column on your notes pages. The word roots help you understand the meaning AND help you decode other words with the same roots.'</a:t>
            </a:r>
          </a:p>
          <a:p/>
          <a:p>
            <a:r>
              <a:t>PREVIEW QUESTION: Ask students to predict which of these vocabulary words they think will be most challenging — and why. Quick pair-share.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VOCABULARY DEEP DIVE</a:t>
            </a:r>
          </a:p>
          <a:p/>
          <a:p>
            <a:r>
              <a:t>Walk through each word slowly. For each one:</a:t>
            </a:r>
          </a:p>
          <a:p>
            <a:r>
              <a:t>1. Read the word aloud — have students repeat it.</a:t>
            </a:r>
          </a:p>
          <a:p>
            <a:r>
              <a:t>2. Break down the etymology. Say: 'Look at the roots in this word. Does anyone know another word with the same root?'</a:t>
            </a:r>
          </a:p>
          <a:p>
            <a:r>
              <a:t>3. Read the definition. Ask: 'Put this in your own words.'</a:t>
            </a:r>
          </a:p>
          <a:p/>
          <a:p>
            <a:r>
              <a:t>MORPHOLOGY TIP: Point out patterns across the unit — e.g., Latin roots that appear in multiple words. Students who learn roots can decode thousands of academic words they've never seen.</a:t>
            </a:r>
          </a:p>
          <a:p/>
          <a:p>
            <a:r>
              <a:t>Have students write ALL words in their Cornell Notes vocabulary box now.</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PRE-TEST — Unit 3</a:t>
            </a:r>
          </a:p>
          <a:p/>
          <a:p>
            <a:r>
              <a:t>SAY: 'Open your workbook to the Unit 3 pre-test page. Answer as completely as you can. This is NOT graded for correctness — it is a snapshot of where you start. Be honest — a blank answer is more useful than a guess.'</a:t>
            </a:r>
          </a:p>
          <a:p/>
          <a:p>
            <a:r>
              <a:t>TIME: 8-10 minutes. Circulate but do not help with content.</a:t>
            </a:r>
          </a:p>
          <a:p/>
          <a:p>
            <a:r>
              <a:t>AFTER: Collect or have students hold their pre-tests. You will return to them at the end of the unit to compare. Quickly preview the unit: 'Here is what we will be able to answer confidently by the end of this unit...'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3.1: Active Reading &amp; Annotation</a:t>
            </a:r>
          </a:p>
          <a:p/>
          <a:p>
            <a:r>
              <a:t>TYPE: Launch</a:t>
            </a:r>
          </a:p>
          <a:p/>
          <a:p>
            <a:r>
              <a:t>WHY THIS BELL RINGER: Surfaces reading habits without judgment — creates buy-in for today's lesson on active reading strategies.</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Quick poll — hands for each option (normalize honesty, no shame)</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3.1: Active Reading &amp; Annotation</a:t>
            </a:r>
          </a:p>
          <a:p/>
          <a:p>
            <a:r>
              <a:t>50-MINUTE BREAKDOWN:</a:t>
            </a:r>
          </a:p>
          <a:p>
            <a:r>
              <a:t>  • Bell Ringer: 5 min</a:t>
            </a:r>
          </a:p>
          <a:p>
            <a:r>
              <a:t>  • Intro &amp; Objectives: 3 min</a:t>
            </a:r>
          </a:p>
          <a:p>
            <a:r>
              <a:t>  • Reading: 11 min</a:t>
            </a:r>
          </a:p>
          <a:p>
            <a:r>
              <a:t>  • Comprehension Questions: 7 min</a:t>
            </a:r>
          </a:p>
          <a:p>
            <a:r>
              <a:t>  • Teaching Content: 9 min</a:t>
            </a:r>
          </a:p>
          <a:p>
            <a:r>
              <a:t>  • Activity: 10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3.1.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2: Level 2 — Partial scaffold (key notes provided)</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'Your Brain Changes When You Read — But Only If You Do It Right'</a:t>
            </a:r>
          </a:p>
          <a:p/>
          <a:p>
            <a:r>
              <a:t>SAY: 'Turn to the reading page in your workbook — it's right after the Cornell Notes page. Today's reading is about Your Brain Changes When You Read — But Only If You Do It Right.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'Your Brain Changes When You Read — But Only If You Do It Right'</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3.1</a:t>
            </a:r>
          </a:p>
          <a:p/>
          <a:p>
            <a:r>
              <a:t>Primary: "How to Read Faster — Active Reading Strategies" — Thomas Frank (8 min)</a:t>
            </a:r>
          </a:p>
          <a:p>
            <a:r>
              <a:t>URL: https://www.youtube.com/results?search_query=Thomas+Frank+active+reading+strategies+annotation</a:t>
            </a:r>
          </a:p>
          <a:p/>
          <a:p>
            <a:r>
              <a:t>Alt option: "Your Brain on Reading — Neuroplasticity" — SciShow</a:t>
            </a:r>
          </a:p>
          <a:p>
            <a:r>
              <a:t>URL: https://www.youtube.com/results?search_query=brain+neuroplasticity+reading+learning+scishow</a:t>
            </a:r>
          </a:p>
          <a:p/>
          <a:p>
            <a:r>
              <a:t>WATCH-FOR PROMPT: What is the one annotation habit he says makes the biggest difference?</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"Margin Notes"</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'Why Highlighting Doesn't Work'</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believe highlighting equals learning. Research shows it is one of the LEAST effective strategies.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'Practice: Annotate This Passage'</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believe highlighting equals learning. Research shows it is one of the LEAST effective strategies.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Annotate the Passage</a:t>
            </a:r>
          </a:p>
          <a:p/>
          <a:p>
            <a:r>
              <a:t>TIME: 10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3.1</a:t>
            </a:r>
          </a:p>
          <a:p/>
          <a:p>
            <a:r>
              <a:t>Format: 3-2-1 Reflection</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3.2: Writing Stamina &amp; Clarity</a:t>
            </a:r>
          </a:p>
          <a:p/>
          <a:p>
            <a:r>
              <a:t>TYPE: Review</a:t>
            </a:r>
          </a:p>
          <a:p/>
          <a:p>
            <a:r>
              <a:t>WHY THIS BELL RINGER: Applies lesson 3.1 annotation skills immediately. The sentence content also previews today's lesson on writing stamina.</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Show your annotations to a partner — did you use the same symbols? Did you mark the same parts?</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3.2: Writing Stamina &amp; Clarity</a:t>
            </a:r>
          </a:p>
          <a:p/>
          <a:p>
            <a:r>
              <a:t>50-MINUTE BREAKDOWN:</a:t>
            </a:r>
          </a:p>
          <a:p>
            <a:r>
              <a:t>  • Bell Ringer: 5 min</a:t>
            </a:r>
          </a:p>
          <a:p>
            <a:r>
              <a:t>  • Intro &amp; Objectives: 3 min</a:t>
            </a:r>
          </a:p>
          <a:p>
            <a:r>
              <a:t>  • Reading: 10 min</a:t>
            </a:r>
          </a:p>
          <a:p>
            <a:r>
              <a:t>  • Comprehension Questions: 6 min</a:t>
            </a:r>
          </a:p>
          <a:p>
            <a:r>
              <a:t>  • Teaching Content: 8 min</a:t>
            </a:r>
          </a:p>
          <a:p>
            <a:r>
              <a:t>  • Activity: 13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3.2.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3: Level 3 — Light scaffold (guiding questions only)</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'The Write Stuff: Building Stamina and Clarity in Your Writing'</a:t>
            </a:r>
          </a:p>
          <a:p/>
          <a:p>
            <a:r>
              <a:t>SAY: 'Turn to the reading page in your workbook — it's right after the Cornell Notes page. Today's reading is about The Write Stuff: Building Stamina and Clarity in Your Writing.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'The Write Stuff: Building Stamina and Clarity in Your Writing'</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3.2</a:t>
            </a:r>
          </a:p>
          <a:p/>
          <a:p>
            <a:r>
              <a:t>Primary: "How to Write a Great First Draft (Without Getting Stuck)" — Thomas Frank (7 min)</a:t>
            </a:r>
          </a:p>
          <a:p>
            <a:r>
              <a:t>URL: https://www.youtube.com/results?search_query=Thomas+Frank+how+to+write+first+draft+without+getting+stuck</a:t>
            </a:r>
          </a:p>
          <a:p/>
          <a:p>
            <a:r>
              <a:t>Alt option: "The Writing Process — Crash Course" — Crash Course English</a:t>
            </a:r>
          </a:p>
          <a:p>
            <a:r>
              <a:t>URL: https://www.youtube.com/results?search_query=crash+course+english+writing+process+drafting</a:t>
            </a:r>
          </a:p>
          <a:p/>
          <a:p>
            <a:r>
              <a:t>WATCH-FOR PROMPT: What does he say is the #1 mistake writers make? Is that a mistake you make?</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Second Draft"</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'The Plan-Draft-Revise Cycle'</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think editing while drafting saves time — it actually doubles the time and fragments thinking.</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'Timed Write: Building Your Stamina'</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think editing while drafting saves time — it actually doubles the time and fragments thinking.</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Timed Write</a:t>
            </a:r>
          </a:p>
          <a:p/>
          <a:p>
            <a:r>
              <a:t>TIME: 13 minutes</a:t>
            </a:r>
          </a:p>
          <a:p/>
          <a:p>
            <a:r>
              <a:t>SETUP: Announce the timer clearly. At 2 minutes, say 'Planning time is up — begin your draft.' At 12 minutes total, say 'Finish your current sentence and stop.'</a:t>
            </a:r>
          </a:p>
          <a:p/>
          <a:p>
            <a:r>
              <a:t>FACILITATION:</a:t>
            </a:r>
          </a:p>
          <a:p>
            <a:r>
              <a:t>Walk the room. Students who freeze: whisper 'Just write your first thought — don't judge it.' Students who finish early: tell them to add one more piece of evidence.</a:t>
            </a:r>
          </a:p>
          <a:p/>
          <a:p>
            <a:r>
              <a:t>DEBRIEF: Have 2 volunteers share one sentence they're proud of. Then: what was hard about writing without stopping? How does that connect to the idea of writing stamina?</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'Revision: Making It Clearer'</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think editing while drafting saves time — it actually doubles the time and fragments thinking.</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Revision Checklist</a:t>
            </a:r>
          </a:p>
          <a:p/>
          <a:p>
            <a:r>
              <a:t>TIME: 13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3.2</a:t>
            </a:r>
          </a:p>
          <a:p/>
          <a:p>
            <a:r>
              <a:t>Format: Quick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3.3: Study Strategies &amp; Spaced Practice</a:t>
            </a:r>
          </a:p>
          <a:p/>
          <a:p>
            <a:r>
              <a:t>TYPE: Anticipation</a:t>
            </a:r>
          </a:p>
          <a:p/>
          <a:p>
            <a:r>
              <a:t>WHY THIS BELL RINGER: Activates prior knowledge about study habits before today's lesson challenges students to evaluate those habits against research.</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Partner share — compare methods. Are they similar?</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3.3: Study Strategies &amp; Spaced Practice</a:t>
            </a:r>
          </a:p>
          <a:p/>
          <a:p>
            <a:r>
              <a:t>50-MINUTE BREAKDOWN:</a:t>
            </a:r>
          </a:p>
          <a:p>
            <a:r>
              <a:t>  • Bell Ringer: 5 min</a:t>
            </a:r>
          </a:p>
          <a:p>
            <a:r>
              <a:t>  • Intro &amp; Objectives: 3 min</a:t>
            </a:r>
          </a:p>
          <a:p>
            <a:r>
              <a:t>  • Reading: 10 min</a:t>
            </a:r>
          </a:p>
          <a:p>
            <a:r>
              <a:t>  • Comprehension Questions: 7 min</a:t>
            </a:r>
          </a:p>
          <a:p>
            <a:r>
              <a:t>  • Teaching Content: 10 min</a:t>
            </a:r>
          </a:p>
          <a:p>
            <a:r>
              <a:t>  • Activity: 10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3.3.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3: Level 3 — Light scaffold (guiding questions only)</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'Study Smarter, Not Harder: The Science of How We Actually Learn'</a:t>
            </a:r>
          </a:p>
          <a:p/>
          <a:p>
            <a:r>
              <a:t>SAY: 'Turn to the reading page in your workbook — it's right after the Cornell Notes page. Today's reading is about Study Smarter, Not Harder: The Science of How We Actually Learn.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'Study Smarter, Not Harder: The Science of How We Actually Learn'</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3.3</a:t>
            </a:r>
          </a:p>
          <a:p/>
          <a:p>
            <a:r>
              <a:t>Primary: "How to Study Effectively — The Science of Learning" — Sprouts (6 min)</a:t>
            </a:r>
          </a:p>
          <a:p>
            <a:r>
              <a:t>URL: https://www.youtube.com/results?search_query=how+to+study+effectively+retrieval+spacing+interleaving+Sprouts</a:t>
            </a:r>
          </a:p>
          <a:p/>
          <a:p>
            <a:r>
              <a:t>Alt option: "The Feynman Technique — Learn Anything Faster" — Thomas Frank</a:t>
            </a:r>
          </a:p>
          <a:p>
            <a:r>
              <a:t>URL: https://www.youtube.com/results?search_query=Feynman+technique+learn+anything+faster+Thomas+Frank</a:t>
            </a:r>
          </a:p>
          <a:p/>
          <a:p>
            <a:r>
              <a:t>WATCH-FOR PROMPT: Which of the three strategies (retrieval, spacing, interleaving) do you already use?</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Night Before"</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'What the Research Says'</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equate familiarity with mastery. They feel like they 'know it' after re-reading, but can't retrieve it.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'Activity: Build a Study Plan'</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equate familiarity with mastery. They feel like they 'know it' after re-reading, but can't retrieve it.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Build a Study Plan</a:t>
            </a:r>
          </a:p>
          <a:p/>
          <a:p>
            <a:r>
              <a:t>TIME: 10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3.3</a:t>
            </a:r>
          </a:p>
          <a:p/>
          <a:p>
            <a:r>
              <a:t>Format: Rating Scale + Reflection</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3.4: Managing Long-Term Projects &amp; Self-Advocacy</a:t>
            </a:r>
          </a:p>
          <a:p/>
          <a:p>
            <a:r>
              <a:t>TYPE: Review</a:t>
            </a:r>
          </a:p>
          <a:p/>
          <a:p>
            <a:r>
              <a:t>WHY THIS BELL RINGER: Retrieves and ranks lesson 3.3 strategies. Sets up today's focus on building independent study advocacy.</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Compare rankings with a partner → class consensus</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3.4: Managing Long-Term Projects &amp; Self-Advocacy</a:t>
            </a:r>
          </a:p>
          <a:p/>
          <a:p>
            <a:r>
              <a:t>50-MINUTE BREAKDOWN:</a:t>
            </a:r>
          </a:p>
          <a:p>
            <a:r>
              <a:t>  • Bell Ringer: 5 min</a:t>
            </a:r>
          </a:p>
          <a:p>
            <a:r>
              <a:t>  • Intro &amp; Objectives: 3 min</a:t>
            </a:r>
          </a:p>
          <a:p>
            <a:r>
              <a:t>  • Reading: 10 min</a:t>
            </a:r>
          </a:p>
          <a:p>
            <a:r>
              <a:t>  • Comprehension Questions: 7 min</a:t>
            </a:r>
          </a:p>
          <a:p>
            <a:r>
              <a:t>  • Teaching Content: 9 min</a:t>
            </a:r>
          </a:p>
          <a:p>
            <a:r>
              <a:t>  • Activity: 11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3.4.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'Doing Hard Things: Self-Advocacy, Long-Term Projects, and Academic Resilience'</a:t>
            </a:r>
          </a:p>
          <a:p/>
          <a:p>
            <a:r>
              <a:t>SAY: 'Turn to the reading page in your workbook — it's right after the Cornell Notes page. Today's reading is about Doing Hard Things: Self-Advocacy, Long-Term Projects, and Academic Resilience.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'Doing Hard Things: Self-Advocacy, Long-Term Projects, and Academic Resilience'</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3.4</a:t>
            </a:r>
          </a:p>
          <a:p/>
          <a:p>
            <a:r>
              <a:t>Primary: "How to Ask for Help (Without It Being Awkward)" — The Art of Improvement (5 min)</a:t>
            </a:r>
          </a:p>
          <a:p>
            <a:r>
              <a:t>URL: https://www.youtube.com/results?search_query=how+to+ask+for+help+effectively+self+advocacy+students</a:t>
            </a:r>
          </a:p>
          <a:p/>
          <a:p>
            <a:r>
              <a:t>Alt option: "Backward Planning — How to Never Miss a Deadline" — Mike and Matty</a:t>
            </a:r>
          </a:p>
          <a:p>
            <a:r>
              <a:t>URL: https://www.youtube.com/results?search_query=backward+planning+project+management+students+deadline</a:t>
            </a:r>
          </a:p>
          <a:p/>
          <a:p>
            <a:r>
              <a:t>WATCH-FOR PROMPT: What makes a 'good ask' different from a 'bad ask'? Take notes on his examples.</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Ask"</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'Backward Planning a Long-Term Project'</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think asking for help shows weakness — it actually shows metacognitive awareness and earns teacher respect.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'Activity: Backward Plan a Project'</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think asking for help shows weakness — it actually shows metacognitive awareness and earns teacher respect.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Backward Plan a Project</a:t>
            </a:r>
          </a:p>
          <a:p/>
          <a:p>
            <a:r>
              <a:t>TIME: 11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'Self-Advocacy: Asking for Help'</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think asking for help shows weakness — it actually shows metacognitive awareness and earns teacher respect.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Self-Advocacy Role Play</a:t>
            </a:r>
          </a:p>
          <a:p/>
          <a:p>
            <a:r>
              <a:t>TIME: 11 minutes</a:t>
            </a:r>
          </a:p>
          <a:p/>
          <a:p>
            <a:r>
              <a:t>SETUP: Have students find a partner before you give directions. Model the script once with a student volunteer BEFORE pairs begin practicing.</a:t>
            </a:r>
          </a:p>
          <a:p/>
          <a:p>
            <a:r>
              <a:t>FACILITATION:</a:t>
            </a:r>
          </a:p>
          <a:p>
            <a:r>
              <a:t>After each scenario, give 30 seconds of feedback before switching. Key feedback: Was it specific? Did they say what they tried? Did they ask a clear question?</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3.4</a:t>
            </a:r>
          </a:p>
          <a:p/>
          <a:p>
            <a:r>
              <a:t>Format: Synthesis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POST-TEST — Unit 3</a:t>
            </a:r>
          </a:p>
          <a:p/>
          <a:p>
            <a:r>
              <a:t>SAY: 'Before you write, spend 2 minutes flipping through your Cornell Notes and reading pages from this unit. This is an open-notes assessment.'</a:t>
            </a:r>
          </a:p>
          <a:p/>
          <a:p>
            <a:r>
              <a:t>TIME: 12-15 minutes for writing, 3 minutes for growth comparison.</a:t>
            </a:r>
          </a:p>
          <a:p/>
          <a:p>
            <a:r>
              <a:t>GROWTH CHECK: This is one of the most powerful moments in the unit. Have students physically flip back to their pre-test and identify 3 specific things that changed. Ask 2-3 students to share what changed for them.</a:t>
            </a:r>
          </a:p>
          <a:p/>
          <a:p>
            <a:r>
              <a:t>ASSESSMENT: Score on: vocabulary use (correct, not just mentioned), specificity (real examples, not vague claims), and connection to personal plan.</a:t>
            </a:r>
          </a:p>
          <a:p/>
          <a:p>
            <a:r>
              <a:t>TRANSITION: Say 'Great work on Unit 3. Let's take everything we learned and carry it into Unit 4.'</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4 OVERVIEW SLIDE</a:t>
            </a:r>
          </a:p>
          <a:p/>
          <a:p>
            <a:r>
              <a:t>SAY: 'We're starting Unit 4: My 9th Grade Year Plan. Before we dive in, let me read the overview with you.'</a:t>
            </a:r>
          </a:p>
          <a:p/>
          <a:p>
            <a:r>
              <a:t>Read the overview paragraph aloud. Then say: 'Let's look at the vocabulary we'll be building in this unit. Some of these words you may have heard before — some may be new. Pay attention to the etymology column on your notes pages. The word roots help you understand the meaning AND help you decode other words with the same roots.'</a:t>
            </a:r>
          </a:p>
          <a:p/>
          <a:p>
            <a:r>
              <a:t>PREVIEW QUESTION: Ask students to predict which of these vocabulary words they think will be most challenging — and why. Quick pair-share.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VOCABULARY DEEP DIVE</a:t>
            </a:r>
          </a:p>
          <a:p/>
          <a:p>
            <a:r>
              <a:t>Walk through each word slowly. For each one:</a:t>
            </a:r>
          </a:p>
          <a:p>
            <a:r>
              <a:t>1. Read the word aloud — have students repeat it.</a:t>
            </a:r>
          </a:p>
          <a:p>
            <a:r>
              <a:t>2. Break down the etymology. Say: 'Look at the roots in this word. Does anyone know another word with the same root?'</a:t>
            </a:r>
          </a:p>
          <a:p>
            <a:r>
              <a:t>3. Read the definition. Ask: 'Put this in your own words.'</a:t>
            </a:r>
          </a:p>
          <a:p/>
          <a:p>
            <a:r>
              <a:t>MORPHOLOGY TIP: Point out patterns across the unit — e.g., Latin roots that appear in multiple words. Students who learn roots can decode thousands of academic words they've never seen.</a:t>
            </a:r>
          </a:p>
          <a:p/>
          <a:p>
            <a:r>
              <a:t>Have students write ALL words in their Cornell Notes vocabulary box now.</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PRE-TEST — Unit 4</a:t>
            </a:r>
          </a:p>
          <a:p/>
          <a:p>
            <a:r>
              <a:t>SAY: 'Open your workbook to the Unit 4 pre-test page. Answer as completely as you can. This is NOT graded for correctness — it is a snapshot of where you start. Be honest — a blank answer is more useful than a guess.'</a:t>
            </a:r>
          </a:p>
          <a:p/>
          <a:p>
            <a:r>
              <a:t>TIME: 8-10 minutes. Circulate but do not help with content.</a:t>
            </a:r>
          </a:p>
          <a:p/>
          <a:p>
            <a:r>
              <a:t>AFTER: Collect or have students hold their pre-tests. You will return to them at the end of the unit to compare. Quickly preview the unit: 'Here is what we will be able to answer confidently by the end of this unit...'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4.1: Reading the Academic Planning Guide</a:t>
            </a:r>
          </a:p>
          <a:p/>
          <a:p>
            <a:r>
              <a:t>TYPE: Launch</a:t>
            </a:r>
          </a:p>
          <a:p/>
          <a:p>
            <a:r>
              <a:t>WHY THIS BELL RINGER: Reveals what students know (and don't) about graduation before we map it out — creates urgency for careful planning.</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Table share → answers revealed after everyone commits</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4.1: Reading the Academic Planning Guide</a:t>
            </a:r>
          </a:p>
          <a:p/>
          <a:p>
            <a:r>
              <a:t>50-MINUTE BREAKDOWN:</a:t>
            </a:r>
          </a:p>
          <a:p>
            <a:r>
              <a:t>  • Bell Ringer: 5 min</a:t>
            </a:r>
          </a:p>
          <a:p>
            <a:r>
              <a:t>  • Intro &amp; Objectives: 3 min</a:t>
            </a:r>
          </a:p>
          <a:p>
            <a:r>
              <a:t>  • Reading: 10 min</a:t>
            </a:r>
          </a:p>
          <a:p>
            <a:r>
              <a:t>  • Comprehension Questions: 7 min</a:t>
            </a:r>
          </a:p>
          <a:p>
            <a:r>
              <a:t>  • Teaching Content: 8 min</a:t>
            </a:r>
          </a:p>
          <a:p>
            <a:r>
              <a:t>  • Activity: 12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4.1.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3: Level 3 — Light scaffold (guiding questions only)</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'Reading the Map: Understanding Graduation Requirements and Course Pathways'</a:t>
            </a:r>
          </a:p>
          <a:p/>
          <a:p>
            <a:r>
              <a:t>SAY: 'Turn to the reading page in your workbook — it's right after the Cornell Notes page. Today's reading is about Reading the Map: Understanding Graduation Requirements and Course Pathways.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'Reading the Map: Understanding Graduation Requirements and Course Pathways'</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4.1</a:t>
            </a:r>
          </a:p>
          <a:p/>
          <a:p>
            <a:r>
              <a:t>Primary: "High School 101 — What You Need to Know Before 9th Grade" — College Board (5 min)</a:t>
            </a:r>
          </a:p>
          <a:p>
            <a:r>
              <a:t>URL: https://www.youtube.com/results?search_query=high+school+101+what+you+need+to+know+before+9th+grade</a:t>
            </a:r>
          </a:p>
          <a:p/>
          <a:p>
            <a:r>
              <a:t>Alt option: "How GPA Works — Explained for Students" — WhatsUpDude</a:t>
            </a:r>
          </a:p>
          <a:p>
            <a:r>
              <a:t>URL: https://www.youtube.com/results?search_query=how+GPA+works+weighted+unweighted+explained+high+school</a:t>
            </a:r>
          </a:p>
          <a:p/>
          <a:p>
            <a:r>
              <a:t>WATCH-FOR PROMPT: Write down TWO things they mention that you hadn't thought about yet.</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"Twenty-Two Credits"</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'Graduation Requirements for Class of 2029 and Beyond'</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sometimes think electives don't matter for graduation — they do: 5.5 credits worth.</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'Activity: Required vs. Choice — 9th Grade Edition'</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sometimes think electives don't matter for graduation — they do: 5.5 credits worth.</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9th Grade Schedule Preview</a:t>
            </a:r>
          </a:p>
          <a:p/>
          <a:p>
            <a:r>
              <a:t>TIME: 12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4.1</a:t>
            </a:r>
          </a:p>
          <a:p/>
          <a:p>
            <a:r>
              <a:t>Format: Sentence Stems</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4.2: My Mock 9th Grade Schedule</a:t>
            </a:r>
          </a:p>
          <a:p/>
          <a:p>
            <a:r>
              <a:t>TYPE: Review</a:t>
            </a:r>
          </a:p>
          <a:p/>
          <a:p>
            <a:r>
              <a:t>WHY THIS BELL RINGER: Retrieves the graduation structure before students begin building their actual mock schedule today.</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Check with your Academic Planning Guide — how close were you?</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4.2: My Mock 9th Grade Schedule</a:t>
            </a:r>
          </a:p>
          <a:p/>
          <a:p>
            <a:r>
              <a:t>50-MINUTE BREAKDOWN:</a:t>
            </a:r>
          </a:p>
          <a:p>
            <a:r>
              <a:t>  • Bell Ringer: 5 min</a:t>
            </a:r>
          </a:p>
          <a:p>
            <a:r>
              <a:t>  • Intro &amp; Objectives: 3 min</a:t>
            </a:r>
          </a:p>
          <a:p>
            <a:r>
              <a:t>  • Reading: 9 min</a:t>
            </a:r>
          </a:p>
          <a:p>
            <a:r>
              <a:t>  • Comprehension Questions: 6 min</a:t>
            </a:r>
          </a:p>
          <a:p>
            <a:r>
              <a:t>  • Teaching Content: 7 min</a:t>
            </a:r>
          </a:p>
          <a:p>
            <a:r>
              <a:t>  • Activity: 15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4.2.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'Your Schedule, Your Foundation: Building a 9th Grade Course Plan'</a:t>
            </a:r>
          </a:p>
          <a:p/>
          <a:p>
            <a:r>
              <a:t>SAY: 'Turn to the reading page in your workbook — it's right after the Cornell Notes page. Today's reading is about Your Schedule, Your Foundation: Building a 9th Grade Course Plan.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'Your Schedule, Your Foundation: Building a 9th Grade Course Plan'</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4.2</a:t>
            </a:r>
          </a:p>
          <a:p/>
          <a:p>
            <a:r>
              <a:t>Primary: "How to Build a High School Schedule You Won't Regret" — School Counseling Videos (6 min)</a:t>
            </a:r>
          </a:p>
          <a:p>
            <a:r>
              <a:t>URL: https://www.youtube.com/results?search_query=how+to+build+high+school+schedule+course+selection+counselor</a:t>
            </a:r>
          </a:p>
          <a:p/>
          <a:p>
            <a:r>
              <a:t>Alt option: "Warrior Seminar — What Is It?" — ISD 197 / Two Rivers</a:t>
            </a:r>
          </a:p>
          <a:p>
            <a:r>
              <a:t>URL: https://www.youtube.com/results?search_query=ISD+197+Two+Rivers+High+School+Warrior+Seminar</a:t>
            </a:r>
          </a:p>
          <a:p/>
          <a:p>
            <a:r>
              <a:t>WATCH-FOR PROMPT: What advice do they give about balancing challenging courses and free time?</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"Period Seven"</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'Warrior Seminar — Your Built-In Support'</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assume Warrior Seminar is an easy filler class — it is actually one of the most directly useful courses in 9th grade.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'Build Your Mock Schedule'</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assume Warrior Seminar is an easy filler class — it is actually one of the most directly useful courses in 9th grade.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Build Your Mock Schedule</a:t>
            </a:r>
          </a:p>
          <a:p/>
          <a:p>
            <a:r>
              <a:t>TIME: 15 minutes</a:t>
            </a:r>
          </a:p>
          <a:p/>
          <a:p>
            <a:r>
              <a:t>SETUP: Read the directions aloud. Clarify before students begin. Circulate during the activity.</a:t>
            </a:r>
          </a:p>
          <a:p/>
          <a:p>
            <a:r>
              <a:t>FACILITATION:</a:t>
            </a:r>
          </a:p>
          <a:p>
            <a:r>
              <a:t>Circulate and check prerequisites. Many students will not have checked these. A common mistake: wanting to take advanced courses without the prerequisite.</a:t>
            </a:r>
          </a:p>
          <a:p/>
          <a:p>
            <a:r>
              <a:t>DEBRIEF: Have students share their most interesting elective choice and why. Connect to Unit 2: 'How does this connect to the career pathway you identified?'</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4.2</a:t>
            </a:r>
          </a:p>
          <a:p/>
          <a:p>
            <a:r>
              <a:t>Format: Quick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4.3: Activities, Clubs &amp; Sports at TRHS</a:t>
            </a:r>
          </a:p>
          <a:p/>
          <a:p>
            <a:r>
              <a:t>TYPE: Anticipation</a:t>
            </a:r>
          </a:p>
          <a:p/>
          <a:p>
            <a:r>
              <a:t>WHY THIS BELL RINGER: Surfaces assumptions about involvement before the reading and lesson challenge or confirm them.</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Pair debate (1 min) — who changed their mind after hearing a partner?</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4.3: Activities, Clubs &amp; Sports at TRHS</a:t>
            </a:r>
          </a:p>
          <a:p/>
          <a:p>
            <a:r>
              <a:t>50-MINUTE BREAKDOWN:</a:t>
            </a:r>
          </a:p>
          <a:p>
            <a:r>
              <a:t>  • Bell Ringer: 5 min</a:t>
            </a:r>
          </a:p>
          <a:p>
            <a:r>
              <a:t>  • Intro &amp; Objectives: 3 min</a:t>
            </a:r>
          </a:p>
          <a:p>
            <a:r>
              <a:t>  • Reading: 10 min</a:t>
            </a:r>
          </a:p>
          <a:p>
            <a:r>
              <a:t>  • Comprehension Questions: 7 min</a:t>
            </a:r>
          </a:p>
          <a:p>
            <a:r>
              <a:t>  • Teaching Content: 8 min</a:t>
            </a:r>
          </a:p>
          <a:p>
            <a:r>
              <a:t>  • Activity: 12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4.3.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'More Than a Club: The Case for Getting Involved in High School'</a:t>
            </a:r>
          </a:p>
          <a:p/>
          <a:p>
            <a:r>
              <a:t>SAY: 'Turn to the reading page in your workbook — it's right after the Cornell Notes page. Today's reading is about More Than a Club: The Case for Getting Involved in High School.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'More Than a Club: The Case for Getting Involved in High School'</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4.3</a:t>
            </a:r>
          </a:p>
          <a:p/>
          <a:p>
            <a:r>
              <a:t>Primary: "Why Join a Club or Sport in High School? The Research Says..." — College Prep Academy (5 min)</a:t>
            </a:r>
          </a:p>
          <a:p>
            <a:r>
              <a:t>URL: https://www.youtube.com/results?search_query=why+join+extracurricular+activities+high+school+research+benefits</a:t>
            </a:r>
          </a:p>
          <a:p/>
          <a:p>
            <a:r>
              <a:t>Alt option: "Student Athletes — How Do They Manage Time?" — TED-Ed</a:t>
            </a:r>
          </a:p>
          <a:p>
            <a:r>
              <a:t>URL: https://www.youtube.com/results?search_query=student+athlete+time+management+high+school+TED+Ed</a:t>
            </a:r>
          </a:p>
          <a:p/>
          <a:p>
            <a:r>
              <a:t>WATCH-FOR PROMPT: What is the research finding that surprises students the most?</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Sign-Up"</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'Why Get Involved?'</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assume activities hurt their GPA — research shows the opposite.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'TRHS Activities, Clubs &amp; Sports Directory'</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assume activities hurt their GPA — research shows the opposite.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TRHS Activity Exploration</a:t>
            </a:r>
          </a:p>
          <a:p/>
          <a:p>
            <a:r>
              <a:t>TIME: 12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4.3</a:t>
            </a:r>
          </a:p>
          <a:p/>
          <a:p>
            <a:r>
              <a:t>Format: Planning Response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4.4: My Daily Time Map</a:t>
            </a:r>
          </a:p>
          <a:p/>
          <a:p>
            <a:r>
              <a:t>TYPE: Review</a:t>
            </a:r>
          </a:p>
          <a:p/>
          <a:p>
            <a:r>
              <a:t>WHY THIS BELL RINGER: Reconnects to students' personal plans from Lessons 4.1-4.3. The 'one word' share surfaces anxiety early — today's time-map lesson directly addresses it.</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Popcorn share — one word feelings around the room</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4.4: My Daily Time Map</a:t>
            </a:r>
          </a:p>
          <a:p/>
          <a:p>
            <a:r>
              <a:t>50-MINUTE BREAKDOWN:</a:t>
            </a:r>
          </a:p>
          <a:p>
            <a:r>
              <a:t>  • Bell Ringer: 5 min</a:t>
            </a:r>
          </a:p>
          <a:p>
            <a:r>
              <a:t>  • Intro &amp; Objectives: 3 min</a:t>
            </a:r>
          </a:p>
          <a:p>
            <a:r>
              <a:t>  • Reading: 9 min</a:t>
            </a:r>
          </a:p>
          <a:p>
            <a:r>
              <a:t>  • Comprehension Questions: 6 min</a:t>
            </a:r>
          </a:p>
          <a:p>
            <a:r>
              <a:t>  • Teaching Content: 8 min</a:t>
            </a:r>
          </a:p>
          <a:p>
            <a:r>
              <a:t>  • Activity: 14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4.4.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'The Math of Your Day: Time, Sleep, and the Reality of 9th Grade'</a:t>
            </a:r>
          </a:p>
          <a:p/>
          <a:p>
            <a:r>
              <a:t>SAY: 'Turn to the reading page in your workbook — it's right after the Cornell Notes page. Today's reading is about The Math of Your Day: Time, Sleep, and the Reality of 9th Grade.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'The Math of Your Day: Time, Sleep, and the Reality of 9th Grade'</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4.4</a:t>
            </a:r>
          </a:p>
          <a:p/>
          <a:p>
            <a:r>
              <a:t>Primary: "Sleep Is Your Superpower" — TED (Matt Walker) (5 min)</a:t>
            </a:r>
          </a:p>
          <a:p>
            <a:r>
              <a:t>URL: https://www.youtube.com/results?search_query=Matthew+Walker+sleep+is+your+superpower+TED</a:t>
            </a:r>
          </a:p>
          <a:p/>
          <a:p>
            <a:r>
              <a:t>Alt option: "How to Manage Your Time — The Eisenhower Matrix (Review)" — Sprouts</a:t>
            </a:r>
          </a:p>
          <a:p>
            <a:r>
              <a:t>URL: https://www.youtube.com/results?search_query=time+management+high+school+student+daily+schedule+tips</a:t>
            </a:r>
          </a:p>
          <a:p/>
          <a:p>
            <a:r>
              <a:t>WATCH-FOR PROMPT: What does Walker say happens to your memory when you sleep fewer than 7 hours?</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Map"</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'The Math of Your Day'</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believe sleep is the first thing to sacrifice when busy. It is actually the last thing you can afford to sacrifice.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'Build Your Daily Time Map'</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believe sleep is the first thing to sacrifice when busy. It is actually the last thing you can afford to sacrifice.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Daily Time Map</a:t>
            </a:r>
          </a:p>
          <a:p/>
          <a:p>
            <a:r>
              <a:t>TIME: 14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'My 9th Grade Year Plan — Putting It All Together'</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believe sleep is the first thing to sacrifice when busy. It is actually the last thing you can afford to sacrifice.</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My 9th Grade Year Plan</a:t>
            </a:r>
          </a:p>
          <a:p/>
          <a:p>
            <a:r>
              <a:t>TIME: 14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4.4</a:t>
            </a:r>
          </a:p>
          <a:p/>
          <a:p>
            <a:r>
              <a:t>Format: Synthesis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POST-TEST — Unit 4</a:t>
            </a:r>
          </a:p>
          <a:p/>
          <a:p>
            <a:r>
              <a:t>SAY: 'Before you write, spend 2 minutes flipping through your Cornell Notes and reading pages from this unit. This is an open-notes assessment.'</a:t>
            </a:r>
          </a:p>
          <a:p/>
          <a:p>
            <a:r>
              <a:t>TIME: 12-15 minutes for writing, 3 minutes for growth comparison.</a:t>
            </a:r>
          </a:p>
          <a:p/>
          <a:p>
            <a:r>
              <a:t>GROWTH CHECK: This is one of the most powerful moments in the unit. Have students physically flip back to their pre-test and identify 3 specific things that changed. Ask 2-3 students to share what changed for them.</a:t>
            </a:r>
          </a:p>
          <a:p/>
          <a:p>
            <a:r>
              <a:t>ASSESSMENT: Score on: vocabulary use (correct, not just mentioned), specificity (real examples, not vague claims), and connection to personal plan.</a:t>
            </a:r>
          </a:p>
          <a:p/>
          <a:p>
            <a:r>
              <a:t>TRANSITION: Say 'Great work on Unit 4. Let's take everything we learned and carry it into Unit 5.'</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5 OVERVIEW SLIDE</a:t>
            </a:r>
          </a:p>
          <a:p/>
          <a:p>
            <a:r>
              <a:t>SAY: 'We're starting Unit 5: Transition to High School. Before we dive in, let me read the overview with you.'</a:t>
            </a:r>
          </a:p>
          <a:p/>
          <a:p>
            <a:r>
              <a:t>Read the overview paragraph aloud. Then say: 'Let's look at the vocabulary we'll be building in this unit. Some of these words you may have heard before — some may be new. Pay attention to the etymology column on your notes pages. The word roots help you understand the meaning AND help you decode other words with the same roots.'</a:t>
            </a:r>
          </a:p>
          <a:p/>
          <a:p>
            <a:r>
              <a:t>PREVIEW QUESTION: Ask students to predict which of these vocabulary words they think will be most challenging — and why. Quick pair-share.</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VOCABULARY DEEP DIVE</a:t>
            </a:r>
          </a:p>
          <a:p/>
          <a:p>
            <a:r>
              <a:t>Walk through each word slowly. For each one:</a:t>
            </a:r>
          </a:p>
          <a:p>
            <a:r>
              <a:t>1. Read the word aloud — have students repeat it.</a:t>
            </a:r>
          </a:p>
          <a:p>
            <a:r>
              <a:t>2. Break down the etymology. Say: 'Look at the roots in this word. Does anyone know another word with the same root?'</a:t>
            </a:r>
          </a:p>
          <a:p>
            <a:r>
              <a:t>3. Read the definition. Ask: 'Put this in your own words.'</a:t>
            </a:r>
          </a:p>
          <a:p/>
          <a:p>
            <a:r>
              <a:t>MORPHOLOGY TIP: Point out patterns across the unit — e.g., Latin roots that appear in multiple words. Students who learn roots can decode thousands of academic words they've never seen.</a:t>
            </a:r>
          </a:p>
          <a:p/>
          <a:p>
            <a:r>
              <a:t>Have students write ALL words in their Cornell Notes vocabulary box now.</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PRE-TEST — Unit 5</a:t>
            </a:r>
          </a:p>
          <a:p/>
          <a:p>
            <a:r>
              <a:t>SAY: 'Open your workbook to the Unit 5 pre-test page. Answer as completely as you can. This is NOT graded for correctness — it is a snapshot of where you start. Be honest — a blank answer is more useful than a guess.'</a:t>
            </a:r>
          </a:p>
          <a:p/>
          <a:p>
            <a:r>
              <a:t>TIME: 8-10 minutes. Circulate but do not help with content.</a:t>
            </a:r>
          </a:p>
          <a:p/>
          <a:p>
            <a:r>
              <a:t>AFTER: Collect or have students hold their pre-tests. You will return to them at the end of the unit to compare. Quickly preview the unit: 'Here is what we will be able to answer confidently by the end of this unit...'</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5.1: Grades, Credits &amp; GPA at TRHS</a:t>
            </a:r>
          </a:p>
          <a:p/>
          <a:p>
            <a:r>
              <a:t>TYPE: Launch</a:t>
            </a:r>
          </a:p>
          <a:p/>
          <a:p>
            <a:r>
              <a:t>WHY THIS BELL RINGER: Surfaces misconceptions about GPA before the lesson and calculator activity.</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Show of hands for different GPA guesses — don't confirm yet</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5.1: Grades, Credits &amp; GPA at TRHS</a:t>
            </a:r>
          </a:p>
          <a:p/>
          <a:p>
            <a:r>
              <a:t>50-MINUTE BREAKDOWN:</a:t>
            </a:r>
          </a:p>
          <a:p>
            <a:r>
              <a:t>  • Bell Ringer: 5 min</a:t>
            </a:r>
          </a:p>
          <a:p>
            <a:r>
              <a:t>  • Intro &amp; Objectives: 3 min</a:t>
            </a:r>
          </a:p>
          <a:p>
            <a:r>
              <a:t>  • Reading: 10 min</a:t>
            </a:r>
          </a:p>
          <a:p>
            <a:r>
              <a:t>  • Comprehension Questions: 7 min</a:t>
            </a:r>
          </a:p>
          <a:p>
            <a:r>
              <a:t>  • Teaching Content: 8 min</a:t>
            </a:r>
          </a:p>
          <a:p>
            <a:r>
              <a:t>  • Activity: 12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5.1.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'Your Grade, Your GPA, Your Transcript: How Academic Performance Works at TRHS'</a:t>
            </a:r>
          </a:p>
          <a:p/>
          <a:p>
            <a:r>
              <a:t>SAY: 'Turn to the reading page in your workbook — it's right after the Cornell Notes page. Today's reading is about Your Grade, Your GPA, Your Transcript: How Academic Performance Works at TRHS.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'Your Grade, Your GPA, Your Transcript: How Academic Performance Works at TRHS'</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5.1</a:t>
            </a:r>
          </a:p>
          <a:p/>
          <a:p>
            <a:r>
              <a:t>Primary: "What Is a GPA? Weighted vs. Unweighted Explained" — Signet Education (4 min)</a:t>
            </a:r>
          </a:p>
          <a:p>
            <a:r>
              <a:t>URL: https://www.youtube.com/results?search_query=weighted+vs+unweighted+GPA+explained+high+school+transcript</a:t>
            </a:r>
          </a:p>
          <a:p/>
          <a:p>
            <a:r>
              <a:t>Alt option: "How to Use Your School's Grade Portal" — Common Sense Education</a:t>
            </a:r>
          </a:p>
          <a:p>
            <a:r>
              <a:t>URL: https://www.youtube.com/results?search_query=how+to+use+infinite+campus+student+portal+grades</a:t>
            </a:r>
          </a:p>
          <a:p/>
          <a:p>
            <a:r>
              <a:t>WATCH-FOR PROMPT: After watching, can you explain the difference to a parent tonight?</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Portal"</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'How Grades Work at TRHS'</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think GPA is set in stone after a bad semester — it can absolutely be recovered, but it takes sustained effort.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'GPA Practice'</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think GPA is set in stone after a bad semester — it can absolutely be recovered, but it takes sustained effort.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GPA Calculator Practice</a:t>
            </a:r>
          </a:p>
          <a:p/>
          <a:p>
            <a:r>
              <a:t>TIME: 12 minutes</a:t>
            </a:r>
          </a:p>
          <a:p/>
          <a:p>
            <a:r>
              <a:t>SETUP: Write the TRHS grading scale on the board: A=4.0, A-=3.67, B+=3.33, B=3.0, etc. Students will need it to calculate GPA points.</a:t>
            </a:r>
          </a:p>
          <a:p/>
          <a:p>
            <a:r>
              <a:t>FACILITATION:</a:t>
            </a:r>
          </a:p>
          <a:p>
            <a:r>
              <a:t>After calculations, ask: 'Which course would have the most impact if the grade went up one letter? Why?' This builds understanding of weighted grades.</a:t>
            </a:r>
          </a:p>
          <a:p/>
          <a:p>
            <a:r>
              <a:t>DEBRIEF: Compare answers. Ask: 'If this were YOUR transcript, what would you do differently? What habit would you change starting today?'</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'Habits That Protect Your GPA'</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think GPA is set in stone after a bad semester — it can absolutely be recovered, but it takes sustained effort.</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Habits That Protect Your GPA</a:t>
            </a:r>
          </a:p>
          <a:p/>
          <a:p>
            <a:r>
              <a:t>TIME: 12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5.1</a:t>
            </a:r>
          </a:p>
          <a:p/>
          <a:p>
            <a:r>
              <a:t>Format: Quick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5.2: Getting Involved at TRHS</a:t>
            </a:r>
          </a:p>
          <a:p/>
          <a:p>
            <a:r>
              <a:t>TYPE: Review</a:t>
            </a:r>
          </a:p>
          <a:p/>
          <a:p>
            <a:r>
              <a:t>WHY THIS BELL RINGER: Applies lesson 5.1 GPA math before today's lesson on the social-academic skills that protect GPA.</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Calculate with a partner → share the habit</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5.2: Getting Involved at TRHS</a:t>
            </a:r>
          </a:p>
          <a:p/>
          <a:p>
            <a:r>
              <a:t>50-MINUTE BREAKDOWN:</a:t>
            </a:r>
          </a:p>
          <a:p>
            <a:r>
              <a:t>  • Bell Ringer: 5 min</a:t>
            </a:r>
          </a:p>
          <a:p>
            <a:r>
              <a:t>  • Intro &amp; Objectives: 3 min</a:t>
            </a:r>
          </a:p>
          <a:p>
            <a:r>
              <a:t>  • Reading: 10 min</a:t>
            </a:r>
          </a:p>
          <a:p>
            <a:r>
              <a:t>  • Comprehension Questions: 7 min</a:t>
            </a:r>
          </a:p>
          <a:p>
            <a:r>
              <a:t>  • Teaching Content: 10 min</a:t>
            </a:r>
          </a:p>
          <a:p>
            <a:r>
              <a:t>  • Activity: 10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5.2.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'9th Grade Is Different: BARR, Belonging, and the Warrior Way'</a:t>
            </a:r>
          </a:p>
          <a:p/>
          <a:p>
            <a:r>
              <a:t>SAY: 'Turn to the reading page in your workbook — it's right after the Cornell Notes page. Today's reading is about 9th Grade Is Different: BARR, Belonging, and the Warrior Way.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'9th Grade Is Different: BARR, Belonging, and the Warrior Way'</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5.2</a:t>
            </a:r>
          </a:p>
          <a:p/>
          <a:p>
            <a:r>
              <a:t>Primary: "The 9th Grade Cliff — Why Freshman Year Matters Most" — AVID / Alliance for Excellent Education (5 min)</a:t>
            </a:r>
          </a:p>
          <a:p>
            <a:r>
              <a:t>URL: https://www.youtube.com/results?search_query=ninth+grade+cliff+freshman+year+dropout+prevention+BARR</a:t>
            </a:r>
          </a:p>
          <a:p/>
          <a:p>
            <a:r>
              <a:t>Alt option: "What Is BARR? Building Assets, Reducing Risks" — BARR Center</a:t>
            </a:r>
          </a:p>
          <a:p>
            <a:r>
              <a:t>URL: https://www.youtube.com/results?search_query=BARR+Center+Building+Assets+Reducing+Risks+9th+grade</a:t>
            </a:r>
          </a:p>
          <a:p/>
          <a:p>
            <a:r>
              <a:t>WATCH-FOR PROMPT: What is the 'ninth grade cliff' and what are the warning signs?</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Team"</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'The BARR Advantage'</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sometimes think BARR 'does the work' for them — it doesn't. It amplifies the effort you bring.</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'The 'Try One Thing' Challenge'</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sometimes think BARR 'does the work' for them — it doesn't. It amplifies the effort you bring.</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The Try One Thing Commitment</a:t>
            </a:r>
          </a:p>
          <a:p/>
          <a:p>
            <a:r>
              <a:t>TIME: 10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5.2</a:t>
            </a:r>
          </a:p>
          <a:p/>
          <a:p>
            <a:r>
              <a:t>Format: Rating Scale + Reflection</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5.3: Finalizing My Fall Schedule</a:t>
            </a:r>
          </a:p>
          <a:p/>
          <a:p>
            <a:r>
              <a:t>TYPE: Anticipation</a:t>
            </a:r>
          </a:p>
          <a:p/>
          <a:p>
            <a:r>
              <a:t>WHY THIS BELL RINGER: Creates urgency and reveals gaps before today's final schedule review and rationale lesson.</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Compare with a partner — what's different? What did you forget?</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5.3: Finalizing My Fall Schedule</a:t>
            </a:r>
          </a:p>
          <a:p/>
          <a:p>
            <a:r>
              <a:t>50-MINUTE BREAKDOWN:</a:t>
            </a:r>
          </a:p>
          <a:p>
            <a:r>
              <a:t>  • Bell Ringer: 5 min</a:t>
            </a:r>
          </a:p>
          <a:p>
            <a:r>
              <a:t>  • Intro &amp; Objectives: 3 min</a:t>
            </a:r>
          </a:p>
          <a:p>
            <a:r>
              <a:t>  • Reading: 9 min</a:t>
            </a:r>
          </a:p>
          <a:p>
            <a:r>
              <a:t>  • Comprehension Questions: 6 min</a:t>
            </a:r>
          </a:p>
          <a:p>
            <a:r>
              <a:t>  • Teaching Content: 7 min</a:t>
            </a:r>
          </a:p>
          <a:p>
            <a:r>
              <a:t>  • Activity: 15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5.3.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'Choosing Well: Course Selection, Alternates, and the Art of Planning Ahead'</a:t>
            </a:r>
          </a:p>
          <a:p/>
          <a:p>
            <a:r>
              <a:t>SAY: 'Turn to the reading page in your workbook — it's right after the Cornell Notes page. Today's reading is about Choosing Well: Course Selection, Alternates, and the Art of Planning Ahead.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'Choosing Well: Course Selection, Alternates, and the Art of Planning Ahead'</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5.3</a:t>
            </a:r>
          </a:p>
          <a:p/>
          <a:p>
            <a:r>
              <a:t>Primary: "How to Choose High School Classes — Tips from a Counselor" — College Prep Academy (7 min)</a:t>
            </a:r>
          </a:p>
          <a:p>
            <a:r>
              <a:t>URL: https://www.youtube.com/results?search_query=how+to+choose+high+school+classes+course+registration+counselor+tips</a:t>
            </a:r>
          </a:p>
          <a:p/>
          <a:p>
            <a:r>
              <a:t>Alt option: "AP vs. Regular Classes — What's the Difference?" — SupertutorTV</a:t>
            </a:r>
          </a:p>
          <a:p>
            <a:r>
              <a:t>URL: https://www.youtube.com/results?search_query=AP+vs+regular+classes+high+school+which+should+you+take</a:t>
            </a:r>
          </a:p>
          <a:p/>
          <a:p>
            <a:r>
              <a:t>WATCH-FOR PROMPT: What does the counselor say about alternates? Does it change how you're thinking about your choices?</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Alternate"</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'Your Schedule is Your Foundation'</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think alternates are just backups that don't matter — they are equally valid selections and should be chosen intentionally.</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'Finalize &amp; Justify Your Schedule'</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think alternates are just backups that don't matter — they are equally valid selections and should be chosen intentionally.</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Finalize Your Schedule</a:t>
            </a:r>
          </a:p>
          <a:p/>
          <a:p>
            <a:r>
              <a:t>TIME: 15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5.3</a:t>
            </a:r>
          </a:p>
          <a:p/>
          <a:p>
            <a:r>
              <a:t>Format: 3-2-1 Reflection</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 RINGER — Lesson 5.4: TRHS Student Panel</a:t>
            </a:r>
          </a:p>
          <a:p/>
          <a:p>
            <a:r>
              <a:t>TYPE: Review</a:t>
            </a:r>
          </a:p>
          <a:p/>
          <a:p>
            <a:r>
              <a:t>WHY THIS BELL RINGER: Directly generates today's panel question. The vote helps students see which questions are widely shared.</a:t>
            </a:r>
          </a:p>
          <a:p/>
          <a:p>
            <a:r>
              <a:t>FACILITATION:</a:t>
            </a:r>
          </a:p>
          <a:p>
            <a:r>
              <a:t>• Display this slide AS students enter. They should begin writing immediately — no instruction needed.</a:t>
            </a:r>
          </a:p>
          <a:p>
            <a:r>
              <a:t>• Give exactly 3 minutes of silent writing, then 1 minute of pair-share.</a:t>
            </a:r>
          </a:p>
          <a:p>
            <a:r>
              <a:t>• Cold-call 1-2 students (30 sec each) before moving to the lesson title slide.</a:t>
            </a:r>
          </a:p>
          <a:p>
            <a:r>
              <a:t>• Total target: 5 minutes from door to transition.</a:t>
            </a:r>
          </a:p>
          <a:p/>
          <a:p>
            <a:r>
              <a:t>SHARE STRATEGY: Each student reads their question — class thumbs up if it's one they also want answered</a:t>
            </a:r>
          </a:p>
          <a:p/>
          <a:p>
            <a:r>
              <a:t>DO NOT OVER-DEBRIEF: The bell ringer is a warm engine, not the main event. Acknowledge good responses, make the connection explicit,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TITLE SLIDE — Lesson 5.4: TRHS Student Panel</a:t>
            </a:r>
          </a:p>
          <a:p/>
          <a:p>
            <a:r>
              <a:t>50-MINUTE BREAKDOWN:</a:t>
            </a:r>
          </a:p>
          <a:p>
            <a:r>
              <a:t>  • Bell Ringer: 5 min</a:t>
            </a:r>
          </a:p>
          <a:p>
            <a:r>
              <a:t>  • Intro &amp; Objectives: 3 min</a:t>
            </a:r>
          </a:p>
          <a:p>
            <a:r>
              <a:t>  • Reading: 8 min</a:t>
            </a:r>
          </a:p>
          <a:p>
            <a:r>
              <a:t>  • Comprehension Questions: 5 min</a:t>
            </a:r>
          </a:p>
          <a:p>
            <a:r>
              <a:t>  • Teaching Content: 4 min</a:t>
            </a:r>
          </a:p>
          <a:p>
            <a:r>
              <a:t>  • Activity: 25 min</a:t>
            </a:r>
          </a:p>
          <a:p>
            <a:r>
              <a:t>  • Exit Ticket: 5 min</a:t>
            </a:r>
          </a:p>
          <a:p/>
          <a:p>
            <a:r>
              <a:t>PACING NOTES:</a:t>
            </a:r>
          </a:p>
          <a:p>
            <a:r>
              <a:t>• If the reading takes longer than planned, trim the content discussion — the activity is the anchor for this lesson.</a:t>
            </a:r>
          </a:p>
          <a:p>
            <a:r>
              <a:t>• If the activity is running long, give a 2-minute warning and have students complete the most important section only — debrief with a partner.</a:t>
            </a:r>
          </a:p>
          <a:p>
            <a:r>
              <a:t>• The exit ticket is non-negotiable. Build in a habit of ending with 5 clear minutes. Students who know they must write at the end stay more engaged throughout.</a:t>
            </a:r>
          </a:p>
          <a:p/>
          <a:p>
            <a:r>
              <a:t>SAY: 'Open your workbook to Lesson 5.4. Start with the Cornell Notes page.'</a:t>
            </a:r>
          </a:p>
          <a:p/>
          <a:p>
            <a:r>
              <a:t>WORD FOCUS: Read the word, etymology, and definition aloud. Ask: 'What other words do you know that share these roots?' Give 30 seconds for pair-share.</a:t>
            </a:r>
          </a:p>
          <a:p/>
          <a:p>
            <a:r>
              <a:t>OBJECTIVES: Read each one aloud. Say: 'By the end of class, you should be able to do all three of these. Keep them in mind as we work through the lesson.'</a:t>
            </a:r>
          </a:p>
          <a:p/>
          <a:p>
            <a:r>
              <a:t>SCAFFOLDING LEVEL 4: Level 4 — Full independence (blank Cornell format)</a:t>
            </a:r>
          </a:p>
          <a:p/>
          <a:p>
            <a:r>
              <a:t>TEACHER TIP: Early lessons have notes provided in the workbook. Gradually reduce support across the semester so students build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INTRO — 'The Art of Asking Good Questions'</a:t>
            </a:r>
          </a:p>
          <a:p/>
          <a:p>
            <a:r>
              <a:t>SAY: 'Turn to the reading page in your workbook — it's right after the Cornell Notes page. Today's reading is about The Art of Asking Good Questions. Before you start, make sure your annotation system is fresh in your mind.'</a:t>
            </a:r>
          </a:p>
          <a:p/>
          <a:p>
            <a:r>
              <a:t>READING OPTIONS (choose based on your class):</a:t>
            </a:r>
          </a:p>
          <a:p>
            <a:r>
              <a:t>  A) Independent silent reading (fastest)</a:t>
            </a:r>
          </a:p>
          <a:p>
            <a:r>
              <a:t>  B) Popcorn read — students take turns reading paragraphs aloud</a:t>
            </a:r>
          </a:p>
          <a:p>
            <a:r>
              <a:t>  C) Partner read — pairs read to each other</a:t>
            </a:r>
          </a:p>
          <a:p>
            <a:r>
              <a:t>  D) You read it aloud while students follow and annotate</a:t>
            </a:r>
          </a:p>
          <a:p/>
          <a:p>
            <a:r>
              <a:t>ANNOTATION REMINDER: Say 'I want to see at least 4 annotation marks per paragraph by the time we finish. That means you are actually thinking, not just reading.'</a:t>
            </a:r>
          </a:p>
          <a:p/>
          <a:p>
            <a:r>
              <a:t>TIME: 10 minutes for reading, 8 minutes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1–2</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 Paragraph(s) 3–4</a:t>
            </a:r>
          </a:p>
          <a:p/>
          <a:p>
            <a:r>
              <a:t>FACILITATION: Read paragraph by paragraph (or have students read). After each paragraph, pause and ask: 'What symbol did you put in the margin and why?'</a:t>
            </a:r>
          </a:p>
          <a:p/>
          <a:p>
            <a:r>
              <a:t>VOCABULARY SUPPORT: If students encounter an unknown word, direct them to:</a:t>
            </a:r>
          </a:p>
          <a:p>
            <a:r>
              <a:t>  1. Read the surrounding sentences for context clues</a:t>
            </a:r>
          </a:p>
          <a:p>
            <a:r>
              <a:t>  2. Break the word into parts (prefix, root, suffix)</a:t>
            </a:r>
          </a:p>
          <a:p>
            <a:r>
              <a:t>  3. Make a best guess and keep reading</a:t>
            </a:r>
          </a:p>
          <a:p/>
          <a:p>
            <a:r>
              <a:t>COMPREHENSION CHECK: After each paragraph, you can cold-call: 'In one sentence, what was that paragraph about?'</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 QUESTIONS — 'The Art of Asking Good Questions'</a:t>
            </a:r>
          </a:p>
          <a:p/>
          <a:p>
            <a:r>
              <a:t>SAY: 'Now turn to the questions section on your reading page. Work independently for 6-8 minutes, then we will share out.'</a:t>
            </a:r>
          </a:p>
          <a:p/>
          <a:p>
            <a:r>
              <a:t>DEBRIEF STRATEGY:</a:t>
            </a:r>
          </a:p>
          <a:p>
            <a:r>
              <a:t>• Cold-call for Q1-2 (factual comprehension)</a:t>
            </a:r>
          </a:p>
          <a:p>
            <a:r>
              <a:t>• Pair-share for Q3-4 (analysis/interpretation)</a:t>
            </a:r>
          </a:p>
          <a:p>
            <a:r>
              <a:t>• Whole class discussion for Q5 (synthesis/personal connection)</a:t>
            </a:r>
          </a:p>
          <a:p/>
          <a:p>
            <a:r>
              <a:t>DIFFERENTIATION:</a:t>
            </a:r>
          </a:p>
          <a:p>
            <a:r>
              <a:t>• Students who finish early: write a follow-up question they would ask the author</a:t>
            </a:r>
          </a:p>
          <a:p>
            <a:r>
              <a:t>• Students who struggle: work in pairs, or focus on Q1 and Q3 only</a:t>
            </a:r>
          </a:p>
          <a:p/>
          <a:p>
            <a:r>
              <a:t>TRANSITION: After debrief, say: 'The reading gave us the foundation. Now let's dig deeper into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RESOURCE — Lesson 5.4</a:t>
            </a:r>
          </a:p>
          <a:p/>
          <a:p>
            <a:r>
              <a:t>Primary: "How to Ask Better Questions — The Art of Curiosity" — TED-Ed (5 min)</a:t>
            </a:r>
          </a:p>
          <a:p>
            <a:r>
              <a:t>URL: https://www.youtube.com/results?search_query=TED+Ed+how+to+ask+better+questions+curiosity+learning</a:t>
            </a:r>
          </a:p>
          <a:p/>
          <a:p>
            <a:r>
              <a:t>Alt option: "Active Listening — The Skill Nobody Teaches" — Improvement Pill</a:t>
            </a:r>
          </a:p>
          <a:p>
            <a:r>
              <a:t>URL: https://www.youtube.com/results?search_query=active+listening+skill+tips+improvement+pill</a:t>
            </a:r>
          </a:p>
          <a:p/>
          <a:p>
            <a:r>
              <a:t>WATCH-FOR PROMPT: What is the one question technique they say gets the most useful answers?</a:t>
            </a:r>
          </a:p>
          <a:p/>
          <a:p>
            <a:r>
              <a:t>FACILITATION:</a:t>
            </a:r>
          </a:p>
          <a:p>
            <a:r>
              <a:t>• Click the button to open YouTube (internet required)</a:t>
            </a:r>
          </a:p>
          <a:p>
            <a:r>
              <a:t>• Tell students the 'As You Watch' prompt BEFORE starting the video</a:t>
            </a:r>
          </a:p>
          <a:p>
            <a:r>
              <a:t>• After the video: 60-second pair-share, then cold-call 1-2 students</a:t>
            </a:r>
          </a:p>
          <a:p>
            <a:r>
              <a:t>• Note: if YouTube is blocked on school network, search the title in   SchoolTube or Common Sense Media, or download ahead of time with   a district-approved tool.</a:t>
            </a:r>
          </a:p>
          <a:p/>
          <a:p>
            <a:r>
              <a:t>TIMING: This slide is optional — use when time allows after the reading or as a hook before the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STORY — "The Question Worth Asking"</a:t>
            </a:r>
          </a:p>
          <a:p/>
          <a:p>
            <a:r>
              <a:t>SAY: 'Turn to the discussion story page in your workbook — it's right after the informational reading. Today we're going to read a short story about four 8th graders: Maya, Jordan, Priya, and Eli. You'll be meeting them all semester.'</a:t>
            </a:r>
          </a:p>
          <a:p/>
          <a:p>
            <a:r>
              <a:t>READ-ALOUD OPTIONS:</a:t>
            </a:r>
          </a:p>
          <a:p>
            <a:r>
              <a:t>  A) Teacher reads aloud while students follow in workbook</a:t>
            </a:r>
          </a:p>
          <a:p>
            <a:r>
              <a:t>  B) Assign a student to each character — they read that character's lines</a:t>
            </a:r>
          </a:p>
          <a:p>
            <a:r>
              <a:t>  C) Students read silently in pairs, then discuss</a:t>
            </a:r>
          </a:p>
          <a:p/>
          <a:p>
            <a:r>
              <a:t>AFTER READING (before the questions): 'Which character felt most familiar to you — not who you want to be, but who you actually recognized?' 30-second pair-share before moving to questions.</a:t>
            </a:r>
          </a:p>
          <a:p/>
          <a:p>
            <a:r>
              <a:t>TONE: These stories don't resolve neatly. That's intentional. The tension is the discussion point. Resist the urge to tell students what the characters should have done — let them figure it out.</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DEBRIEF</a:t>
            </a:r>
          </a:p>
          <a:p/>
          <a:p>
            <a:r>
              <a:t>FACILITATION SEQUENCE:</a:t>
            </a:r>
          </a:p>
          <a:p>
            <a:r>
              <a:t>1. Pairs discuss all 4 questions (5 min)</a:t>
            </a:r>
          </a:p>
          <a:p>
            <a:r>
              <a:t>2. Cold-call Q1 — factual/observation level (who said/did what)</a:t>
            </a:r>
          </a:p>
          <a:p>
            <a:r>
              <a:t>3. Pair-share Q3 or Q4 — personal connection (which character are you?)</a:t>
            </a:r>
          </a:p>
          <a:p>
            <a:r>
              <a:t>4. Whole class for Q4 — the 'what would you do' question</a:t>
            </a:r>
          </a:p>
          <a:p/>
          <a:p>
            <a:r>
              <a:t>TRANSITION: 'The story shows us the problem. The lesson content and activity give us the tools. Let's go deeper.'</a:t>
            </a:r>
          </a:p>
          <a:p/>
          <a:p>
            <a:r>
              <a:t>DISCUSSION NORMS REMINDER: Remind students that honest answers are more valuable than impressive-sounding ones. The point is to recognize the real situation — not to pretend they'd always make the right choice.</a:t>
            </a:r>
          </a:p>
          <a:p/>
          <a:p>
            <a:r>
              <a:t>CONNECTION TO LESSON: Each question leads directly into the lesson's core concept. If discussion stalls, use the question as a bridge: 'What we're about to learn gives us the answer to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'Preparing Your Questions'</a:t>
            </a:r>
          </a:p>
          <a:p/>
          <a:p>
            <a:r>
              <a:t>TALK TRACK:</a:t>
            </a:r>
          </a:p>
          <a:p>
            <a:r>
              <a:t>SAY: 'Let's dig into the content. The reading gave us the big picture — now we are going to break down the details.'</a:t>
            </a:r>
          </a:p>
          <a:p/>
          <a:p>
            <a:r>
              <a:t>Read the section aloud or paraphrase it. Stop after each bold term: 'What does that mean in your own words?' Give 20 seconds before continuing.</a:t>
            </a:r>
          </a:p>
          <a:p/>
          <a:p>
            <a:r>
              <a:t>Direct students to their Cornell Notes right column: 'Write down at least 3 key ideas from this section before we move on.'</a:t>
            </a:r>
          </a:p>
          <a:p/>
          <a:p>
            <a:r>
              <a:t>AFTER READING: Ask students to add at least ONE item to their Cornell Notes right column before you move on.</a:t>
            </a:r>
          </a:p>
          <a:p/>
          <a:p>
            <a:r>
              <a:t>COMMON MISCONCEPTION TO ADDRESS: Students assume they should ask impressive-sounding questions for the panel. The best questions are honest ones.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Panel Question Preparation</a:t>
            </a:r>
          </a:p>
          <a:p/>
          <a:p>
            <a:r>
              <a:t>TIME: 25 minutes</a:t>
            </a:r>
          </a:p>
          <a:p/>
          <a:p>
            <a:r>
              <a:t>SETUP: Read the directions aloud. Clarify before students begin. Circulate during the activity.</a:t>
            </a:r>
          </a:p>
          <a:p/>
          <a:p>
            <a:r>
              <a:t>FACILITATION:</a:t>
            </a:r>
          </a:p>
          <a:p>
            <a:r>
              <a:t>Circulate during the activity. Ask guiding questions. Call time and debrief with 2-3 student shares.</a:t>
            </a:r>
          </a:p>
          <a:p/>
          <a:p>
            <a:r>
              <a:t>DEBRIEF: Cold-call 2-3 students to share. Connect back to the lesson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SLIDE: 'Panel Notes'</a:t>
            </a:r>
          </a:p>
          <a:p/>
          <a:p>
            <a:r>
              <a:t>TALK TRACK:</a:t>
            </a:r>
          </a:p>
          <a:p>
            <a:r>
              <a:t>SAY: 'We are going deeper now. This section builds directly on what we just discussed.'</a:t>
            </a:r>
          </a:p>
          <a:p/>
          <a:p>
            <a:r>
              <a:t>Before reading: ask students to predict — 'Based on what you know so far, what do you think this section will cover?'</a:t>
            </a:r>
          </a:p>
          <a:p/>
          <a:p>
            <a:r>
              <a:t>After reading: 'What is the connection between this section and the first one?'</a:t>
            </a:r>
          </a:p>
          <a:p/>
          <a:p>
            <a:r>
              <a:t>AFTER READING: Ask students to add at least ONE item to their Cornell Notes right column before you move on.</a:t>
            </a:r>
          </a:p>
          <a:p/>
          <a:p>
            <a:r>
              <a:t>COMMON MISCONCEPTION TO ADDRESS: Students assume they should ask impressive-sounding questions for the panel. The best questions are honest ones.</a:t>
            </a:r>
          </a:p>
          <a:p/>
          <a:p>
            <a:r>
              <a:t>DIFFERENTIATION:</a:t>
            </a:r>
          </a:p>
          <a:p>
            <a:r>
              <a:t>• Advanced: Ask students to identify a claim in the content that could be questioned or that needs more evidence.</a:t>
            </a:r>
          </a:p>
          <a:p>
            <a:r>
              <a:t>• Support: Provide the key sentence: 'The most important idea here is ___.'</a:t>
            </a:r>
          </a:p>
          <a:p>
            <a:r>
              <a:t>  Have students copy it and then explain it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Student Panel Notes</a:t>
            </a:r>
          </a:p>
          <a:p/>
          <a:p>
            <a:r>
              <a:t>TIME: 25 minutes</a:t>
            </a:r>
          </a:p>
          <a:p/>
          <a:p>
            <a:r>
              <a:t>SETUP: Brief panelists privately before class. Remind them: be honest, not just positive. Ask them to prepare one moment they struggled and how they handled it.</a:t>
            </a:r>
          </a:p>
          <a:p/>
          <a:p>
            <a:r>
              <a:t>FACILITATION:</a:t>
            </a:r>
          </a:p>
          <a:p>
            <a:r>
              <a:t>During the panel: intervene if panelists give vague answers. Say: 'Can you give a specific example of that?' Let student questions drive the discussion.</a:t>
            </a:r>
          </a:p>
          <a:p/>
          <a:p>
            <a:r>
              <a:t>DEBRIEF: Give 3 minutes for students to write their exit ticket before the panel ends. The most important thing you heard becomes the exit ticket.</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 Lesson 5.4</a:t>
            </a:r>
          </a:p>
          <a:p/>
          <a:p>
            <a:r>
              <a:t>Format: Synthesis Write</a:t>
            </a:r>
          </a:p>
          <a:p/>
          <a:p>
            <a:r>
              <a:t>SAY: 'You have 4-5 minutes for the exit ticket in your workbook. Complete it before you leave — it's your ticket out the door.'</a:t>
            </a:r>
          </a:p>
          <a:p/>
          <a:p>
            <a:r>
              <a:t>COLLECTION OPTIONS:</a:t>
            </a:r>
          </a:p>
          <a:p>
            <a:r>
              <a:t>  A) Collect workbooks at the door (or remove and collect just the exit ticket page)</a:t>
            </a:r>
          </a:p>
          <a:p>
            <a:r>
              <a:t>  B) Quick pair-share before collecting</a:t>
            </a:r>
          </a:p>
          <a:p>
            <a:r>
              <a:t>  C) Cold-call 2 students to share their response with the class</a:t>
            </a:r>
          </a:p>
          <a:p/>
          <a:p>
            <a:r>
              <a:t>HOW TO USE RESPONSES:</a:t>
            </a:r>
          </a:p>
          <a:p>
            <a:r>
              <a:t>• Review quickly before next class — identify 2-3 strong examples to share anonymously</a:t>
            </a:r>
          </a:p>
          <a:p>
            <a:r>
              <a:t>• Note students who are confused — address in next lesson's warm-up</a:t>
            </a:r>
          </a:p>
          <a:p>
            <a:r>
              <a:t>• If many students missed the key idea, start next lesson with a 2-minute clarification before moving forward</a:t>
            </a:r>
          </a:p>
          <a:p/>
          <a:p>
            <a:r>
              <a:t>NEXT LESSON: Connect the exit ticket insight to the opening of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POST-TEST — Unit 5</a:t>
            </a:r>
          </a:p>
          <a:p/>
          <a:p>
            <a:r>
              <a:t>SAY: 'Before you write, spend 2 minutes flipping through your Cornell Notes and reading pages from this unit. This is an open-notes assessment.'</a:t>
            </a:r>
          </a:p>
          <a:p/>
          <a:p>
            <a:r>
              <a:t>TIME: 12-15 minutes for writing, 3 minutes for growth comparison.</a:t>
            </a:r>
          </a:p>
          <a:p/>
          <a:p>
            <a:r>
              <a:t>GROWTH CHECK: This is one of the most powerful moments in the unit. Have students physically flip back to their pre-test and identify 3 specific things that changed. Ask 2-3 students to share what changed for them.</a:t>
            </a:r>
          </a:p>
          <a:p/>
          <a:p>
            <a:r>
              <a:t>ASSESSMENT: Score on: vocabulary use (correct, not just mentioned), specificity (real examples, not vague claims), and connection to personal plan.</a:t>
            </a:r>
          </a:p>
          <a:p/>
          <a:p>
            <a:r>
              <a:t>TRANSITION: Say 'Great work on Unit 5. Let's take everything we learned and carry it into Unit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Building+the+Brain%27s+Air+Traffic+Control+System+Harvard"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crash+course+study+skills+executive+function" TargetMode="External"/><Relationship Id="rId3" Type="http://schemas.openxmlformats.org/officeDocument/2006/relationships/hyperlink" Target="https://www.youtube.com/results?search_query=Building+the+Brain%27s+Air+Traffic+Control+System+Harvard"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Eisenhower+Matrix+explained+Sprouts"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Thomas+Frank+how+to+plan+your+week+effectively" TargetMode="External"/><Relationship Id="rId3" Type="http://schemas.openxmlformats.org/officeDocument/2006/relationships/hyperlink" Target="https://www.youtube.com/results?search_query=Eisenhower+Matrix+explained+Sprouts"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multitasking+myth+brain+neuroscience+national+geographic"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cal+newport+deep+work+TEDx+focus" TargetMode="External"/><Relationship Id="rId3" Type="http://schemas.openxmlformats.org/officeDocument/2006/relationships/hyperlink" Target="https://www.youtube.com/results?search_query=multitasking+myth+brain+neuroscience+national+geographic"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Angela+Duckworth+grit+power+passion+perseverance+TED" TargetMode="Externa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marshmallow+test+self+control+science+explained" TargetMode="External"/><Relationship Id="rId3" Type="http://schemas.openxmlformats.org/officeDocument/2006/relationships/hyperlink" Target="https://www.youtube.com/results?search_query=Angela+Duckworth+grit+power+passion+perseverance+TED" TargetMode="Externa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Minnesota+career+fields+clusters+pathways+MDE+students" TargetMode="Externa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w+to+choose+a+career+you+love+big+think" TargetMode="External"/><Relationship Id="rId3" Type="http://schemas.openxmlformats.org/officeDocument/2006/relationships/hyperlink" Target="https://www.youtube.com/results?search_query=Minnesota+career+fields+clusters+pathways+MDE+students" TargetMode="Externa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CareerOneStop+skilled+trades+healthcare+day+in+the+life" TargetMode="Externa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Mike+Rowe+skilled+trades+TED+talk" TargetMode="External"/><Relationship Id="rId3" Type="http://schemas.openxmlformats.org/officeDocument/2006/relationships/hyperlink" Target="https://www.youtube.com/results?search_query=CareerOneStop+skilled+trades+healthcare+day+in+the+life" TargetMode="Externa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CareerOneStop+careers+arts+business+technology+salary" TargetMode="Externa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code.org+computer+science+changing+everything" TargetMode="External"/><Relationship Id="rId3" Type="http://schemas.openxmlformats.org/officeDocument/2006/relationships/hyperlink" Target="https://www.youtube.com/results?search_query=CareerOneStop+careers+arts+business+technology+salary" TargetMode="Externa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CareerOneStop+agriculture+natural+resources+careers" TargetMode="Externa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lland+code+RIASEC+career+personality+TED+Ed" TargetMode="External"/><Relationship Id="rId3" Type="http://schemas.openxmlformats.org/officeDocument/2006/relationships/hyperlink" Target="https://www.youtube.com/results?search_query=CareerOneStop+agriculture+natural+resources+careers" TargetMode="Externa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Thomas+Frank+active+reading+strategies+annotation" TargetMode="Externa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brain+neuroplasticity+reading+learning+scishow" TargetMode="External"/><Relationship Id="rId3" Type="http://schemas.openxmlformats.org/officeDocument/2006/relationships/hyperlink" Target="https://www.youtube.com/results?search_query=Thomas+Frank+active+reading+strategies+annotation" TargetMode="External"/><Relationship Id="rId4"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Thomas+Frank+how+to+write+first+draft+without+getting+stuck" TargetMode="Externa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crash+course+english+writing+process+drafting" TargetMode="External"/><Relationship Id="rId3" Type="http://schemas.openxmlformats.org/officeDocument/2006/relationships/hyperlink" Target="https://www.youtube.com/results?search_query=Thomas+Frank+how+to+write+first+draft+without+getting+stuck" TargetMode="External"/><Relationship Id="rId4"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w+to+study+effectively+retrieval+spacing+interleaving+Sprouts" TargetMode="Externa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Feynman+technique+learn+anything+faster+Thomas+Frank" TargetMode="External"/><Relationship Id="rId3" Type="http://schemas.openxmlformats.org/officeDocument/2006/relationships/hyperlink" Target="https://www.youtube.com/results?search_query=how+to+study+effectively+retrieval+spacing+interleaving+Sprouts" TargetMode="External"/><Relationship Id="rId4"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w+to+ask+for+help+effectively+self+advocacy+students" TargetMode="Externa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backward+planning+project+management+students+deadline" TargetMode="External"/><Relationship Id="rId3" Type="http://schemas.openxmlformats.org/officeDocument/2006/relationships/hyperlink" Target="https://www.youtube.com/results?search_query=how+to+ask+for+help+effectively+self+advocacy+students" TargetMode="External"/><Relationship Id="rId4"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igh+school+101+what+you+need+to+know+before+9th+grade" TargetMode="Externa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w+GPA+works+weighted+unweighted+explained+high+school" TargetMode="External"/><Relationship Id="rId3" Type="http://schemas.openxmlformats.org/officeDocument/2006/relationships/hyperlink" Target="https://www.youtube.com/results?search_query=high+school+101+what+you+need+to+know+before+9th+grade" TargetMode="External"/><Relationship Id="rId4"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w+to+build+high+school+schedule+course+selection+counselor" TargetMode="Externa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ISD+197+Two+Rivers+High+School+Warrior+Seminar" TargetMode="External"/><Relationship Id="rId3" Type="http://schemas.openxmlformats.org/officeDocument/2006/relationships/hyperlink" Target="https://www.youtube.com/results?search_query=how+to+build+high+school+schedule+course+selection+counselor" TargetMode="External"/><Relationship Id="rId4"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why+join+extracurricular+activities+high+school+research+benefits" TargetMode="Externa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student+athlete+time+management+high+school+TED+Ed" TargetMode="External"/><Relationship Id="rId3" Type="http://schemas.openxmlformats.org/officeDocument/2006/relationships/hyperlink" Target="https://www.youtube.com/results?search_query=why+join+extracurricular+activities+high+school+research+benefits" TargetMode="External"/><Relationship Id="rId4"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Matthew+Walker+sleep+is+your+superpower+TED" TargetMode="Externa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time+management+high+school+student+daily+schedule+tips" TargetMode="External"/><Relationship Id="rId3" Type="http://schemas.openxmlformats.org/officeDocument/2006/relationships/hyperlink" Target="https://www.youtube.com/results?search_query=Matthew+Walker+sleep+is+your+superpower+TED" TargetMode="External"/><Relationship Id="rId4"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weighted+vs+unweighted+GPA+explained+high+school+transcript" TargetMode="Externa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w+to+use+infinite+campus+student+portal+grades" TargetMode="External"/><Relationship Id="rId3" Type="http://schemas.openxmlformats.org/officeDocument/2006/relationships/hyperlink" Target="https://www.youtube.com/results?search_query=weighted+vs+unweighted+GPA+explained+high+school+transcript" TargetMode="External"/><Relationship Id="rId4"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ninth+grade+cliff+freshman+year+dropout+prevention+BARR" TargetMode="Externa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BARR+Center+Building+Assets+Reducing+Risks+9th+grade" TargetMode="External"/><Relationship Id="rId3" Type="http://schemas.openxmlformats.org/officeDocument/2006/relationships/hyperlink" Target="https://www.youtube.com/results?search_query=ninth+grade+cliff+freshman+year+dropout+prevention+BARR" TargetMode="External"/><Relationship Id="rId4"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how+to+choose+high+school+classes+course+registration+counselor+tips" TargetMode="Externa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AP+vs+regular+classes+high+school+which+should+you+take" TargetMode="External"/><Relationship Id="rId3" Type="http://schemas.openxmlformats.org/officeDocument/2006/relationships/hyperlink" Target="https://www.youtube.com/results?search_query=how+to+choose+high+school+classes+course+registration+counselor+tips" TargetMode="External"/><Relationship Id="rId4"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TED+Ed+how+to+ask+better+questions+curiosity+learning" TargetMode="External"/><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results?search_query=active+listening+skill+tips+improvement+pill" TargetMode="External"/><Relationship Id="rId3" Type="http://schemas.openxmlformats.org/officeDocument/2006/relationships/hyperlink" Target="https://www.youtube.com/results?search_query=TED+Ed+how+to+ask+better+questions+curiosity+learning" TargetMode="External"/><Relationship Id="rId4"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8229600" cy="1463040"/>
          </a:xfrm>
          <a:prstGeom prst="rect">
            <a:avLst/>
          </a:prstGeom>
          <a:noFill/>
        </p:spPr>
        <p:txBody>
          <a:bodyPr wrap="square">
            <a:spAutoFit/>
          </a:bodyPr>
          <a:lstStyle/>
          <a:p>
            <a:pPr algn="ctr"/>
            <a:r>
              <a:rPr sz="5200" b="1" i="0">
                <a:solidFill>
                  <a:srgbClr val="FFFFFF"/>
                </a:solidFill>
              </a:rPr>
              <a:t>Warrior Prep</a:t>
            </a:r>
          </a:p>
        </p:txBody>
      </p:sp>
      <p:sp>
        <p:nvSpPr>
          <p:cNvPr id="5" name="TextBox 4"/>
          <p:cNvSpPr txBox="1"/>
          <p:nvPr/>
        </p:nvSpPr>
        <p:spPr>
          <a:xfrm>
            <a:off x="457200" y="2697480"/>
            <a:ext cx="8229600" cy="640080"/>
          </a:xfrm>
          <a:prstGeom prst="rect">
            <a:avLst/>
          </a:prstGeom>
          <a:noFill/>
        </p:spPr>
        <p:txBody>
          <a:bodyPr wrap="square">
            <a:spAutoFit/>
          </a:bodyPr>
          <a:lstStyle/>
          <a:p>
            <a:pPr algn="ctr"/>
            <a:r>
              <a:rPr sz="2200" b="0" i="0">
                <a:solidFill>
                  <a:srgbClr val="F5E0B2"/>
                </a:solidFill>
              </a:rPr>
              <a:t>Teacher Slide Deck</a:t>
            </a:r>
          </a:p>
        </p:txBody>
      </p:sp>
      <p:sp>
        <p:nvSpPr>
          <p:cNvPr id="6" name="TextBox 5"/>
          <p:cNvSpPr txBox="1"/>
          <p:nvPr/>
        </p:nvSpPr>
        <p:spPr>
          <a:xfrm>
            <a:off x="457200" y="3429000"/>
            <a:ext cx="8229600" cy="457200"/>
          </a:xfrm>
          <a:prstGeom prst="rect">
            <a:avLst/>
          </a:prstGeom>
          <a:noFill/>
        </p:spPr>
        <p:txBody>
          <a:bodyPr wrap="square">
            <a:spAutoFit/>
          </a:bodyPr>
          <a:lstStyle/>
          <a:p>
            <a:pPr algn="ctr"/>
            <a:r>
              <a:rPr sz="1300" b="0" i="0">
                <a:solidFill>
                  <a:srgbClr val="FFFFFF"/>
                </a:solidFill>
              </a:rPr>
              <a:t>Grade 8  ·  Semester Elective  ·  ISD 197 – Two Rivers High School</a:t>
            </a:r>
          </a:p>
        </p:txBody>
      </p:sp>
      <p:sp>
        <p:nvSpPr>
          <p:cNvPr id="7" name="Rectangle 6"/>
          <p:cNvSpPr/>
          <p:nvPr/>
        </p:nvSpPr>
        <p:spPr>
          <a:xfrm>
            <a:off x="1828800" y="4114800"/>
            <a:ext cx="5486400" cy="27432"/>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297680"/>
            <a:ext cx="8229600" cy="914400"/>
          </a:xfrm>
          <a:prstGeom prst="rect">
            <a:avLst/>
          </a:prstGeom>
          <a:noFill/>
        </p:spPr>
        <p:txBody>
          <a:bodyPr wrap="square">
            <a:spAutoFit/>
          </a:bodyPr>
          <a:lstStyle/>
          <a:p>
            <a:pPr algn="ctr"/>
            <a:r>
              <a:rPr sz="1100" b="0" i="1">
                <a:solidFill>
                  <a:srgbClr val="F5E0B2"/>
                </a:solidFill>
              </a:rPr>
              <a:t>Each lesson slide deck includes: reading slides · comprehension questions
teaching content · activity directions · exit ticket
Teacher notes (in Notes panel) include full talk tracks for every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C61414"/>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8229600" cy="502920"/>
          </a:xfrm>
          <a:prstGeom prst="rect">
            <a:avLst/>
          </a:prstGeom>
          <a:noFill/>
        </p:spPr>
        <p:txBody>
          <a:bodyPr wrap="square">
            <a:spAutoFit/>
          </a:bodyPr>
          <a:lstStyle/>
          <a:p>
            <a:pPr algn="l"/>
            <a:r>
              <a:rPr sz="2000" b="0" i="0">
                <a:solidFill>
                  <a:srgbClr val="F5E0B2"/>
                </a:solidFill>
              </a:rPr>
              <a:t>UNIT 1</a:t>
            </a:r>
          </a:p>
        </p:txBody>
      </p:sp>
      <p:sp>
        <p:nvSpPr>
          <p:cNvPr id="5" name="TextBox 4"/>
          <p:cNvSpPr txBox="1"/>
          <p:nvPr/>
        </p:nvSpPr>
        <p:spPr>
          <a:xfrm>
            <a:off x="457200" y="1234440"/>
            <a:ext cx="8229600" cy="1188720"/>
          </a:xfrm>
          <a:prstGeom prst="rect">
            <a:avLst/>
          </a:prstGeom>
          <a:noFill/>
        </p:spPr>
        <p:txBody>
          <a:bodyPr wrap="square">
            <a:spAutoFit/>
          </a:bodyPr>
          <a:lstStyle/>
          <a:p>
            <a:pPr algn="l"/>
            <a:r>
              <a:rPr sz="3800" b="1" i="0">
                <a:solidFill>
                  <a:srgbClr val="FFFFFF"/>
                </a:solidFill>
              </a:rPr>
              <a:t>Executive Functioning</a:t>
            </a:r>
          </a:p>
        </p:txBody>
      </p:sp>
      <p:sp>
        <p:nvSpPr>
          <p:cNvPr id="6" name="Rectangle 5"/>
          <p:cNvSpPr/>
          <p:nvPr/>
        </p:nvSpPr>
        <p:spPr>
          <a:xfrm>
            <a:off x="457200" y="2514600"/>
            <a:ext cx="4114800" cy="457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697480"/>
            <a:ext cx="8229600" cy="1828800"/>
          </a:xfrm>
          <a:prstGeom prst="rect">
            <a:avLst/>
          </a:prstGeom>
          <a:noFill/>
        </p:spPr>
        <p:txBody>
          <a:bodyPr wrap="square">
            <a:spAutoFit/>
          </a:bodyPr>
          <a:lstStyle/>
          <a:p>
            <a:pPr algn="l"/>
            <a:r>
              <a:rPr sz="1400" b="0" i="0">
                <a:solidFill>
                  <a:srgbClr val="FFFFFF"/>
                </a:solidFill>
              </a:rPr>
              <a:t>In this unit you will explore what executive functioning means, why it matters for school and life, and how high-performing students develop the habits and strategies that help them stay organized, focused, and in control of their learning.</a:t>
            </a:r>
          </a:p>
        </p:txBody>
      </p:sp>
      <p:sp>
        <p:nvSpPr>
          <p:cNvPr id="8" name="TextBox 7"/>
          <p:cNvSpPr txBox="1"/>
          <p:nvPr/>
        </p:nvSpPr>
        <p:spPr>
          <a:xfrm>
            <a:off x="457200" y="4663440"/>
            <a:ext cx="8229600" cy="347472"/>
          </a:xfrm>
          <a:prstGeom prst="rect">
            <a:avLst/>
          </a:prstGeom>
          <a:noFill/>
        </p:spPr>
        <p:txBody>
          <a:bodyPr wrap="square">
            <a:spAutoFit/>
          </a:bodyPr>
          <a:lstStyle/>
          <a:p>
            <a:pPr algn="l"/>
            <a:r>
              <a:rPr sz="1300" b="1" i="0">
                <a:solidFill>
                  <a:srgbClr val="F5E0B2"/>
                </a:solidFill>
              </a:rPr>
              <a:t>Unit Vocabulary</a:t>
            </a:r>
          </a:p>
        </p:txBody>
      </p:sp>
      <p:sp>
        <p:nvSpPr>
          <p:cNvPr id="9" name="TextBox 8"/>
          <p:cNvSpPr txBox="1"/>
          <p:nvPr/>
        </p:nvSpPr>
        <p:spPr>
          <a:xfrm>
            <a:off x="457200" y="5074920"/>
            <a:ext cx="8503920" cy="384048"/>
          </a:xfrm>
          <a:prstGeom prst="rect">
            <a:avLst/>
          </a:prstGeom>
          <a:noFill/>
        </p:spPr>
        <p:txBody>
          <a:bodyPr wrap="square">
            <a:spAutoFit/>
          </a:bodyPr>
          <a:lstStyle/>
          <a:p>
            <a:pPr algn="l"/>
            <a:r>
              <a:rPr sz="950" b="0" i="0">
                <a:solidFill>
                  <a:srgbClr val="FFFFFF"/>
                </a:solidFill>
              </a:rPr>
              <a:t>• Executive Functioning  —  The mental skills — including working memory, flexible thinking, and self-control — that help you manage yourself and your work.</a:t>
            </a:r>
          </a:p>
        </p:txBody>
      </p:sp>
      <p:sp>
        <p:nvSpPr>
          <p:cNvPr id="10" name="TextBox 9"/>
          <p:cNvSpPr txBox="1"/>
          <p:nvPr/>
        </p:nvSpPr>
        <p:spPr>
          <a:xfrm>
            <a:off x="457200" y="5477256"/>
            <a:ext cx="8503920" cy="384048"/>
          </a:xfrm>
          <a:prstGeom prst="rect">
            <a:avLst/>
          </a:prstGeom>
          <a:noFill/>
        </p:spPr>
        <p:txBody>
          <a:bodyPr wrap="square">
            <a:spAutoFit/>
          </a:bodyPr>
          <a:lstStyle/>
          <a:p>
            <a:pPr algn="l"/>
            <a:r>
              <a:rPr sz="950" b="0" i="0">
                <a:solidFill>
                  <a:srgbClr val="FFFFFF"/>
                </a:solidFill>
              </a:rPr>
              <a:t>• Metacognition  —  Thinking about your own thinking; being aware of how you learn and monitoring your understanding.</a:t>
            </a:r>
          </a:p>
        </p:txBody>
      </p:sp>
      <p:sp>
        <p:nvSpPr>
          <p:cNvPr id="11" name="TextBox 10"/>
          <p:cNvSpPr txBox="1"/>
          <p:nvPr/>
        </p:nvSpPr>
        <p:spPr>
          <a:xfrm>
            <a:off x="457200" y="5879592"/>
            <a:ext cx="8503920" cy="384048"/>
          </a:xfrm>
          <a:prstGeom prst="rect">
            <a:avLst/>
          </a:prstGeom>
          <a:noFill/>
        </p:spPr>
        <p:txBody>
          <a:bodyPr wrap="square">
            <a:spAutoFit/>
          </a:bodyPr>
          <a:lstStyle/>
          <a:p>
            <a:pPr algn="l"/>
            <a:r>
              <a:rPr sz="950" b="0" i="0">
                <a:solidFill>
                  <a:srgbClr val="FFFFFF"/>
                </a:solidFill>
              </a:rPr>
              <a:t>• Self-Regulation  —  The ability to manage your emotions, impulses, and behavior in order to reach a goal.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1 Vocabulary — Etymology &amp; Meaning</a:t>
            </a:r>
          </a:p>
        </p:txBody>
      </p:sp>
      <p:sp>
        <p:nvSpPr>
          <p:cNvPr id="4" name="Rectangle 3"/>
          <p:cNvSpPr/>
          <p:nvPr/>
        </p:nvSpPr>
        <p:spPr>
          <a:xfrm>
            <a:off x="228600" y="59436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30936"/>
            <a:ext cx="2743200" cy="347472"/>
          </a:xfrm>
          <a:prstGeom prst="rect">
            <a:avLst/>
          </a:prstGeom>
          <a:noFill/>
        </p:spPr>
        <p:txBody>
          <a:bodyPr wrap="square">
            <a:spAutoFit/>
          </a:bodyPr>
          <a:lstStyle/>
          <a:p>
            <a:pPr algn="l"/>
            <a:r>
              <a:rPr sz="1300" b="1" i="0">
                <a:solidFill>
                  <a:srgbClr val="C61414"/>
                </a:solidFill>
              </a:rPr>
              <a:t>Executive Functioning</a:t>
            </a:r>
          </a:p>
        </p:txBody>
      </p:sp>
      <p:sp>
        <p:nvSpPr>
          <p:cNvPr id="6" name="TextBox 5"/>
          <p:cNvSpPr txBox="1"/>
          <p:nvPr/>
        </p:nvSpPr>
        <p:spPr>
          <a:xfrm>
            <a:off x="320040" y="1005840"/>
            <a:ext cx="4114800" cy="320040"/>
          </a:xfrm>
          <a:prstGeom prst="rect">
            <a:avLst/>
          </a:prstGeom>
          <a:noFill/>
        </p:spPr>
        <p:txBody>
          <a:bodyPr wrap="square">
            <a:spAutoFit/>
          </a:bodyPr>
          <a:lstStyle/>
          <a:p>
            <a:pPr algn="l"/>
            <a:r>
              <a:rPr sz="900" b="0" i="1">
                <a:solidFill>
                  <a:srgbClr val="888888"/>
                </a:solidFill>
              </a:rPr>
              <a:t>⬅ Latin executivus (to carry out) + Latin functio (performance)</a:t>
            </a:r>
          </a:p>
        </p:txBody>
      </p:sp>
      <p:sp>
        <p:nvSpPr>
          <p:cNvPr id="7" name="TextBox 6"/>
          <p:cNvSpPr txBox="1"/>
          <p:nvPr/>
        </p:nvSpPr>
        <p:spPr>
          <a:xfrm>
            <a:off x="3200400" y="685800"/>
            <a:ext cx="5577840" cy="594360"/>
          </a:xfrm>
          <a:prstGeom prst="rect">
            <a:avLst/>
          </a:prstGeom>
          <a:noFill/>
        </p:spPr>
        <p:txBody>
          <a:bodyPr wrap="square">
            <a:spAutoFit/>
          </a:bodyPr>
          <a:lstStyle/>
          <a:p>
            <a:pPr algn="l"/>
            <a:r>
              <a:rPr sz="1100" b="0" i="0">
                <a:solidFill>
                  <a:srgbClr val="212121"/>
                </a:solidFill>
              </a:rPr>
              <a:t>The mental skills — including working memory, flexible thinking, and self-control — that help you manage yourself and your work.</a:t>
            </a:r>
          </a:p>
        </p:txBody>
      </p:sp>
      <p:sp>
        <p:nvSpPr>
          <p:cNvPr id="8" name="Rectangle 7"/>
          <p:cNvSpPr/>
          <p:nvPr/>
        </p:nvSpPr>
        <p:spPr>
          <a:xfrm>
            <a:off x="228600" y="146304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9616"/>
            <a:ext cx="2743200" cy="347472"/>
          </a:xfrm>
          <a:prstGeom prst="rect">
            <a:avLst/>
          </a:prstGeom>
          <a:noFill/>
        </p:spPr>
        <p:txBody>
          <a:bodyPr wrap="square">
            <a:spAutoFit/>
          </a:bodyPr>
          <a:lstStyle/>
          <a:p>
            <a:pPr algn="l"/>
            <a:r>
              <a:rPr sz="1300" b="1" i="0">
                <a:solidFill>
                  <a:srgbClr val="C61414"/>
                </a:solidFill>
              </a:rPr>
              <a:t>Metacognition</a:t>
            </a:r>
          </a:p>
        </p:txBody>
      </p:sp>
      <p:sp>
        <p:nvSpPr>
          <p:cNvPr id="10" name="TextBox 9"/>
          <p:cNvSpPr txBox="1"/>
          <p:nvPr/>
        </p:nvSpPr>
        <p:spPr>
          <a:xfrm>
            <a:off x="320040" y="1874520"/>
            <a:ext cx="4114800" cy="320040"/>
          </a:xfrm>
          <a:prstGeom prst="rect">
            <a:avLst/>
          </a:prstGeom>
          <a:noFill/>
        </p:spPr>
        <p:txBody>
          <a:bodyPr wrap="square">
            <a:spAutoFit/>
          </a:bodyPr>
          <a:lstStyle/>
          <a:p>
            <a:pPr algn="l"/>
            <a:r>
              <a:rPr sz="900" b="0" i="1">
                <a:solidFill>
                  <a:srgbClr val="888888"/>
                </a:solidFill>
              </a:rPr>
              <a:t>⬅ Greek meta (beyond/about) + Latin cognitio (knowledge, understanding)</a:t>
            </a:r>
          </a:p>
        </p:txBody>
      </p:sp>
      <p:sp>
        <p:nvSpPr>
          <p:cNvPr id="11" name="TextBox 10"/>
          <p:cNvSpPr txBox="1"/>
          <p:nvPr/>
        </p:nvSpPr>
        <p:spPr>
          <a:xfrm>
            <a:off x="3200400" y="1554480"/>
            <a:ext cx="5577840" cy="594360"/>
          </a:xfrm>
          <a:prstGeom prst="rect">
            <a:avLst/>
          </a:prstGeom>
          <a:noFill/>
        </p:spPr>
        <p:txBody>
          <a:bodyPr wrap="square">
            <a:spAutoFit/>
          </a:bodyPr>
          <a:lstStyle/>
          <a:p>
            <a:pPr algn="l"/>
            <a:r>
              <a:rPr sz="1100" b="0" i="0">
                <a:solidFill>
                  <a:srgbClr val="212121"/>
                </a:solidFill>
              </a:rPr>
              <a:t>Thinking about your own thinking; being aware of how you learn and monitoring your understanding.</a:t>
            </a:r>
          </a:p>
        </p:txBody>
      </p:sp>
      <p:sp>
        <p:nvSpPr>
          <p:cNvPr id="12" name="Rectangle 11"/>
          <p:cNvSpPr/>
          <p:nvPr/>
        </p:nvSpPr>
        <p:spPr>
          <a:xfrm>
            <a:off x="228600" y="233172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368296"/>
            <a:ext cx="2743200" cy="347472"/>
          </a:xfrm>
          <a:prstGeom prst="rect">
            <a:avLst/>
          </a:prstGeom>
          <a:noFill/>
        </p:spPr>
        <p:txBody>
          <a:bodyPr wrap="square">
            <a:spAutoFit/>
          </a:bodyPr>
          <a:lstStyle/>
          <a:p>
            <a:pPr algn="l"/>
            <a:r>
              <a:rPr sz="1300" b="1" i="0">
                <a:solidFill>
                  <a:srgbClr val="C61414"/>
                </a:solidFill>
              </a:rPr>
              <a:t>Self-Regulation</a:t>
            </a:r>
          </a:p>
        </p:txBody>
      </p:sp>
      <p:sp>
        <p:nvSpPr>
          <p:cNvPr id="14" name="TextBox 13"/>
          <p:cNvSpPr txBox="1"/>
          <p:nvPr/>
        </p:nvSpPr>
        <p:spPr>
          <a:xfrm>
            <a:off x="320040" y="2743200"/>
            <a:ext cx="4114800" cy="320040"/>
          </a:xfrm>
          <a:prstGeom prst="rect">
            <a:avLst/>
          </a:prstGeom>
          <a:noFill/>
        </p:spPr>
        <p:txBody>
          <a:bodyPr wrap="square">
            <a:spAutoFit/>
          </a:bodyPr>
          <a:lstStyle/>
          <a:p>
            <a:pPr algn="l"/>
            <a:r>
              <a:rPr sz="900" b="0" i="1">
                <a:solidFill>
                  <a:srgbClr val="888888"/>
                </a:solidFill>
              </a:rPr>
              <a:t>⬅ Latin se (oneself) + Latin regulare (to control, to rule)</a:t>
            </a:r>
          </a:p>
        </p:txBody>
      </p:sp>
      <p:sp>
        <p:nvSpPr>
          <p:cNvPr id="15" name="TextBox 14"/>
          <p:cNvSpPr txBox="1"/>
          <p:nvPr/>
        </p:nvSpPr>
        <p:spPr>
          <a:xfrm>
            <a:off x="3200400" y="2423160"/>
            <a:ext cx="5577840" cy="594360"/>
          </a:xfrm>
          <a:prstGeom prst="rect">
            <a:avLst/>
          </a:prstGeom>
          <a:noFill/>
        </p:spPr>
        <p:txBody>
          <a:bodyPr wrap="square">
            <a:spAutoFit/>
          </a:bodyPr>
          <a:lstStyle/>
          <a:p>
            <a:pPr algn="l"/>
            <a:r>
              <a:rPr sz="1100" b="0" i="0">
                <a:solidFill>
                  <a:srgbClr val="212121"/>
                </a:solidFill>
              </a:rPr>
              <a:t>The ability to manage your emotions, impulses, and behavior in order to reach a goal.</a:t>
            </a:r>
          </a:p>
        </p:txBody>
      </p:sp>
      <p:sp>
        <p:nvSpPr>
          <p:cNvPr id="16" name="Rectangle 15"/>
          <p:cNvSpPr/>
          <p:nvPr/>
        </p:nvSpPr>
        <p:spPr>
          <a:xfrm>
            <a:off x="228600" y="320040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236976"/>
            <a:ext cx="2743200" cy="347472"/>
          </a:xfrm>
          <a:prstGeom prst="rect">
            <a:avLst/>
          </a:prstGeom>
          <a:noFill/>
        </p:spPr>
        <p:txBody>
          <a:bodyPr wrap="square">
            <a:spAutoFit/>
          </a:bodyPr>
          <a:lstStyle/>
          <a:p>
            <a:pPr algn="l"/>
            <a:r>
              <a:rPr sz="1300" b="1" i="0">
                <a:solidFill>
                  <a:srgbClr val="C61414"/>
                </a:solidFill>
              </a:rPr>
              <a:t>Prioritize</a:t>
            </a:r>
          </a:p>
        </p:txBody>
      </p:sp>
      <p:sp>
        <p:nvSpPr>
          <p:cNvPr id="18" name="TextBox 17"/>
          <p:cNvSpPr txBox="1"/>
          <p:nvPr/>
        </p:nvSpPr>
        <p:spPr>
          <a:xfrm>
            <a:off x="320040" y="3611880"/>
            <a:ext cx="4114800" cy="320040"/>
          </a:xfrm>
          <a:prstGeom prst="rect">
            <a:avLst/>
          </a:prstGeom>
          <a:noFill/>
        </p:spPr>
        <p:txBody>
          <a:bodyPr wrap="square">
            <a:spAutoFit/>
          </a:bodyPr>
          <a:lstStyle/>
          <a:p>
            <a:pPr algn="l"/>
            <a:r>
              <a:rPr sz="900" b="0" i="1">
                <a:solidFill>
                  <a:srgbClr val="888888"/>
                </a:solidFill>
              </a:rPr>
              <a:t>⬅ Latin prior (first, more important) + -ize (to make/do)</a:t>
            </a:r>
          </a:p>
        </p:txBody>
      </p:sp>
      <p:sp>
        <p:nvSpPr>
          <p:cNvPr id="19" name="TextBox 18"/>
          <p:cNvSpPr txBox="1"/>
          <p:nvPr/>
        </p:nvSpPr>
        <p:spPr>
          <a:xfrm>
            <a:off x="3200400" y="3291840"/>
            <a:ext cx="5577840" cy="594360"/>
          </a:xfrm>
          <a:prstGeom prst="rect">
            <a:avLst/>
          </a:prstGeom>
          <a:noFill/>
        </p:spPr>
        <p:txBody>
          <a:bodyPr wrap="square">
            <a:spAutoFit/>
          </a:bodyPr>
          <a:lstStyle/>
          <a:p>
            <a:pPr algn="l"/>
            <a:r>
              <a:rPr sz="1100" b="0" i="0">
                <a:solidFill>
                  <a:srgbClr val="212121"/>
                </a:solidFill>
              </a:rPr>
              <a:t>To decide which tasks are most important and should be done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1 Pre-Test  —  What Do You Already Know?</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each question honestly in your workbook. This is NOT graded for correctness.</a:t>
            </a:r>
          </a:p>
        </p:txBody>
      </p:sp>
      <p:sp>
        <p:nvSpPr>
          <p:cNvPr id="6" name="TextBox 5"/>
          <p:cNvSpPr txBox="1"/>
          <p:nvPr/>
        </p:nvSpPr>
        <p:spPr>
          <a:xfrm>
            <a:off x="274320" y="1005840"/>
            <a:ext cx="8595360" cy="475488"/>
          </a:xfrm>
          <a:prstGeom prst="rect">
            <a:avLst/>
          </a:prstGeom>
          <a:noFill/>
        </p:spPr>
        <p:txBody>
          <a:bodyPr wrap="square">
            <a:spAutoFit/>
          </a:bodyPr>
          <a:lstStyle/>
          <a:p>
            <a:pPr algn="l"/>
            <a:r>
              <a:rPr sz="1200" b="0" i="0">
                <a:solidFill>
                  <a:srgbClr val="212121"/>
                </a:solidFill>
              </a:rPr>
              <a:t>1.  In your own words, what do you think 'executive functioning' means?</a:t>
            </a:r>
          </a:p>
        </p:txBody>
      </p:sp>
      <p:sp>
        <p:nvSpPr>
          <p:cNvPr id="7" name="TextBox 6"/>
          <p:cNvSpPr txBox="1"/>
          <p:nvPr/>
        </p:nvSpPr>
        <p:spPr>
          <a:xfrm>
            <a:off x="274320" y="1517904"/>
            <a:ext cx="8595360" cy="475488"/>
          </a:xfrm>
          <a:prstGeom prst="rect">
            <a:avLst/>
          </a:prstGeom>
          <a:noFill/>
        </p:spPr>
        <p:txBody>
          <a:bodyPr wrap="square">
            <a:spAutoFit/>
          </a:bodyPr>
          <a:lstStyle/>
          <a:p>
            <a:pPr algn="l"/>
            <a:r>
              <a:rPr sz="1200" b="0" i="0">
                <a:solidFill>
                  <a:srgbClr val="212121"/>
                </a:solidFill>
              </a:rPr>
              <a:t>2.  Describe TWO strategies you currently use to stay organized at school.</a:t>
            </a:r>
          </a:p>
        </p:txBody>
      </p:sp>
      <p:sp>
        <p:nvSpPr>
          <p:cNvPr id="8" name="TextBox 7"/>
          <p:cNvSpPr txBox="1"/>
          <p:nvPr/>
        </p:nvSpPr>
        <p:spPr>
          <a:xfrm>
            <a:off x="274320" y="2029968"/>
            <a:ext cx="8595360" cy="475488"/>
          </a:xfrm>
          <a:prstGeom prst="rect">
            <a:avLst/>
          </a:prstGeom>
          <a:noFill/>
        </p:spPr>
        <p:txBody>
          <a:bodyPr wrap="square">
            <a:spAutoFit/>
          </a:bodyPr>
          <a:lstStyle/>
          <a:p>
            <a:pPr algn="l"/>
            <a:r>
              <a:rPr sz="1200" b="0" i="0">
                <a:solidFill>
                  <a:srgbClr val="212121"/>
                </a:solidFill>
              </a:rPr>
              <a:t>3.  When you have three assignments due on the same day, how do you decide what to do first?</a:t>
            </a:r>
          </a:p>
        </p:txBody>
      </p:sp>
      <p:sp>
        <p:nvSpPr>
          <p:cNvPr id="9" name="TextBox 8"/>
          <p:cNvSpPr txBox="1"/>
          <p:nvPr/>
        </p:nvSpPr>
        <p:spPr>
          <a:xfrm>
            <a:off x="274320" y="2542032"/>
            <a:ext cx="8595360" cy="475488"/>
          </a:xfrm>
          <a:prstGeom prst="rect">
            <a:avLst/>
          </a:prstGeom>
          <a:noFill/>
        </p:spPr>
        <p:txBody>
          <a:bodyPr wrap="square">
            <a:spAutoFit/>
          </a:bodyPr>
          <a:lstStyle/>
          <a:p>
            <a:pPr algn="l"/>
            <a:r>
              <a:rPr sz="1200" b="0" i="0">
                <a:solidFill>
                  <a:srgbClr val="212121"/>
                </a:solidFill>
              </a:rPr>
              <a:t>4.  What do you do when you feel distracted or overwhelmed with schoolwork?</a:t>
            </a:r>
          </a:p>
        </p:txBody>
      </p:sp>
      <p:sp>
        <p:nvSpPr>
          <p:cNvPr id="10" name="TextBox 9"/>
          <p:cNvSpPr txBox="1"/>
          <p:nvPr/>
        </p:nvSpPr>
        <p:spPr>
          <a:xfrm>
            <a:off x="274320" y="3054096"/>
            <a:ext cx="8595360" cy="475488"/>
          </a:xfrm>
          <a:prstGeom prst="rect">
            <a:avLst/>
          </a:prstGeom>
          <a:noFill/>
        </p:spPr>
        <p:txBody>
          <a:bodyPr wrap="square">
            <a:spAutoFit/>
          </a:bodyPr>
          <a:lstStyle/>
          <a:p>
            <a:pPr algn="l"/>
            <a:r>
              <a:rPr sz="1200" b="0" i="0">
                <a:solidFill>
                  <a:srgbClr val="212121"/>
                </a:solidFill>
              </a:rPr>
              <a:t>5.  On a scale of 1–5, rate your current organizational skills. Explain your rating.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1.1  ·  5 minutes</a:t>
            </a:r>
          </a:p>
        </p:txBody>
      </p:sp>
      <p:sp>
        <p:nvSpPr>
          <p:cNvPr id="7" name="Rectangle 6"/>
          <p:cNvSpPr/>
          <p:nvPr/>
        </p:nvSpPr>
        <p:spPr>
          <a:xfrm>
            <a:off x="228600" y="868680"/>
            <a:ext cx="1463040" cy="329184"/>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LAUNCH</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Brain Warm-Up</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Write your answer: In the last 24 hours, name ONE moment when you had to stop yourself from doing something you wanted to do in order to do something you needed to do. What made it hard?</a:t>
            </a:r>
          </a:p>
        </p:txBody>
      </p:sp>
      <p:sp>
        <p:nvSpPr>
          <p:cNvPr id="13" name="Rectangle 12"/>
          <p:cNvSpPr/>
          <p:nvPr/>
        </p:nvSpPr>
        <p:spPr>
          <a:xfrm>
            <a:off x="228600" y="4919472"/>
            <a:ext cx="8686800" cy="47548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Pair-share (1 min) → cold-call 2 students</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1.1  |  Unit 1: Executive Functioning</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What Is Executive Functioning?</a:t>
            </a:r>
          </a:p>
        </p:txBody>
      </p:sp>
      <p:sp>
        <p:nvSpPr>
          <p:cNvPr id="6" name="Rectangle 5"/>
          <p:cNvSpPr/>
          <p:nvPr/>
        </p:nvSpPr>
        <p:spPr>
          <a:xfrm>
            <a:off x="182880" y="1024128"/>
            <a:ext cx="8778240" cy="329184"/>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Define executive functioning and name at least four EF skills.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Explain why EF skills matter for school success.</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Identify your current strengths and growth areas using an EF self-assessment.</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C61414"/>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C61414"/>
                </a:solidFill>
              </a:rPr>
              <a:t>Executive Functioning</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executivus (to carry out) + Latin functio (performance)</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The mental skills that help you manage yourself, your tasks, and your goals — like the 'CEO' of your brain.</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737360"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664208" cy="320040"/>
          </a:xfrm>
          <a:prstGeom prst="rect">
            <a:avLst/>
          </a:prstGeom>
          <a:noFill/>
        </p:spPr>
        <p:txBody>
          <a:bodyPr wrap="square">
            <a:spAutoFit/>
          </a:bodyPr>
          <a:lstStyle/>
          <a:p>
            <a:pPr algn="ctr"/>
            <a:r>
              <a:rPr sz="1100" b="1" i="0">
                <a:solidFill>
                  <a:srgbClr val="FFFFFF"/>
                </a:solidFill>
              </a:rPr>
              <a:t>10</a:t>
            </a:r>
          </a:p>
        </p:txBody>
      </p:sp>
      <p:sp>
        <p:nvSpPr>
          <p:cNvPr id="33" name="TextBox 32"/>
          <p:cNvSpPr txBox="1"/>
          <p:nvPr/>
        </p:nvSpPr>
        <p:spPr>
          <a:xfrm>
            <a:off x="4572000" y="6163056"/>
            <a:ext cx="1737360"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309360" y="5623560"/>
            <a:ext cx="173736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715000"/>
            <a:ext cx="1664208" cy="320040"/>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6309360" y="6163056"/>
            <a:ext cx="173736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1 — Heavy scaffold (most notes provided)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C61414"/>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The CEO of Your Brain</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neuroscience research on adolescent brain development</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CEO of Your Brain  (p. 1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Every large company has a CEO — a Chief Executive Officer who sets priorities, manages
people, solves problems, and keeps the whole organization moving toward its goals. Your
brain has something similar. Nestled right behind your forehead is a region called the
prefrontal cortex, and its job is to do exactly what a CEO does: plan, organize, make
decisions, regulate emotions, and keep you focused on what matters.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Scientists call the skills managed by the prefrontal cortex executive functions. These
include working memory (holding information in your mind while you use it), cognitive
flexibility (shifting between tasks or ideas), inhibitory control (stopping impulses and
staying on task), planning and organization (breaking big goals into steps), time
management (estimating how long things take), and emotional regulation (managing
frustration, anxiety, and stress so they don't derail you).</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CEO of Your Brain  (p. 2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Here is something that surprises many people: the prefrontal cortex does not fully
develop until about age 25. That means you are literally working with a brain that is
still under construction. This is not a weakness — it is an opportunity. Research
consistently shows that executive functioning skills are not fixed at birth. They are
learnable. Every time you practice organizing your materials, planning ahead, or pushing
through a frustrating problem, you are actually strengthening the neural pathways
associated with those skills.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students who tend to thrive in challenging high school courses — and later in
college and careers — are not always the ones with the highest natural ability. They are
the ones who have developed strong executive functioning habits. They write things down
instead of trusting memory. They break big projects into smaller steps. They know their
own distractors and have strategies for managing them. They ask for help before they
fall too far behind. These are learnable behaviors, and this course exists to help you
build them.</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'The CEO of Your Brain'</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C61414"/>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According to the reading, what is the prefrontal cortex and what does it do?</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C61414"/>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List FOUR executive functioning skills described in the reading. For each one, write your own
example of how it shows up in a student's daily life.</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C61414"/>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The reading says the prefrontal cortex 'doesn't fully develop until age 25.' What does this
mean for you as an 8th grader — is this a problem or an opportunity? Use evidence from the
text.</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C61414"/>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What do high-performing students do differently, according to the reading? List at least THREE
specific behaviors.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C61414"/>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The reading compares the brain's CEO to a company CEO. Do you think this is a good comparison?
What does it help explain — and what might it leave 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1.1</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Building the Brain's Air Traffic Control System</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Harvard Center on the Developing Child  ·  approx. 2 min</a:t>
            </a:r>
          </a:p>
        </p:txBody>
      </p:sp>
      <p:sp>
        <p:nvSpPr>
          <p:cNvPr id="9" name="Rectangle 8"/>
          <p:cNvSpPr/>
          <p:nvPr/>
        </p:nvSpPr>
        <p:spPr>
          <a:xfrm>
            <a:off x="365760" y="2377440"/>
            <a:ext cx="8412480" cy="2743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C61414"/>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Notice how they describe the prefrontal cortex and what 'executive function' actually controls.</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"Executive Function 101"  |  Crash Course Study Skills</a:t>
            </a:r>
          </a:p>
        </p:txBody>
      </p:sp>
      <p:sp>
        <p:nvSpPr>
          <p:cNvPr id="16" name="Rectangle 15">
            <a:hlinkClick r:id="rId3"/>
          </p:cNvPr>
          <p:cNvSpPr/>
          <p:nvPr/>
        </p:nvSpPr>
        <p:spPr>
          <a:xfrm>
            <a:off x="2743200" y="4480560"/>
            <a:ext cx="3657600" cy="7498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Group Chat at 11:47 PM"  —  Lesson 1.1</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649224"/>
          </a:xfrm>
          <a:prstGeom prst="rect">
            <a:avLst/>
          </a:prstGeom>
          <a:noFill/>
        </p:spPr>
        <p:txBody>
          <a:bodyPr wrap="square">
            <a:spAutoFit/>
          </a:bodyPr>
          <a:lstStyle/>
          <a:p>
            <a:pPr algn="l">
              <a:lnSpc>
                <a:spcPts val="1500"/>
              </a:lnSpc>
            </a:pPr>
            <a:r>
              <a:rPr sz="1000" b="0" i="0">
                <a:solidFill>
                  <a:srgbClr val="212121"/>
                </a:solidFill>
              </a:rPr>
              <a:t>Maya stared at her planner. She'd rewritten it three times since dinner — the color-coded
version, then the bullet-point version, then back to color-coded. It was 11:47 PM. She had a
math test in the morning. She had not studied for it yet.</a:t>
            </a:r>
          </a:p>
        </p:txBody>
      </p:sp>
      <p:sp>
        <p:nvSpPr>
          <p:cNvPr id="7" name="TextBox 6"/>
          <p:cNvSpPr txBox="1"/>
          <p:nvPr/>
        </p:nvSpPr>
        <p:spPr>
          <a:xfrm>
            <a:off x="228600" y="1536192"/>
            <a:ext cx="8686800" cy="246888"/>
          </a:xfrm>
          <a:prstGeom prst="rect">
            <a:avLst/>
          </a:prstGeom>
          <a:noFill/>
        </p:spPr>
        <p:txBody>
          <a:bodyPr wrap="square">
            <a:spAutoFit/>
          </a:bodyPr>
          <a:lstStyle/>
          <a:p>
            <a:pPr algn="l">
              <a:lnSpc>
                <a:spcPts val="1500"/>
              </a:lnSpc>
            </a:pPr>
            <a:r>
              <a:rPr sz="1050" b="0" i="1">
                <a:solidFill>
                  <a:srgbClr val="1A1A6E"/>
                </a:solidFill>
              </a:rPr>
              <a:t>Her phone lit up. Jordan: "anyone else still awake lol"</a:t>
            </a:r>
          </a:p>
        </p:txBody>
      </p:sp>
      <p:sp>
        <p:nvSpPr>
          <p:cNvPr id="8" name="TextBox 7"/>
          <p:cNvSpPr txBox="1"/>
          <p:nvPr/>
        </p:nvSpPr>
        <p:spPr>
          <a:xfrm>
            <a:off x="228600" y="1792224"/>
            <a:ext cx="8686800" cy="246888"/>
          </a:xfrm>
          <a:prstGeom prst="rect">
            <a:avLst/>
          </a:prstGeom>
          <a:noFill/>
        </p:spPr>
        <p:txBody>
          <a:bodyPr wrap="square">
            <a:spAutoFit/>
          </a:bodyPr>
          <a:lstStyle/>
          <a:p>
            <a:pPr algn="l">
              <a:lnSpc>
                <a:spcPts val="1500"/>
              </a:lnSpc>
            </a:pPr>
            <a:r>
              <a:rPr sz="1050" b="0" i="1">
                <a:solidFill>
                  <a:srgbClr val="1A1A6E"/>
                </a:solidFill>
              </a:rPr>
              <a:t>Priya: "unfortunately"</a:t>
            </a:r>
          </a:p>
        </p:txBody>
      </p:sp>
      <p:sp>
        <p:nvSpPr>
          <p:cNvPr id="9" name="TextBox 8"/>
          <p:cNvSpPr txBox="1"/>
          <p:nvPr/>
        </p:nvSpPr>
        <p:spPr>
          <a:xfrm>
            <a:off x="228600" y="2048256"/>
            <a:ext cx="8686800" cy="246888"/>
          </a:xfrm>
          <a:prstGeom prst="rect">
            <a:avLst/>
          </a:prstGeom>
          <a:noFill/>
        </p:spPr>
        <p:txBody>
          <a:bodyPr wrap="square">
            <a:spAutoFit/>
          </a:bodyPr>
          <a:lstStyle/>
          <a:p>
            <a:pPr algn="l">
              <a:lnSpc>
                <a:spcPts val="1500"/>
              </a:lnSpc>
            </a:pPr>
            <a:r>
              <a:rPr sz="1050" b="0" i="1">
                <a:solidFill>
                  <a:srgbClr val="1A1A6E"/>
                </a:solidFill>
              </a:rPr>
              <a:t>Eli: "yeah. watching film. coach sent it at 11. should i even study"</a:t>
            </a:r>
          </a:p>
        </p:txBody>
      </p:sp>
      <p:sp>
        <p:nvSpPr>
          <p:cNvPr id="10" name="TextBox 9"/>
          <p:cNvSpPr txBox="1"/>
          <p:nvPr/>
        </p:nvSpPr>
        <p:spPr>
          <a:xfrm>
            <a:off x="228600" y="2304288"/>
            <a:ext cx="8686800" cy="246888"/>
          </a:xfrm>
          <a:prstGeom prst="rect">
            <a:avLst/>
          </a:prstGeom>
          <a:noFill/>
        </p:spPr>
        <p:txBody>
          <a:bodyPr wrap="square">
            <a:spAutoFit/>
          </a:bodyPr>
          <a:lstStyle/>
          <a:p>
            <a:pPr algn="l">
              <a:lnSpc>
                <a:spcPts val="1500"/>
              </a:lnSpc>
            </a:pPr>
            <a:r>
              <a:rPr sz="1050" b="0" i="1">
                <a:solidFill>
                  <a:srgbClr val="1A1A6E"/>
                </a:solidFill>
              </a:rPr>
              <a:t>Maya typed: "I haven't started."</a:t>
            </a:r>
          </a:p>
        </p:txBody>
      </p:sp>
      <p:sp>
        <p:nvSpPr>
          <p:cNvPr id="11" name="TextBox 10"/>
          <p:cNvSpPr txBox="1"/>
          <p:nvPr/>
        </p:nvSpPr>
        <p:spPr>
          <a:xfrm>
            <a:off x="228600" y="2560320"/>
            <a:ext cx="8686800" cy="246888"/>
          </a:xfrm>
          <a:prstGeom prst="rect">
            <a:avLst/>
          </a:prstGeom>
          <a:noFill/>
        </p:spPr>
        <p:txBody>
          <a:bodyPr wrap="square">
            <a:spAutoFit/>
          </a:bodyPr>
          <a:lstStyle/>
          <a:p>
            <a:pPr algn="l">
              <a:lnSpc>
                <a:spcPts val="1500"/>
              </a:lnSpc>
            </a:pPr>
            <a:r>
              <a:rPr sz="1050" b="0" i="1">
                <a:solidFill>
                  <a:srgbClr val="1A1A6E"/>
                </a:solidFill>
              </a:rPr>
              <a:t>Jordan: "MAYA. you. haven't started. are you ok"</a:t>
            </a:r>
          </a:p>
        </p:txBody>
      </p:sp>
      <p:sp>
        <p:nvSpPr>
          <p:cNvPr id="12" name="TextBox 11"/>
          <p:cNvSpPr txBox="1"/>
          <p:nvPr/>
        </p:nvSpPr>
        <p:spPr>
          <a:xfrm>
            <a:off x="228600" y="2816352"/>
            <a:ext cx="8686800" cy="448056"/>
          </a:xfrm>
          <a:prstGeom prst="rect">
            <a:avLst/>
          </a:prstGeom>
          <a:noFill/>
        </p:spPr>
        <p:txBody>
          <a:bodyPr wrap="square">
            <a:spAutoFit/>
          </a:bodyPr>
          <a:lstStyle/>
          <a:p>
            <a:pPr algn="l">
              <a:lnSpc>
                <a:spcPts val="1500"/>
              </a:lnSpc>
            </a:pPr>
            <a:r>
              <a:rPr sz="1050" b="0" i="1">
                <a:solidFill>
                  <a:srgbClr val="1A1A6E"/>
                </a:solidFill>
              </a:rPr>
              <a:t>"I was doing the planner," she typed. Then deleted it. Too embarrassing. She typed it again
and sent it anyway.</a:t>
            </a:r>
          </a:p>
        </p:txBody>
      </p:sp>
      <p:sp>
        <p:nvSpPr>
          <p:cNvPr id="13" name="TextBox 12"/>
          <p:cNvSpPr txBox="1"/>
          <p:nvPr/>
        </p:nvSpPr>
        <p:spPr>
          <a:xfrm>
            <a:off x="228600" y="3273552"/>
            <a:ext cx="8686800" cy="246888"/>
          </a:xfrm>
          <a:prstGeom prst="rect">
            <a:avLst/>
          </a:prstGeom>
          <a:noFill/>
        </p:spPr>
        <p:txBody>
          <a:bodyPr wrap="square">
            <a:spAutoFit/>
          </a:bodyPr>
          <a:lstStyle/>
          <a:p>
            <a:pPr algn="l">
              <a:lnSpc>
                <a:spcPts val="1500"/>
              </a:lnSpc>
            </a:pPr>
            <a:r>
              <a:rPr sz="1050" b="0" i="1">
                <a:solidFill>
                  <a:srgbClr val="1A1A6E"/>
                </a:solidFill>
              </a:rPr>
              <a:t>A pause. Then Jordan: "bro i didn't even know we had a test"</a:t>
            </a:r>
          </a:p>
        </p:txBody>
      </p:sp>
      <p:sp>
        <p:nvSpPr>
          <p:cNvPr id="14" name="TextBox 13"/>
          <p:cNvSpPr txBox="1"/>
          <p:nvPr/>
        </p:nvSpPr>
        <p:spPr>
          <a:xfrm>
            <a:off x="228600" y="3529584"/>
            <a:ext cx="8686800" cy="246888"/>
          </a:xfrm>
          <a:prstGeom prst="rect">
            <a:avLst/>
          </a:prstGeom>
          <a:noFill/>
        </p:spPr>
        <p:txBody>
          <a:bodyPr wrap="square">
            <a:spAutoFit/>
          </a:bodyPr>
          <a:lstStyle/>
          <a:p>
            <a:pPr algn="l">
              <a:lnSpc>
                <a:spcPts val="1500"/>
              </a:lnSpc>
            </a:pPr>
            <a:r>
              <a:rPr sz="1050" b="0" i="1">
                <a:solidFill>
                  <a:srgbClr val="1A1A6E"/>
                </a:solidFill>
              </a:rPr>
              <a:t>"Jordan."</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50" b="0" i="1">
                <a:solidFill>
                  <a:srgbClr val="1A1A6E"/>
                </a:solidFill>
              </a:rPr>
              <a:t>"what. i know the stuff. i'll be fine."</a:t>
            </a:r>
          </a:p>
        </p:txBody>
      </p:sp>
      <p:sp>
        <p:nvSpPr>
          <p:cNvPr id="16" name="TextBox 15"/>
          <p:cNvSpPr txBox="1"/>
          <p:nvPr/>
        </p:nvSpPr>
        <p:spPr>
          <a:xfrm>
            <a:off x="228600" y="4041648"/>
            <a:ext cx="8686800" cy="649224"/>
          </a:xfrm>
          <a:prstGeom prst="rect">
            <a:avLst/>
          </a:prstGeom>
          <a:noFill/>
        </p:spPr>
        <p:txBody>
          <a:bodyPr wrap="square">
            <a:spAutoFit/>
          </a:bodyPr>
          <a:lstStyle/>
          <a:p>
            <a:pPr algn="l">
              <a:lnSpc>
                <a:spcPts val="1500"/>
              </a:lnSpc>
            </a:pPr>
            <a:r>
              <a:rPr sz="1000" b="0" i="0">
                <a:solidFill>
                  <a:srgbClr val="212121"/>
                </a:solidFill>
              </a:rPr>
              <a:t>Priya sent a photo — two pages of handwritten notes, organized by section, with margin
questions she'd written to herself. Maya felt her stomach drop. That was what studying looked
like. That was not what she had done.</a:t>
            </a:r>
          </a:p>
        </p:txBody>
      </p:sp>
      <p:sp>
        <p:nvSpPr>
          <p:cNvPr id="17" name="TextBox 16"/>
          <p:cNvSpPr txBox="1"/>
          <p:nvPr/>
        </p:nvSpPr>
        <p:spPr>
          <a:xfrm>
            <a:off x="228600" y="4700016"/>
            <a:ext cx="8686800" cy="246888"/>
          </a:xfrm>
          <a:prstGeom prst="rect">
            <a:avLst/>
          </a:prstGeom>
          <a:noFill/>
        </p:spPr>
        <p:txBody>
          <a:bodyPr wrap="square">
            <a:spAutoFit/>
          </a:bodyPr>
          <a:lstStyle/>
          <a:p>
            <a:pPr algn="l">
              <a:lnSpc>
                <a:spcPts val="1500"/>
              </a:lnSpc>
            </a:pPr>
            <a:r>
              <a:rPr sz="1050" b="0" i="1">
                <a:solidFill>
                  <a:srgbClr val="1A1A6E"/>
                </a:solidFill>
              </a:rPr>
              <a:t>Eli: "how long do you guys actually study for one test"</a:t>
            </a:r>
          </a:p>
        </p:txBody>
      </p:sp>
      <p:sp>
        <p:nvSpPr>
          <p:cNvPr id="18" name="TextBox 17"/>
          <p:cNvSpPr txBox="1"/>
          <p:nvPr/>
        </p:nvSpPr>
        <p:spPr>
          <a:xfrm>
            <a:off x="228600" y="4956048"/>
            <a:ext cx="8686800" cy="448056"/>
          </a:xfrm>
          <a:prstGeom prst="rect">
            <a:avLst/>
          </a:prstGeom>
          <a:noFill/>
        </p:spPr>
        <p:txBody>
          <a:bodyPr wrap="square">
            <a:spAutoFit/>
          </a:bodyPr>
          <a:lstStyle/>
          <a:p>
            <a:pPr algn="l">
              <a:lnSpc>
                <a:spcPts val="1500"/>
              </a:lnSpc>
            </a:pPr>
            <a:r>
              <a:rPr sz="1000" b="0" i="0">
                <a:solidFill>
                  <a:srgbClr val="212121"/>
                </a:solidFill>
              </a:rPr>
              <a:t>Nobody answered. Maya thought about it honestly. She spent two hours on her planner and twenty
minutes looking at her notes. That didn't feel like the right thing to say.</a:t>
            </a:r>
          </a:p>
        </p:txBody>
      </p:sp>
      <p:sp>
        <p:nvSpPr>
          <p:cNvPr id="19" name="TextBox 18"/>
          <p:cNvSpPr txBox="1"/>
          <p:nvPr/>
        </p:nvSpPr>
        <p:spPr>
          <a:xfrm>
            <a:off x="228600" y="5413248"/>
            <a:ext cx="8686800" cy="246888"/>
          </a:xfrm>
          <a:prstGeom prst="rect">
            <a:avLst/>
          </a:prstGeom>
          <a:noFill/>
        </p:spPr>
        <p:txBody>
          <a:bodyPr wrap="square">
            <a:spAutoFit/>
          </a:bodyPr>
          <a:lstStyle/>
          <a:p>
            <a:pPr algn="l">
              <a:lnSpc>
                <a:spcPts val="1500"/>
              </a:lnSpc>
            </a:pPr>
            <a:r>
              <a:rPr sz="1050" b="0" i="1">
                <a:solidFill>
                  <a:srgbClr val="1A1A6E"/>
                </a:solidFill>
              </a:rPr>
              <a:t>"Eli, just do thirty minutes," Priya finally wrote. "Anything is better than nothing."</a:t>
            </a:r>
          </a:p>
        </p:txBody>
      </p:sp>
      <p:sp>
        <p:nvSpPr>
          <p:cNvPr id="20" name="TextBox 19"/>
          <p:cNvSpPr txBox="1"/>
          <p:nvPr/>
        </p:nvSpPr>
        <p:spPr>
          <a:xfrm>
            <a:off x="228600" y="5669280"/>
            <a:ext cx="8686800" cy="246888"/>
          </a:xfrm>
          <a:prstGeom prst="rect">
            <a:avLst/>
          </a:prstGeom>
          <a:noFill/>
        </p:spPr>
        <p:txBody>
          <a:bodyPr wrap="square">
            <a:spAutoFit/>
          </a:bodyPr>
          <a:lstStyle/>
          <a:p>
            <a:pPr algn="l">
              <a:lnSpc>
                <a:spcPts val="1500"/>
              </a:lnSpc>
            </a:pPr>
            <a:r>
              <a:rPr sz="1050" b="0" i="1">
                <a:solidFill>
                  <a:srgbClr val="1A1A6E"/>
                </a:solidFill>
              </a:rPr>
              <a:t>"yeah ok"</a:t>
            </a:r>
          </a:p>
        </p:txBody>
      </p:sp>
      <p:sp>
        <p:nvSpPr>
          <p:cNvPr id="21" name="TextBox 20"/>
          <p:cNvSpPr txBox="1"/>
          <p:nvPr/>
        </p:nvSpPr>
        <p:spPr>
          <a:xfrm>
            <a:off x="228600" y="5925312"/>
            <a:ext cx="8686800" cy="448056"/>
          </a:xfrm>
          <a:prstGeom prst="rect">
            <a:avLst/>
          </a:prstGeom>
          <a:noFill/>
        </p:spPr>
        <p:txBody>
          <a:bodyPr wrap="square">
            <a:spAutoFit/>
          </a:bodyPr>
          <a:lstStyle/>
          <a:p>
            <a:pPr algn="l">
              <a:lnSpc>
                <a:spcPts val="1500"/>
              </a:lnSpc>
            </a:pPr>
            <a:r>
              <a:rPr sz="1000" b="0" i="0">
                <a:solidFill>
                  <a:srgbClr val="212121"/>
                </a:solidFill>
              </a:rPr>
              <a:t>Maya put her phone face-down. She opened her math notes. Her planner, finished and color-coded
and useless, sat next to her textbook.</a:t>
            </a:r>
          </a:p>
        </p:txBody>
      </p:sp>
      <p:sp>
        <p:nvSpPr>
          <p:cNvPr id="22" name="TextBox 21"/>
          <p:cNvSpPr txBox="1"/>
          <p:nvPr/>
        </p:nvSpPr>
        <p:spPr>
          <a:xfrm>
            <a:off x="228600" y="6382512"/>
            <a:ext cx="8686800" cy="246888"/>
          </a:xfrm>
          <a:prstGeom prst="rect">
            <a:avLst/>
          </a:prstGeom>
          <a:noFill/>
        </p:spPr>
        <p:txBody>
          <a:bodyPr wrap="square">
            <a:spAutoFit/>
          </a:bodyPr>
          <a:lstStyle/>
          <a:p>
            <a:pPr algn="l">
              <a:lnSpc>
                <a:spcPts val="1500"/>
              </a:lnSpc>
            </a:pPr>
            <a:r>
              <a:rPr sz="1000" b="0" i="0">
                <a:solidFill>
                  <a:srgbClr val="212121"/>
                </a:solidFill>
              </a:rPr>
              <a:t>She knew how to look organized. She was less sure she knew how to actually get things done.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Group Chat at 11:47 PM"</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Maya spent two hours on her planner and only twenty minutes studying. What does that tell you
about the difference between being organized and being effective?</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Jordan says he 'knows the stuff' and will be fine. Is that executive functioning? What skill
is he skipping?</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Priya has notes with margin questions. What does that suggest about how she approaches
learning — not just memorizing?</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Which of these four students do you most recognize — in yourself or in someone you know? What
would you tell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The CEO of Your Brain</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Imagine your brain is a company. The prefrontal cortex is the CEO — it makes decisions,
manages time, and keeps everyone on track. Executive functioning is the collection of
skills that CEO uses every single day. The great news: these skills are not fixed. They
grow with practice, just like a muscle.</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Think about your day so far. When did you need to use executive functioning skills? Which ones?</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EF Self-Assessment</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Rate yourself honestly on each skill below (1 = I struggle here, 5 = I've got this).</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C61414"/>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EF skills are not fixed — they are learnable. Every strategy you practice in this course is strengthening real neural pathways.</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EF Self-Assessment  —  Lesson 1.1</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10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Rate yourself honestly on each statement (1–5). This is for YOUR insight, not a grade. Total your scores and identify your top strength and biggest growth area.</a:t>
            </a:r>
          </a:p>
        </p:txBody>
      </p:sp>
      <p:sp>
        <p:nvSpPr>
          <p:cNvPr id="7" name="Rectangle 6"/>
          <p:cNvSpPr/>
          <p:nvPr/>
        </p:nvSpPr>
        <p:spPr>
          <a:xfrm>
            <a:off x="182880" y="1783080"/>
            <a:ext cx="5029200" cy="34747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28800"/>
            <a:ext cx="4754880" cy="256032"/>
          </a:xfrm>
          <a:prstGeom prst="rect">
            <a:avLst/>
          </a:prstGeom>
          <a:noFill/>
        </p:spPr>
        <p:txBody>
          <a:bodyPr wrap="square">
            <a:spAutoFit/>
          </a:bodyPr>
          <a:lstStyle/>
          <a:p>
            <a:pPr algn="l"/>
            <a:r>
              <a:rPr sz="1000" b="1" i="0">
                <a:solidFill>
                  <a:srgbClr val="FFFFFF"/>
                </a:solidFill>
              </a:rPr>
              <a:t>Statement</a:t>
            </a:r>
          </a:p>
        </p:txBody>
      </p:sp>
      <p:sp>
        <p:nvSpPr>
          <p:cNvPr id="9" name="Rectangle 8"/>
          <p:cNvSpPr/>
          <p:nvPr/>
        </p:nvSpPr>
        <p:spPr>
          <a:xfrm>
            <a:off x="5257800" y="1783080"/>
            <a:ext cx="5943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76088" y="1828800"/>
            <a:ext cx="566928" cy="256032"/>
          </a:xfrm>
          <a:prstGeom prst="rect">
            <a:avLst/>
          </a:prstGeom>
          <a:noFill/>
        </p:spPr>
        <p:txBody>
          <a:bodyPr wrap="square">
            <a:spAutoFit/>
          </a:bodyPr>
          <a:lstStyle/>
          <a:p>
            <a:pPr algn="ctr"/>
            <a:r>
              <a:rPr sz="1000" b="1" i="0">
                <a:solidFill>
                  <a:srgbClr val="FFFFFF"/>
                </a:solidFill>
              </a:rPr>
              <a:t>1</a:t>
            </a:r>
          </a:p>
        </p:txBody>
      </p:sp>
      <p:sp>
        <p:nvSpPr>
          <p:cNvPr id="11" name="Rectangle 10"/>
          <p:cNvSpPr/>
          <p:nvPr/>
        </p:nvSpPr>
        <p:spPr>
          <a:xfrm>
            <a:off x="5897880" y="1783080"/>
            <a:ext cx="5943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16168" y="1828800"/>
            <a:ext cx="566928" cy="256032"/>
          </a:xfrm>
          <a:prstGeom prst="rect">
            <a:avLst/>
          </a:prstGeom>
          <a:noFill/>
        </p:spPr>
        <p:txBody>
          <a:bodyPr wrap="square">
            <a:spAutoFit/>
          </a:bodyPr>
          <a:lstStyle/>
          <a:p>
            <a:pPr algn="ctr"/>
            <a:r>
              <a:rPr sz="1000" b="1" i="0">
                <a:solidFill>
                  <a:srgbClr val="FFFFFF"/>
                </a:solidFill>
              </a:rPr>
              <a:t>2</a:t>
            </a:r>
          </a:p>
        </p:txBody>
      </p:sp>
      <p:sp>
        <p:nvSpPr>
          <p:cNvPr id="13" name="Rectangle 12"/>
          <p:cNvSpPr/>
          <p:nvPr/>
        </p:nvSpPr>
        <p:spPr>
          <a:xfrm>
            <a:off x="6537960" y="1783080"/>
            <a:ext cx="5943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1828800"/>
            <a:ext cx="566928" cy="256032"/>
          </a:xfrm>
          <a:prstGeom prst="rect">
            <a:avLst/>
          </a:prstGeom>
          <a:noFill/>
        </p:spPr>
        <p:txBody>
          <a:bodyPr wrap="square">
            <a:spAutoFit/>
          </a:bodyPr>
          <a:lstStyle/>
          <a:p>
            <a:pPr algn="ctr"/>
            <a:r>
              <a:rPr sz="1000" b="1" i="0">
                <a:solidFill>
                  <a:srgbClr val="FFFFFF"/>
                </a:solidFill>
              </a:rPr>
              <a:t>3</a:t>
            </a:r>
          </a:p>
        </p:txBody>
      </p:sp>
      <p:sp>
        <p:nvSpPr>
          <p:cNvPr id="15" name="Rectangle 14"/>
          <p:cNvSpPr/>
          <p:nvPr/>
        </p:nvSpPr>
        <p:spPr>
          <a:xfrm>
            <a:off x="7178040" y="1783080"/>
            <a:ext cx="5943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96327" y="1828800"/>
            <a:ext cx="566928" cy="256032"/>
          </a:xfrm>
          <a:prstGeom prst="rect">
            <a:avLst/>
          </a:prstGeom>
          <a:noFill/>
        </p:spPr>
        <p:txBody>
          <a:bodyPr wrap="square">
            <a:spAutoFit/>
          </a:bodyPr>
          <a:lstStyle/>
          <a:p>
            <a:pPr algn="ctr"/>
            <a:r>
              <a:rPr sz="1000" b="1" i="0">
                <a:solidFill>
                  <a:srgbClr val="FFFFFF"/>
                </a:solidFill>
              </a:rPr>
              <a:t>4</a:t>
            </a:r>
          </a:p>
        </p:txBody>
      </p:sp>
      <p:sp>
        <p:nvSpPr>
          <p:cNvPr id="17" name="Rectangle 16"/>
          <p:cNvSpPr/>
          <p:nvPr/>
        </p:nvSpPr>
        <p:spPr>
          <a:xfrm>
            <a:off x="7818120" y="1783080"/>
            <a:ext cx="5943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36408" y="1828800"/>
            <a:ext cx="566928" cy="256032"/>
          </a:xfrm>
          <a:prstGeom prst="rect">
            <a:avLst/>
          </a:prstGeom>
          <a:noFill/>
        </p:spPr>
        <p:txBody>
          <a:bodyPr wrap="square">
            <a:spAutoFit/>
          </a:bodyPr>
          <a:lstStyle/>
          <a:p>
            <a:pPr algn="ctr"/>
            <a:r>
              <a:rPr sz="1000" b="1" i="0">
                <a:solidFill>
                  <a:srgbClr val="FFFFFF"/>
                </a:solidFill>
              </a:rPr>
              <a:t>5</a:t>
            </a:r>
          </a:p>
        </p:txBody>
      </p:sp>
      <p:sp>
        <p:nvSpPr>
          <p:cNvPr id="19" name="Rectangle 18"/>
          <p:cNvSpPr/>
          <p:nvPr/>
        </p:nvSpPr>
        <p:spPr>
          <a:xfrm>
            <a:off x="182880" y="2167128"/>
            <a:ext cx="50292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 y="2221992"/>
            <a:ext cx="4846320" cy="310896"/>
          </a:xfrm>
          <a:prstGeom prst="rect">
            <a:avLst/>
          </a:prstGeom>
          <a:noFill/>
        </p:spPr>
        <p:txBody>
          <a:bodyPr wrap="square">
            <a:spAutoFit/>
          </a:bodyPr>
          <a:lstStyle/>
          <a:p>
            <a:pPr algn="l"/>
            <a:r>
              <a:rPr sz="950" b="0" i="0">
                <a:solidFill>
                  <a:srgbClr val="212121"/>
                </a:solidFill>
              </a:rPr>
              <a:t>I remember to bring the right materials to class.</a:t>
            </a:r>
          </a:p>
        </p:txBody>
      </p:sp>
      <p:sp>
        <p:nvSpPr>
          <p:cNvPr id="21" name="Rectangle 20"/>
          <p:cNvSpPr/>
          <p:nvPr/>
        </p:nvSpPr>
        <p:spPr>
          <a:xfrm>
            <a:off x="5257800" y="216712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2203704"/>
            <a:ext cx="502920" cy="329184"/>
          </a:xfrm>
          <a:prstGeom prst="rect">
            <a:avLst/>
          </a:prstGeom>
          <a:noFill/>
        </p:spPr>
        <p:txBody>
          <a:bodyPr wrap="square">
            <a:spAutoFit/>
          </a:bodyPr>
          <a:lstStyle/>
          <a:p>
            <a:pPr algn="ctr"/>
            <a:r>
              <a:rPr sz="1400" b="0" i="0">
                <a:solidFill>
                  <a:srgbClr val="212121"/>
                </a:solidFill>
              </a:rPr>
              <a:t>☐</a:t>
            </a:r>
          </a:p>
        </p:txBody>
      </p:sp>
      <p:sp>
        <p:nvSpPr>
          <p:cNvPr id="23" name="Rectangle 22"/>
          <p:cNvSpPr/>
          <p:nvPr/>
        </p:nvSpPr>
        <p:spPr>
          <a:xfrm>
            <a:off x="5897880" y="216712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0" y="2203704"/>
            <a:ext cx="502920" cy="329184"/>
          </a:xfrm>
          <a:prstGeom prst="rect">
            <a:avLst/>
          </a:prstGeom>
          <a:noFill/>
        </p:spPr>
        <p:txBody>
          <a:bodyPr wrap="square">
            <a:spAutoFit/>
          </a:bodyPr>
          <a:lstStyle/>
          <a:p>
            <a:pPr algn="ctr"/>
            <a:r>
              <a:rPr sz="1400" b="0" i="0">
                <a:solidFill>
                  <a:srgbClr val="212121"/>
                </a:solidFill>
              </a:rPr>
              <a:t>☐</a:t>
            </a:r>
          </a:p>
        </p:txBody>
      </p:sp>
      <p:sp>
        <p:nvSpPr>
          <p:cNvPr id="25" name="Rectangle 24"/>
          <p:cNvSpPr/>
          <p:nvPr/>
        </p:nvSpPr>
        <p:spPr>
          <a:xfrm>
            <a:off x="6537960" y="216712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79" y="2203704"/>
            <a:ext cx="502920" cy="329184"/>
          </a:xfrm>
          <a:prstGeom prst="rect">
            <a:avLst/>
          </a:prstGeom>
          <a:noFill/>
        </p:spPr>
        <p:txBody>
          <a:bodyPr wrap="square">
            <a:spAutoFit/>
          </a:bodyPr>
          <a:lstStyle/>
          <a:p>
            <a:pPr algn="ctr"/>
            <a:r>
              <a:rPr sz="1400" b="0" i="0">
                <a:solidFill>
                  <a:srgbClr val="212121"/>
                </a:solidFill>
              </a:rPr>
              <a:t>☐</a:t>
            </a:r>
          </a:p>
        </p:txBody>
      </p:sp>
      <p:sp>
        <p:nvSpPr>
          <p:cNvPr id="27" name="Rectangle 26"/>
          <p:cNvSpPr/>
          <p:nvPr/>
        </p:nvSpPr>
        <p:spPr>
          <a:xfrm>
            <a:off x="7178040" y="216712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59" y="2203704"/>
            <a:ext cx="502920" cy="329184"/>
          </a:xfrm>
          <a:prstGeom prst="rect">
            <a:avLst/>
          </a:prstGeom>
          <a:noFill/>
        </p:spPr>
        <p:txBody>
          <a:bodyPr wrap="square">
            <a:spAutoFit/>
          </a:bodyPr>
          <a:lstStyle/>
          <a:p>
            <a:pPr algn="ctr"/>
            <a:r>
              <a:rPr sz="1400" b="0" i="0">
                <a:solidFill>
                  <a:srgbClr val="212121"/>
                </a:solidFill>
              </a:rPr>
              <a:t>☐</a:t>
            </a:r>
          </a:p>
        </p:txBody>
      </p:sp>
      <p:sp>
        <p:nvSpPr>
          <p:cNvPr id="29" name="Rectangle 28"/>
          <p:cNvSpPr/>
          <p:nvPr/>
        </p:nvSpPr>
        <p:spPr>
          <a:xfrm>
            <a:off x="7818120" y="216712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0" y="2203704"/>
            <a:ext cx="502920" cy="329184"/>
          </a:xfrm>
          <a:prstGeom prst="rect">
            <a:avLst/>
          </a:prstGeom>
          <a:noFill/>
        </p:spPr>
        <p:txBody>
          <a:bodyPr wrap="square">
            <a:spAutoFit/>
          </a:bodyPr>
          <a:lstStyle/>
          <a:p>
            <a:pPr algn="ctr"/>
            <a:r>
              <a:rPr sz="1400" b="0" i="0">
                <a:solidFill>
                  <a:srgbClr val="212121"/>
                </a:solidFill>
              </a:rPr>
              <a:t>☐</a:t>
            </a:r>
          </a:p>
        </p:txBody>
      </p:sp>
      <p:sp>
        <p:nvSpPr>
          <p:cNvPr id="31" name="Rectangle 30"/>
          <p:cNvSpPr/>
          <p:nvPr/>
        </p:nvSpPr>
        <p:spPr>
          <a:xfrm>
            <a:off x="182880" y="2587752"/>
            <a:ext cx="50292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032" y="2642616"/>
            <a:ext cx="4846320" cy="310896"/>
          </a:xfrm>
          <a:prstGeom prst="rect">
            <a:avLst/>
          </a:prstGeom>
          <a:noFill/>
        </p:spPr>
        <p:txBody>
          <a:bodyPr wrap="square">
            <a:spAutoFit/>
          </a:bodyPr>
          <a:lstStyle/>
          <a:p>
            <a:pPr algn="l"/>
            <a:r>
              <a:rPr sz="950" b="0" i="0">
                <a:solidFill>
                  <a:srgbClr val="212121"/>
                </a:solidFill>
              </a:rPr>
              <a:t>I start assignments without being reminded.</a:t>
            </a:r>
          </a:p>
        </p:txBody>
      </p:sp>
      <p:sp>
        <p:nvSpPr>
          <p:cNvPr id="33" name="Rectangle 32"/>
          <p:cNvSpPr/>
          <p:nvPr/>
        </p:nvSpPr>
        <p:spPr>
          <a:xfrm>
            <a:off x="5257800" y="258775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2624328"/>
            <a:ext cx="502920" cy="329184"/>
          </a:xfrm>
          <a:prstGeom prst="rect">
            <a:avLst/>
          </a:prstGeom>
          <a:noFill/>
        </p:spPr>
        <p:txBody>
          <a:bodyPr wrap="square">
            <a:spAutoFit/>
          </a:bodyPr>
          <a:lstStyle/>
          <a:p>
            <a:pPr algn="ctr"/>
            <a:r>
              <a:rPr sz="1400" b="0" i="0">
                <a:solidFill>
                  <a:srgbClr val="212121"/>
                </a:solidFill>
              </a:rPr>
              <a:t>☐</a:t>
            </a:r>
          </a:p>
        </p:txBody>
      </p:sp>
      <p:sp>
        <p:nvSpPr>
          <p:cNvPr id="35" name="Rectangle 34"/>
          <p:cNvSpPr/>
          <p:nvPr/>
        </p:nvSpPr>
        <p:spPr>
          <a:xfrm>
            <a:off x="5897880" y="258775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0" y="2624328"/>
            <a:ext cx="502920" cy="329184"/>
          </a:xfrm>
          <a:prstGeom prst="rect">
            <a:avLst/>
          </a:prstGeom>
          <a:noFill/>
        </p:spPr>
        <p:txBody>
          <a:bodyPr wrap="square">
            <a:spAutoFit/>
          </a:bodyPr>
          <a:lstStyle/>
          <a:p>
            <a:pPr algn="ctr"/>
            <a:r>
              <a:rPr sz="1400" b="0" i="0">
                <a:solidFill>
                  <a:srgbClr val="212121"/>
                </a:solidFill>
              </a:rPr>
              <a:t>☐</a:t>
            </a:r>
          </a:p>
        </p:txBody>
      </p:sp>
      <p:sp>
        <p:nvSpPr>
          <p:cNvPr id="37" name="Rectangle 36"/>
          <p:cNvSpPr/>
          <p:nvPr/>
        </p:nvSpPr>
        <p:spPr>
          <a:xfrm>
            <a:off x="6537960" y="258775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79" y="2624328"/>
            <a:ext cx="502920" cy="329184"/>
          </a:xfrm>
          <a:prstGeom prst="rect">
            <a:avLst/>
          </a:prstGeom>
          <a:noFill/>
        </p:spPr>
        <p:txBody>
          <a:bodyPr wrap="square">
            <a:spAutoFit/>
          </a:bodyPr>
          <a:lstStyle/>
          <a:p>
            <a:pPr algn="ctr"/>
            <a:r>
              <a:rPr sz="1400" b="0" i="0">
                <a:solidFill>
                  <a:srgbClr val="212121"/>
                </a:solidFill>
              </a:rPr>
              <a:t>☐</a:t>
            </a:r>
          </a:p>
        </p:txBody>
      </p:sp>
      <p:sp>
        <p:nvSpPr>
          <p:cNvPr id="39" name="Rectangle 38"/>
          <p:cNvSpPr/>
          <p:nvPr/>
        </p:nvSpPr>
        <p:spPr>
          <a:xfrm>
            <a:off x="7178040" y="258775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59" y="2624328"/>
            <a:ext cx="502920" cy="329184"/>
          </a:xfrm>
          <a:prstGeom prst="rect">
            <a:avLst/>
          </a:prstGeom>
          <a:noFill/>
        </p:spPr>
        <p:txBody>
          <a:bodyPr wrap="square">
            <a:spAutoFit/>
          </a:bodyPr>
          <a:lstStyle/>
          <a:p>
            <a:pPr algn="ctr"/>
            <a:r>
              <a:rPr sz="1400" b="0" i="0">
                <a:solidFill>
                  <a:srgbClr val="212121"/>
                </a:solidFill>
              </a:rPr>
              <a:t>☐</a:t>
            </a:r>
          </a:p>
        </p:txBody>
      </p:sp>
      <p:sp>
        <p:nvSpPr>
          <p:cNvPr id="41" name="Rectangle 40"/>
          <p:cNvSpPr/>
          <p:nvPr/>
        </p:nvSpPr>
        <p:spPr>
          <a:xfrm>
            <a:off x="7818120" y="258775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0" y="2624328"/>
            <a:ext cx="502920" cy="329184"/>
          </a:xfrm>
          <a:prstGeom prst="rect">
            <a:avLst/>
          </a:prstGeom>
          <a:noFill/>
        </p:spPr>
        <p:txBody>
          <a:bodyPr wrap="square">
            <a:spAutoFit/>
          </a:bodyPr>
          <a:lstStyle/>
          <a:p>
            <a:pPr algn="ctr"/>
            <a:r>
              <a:rPr sz="1400" b="0" i="0">
                <a:solidFill>
                  <a:srgbClr val="212121"/>
                </a:solidFill>
              </a:rPr>
              <a:t>☐</a:t>
            </a:r>
          </a:p>
        </p:txBody>
      </p:sp>
      <p:sp>
        <p:nvSpPr>
          <p:cNvPr id="43" name="Rectangle 42"/>
          <p:cNvSpPr/>
          <p:nvPr/>
        </p:nvSpPr>
        <p:spPr>
          <a:xfrm>
            <a:off x="182880" y="3008376"/>
            <a:ext cx="50292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032" y="3063240"/>
            <a:ext cx="4846320" cy="310896"/>
          </a:xfrm>
          <a:prstGeom prst="rect">
            <a:avLst/>
          </a:prstGeom>
          <a:noFill/>
        </p:spPr>
        <p:txBody>
          <a:bodyPr wrap="square">
            <a:spAutoFit/>
          </a:bodyPr>
          <a:lstStyle/>
          <a:p>
            <a:pPr algn="l"/>
            <a:r>
              <a:rPr sz="950" b="0" i="0">
                <a:solidFill>
                  <a:srgbClr val="212121"/>
                </a:solidFill>
              </a:rPr>
              <a:t>I break big projects into smaller steps.</a:t>
            </a:r>
          </a:p>
        </p:txBody>
      </p:sp>
      <p:sp>
        <p:nvSpPr>
          <p:cNvPr id="45" name="Rectangle 44"/>
          <p:cNvSpPr/>
          <p:nvPr/>
        </p:nvSpPr>
        <p:spPr>
          <a:xfrm>
            <a:off x="5257800" y="300837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0" y="3044952"/>
            <a:ext cx="502920" cy="329184"/>
          </a:xfrm>
          <a:prstGeom prst="rect">
            <a:avLst/>
          </a:prstGeom>
          <a:noFill/>
        </p:spPr>
        <p:txBody>
          <a:bodyPr wrap="square">
            <a:spAutoFit/>
          </a:bodyPr>
          <a:lstStyle/>
          <a:p>
            <a:pPr algn="ctr"/>
            <a:r>
              <a:rPr sz="1400" b="0" i="0">
                <a:solidFill>
                  <a:srgbClr val="212121"/>
                </a:solidFill>
              </a:rPr>
              <a:t>☐</a:t>
            </a:r>
          </a:p>
        </p:txBody>
      </p:sp>
      <p:sp>
        <p:nvSpPr>
          <p:cNvPr id="47" name="Rectangle 46"/>
          <p:cNvSpPr/>
          <p:nvPr/>
        </p:nvSpPr>
        <p:spPr>
          <a:xfrm>
            <a:off x="5897880" y="300837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0" y="3044952"/>
            <a:ext cx="502920" cy="329184"/>
          </a:xfrm>
          <a:prstGeom prst="rect">
            <a:avLst/>
          </a:prstGeom>
          <a:noFill/>
        </p:spPr>
        <p:txBody>
          <a:bodyPr wrap="square">
            <a:spAutoFit/>
          </a:bodyPr>
          <a:lstStyle/>
          <a:p>
            <a:pPr algn="ctr"/>
            <a:r>
              <a:rPr sz="1400" b="0" i="0">
                <a:solidFill>
                  <a:srgbClr val="212121"/>
                </a:solidFill>
              </a:rPr>
              <a:t>☐</a:t>
            </a:r>
          </a:p>
        </p:txBody>
      </p:sp>
      <p:sp>
        <p:nvSpPr>
          <p:cNvPr id="49" name="Rectangle 48"/>
          <p:cNvSpPr/>
          <p:nvPr/>
        </p:nvSpPr>
        <p:spPr>
          <a:xfrm>
            <a:off x="6537960" y="300837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79" y="3044952"/>
            <a:ext cx="502920" cy="329184"/>
          </a:xfrm>
          <a:prstGeom prst="rect">
            <a:avLst/>
          </a:prstGeom>
          <a:noFill/>
        </p:spPr>
        <p:txBody>
          <a:bodyPr wrap="square">
            <a:spAutoFit/>
          </a:bodyPr>
          <a:lstStyle/>
          <a:p>
            <a:pPr algn="ctr"/>
            <a:r>
              <a:rPr sz="1400" b="0" i="0">
                <a:solidFill>
                  <a:srgbClr val="212121"/>
                </a:solidFill>
              </a:rPr>
              <a:t>☐</a:t>
            </a:r>
          </a:p>
        </p:txBody>
      </p:sp>
      <p:sp>
        <p:nvSpPr>
          <p:cNvPr id="51" name="Rectangle 50"/>
          <p:cNvSpPr/>
          <p:nvPr/>
        </p:nvSpPr>
        <p:spPr>
          <a:xfrm>
            <a:off x="7178040" y="300837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59" y="3044952"/>
            <a:ext cx="502920" cy="329184"/>
          </a:xfrm>
          <a:prstGeom prst="rect">
            <a:avLst/>
          </a:prstGeom>
          <a:noFill/>
        </p:spPr>
        <p:txBody>
          <a:bodyPr wrap="square">
            <a:spAutoFit/>
          </a:bodyPr>
          <a:lstStyle/>
          <a:p>
            <a:pPr algn="ctr"/>
            <a:r>
              <a:rPr sz="1400" b="0" i="0">
                <a:solidFill>
                  <a:srgbClr val="212121"/>
                </a:solidFill>
              </a:rPr>
              <a:t>☐</a:t>
            </a:r>
          </a:p>
        </p:txBody>
      </p:sp>
      <p:sp>
        <p:nvSpPr>
          <p:cNvPr id="53" name="Rectangle 52"/>
          <p:cNvSpPr/>
          <p:nvPr/>
        </p:nvSpPr>
        <p:spPr>
          <a:xfrm>
            <a:off x="7818120" y="300837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63840" y="3044952"/>
            <a:ext cx="502920" cy="329184"/>
          </a:xfrm>
          <a:prstGeom prst="rect">
            <a:avLst/>
          </a:prstGeom>
          <a:noFill/>
        </p:spPr>
        <p:txBody>
          <a:bodyPr wrap="square">
            <a:spAutoFit/>
          </a:bodyPr>
          <a:lstStyle/>
          <a:p>
            <a:pPr algn="ctr"/>
            <a:r>
              <a:rPr sz="1400" b="0" i="0">
                <a:solidFill>
                  <a:srgbClr val="212121"/>
                </a:solidFill>
              </a:rPr>
              <a:t>☐</a:t>
            </a:r>
          </a:p>
        </p:txBody>
      </p:sp>
      <p:sp>
        <p:nvSpPr>
          <p:cNvPr id="55" name="Rectangle 54"/>
          <p:cNvSpPr/>
          <p:nvPr/>
        </p:nvSpPr>
        <p:spPr>
          <a:xfrm>
            <a:off x="182880" y="3429000"/>
            <a:ext cx="50292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56032" y="3483864"/>
            <a:ext cx="4846320" cy="310896"/>
          </a:xfrm>
          <a:prstGeom prst="rect">
            <a:avLst/>
          </a:prstGeom>
          <a:noFill/>
        </p:spPr>
        <p:txBody>
          <a:bodyPr wrap="square">
            <a:spAutoFit/>
          </a:bodyPr>
          <a:lstStyle/>
          <a:p>
            <a:pPr algn="l"/>
            <a:r>
              <a:rPr sz="950" b="0" i="0">
                <a:solidFill>
                  <a:srgbClr val="212121"/>
                </a:solidFill>
              </a:rPr>
              <a:t>I can shift focus when plans change.</a:t>
            </a:r>
          </a:p>
        </p:txBody>
      </p:sp>
      <p:sp>
        <p:nvSpPr>
          <p:cNvPr id="57" name="Rectangle 56"/>
          <p:cNvSpPr/>
          <p:nvPr/>
        </p:nvSpPr>
        <p:spPr>
          <a:xfrm>
            <a:off x="5257800" y="3429000"/>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03520" y="3465576"/>
            <a:ext cx="502920" cy="329184"/>
          </a:xfrm>
          <a:prstGeom prst="rect">
            <a:avLst/>
          </a:prstGeom>
          <a:noFill/>
        </p:spPr>
        <p:txBody>
          <a:bodyPr wrap="square">
            <a:spAutoFit/>
          </a:bodyPr>
          <a:lstStyle/>
          <a:p>
            <a:pPr algn="ctr"/>
            <a:r>
              <a:rPr sz="1400" b="0" i="0">
                <a:solidFill>
                  <a:srgbClr val="212121"/>
                </a:solidFill>
              </a:rPr>
              <a:t>☐</a:t>
            </a:r>
          </a:p>
        </p:txBody>
      </p:sp>
      <p:sp>
        <p:nvSpPr>
          <p:cNvPr id="59" name="Rectangle 58"/>
          <p:cNvSpPr/>
          <p:nvPr/>
        </p:nvSpPr>
        <p:spPr>
          <a:xfrm>
            <a:off x="5897880" y="3429000"/>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0" y="3465576"/>
            <a:ext cx="502920" cy="329184"/>
          </a:xfrm>
          <a:prstGeom prst="rect">
            <a:avLst/>
          </a:prstGeom>
          <a:noFill/>
        </p:spPr>
        <p:txBody>
          <a:bodyPr wrap="square">
            <a:spAutoFit/>
          </a:bodyPr>
          <a:lstStyle/>
          <a:p>
            <a:pPr algn="ctr"/>
            <a:r>
              <a:rPr sz="1400" b="0" i="0">
                <a:solidFill>
                  <a:srgbClr val="212121"/>
                </a:solidFill>
              </a:rPr>
              <a:t>☐</a:t>
            </a:r>
          </a:p>
        </p:txBody>
      </p:sp>
      <p:sp>
        <p:nvSpPr>
          <p:cNvPr id="61" name="Rectangle 60"/>
          <p:cNvSpPr/>
          <p:nvPr/>
        </p:nvSpPr>
        <p:spPr>
          <a:xfrm>
            <a:off x="6537960" y="3429000"/>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79" y="3465576"/>
            <a:ext cx="502920" cy="329184"/>
          </a:xfrm>
          <a:prstGeom prst="rect">
            <a:avLst/>
          </a:prstGeom>
          <a:noFill/>
        </p:spPr>
        <p:txBody>
          <a:bodyPr wrap="square">
            <a:spAutoFit/>
          </a:bodyPr>
          <a:lstStyle/>
          <a:p>
            <a:pPr algn="ctr"/>
            <a:r>
              <a:rPr sz="1400" b="0" i="0">
                <a:solidFill>
                  <a:srgbClr val="212121"/>
                </a:solidFill>
              </a:rPr>
              <a:t>☐</a:t>
            </a:r>
          </a:p>
        </p:txBody>
      </p:sp>
      <p:sp>
        <p:nvSpPr>
          <p:cNvPr id="63" name="Rectangle 62"/>
          <p:cNvSpPr/>
          <p:nvPr/>
        </p:nvSpPr>
        <p:spPr>
          <a:xfrm>
            <a:off x="7178040" y="3429000"/>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23759" y="3465576"/>
            <a:ext cx="502920" cy="329184"/>
          </a:xfrm>
          <a:prstGeom prst="rect">
            <a:avLst/>
          </a:prstGeom>
          <a:noFill/>
        </p:spPr>
        <p:txBody>
          <a:bodyPr wrap="square">
            <a:spAutoFit/>
          </a:bodyPr>
          <a:lstStyle/>
          <a:p>
            <a:pPr algn="ctr"/>
            <a:r>
              <a:rPr sz="1400" b="0" i="0">
                <a:solidFill>
                  <a:srgbClr val="212121"/>
                </a:solidFill>
              </a:rPr>
              <a:t>☐</a:t>
            </a:r>
          </a:p>
        </p:txBody>
      </p:sp>
      <p:sp>
        <p:nvSpPr>
          <p:cNvPr id="65" name="Rectangle 64"/>
          <p:cNvSpPr/>
          <p:nvPr/>
        </p:nvSpPr>
        <p:spPr>
          <a:xfrm>
            <a:off x="7818120" y="3429000"/>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63840" y="3465576"/>
            <a:ext cx="502920" cy="329184"/>
          </a:xfrm>
          <a:prstGeom prst="rect">
            <a:avLst/>
          </a:prstGeom>
          <a:noFill/>
        </p:spPr>
        <p:txBody>
          <a:bodyPr wrap="square">
            <a:spAutoFit/>
          </a:bodyPr>
          <a:lstStyle/>
          <a:p>
            <a:pPr algn="ctr"/>
            <a:r>
              <a:rPr sz="1400" b="0" i="0">
                <a:solidFill>
                  <a:srgbClr val="212121"/>
                </a:solidFill>
              </a:rPr>
              <a:t>☐</a:t>
            </a:r>
          </a:p>
        </p:txBody>
      </p:sp>
      <p:sp>
        <p:nvSpPr>
          <p:cNvPr id="67" name="Rectangle 66"/>
          <p:cNvSpPr/>
          <p:nvPr/>
        </p:nvSpPr>
        <p:spPr>
          <a:xfrm>
            <a:off x="182880" y="3849624"/>
            <a:ext cx="50292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56032" y="3904487"/>
            <a:ext cx="4846320" cy="310896"/>
          </a:xfrm>
          <a:prstGeom prst="rect">
            <a:avLst/>
          </a:prstGeom>
          <a:noFill/>
        </p:spPr>
        <p:txBody>
          <a:bodyPr wrap="square">
            <a:spAutoFit/>
          </a:bodyPr>
          <a:lstStyle/>
          <a:p>
            <a:pPr algn="l"/>
            <a:r>
              <a:rPr sz="950" b="0" i="0">
                <a:solidFill>
                  <a:srgbClr val="212121"/>
                </a:solidFill>
              </a:rPr>
              <a:t>I manage my frustration when school gets hard.</a:t>
            </a:r>
          </a:p>
        </p:txBody>
      </p:sp>
      <p:sp>
        <p:nvSpPr>
          <p:cNvPr id="69" name="Rectangle 68"/>
          <p:cNvSpPr/>
          <p:nvPr/>
        </p:nvSpPr>
        <p:spPr>
          <a:xfrm>
            <a:off x="5257800" y="3849624"/>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03520" y="3886200"/>
            <a:ext cx="502920" cy="329184"/>
          </a:xfrm>
          <a:prstGeom prst="rect">
            <a:avLst/>
          </a:prstGeom>
          <a:noFill/>
        </p:spPr>
        <p:txBody>
          <a:bodyPr wrap="square">
            <a:spAutoFit/>
          </a:bodyPr>
          <a:lstStyle/>
          <a:p>
            <a:pPr algn="ctr"/>
            <a:r>
              <a:rPr sz="1400" b="0" i="0">
                <a:solidFill>
                  <a:srgbClr val="212121"/>
                </a:solidFill>
              </a:rPr>
              <a:t>☐</a:t>
            </a:r>
          </a:p>
        </p:txBody>
      </p:sp>
      <p:sp>
        <p:nvSpPr>
          <p:cNvPr id="71" name="Rectangle 70"/>
          <p:cNvSpPr/>
          <p:nvPr/>
        </p:nvSpPr>
        <p:spPr>
          <a:xfrm>
            <a:off x="5897880" y="3849624"/>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43600" y="3886200"/>
            <a:ext cx="502920" cy="329184"/>
          </a:xfrm>
          <a:prstGeom prst="rect">
            <a:avLst/>
          </a:prstGeom>
          <a:noFill/>
        </p:spPr>
        <p:txBody>
          <a:bodyPr wrap="square">
            <a:spAutoFit/>
          </a:bodyPr>
          <a:lstStyle/>
          <a:p>
            <a:pPr algn="ctr"/>
            <a:r>
              <a:rPr sz="1400" b="0" i="0">
                <a:solidFill>
                  <a:srgbClr val="212121"/>
                </a:solidFill>
              </a:rPr>
              <a:t>☐</a:t>
            </a:r>
          </a:p>
        </p:txBody>
      </p:sp>
      <p:sp>
        <p:nvSpPr>
          <p:cNvPr id="73" name="Rectangle 72"/>
          <p:cNvSpPr/>
          <p:nvPr/>
        </p:nvSpPr>
        <p:spPr>
          <a:xfrm>
            <a:off x="6537960" y="3849624"/>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583679" y="3886200"/>
            <a:ext cx="502920" cy="329184"/>
          </a:xfrm>
          <a:prstGeom prst="rect">
            <a:avLst/>
          </a:prstGeom>
          <a:noFill/>
        </p:spPr>
        <p:txBody>
          <a:bodyPr wrap="square">
            <a:spAutoFit/>
          </a:bodyPr>
          <a:lstStyle/>
          <a:p>
            <a:pPr algn="ctr"/>
            <a:r>
              <a:rPr sz="1400" b="0" i="0">
                <a:solidFill>
                  <a:srgbClr val="212121"/>
                </a:solidFill>
              </a:rPr>
              <a:t>☐</a:t>
            </a:r>
          </a:p>
        </p:txBody>
      </p:sp>
      <p:sp>
        <p:nvSpPr>
          <p:cNvPr id="75" name="Rectangle 74"/>
          <p:cNvSpPr/>
          <p:nvPr/>
        </p:nvSpPr>
        <p:spPr>
          <a:xfrm>
            <a:off x="7178040" y="3849624"/>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223759" y="3886200"/>
            <a:ext cx="502920" cy="329184"/>
          </a:xfrm>
          <a:prstGeom prst="rect">
            <a:avLst/>
          </a:prstGeom>
          <a:noFill/>
        </p:spPr>
        <p:txBody>
          <a:bodyPr wrap="square">
            <a:spAutoFit/>
          </a:bodyPr>
          <a:lstStyle/>
          <a:p>
            <a:pPr algn="ctr"/>
            <a:r>
              <a:rPr sz="1400" b="0" i="0">
                <a:solidFill>
                  <a:srgbClr val="212121"/>
                </a:solidFill>
              </a:rPr>
              <a:t>☐</a:t>
            </a:r>
          </a:p>
        </p:txBody>
      </p:sp>
      <p:sp>
        <p:nvSpPr>
          <p:cNvPr id="77" name="Rectangle 76"/>
          <p:cNvSpPr/>
          <p:nvPr/>
        </p:nvSpPr>
        <p:spPr>
          <a:xfrm>
            <a:off x="7818120" y="3849624"/>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863840" y="3886200"/>
            <a:ext cx="502920" cy="329184"/>
          </a:xfrm>
          <a:prstGeom prst="rect">
            <a:avLst/>
          </a:prstGeom>
          <a:noFill/>
        </p:spPr>
        <p:txBody>
          <a:bodyPr wrap="square">
            <a:spAutoFit/>
          </a:bodyPr>
          <a:lstStyle/>
          <a:p>
            <a:pPr algn="ctr"/>
            <a:r>
              <a:rPr sz="1400" b="0" i="0">
                <a:solidFill>
                  <a:srgbClr val="212121"/>
                </a:solidFill>
              </a:rPr>
              <a:t>☐</a:t>
            </a:r>
          </a:p>
        </p:txBody>
      </p:sp>
      <p:sp>
        <p:nvSpPr>
          <p:cNvPr id="79" name="Rectangle 78"/>
          <p:cNvSpPr/>
          <p:nvPr/>
        </p:nvSpPr>
        <p:spPr>
          <a:xfrm>
            <a:off x="182880" y="4270248"/>
            <a:ext cx="50292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56032" y="4325112"/>
            <a:ext cx="4846320" cy="310896"/>
          </a:xfrm>
          <a:prstGeom prst="rect">
            <a:avLst/>
          </a:prstGeom>
          <a:noFill/>
        </p:spPr>
        <p:txBody>
          <a:bodyPr wrap="square">
            <a:spAutoFit/>
          </a:bodyPr>
          <a:lstStyle/>
          <a:p>
            <a:pPr algn="l"/>
            <a:r>
              <a:rPr sz="950" b="0" i="0">
                <a:solidFill>
                  <a:srgbClr val="212121"/>
                </a:solidFill>
              </a:rPr>
              <a:t>I estimate how long tasks will take.</a:t>
            </a:r>
          </a:p>
        </p:txBody>
      </p:sp>
      <p:sp>
        <p:nvSpPr>
          <p:cNvPr id="81" name="Rectangle 80"/>
          <p:cNvSpPr/>
          <p:nvPr/>
        </p:nvSpPr>
        <p:spPr>
          <a:xfrm>
            <a:off x="5257800" y="427024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03520" y="4306824"/>
            <a:ext cx="502920" cy="329184"/>
          </a:xfrm>
          <a:prstGeom prst="rect">
            <a:avLst/>
          </a:prstGeom>
          <a:noFill/>
        </p:spPr>
        <p:txBody>
          <a:bodyPr wrap="square">
            <a:spAutoFit/>
          </a:bodyPr>
          <a:lstStyle/>
          <a:p>
            <a:pPr algn="ctr"/>
            <a:r>
              <a:rPr sz="1400" b="0" i="0">
                <a:solidFill>
                  <a:srgbClr val="212121"/>
                </a:solidFill>
              </a:rPr>
              <a:t>☐</a:t>
            </a:r>
          </a:p>
        </p:txBody>
      </p:sp>
      <p:sp>
        <p:nvSpPr>
          <p:cNvPr id="83" name="Rectangle 82"/>
          <p:cNvSpPr/>
          <p:nvPr/>
        </p:nvSpPr>
        <p:spPr>
          <a:xfrm>
            <a:off x="5897880" y="427024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943600" y="4306824"/>
            <a:ext cx="502920" cy="329184"/>
          </a:xfrm>
          <a:prstGeom prst="rect">
            <a:avLst/>
          </a:prstGeom>
          <a:noFill/>
        </p:spPr>
        <p:txBody>
          <a:bodyPr wrap="square">
            <a:spAutoFit/>
          </a:bodyPr>
          <a:lstStyle/>
          <a:p>
            <a:pPr algn="ctr"/>
            <a:r>
              <a:rPr sz="1400" b="0" i="0">
                <a:solidFill>
                  <a:srgbClr val="212121"/>
                </a:solidFill>
              </a:rPr>
              <a:t>☐</a:t>
            </a:r>
          </a:p>
        </p:txBody>
      </p:sp>
      <p:sp>
        <p:nvSpPr>
          <p:cNvPr id="85" name="Rectangle 84"/>
          <p:cNvSpPr/>
          <p:nvPr/>
        </p:nvSpPr>
        <p:spPr>
          <a:xfrm>
            <a:off x="6537960" y="427024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583679" y="4306824"/>
            <a:ext cx="502920" cy="329184"/>
          </a:xfrm>
          <a:prstGeom prst="rect">
            <a:avLst/>
          </a:prstGeom>
          <a:noFill/>
        </p:spPr>
        <p:txBody>
          <a:bodyPr wrap="square">
            <a:spAutoFit/>
          </a:bodyPr>
          <a:lstStyle/>
          <a:p>
            <a:pPr algn="ctr"/>
            <a:r>
              <a:rPr sz="1400" b="0" i="0">
                <a:solidFill>
                  <a:srgbClr val="212121"/>
                </a:solidFill>
              </a:rPr>
              <a:t>☐</a:t>
            </a:r>
          </a:p>
        </p:txBody>
      </p:sp>
      <p:sp>
        <p:nvSpPr>
          <p:cNvPr id="87" name="Rectangle 86"/>
          <p:cNvSpPr/>
          <p:nvPr/>
        </p:nvSpPr>
        <p:spPr>
          <a:xfrm>
            <a:off x="7178040" y="427024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223759" y="4306824"/>
            <a:ext cx="502920" cy="329184"/>
          </a:xfrm>
          <a:prstGeom prst="rect">
            <a:avLst/>
          </a:prstGeom>
          <a:noFill/>
        </p:spPr>
        <p:txBody>
          <a:bodyPr wrap="square">
            <a:spAutoFit/>
          </a:bodyPr>
          <a:lstStyle/>
          <a:p>
            <a:pPr algn="ctr"/>
            <a:r>
              <a:rPr sz="1400" b="0" i="0">
                <a:solidFill>
                  <a:srgbClr val="212121"/>
                </a:solidFill>
              </a:rPr>
              <a:t>☐</a:t>
            </a:r>
          </a:p>
        </p:txBody>
      </p:sp>
      <p:sp>
        <p:nvSpPr>
          <p:cNvPr id="89" name="Rectangle 88"/>
          <p:cNvSpPr/>
          <p:nvPr/>
        </p:nvSpPr>
        <p:spPr>
          <a:xfrm>
            <a:off x="7818120" y="4270248"/>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863840" y="4306824"/>
            <a:ext cx="502920" cy="329184"/>
          </a:xfrm>
          <a:prstGeom prst="rect">
            <a:avLst/>
          </a:prstGeom>
          <a:noFill/>
        </p:spPr>
        <p:txBody>
          <a:bodyPr wrap="square">
            <a:spAutoFit/>
          </a:bodyPr>
          <a:lstStyle/>
          <a:p>
            <a:pPr algn="ctr"/>
            <a:r>
              <a:rPr sz="1400" b="0" i="0">
                <a:solidFill>
                  <a:srgbClr val="212121"/>
                </a:solidFill>
              </a:rPr>
              <a:t>☐</a:t>
            </a:r>
          </a:p>
        </p:txBody>
      </p:sp>
      <p:sp>
        <p:nvSpPr>
          <p:cNvPr id="91" name="Rectangle 90"/>
          <p:cNvSpPr/>
          <p:nvPr/>
        </p:nvSpPr>
        <p:spPr>
          <a:xfrm>
            <a:off x="182880" y="4690872"/>
            <a:ext cx="50292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56032" y="4745736"/>
            <a:ext cx="4846320" cy="310896"/>
          </a:xfrm>
          <a:prstGeom prst="rect">
            <a:avLst/>
          </a:prstGeom>
          <a:noFill/>
        </p:spPr>
        <p:txBody>
          <a:bodyPr wrap="square">
            <a:spAutoFit/>
          </a:bodyPr>
          <a:lstStyle/>
          <a:p>
            <a:pPr algn="l"/>
            <a:r>
              <a:rPr sz="950" b="0" i="0">
                <a:solidFill>
                  <a:srgbClr val="212121"/>
                </a:solidFill>
              </a:rPr>
              <a:t>I keep my backpack and binder organized.</a:t>
            </a:r>
          </a:p>
        </p:txBody>
      </p:sp>
      <p:sp>
        <p:nvSpPr>
          <p:cNvPr id="93" name="Rectangle 92"/>
          <p:cNvSpPr/>
          <p:nvPr/>
        </p:nvSpPr>
        <p:spPr>
          <a:xfrm>
            <a:off x="5257800" y="469087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303520" y="4727448"/>
            <a:ext cx="502920" cy="329184"/>
          </a:xfrm>
          <a:prstGeom prst="rect">
            <a:avLst/>
          </a:prstGeom>
          <a:noFill/>
        </p:spPr>
        <p:txBody>
          <a:bodyPr wrap="square">
            <a:spAutoFit/>
          </a:bodyPr>
          <a:lstStyle/>
          <a:p>
            <a:pPr algn="ctr"/>
            <a:r>
              <a:rPr sz="1400" b="0" i="0">
                <a:solidFill>
                  <a:srgbClr val="212121"/>
                </a:solidFill>
              </a:rPr>
              <a:t>☐</a:t>
            </a:r>
          </a:p>
        </p:txBody>
      </p:sp>
      <p:sp>
        <p:nvSpPr>
          <p:cNvPr id="95" name="Rectangle 94"/>
          <p:cNvSpPr/>
          <p:nvPr/>
        </p:nvSpPr>
        <p:spPr>
          <a:xfrm>
            <a:off x="5897880" y="469087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943600" y="4727448"/>
            <a:ext cx="502920" cy="329184"/>
          </a:xfrm>
          <a:prstGeom prst="rect">
            <a:avLst/>
          </a:prstGeom>
          <a:noFill/>
        </p:spPr>
        <p:txBody>
          <a:bodyPr wrap="square">
            <a:spAutoFit/>
          </a:bodyPr>
          <a:lstStyle/>
          <a:p>
            <a:pPr algn="ctr"/>
            <a:r>
              <a:rPr sz="1400" b="0" i="0">
                <a:solidFill>
                  <a:srgbClr val="212121"/>
                </a:solidFill>
              </a:rPr>
              <a:t>☐</a:t>
            </a:r>
          </a:p>
        </p:txBody>
      </p:sp>
      <p:sp>
        <p:nvSpPr>
          <p:cNvPr id="97" name="Rectangle 96"/>
          <p:cNvSpPr/>
          <p:nvPr/>
        </p:nvSpPr>
        <p:spPr>
          <a:xfrm>
            <a:off x="6537960" y="469087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583679" y="4727448"/>
            <a:ext cx="502920" cy="329184"/>
          </a:xfrm>
          <a:prstGeom prst="rect">
            <a:avLst/>
          </a:prstGeom>
          <a:noFill/>
        </p:spPr>
        <p:txBody>
          <a:bodyPr wrap="square">
            <a:spAutoFit/>
          </a:bodyPr>
          <a:lstStyle/>
          <a:p>
            <a:pPr algn="ctr"/>
            <a:r>
              <a:rPr sz="1400" b="0" i="0">
                <a:solidFill>
                  <a:srgbClr val="212121"/>
                </a:solidFill>
              </a:rPr>
              <a:t>☐</a:t>
            </a:r>
          </a:p>
        </p:txBody>
      </p:sp>
      <p:sp>
        <p:nvSpPr>
          <p:cNvPr id="99" name="Rectangle 98"/>
          <p:cNvSpPr/>
          <p:nvPr/>
        </p:nvSpPr>
        <p:spPr>
          <a:xfrm>
            <a:off x="7178040" y="469087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223759" y="4727448"/>
            <a:ext cx="502920" cy="329184"/>
          </a:xfrm>
          <a:prstGeom prst="rect">
            <a:avLst/>
          </a:prstGeom>
          <a:noFill/>
        </p:spPr>
        <p:txBody>
          <a:bodyPr wrap="square">
            <a:spAutoFit/>
          </a:bodyPr>
          <a:lstStyle/>
          <a:p>
            <a:pPr algn="ctr"/>
            <a:r>
              <a:rPr sz="1400" b="0" i="0">
                <a:solidFill>
                  <a:srgbClr val="212121"/>
                </a:solidFill>
              </a:rPr>
              <a:t>☐</a:t>
            </a:r>
          </a:p>
        </p:txBody>
      </p:sp>
      <p:sp>
        <p:nvSpPr>
          <p:cNvPr id="101" name="Rectangle 100"/>
          <p:cNvSpPr/>
          <p:nvPr/>
        </p:nvSpPr>
        <p:spPr>
          <a:xfrm>
            <a:off x="7818120" y="4690872"/>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863840" y="4727448"/>
            <a:ext cx="502920" cy="329184"/>
          </a:xfrm>
          <a:prstGeom prst="rect">
            <a:avLst/>
          </a:prstGeom>
          <a:noFill/>
        </p:spPr>
        <p:txBody>
          <a:bodyPr wrap="square">
            <a:spAutoFit/>
          </a:bodyPr>
          <a:lstStyle/>
          <a:p>
            <a:pPr algn="ctr"/>
            <a:r>
              <a:rPr sz="1400" b="0" i="0">
                <a:solidFill>
                  <a:srgbClr val="212121"/>
                </a:solidFill>
              </a:rPr>
              <a:t>☐</a:t>
            </a:r>
          </a:p>
        </p:txBody>
      </p:sp>
      <p:sp>
        <p:nvSpPr>
          <p:cNvPr id="103" name="Rectangle 102"/>
          <p:cNvSpPr/>
          <p:nvPr/>
        </p:nvSpPr>
        <p:spPr>
          <a:xfrm>
            <a:off x="182880" y="5111496"/>
            <a:ext cx="50292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56032" y="5166359"/>
            <a:ext cx="4846320" cy="310896"/>
          </a:xfrm>
          <a:prstGeom prst="rect">
            <a:avLst/>
          </a:prstGeom>
          <a:noFill/>
        </p:spPr>
        <p:txBody>
          <a:bodyPr wrap="square">
            <a:spAutoFit/>
          </a:bodyPr>
          <a:lstStyle/>
          <a:p>
            <a:pPr algn="l"/>
            <a:r>
              <a:rPr sz="950" b="0" i="0">
                <a:solidFill>
                  <a:srgbClr val="212121"/>
                </a:solidFill>
              </a:rPr>
              <a:t>I ask for help when I am confused.</a:t>
            </a:r>
          </a:p>
        </p:txBody>
      </p:sp>
      <p:sp>
        <p:nvSpPr>
          <p:cNvPr id="105" name="Rectangle 104"/>
          <p:cNvSpPr/>
          <p:nvPr/>
        </p:nvSpPr>
        <p:spPr>
          <a:xfrm>
            <a:off x="5257800" y="511149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303520" y="5148072"/>
            <a:ext cx="502920" cy="329184"/>
          </a:xfrm>
          <a:prstGeom prst="rect">
            <a:avLst/>
          </a:prstGeom>
          <a:noFill/>
        </p:spPr>
        <p:txBody>
          <a:bodyPr wrap="square">
            <a:spAutoFit/>
          </a:bodyPr>
          <a:lstStyle/>
          <a:p>
            <a:pPr algn="ctr"/>
            <a:r>
              <a:rPr sz="1400" b="0" i="0">
                <a:solidFill>
                  <a:srgbClr val="212121"/>
                </a:solidFill>
              </a:rPr>
              <a:t>☐</a:t>
            </a:r>
          </a:p>
        </p:txBody>
      </p:sp>
      <p:sp>
        <p:nvSpPr>
          <p:cNvPr id="107" name="Rectangle 106"/>
          <p:cNvSpPr/>
          <p:nvPr/>
        </p:nvSpPr>
        <p:spPr>
          <a:xfrm>
            <a:off x="5897880" y="511149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943600" y="5148072"/>
            <a:ext cx="502920" cy="329184"/>
          </a:xfrm>
          <a:prstGeom prst="rect">
            <a:avLst/>
          </a:prstGeom>
          <a:noFill/>
        </p:spPr>
        <p:txBody>
          <a:bodyPr wrap="square">
            <a:spAutoFit/>
          </a:bodyPr>
          <a:lstStyle/>
          <a:p>
            <a:pPr algn="ctr"/>
            <a:r>
              <a:rPr sz="1400" b="0" i="0">
                <a:solidFill>
                  <a:srgbClr val="212121"/>
                </a:solidFill>
              </a:rPr>
              <a:t>☐</a:t>
            </a:r>
          </a:p>
        </p:txBody>
      </p:sp>
      <p:sp>
        <p:nvSpPr>
          <p:cNvPr id="109" name="Rectangle 108"/>
          <p:cNvSpPr/>
          <p:nvPr/>
        </p:nvSpPr>
        <p:spPr>
          <a:xfrm>
            <a:off x="6537960" y="511149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583679" y="5148072"/>
            <a:ext cx="502920" cy="329184"/>
          </a:xfrm>
          <a:prstGeom prst="rect">
            <a:avLst/>
          </a:prstGeom>
          <a:noFill/>
        </p:spPr>
        <p:txBody>
          <a:bodyPr wrap="square">
            <a:spAutoFit/>
          </a:bodyPr>
          <a:lstStyle/>
          <a:p>
            <a:pPr algn="ctr"/>
            <a:r>
              <a:rPr sz="1400" b="0" i="0">
                <a:solidFill>
                  <a:srgbClr val="212121"/>
                </a:solidFill>
              </a:rPr>
              <a:t>☐</a:t>
            </a:r>
          </a:p>
        </p:txBody>
      </p:sp>
      <p:sp>
        <p:nvSpPr>
          <p:cNvPr id="111" name="Rectangle 110"/>
          <p:cNvSpPr/>
          <p:nvPr/>
        </p:nvSpPr>
        <p:spPr>
          <a:xfrm>
            <a:off x="7178040" y="511149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223759" y="5148072"/>
            <a:ext cx="502920" cy="329184"/>
          </a:xfrm>
          <a:prstGeom prst="rect">
            <a:avLst/>
          </a:prstGeom>
          <a:noFill/>
        </p:spPr>
        <p:txBody>
          <a:bodyPr wrap="square">
            <a:spAutoFit/>
          </a:bodyPr>
          <a:lstStyle/>
          <a:p>
            <a:pPr algn="ctr"/>
            <a:r>
              <a:rPr sz="1400" b="0" i="0">
                <a:solidFill>
                  <a:srgbClr val="212121"/>
                </a:solidFill>
              </a:rPr>
              <a:t>☐</a:t>
            </a:r>
          </a:p>
        </p:txBody>
      </p:sp>
      <p:sp>
        <p:nvSpPr>
          <p:cNvPr id="113" name="Rectangle 112"/>
          <p:cNvSpPr/>
          <p:nvPr/>
        </p:nvSpPr>
        <p:spPr>
          <a:xfrm>
            <a:off x="7818120" y="5111496"/>
            <a:ext cx="5943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863840" y="5148072"/>
            <a:ext cx="502920" cy="329184"/>
          </a:xfrm>
          <a:prstGeom prst="rect">
            <a:avLst/>
          </a:prstGeom>
          <a:noFill/>
        </p:spPr>
        <p:txBody>
          <a:bodyPr wrap="square">
            <a:spAutoFit/>
          </a:bodyPr>
          <a:lstStyle/>
          <a:p>
            <a:pPr algn="ctr"/>
            <a:r>
              <a:rPr sz="1400" b="0" i="0">
                <a:solidFill>
                  <a:srgbClr val="212121"/>
                </a:solidFil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1.1: What Is Executive Functioning?</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Quick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Choose ONE executive functioning skill from today's lesson. Explain what it means and describe a real situation — from school, sports, or daily life — where that skill helped you (or where it could have helped you).</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1.2  ·  5 minutes</a:t>
            </a:r>
          </a:p>
        </p:txBody>
      </p:sp>
      <p:sp>
        <p:nvSpPr>
          <p:cNvPr id="7" name="Rectangle 6"/>
          <p:cNvSpPr/>
          <p:nvPr/>
        </p:nvSpPr>
        <p:spPr>
          <a:xfrm>
            <a:off x="228600" y="868680"/>
            <a:ext cx="1463040" cy="329184"/>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EF Skill Quick-Sort</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Without looking at your notes — name THREE executive functioning skills from last class. Then: rank them from easiest to hardest to use. Be ready to explain your ranking.</a:t>
            </a:r>
          </a:p>
        </p:txBody>
      </p:sp>
      <p:sp>
        <p:nvSpPr>
          <p:cNvPr id="13" name="Rectangle 12"/>
          <p:cNvSpPr/>
          <p:nvPr/>
        </p:nvSpPr>
        <p:spPr>
          <a:xfrm>
            <a:off x="228600" y="4919472"/>
            <a:ext cx="8686800" cy="47548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Thumbs up when ready → cold-call 1 student per skill</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1.2  |  Unit 1: Executive Functioning</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Organization &amp; Planning</a:t>
            </a:r>
          </a:p>
        </p:txBody>
      </p:sp>
      <p:sp>
        <p:nvSpPr>
          <p:cNvPr id="6" name="Rectangle 5"/>
          <p:cNvSpPr/>
          <p:nvPr/>
        </p:nvSpPr>
        <p:spPr>
          <a:xfrm>
            <a:off x="182880" y="1024128"/>
            <a:ext cx="8778240" cy="329184"/>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Explain the difference between being organized and being organized *for learning*.</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Apply a prioritization strategy (Eisenhower Matrix) to a real assignment list.</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Set up and begin using the Warrior Prep planner system.</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C61414"/>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C61414"/>
                </a:solidFill>
              </a:rPr>
              <a:t>Prioritize</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prior (first, more important) + -ize (to make/do)</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To rank tasks by importance and urgency so the most critical work gets done first.</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572000"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961888" y="5623560"/>
            <a:ext cx="2084831"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715000"/>
            <a:ext cx="2011679" cy="320040"/>
          </a:xfrm>
          <a:prstGeom prst="rect">
            <a:avLst/>
          </a:prstGeom>
          <a:noFill/>
        </p:spPr>
        <p:txBody>
          <a:bodyPr wrap="square">
            <a:spAutoFit/>
          </a:bodyPr>
          <a:lstStyle/>
          <a:p>
            <a:pPr algn="ctr"/>
            <a:r>
              <a:rPr sz="1100" b="1" i="0">
                <a:solidFill>
                  <a:srgbClr val="FFFFFF"/>
                </a:solidFill>
              </a:rPr>
              <a:t>12</a:t>
            </a:r>
          </a:p>
        </p:txBody>
      </p:sp>
      <p:sp>
        <p:nvSpPr>
          <p:cNvPr id="36" name="TextBox 35"/>
          <p:cNvSpPr txBox="1"/>
          <p:nvPr/>
        </p:nvSpPr>
        <p:spPr>
          <a:xfrm>
            <a:off x="5961888" y="6163056"/>
            <a:ext cx="2084831"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19"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5"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19"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1 — Heavy scaffold (most notes provided)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C61414"/>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The Art of Getting Things Done: Organization and Prioritization</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on student academic planning</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Art of Getting Things Done: Organization and Prioritization  (p. 1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Open any successful student's backpack and you will usually find a system: color-coded
folders, a filled-in planner, highlighted notes. But organization is not about being
neat for its own sake — it is about reducing the mental energy you waste searching for
things, remembering deadlines, or figuring out what to do next. When your physical and
cognitive systems are in order, you free up mental bandwidth for actual learning.</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One of the most powerful tools for managing schoolwork comes from an unlikely source:
Dwight D. Eisenhower, the 34th President of the United States. Eisenhower was famous for
making high-stakes decisions under pressure, and he developed a simple framework for
sorting tasks. Every task, he argued, can be placed into one of four categories based on
two questions: Is it urgent? (Does it need attention immediately?) Is it important?
(Does it have significant consequences?)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Art of Getting Things Done: Organization and Prioritization  (p. 2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Tasks that are URGENT and IMPORTANT must be done right away — a test tomorrow, an
assignment due in an hour. Tasks that are NOT URGENT but IMPORTANT are the dangerous
middle zone. These are projects due in three weeks, studying for an exam a month out, or
building relationships with teachers. Most students ignore these tasks until they become
urgent — and then they are already behind. High performers schedule these tasks before
they become crises. Tasks that are URGENT but NOT IMPORTANT might feel pressing — texts,
notifications, a friend's drama — but do not actually advance your goals. Tasks that are
NEITHER urgent NOR important (endless scrolling, procrastinating) should simply be
eliminated from your study time.</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Your planner is not just a place to write down homework. It is a tool for making
Eisenhower-style decisions visible. When you write every assignment on the day it is
given (not the day it is due), you can see the week ahead of you and make intentional
choices about where to spend your time. The students who use planners consistently
report lower stress, higher grades, and more free time — because they do not waste
energy trying to remember what they are supposed to be doing.</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'The Art of Getting Things Done: Organization and Prioritization'</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C61414"/>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the difference between being 'organized' and being 'organized for learning'? Use the
reading to support your answer.</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C61414"/>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Explain the Eisenhower Matrix in your own words. Draw the four quadrants and label them.</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C61414"/>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The reading calls 'not urgent but important' tasks a 'dangerous middle zone.' Why are these
tasks dangerous? Give a school example.</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C61414"/>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Why does the reading say you should write assignments on the day they are GIVEN, not the day
they are DUE? Do you currently do this? Explain.</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C61414"/>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Think about your own organizational habits. Which quadrant of the Eisenhower Matrix do you
spend the most time in? Which quadrant do you need to spend more time 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1.2</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The Eisenhower Matrix — How to Manage Your Tasks</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Sprouts  ·  approx. 4 min</a:t>
            </a:r>
          </a:p>
        </p:txBody>
      </p:sp>
      <p:sp>
        <p:nvSpPr>
          <p:cNvPr id="9" name="Rectangle 8"/>
          <p:cNvSpPr/>
          <p:nvPr/>
        </p:nvSpPr>
        <p:spPr>
          <a:xfrm>
            <a:off x="365760" y="2377440"/>
            <a:ext cx="8412480" cy="2743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C61414"/>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Pay attention to how they categorize tasks — which quadrant surprises you most?</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"How to Plan Your Week Effectively"  |  Thomas Frank</a:t>
            </a:r>
          </a:p>
        </p:txBody>
      </p:sp>
      <p:sp>
        <p:nvSpPr>
          <p:cNvPr id="16" name="Rectangle 15">
            <a:hlinkClick r:id="rId3"/>
          </p:cNvPr>
          <p:cNvSpPr/>
          <p:nvPr/>
        </p:nvSpPr>
        <p:spPr>
          <a:xfrm>
            <a:off x="2743200" y="4480560"/>
            <a:ext cx="3657600" cy="7498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Stack"  —  Lesson 1.2</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850392"/>
          </a:xfrm>
          <a:prstGeom prst="rect">
            <a:avLst/>
          </a:prstGeom>
          <a:noFill/>
        </p:spPr>
        <p:txBody>
          <a:bodyPr wrap="square">
            <a:spAutoFit/>
          </a:bodyPr>
          <a:lstStyle/>
          <a:p>
            <a:pPr algn="l">
              <a:lnSpc>
                <a:spcPts val="1500"/>
              </a:lnSpc>
            </a:pPr>
            <a:r>
              <a:rPr sz="1000" b="0" i="0">
                <a:solidFill>
                  <a:srgbClr val="212121"/>
                </a:solidFill>
              </a:rPr>
              <a:t>The stack on Eli's desk had been there since Tuesday. He knew exactly what was in it: a
history worksheet (due yesterday), a permission slip for the science field trip (due last
week, trip already gone), a reading response he'd started and abandoned, and a math
corrections sheet that might still count for partial credit if he turned it in.</a:t>
            </a:r>
          </a:p>
        </p:txBody>
      </p:sp>
      <p:sp>
        <p:nvSpPr>
          <p:cNvPr id="7" name="TextBox 6"/>
          <p:cNvSpPr txBox="1"/>
          <p:nvPr/>
        </p:nvSpPr>
        <p:spPr>
          <a:xfrm>
            <a:off x="228600" y="1737360"/>
            <a:ext cx="8686800" cy="246888"/>
          </a:xfrm>
          <a:prstGeom prst="rect">
            <a:avLst/>
          </a:prstGeom>
          <a:noFill/>
        </p:spPr>
        <p:txBody>
          <a:bodyPr wrap="square">
            <a:spAutoFit/>
          </a:bodyPr>
          <a:lstStyle/>
          <a:p>
            <a:pPr algn="l">
              <a:lnSpc>
                <a:spcPts val="1500"/>
              </a:lnSpc>
            </a:pPr>
            <a:r>
              <a:rPr sz="1000" b="0" i="0">
                <a:solidFill>
                  <a:srgbClr val="212121"/>
                </a:solidFill>
              </a:rPr>
              <a:t>He knew all of this. He did not move the stack.</a:t>
            </a:r>
          </a:p>
        </p:txBody>
      </p:sp>
      <p:sp>
        <p:nvSpPr>
          <p:cNvPr id="8" name="TextBox 7"/>
          <p:cNvSpPr txBox="1"/>
          <p:nvPr/>
        </p:nvSpPr>
        <p:spPr>
          <a:xfrm>
            <a:off x="228600" y="1993391"/>
            <a:ext cx="8686800" cy="448056"/>
          </a:xfrm>
          <a:prstGeom prst="rect">
            <a:avLst/>
          </a:prstGeom>
          <a:noFill/>
        </p:spPr>
        <p:txBody>
          <a:bodyPr wrap="square">
            <a:spAutoFit/>
          </a:bodyPr>
          <a:lstStyle/>
          <a:p>
            <a:pPr algn="l">
              <a:lnSpc>
                <a:spcPts val="1500"/>
              </a:lnSpc>
            </a:pPr>
            <a:r>
              <a:rPr sz="1050" b="0" i="1">
                <a:solidFill>
                  <a:srgbClr val="1A1A6E"/>
                </a:solidFill>
              </a:rPr>
              <a:t>Jordan came over after practice and immediately picked up the permission slip. "Dude. The
field trip was last Wednesday."</a:t>
            </a:r>
          </a:p>
        </p:txBody>
      </p:sp>
      <p:sp>
        <p:nvSpPr>
          <p:cNvPr id="9" name="TextBox 8"/>
          <p:cNvSpPr txBox="1"/>
          <p:nvPr/>
        </p:nvSpPr>
        <p:spPr>
          <a:xfrm>
            <a:off x="228600" y="2450591"/>
            <a:ext cx="8686800" cy="246888"/>
          </a:xfrm>
          <a:prstGeom prst="rect">
            <a:avLst/>
          </a:prstGeom>
          <a:noFill/>
        </p:spPr>
        <p:txBody>
          <a:bodyPr wrap="square">
            <a:spAutoFit/>
          </a:bodyPr>
          <a:lstStyle/>
          <a:p>
            <a:pPr algn="l">
              <a:lnSpc>
                <a:spcPts val="1500"/>
              </a:lnSpc>
            </a:pPr>
            <a:r>
              <a:rPr sz="1050" b="0" i="1">
                <a:solidFill>
                  <a:srgbClr val="1A1A6E"/>
                </a:solidFill>
              </a:rPr>
              <a:t>"I know."</a:t>
            </a:r>
          </a:p>
        </p:txBody>
      </p:sp>
      <p:sp>
        <p:nvSpPr>
          <p:cNvPr id="10" name="TextBox 9"/>
          <p:cNvSpPr txBox="1"/>
          <p:nvPr/>
        </p:nvSpPr>
        <p:spPr>
          <a:xfrm>
            <a:off x="228600" y="2706624"/>
            <a:ext cx="8686800" cy="246888"/>
          </a:xfrm>
          <a:prstGeom prst="rect">
            <a:avLst/>
          </a:prstGeom>
          <a:noFill/>
        </p:spPr>
        <p:txBody>
          <a:bodyPr wrap="square">
            <a:spAutoFit/>
          </a:bodyPr>
          <a:lstStyle/>
          <a:p>
            <a:pPr algn="l">
              <a:lnSpc>
                <a:spcPts val="1500"/>
              </a:lnSpc>
            </a:pPr>
            <a:r>
              <a:rPr sz="1050" b="0" i="1">
                <a:solidFill>
                  <a:srgbClr val="1A1A6E"/>
                </a:solidFill>
              </a:rPr>
              <a:t>"You didn't go?"</a:t>
            </a:r>
          </a:p>
        </p:txBody>
      </p:sp>
      <p:sp>
        <p:nvSpPr>
          <p:cNvPr id="11" name="TextBox 10"/>
          <p:cNvSpPr txBox="1"/>
          <p:nvPr/>
        </p:nvSpPr>
        <p:spPr>
          <a:xfrm>
            <a:off x="228600" y="2962656"/>
            <a:ext cx="8686800" cy="246888"/>
          </a:xfrm>
          <a:prstGeom prst="rect">
            <a:avLst/>
          </a:prstGeom>
          <a:noFill/>
        </p:spPr>
        <p:txBody>
          <a:bodyPr wrap="square">
            <a:spAutoFit/>
          </a:bodyPr>
          <a:lstStyle/>
          <a:p>
            <a:pPr algn="l">
              <a:lnSpc>
                <a:spcPts val="1500"/>
              </a:lnSpc>
            </a:pPr>
            <a:r>
              <a:rPr sz="1050" b="0" i="1">
                <a:solidFill>
                  <a:srgbClr val="1A1A6E"/>
                </a:solidFill>
              </a:rPr>
              <a:t>"No."</a:t>
            </a:r>
          </a:p>
        </p:txBody>
      </p:sp>
      <p:sp>
        <p:nvSpPr>
          <p:cNvPr id="12" name="TextBox 11"/>
          <p:cNvSpPr txBox="1"/>
          <p:nvPr/>
        </p:nvSpPr>
        <p:spPr>
          <a:xfrm>
            <a:off x="228600" y="3218688"/>
            <a:ext cx="8686800" cy="246888"/>
          </a:xfrm>
          <a:prstGeom prst="rect">
            <a:avLst/>
          </a:prstGeom>
          <a:noFill/>
        </p:spPr>
        <p:txBody>
          <a:bodyPr wrap="square">
            <a:spAutoFit/>
          </a:bodyPr>
          <a:lstStyle/>
          <a:p>
            <a:pPr algn="l">
              <a:lnSpc>
                <a:spcPts val="1500"/>
              </a:lnSpc>
            </a:pPr>
            <a:r>
              <a:rPr sz="1050" b="0" i="1">
                <a:solidFill>
                  <a:srgbClr val="1A1A6E"/>
                </a:solidFill>
              </a:rPr>
              <a:t>Jordan put it down carefully, like it might be radioactive. "What happened?"</a:t>
            </a:r>
          </a:p>
        </p:txBody>
      </p:sp>
      <p:sp>
        <p:nvSpPr>
          <p:cNvPr id="13" name="TextBox 12"/>
          <p:cNvSpPr txBox="1"/>
          <p:nvPr/>
        </p:nvSpPr>
        <p:spPr>
          <a:xfrm>
            <a:off x="228600" y="3474720"/>
            <a:ext cx="8686800" cy="649224"/>
          </a:xfrm>
          <a:prstGeom prst="rect">
            <a:avLst/>
          </a:prstGeom>
          <a:noFill/>
        </p:spPr>
        <p:txBody>
          <a:bodyPr wrap="square">
            <a:spAutoFit/>
          </a:bodyPr>
          <a:lstStyle/>
          <a:p>
            <a:pPr algn="l">
              <a:lnSpc>
                <a:spcPts val="1500"/>
              </a:lnSpc>
            </a:pPr>
            <a:r>
              <a:rPr sz="1000" b="0" i="0">
                <a:solidFill>
                  <a:srgbClr val="212121"/>
                </a:solidFill>
              </a:rPr>
              <a:t>Eli shrugged. He didn't have a good answer. He'd meant to turn it in. He'd thought about
turning it in every day for two weeks. But it was never the most urgent thing, and then it was
too late, and now it was just embarrassing, so the stack stayed.</a:t>
            </a:r>
          </a:p>
        </p:txBody>
      </p:sp>
      <p:sp>
        <p:nvSpPr>
          <p:cNvPr id="14" name="TextBox 13"/>
          <p:cNvSpPr txBox="1"/>
          <p:nvPr/>
        </p:nvSpPr>
        <p:spPr>
          <a:xfrm>
            <a:off x="228600" y="4133088"/>
            <a:ext cx="8686800" cy="246888"/>
          </a:xfrm>
          <a:prstGeom prst="rect">
            <a:avLst/>
          </a:prstGeom>
          <a:noFill/>
        </p:spPr>
        <p:txBody>
          <a:bodyPr wrap="square">
            <a:spAutoFit/>
          </a:bodyPr>
          <a:lstStyle/>
          <a:p>
            <a:pPr algn="l">
              <a:lnSpc>
                <a:spcPts val="1500"/>
              </a:lnSpc>
            </a:pPr>
            <a:r>
              <a:rPr sz="1050" b="0" i="1">
                <a:solidFill>
                  <a:srgbClr val="1A1A6E"/>
                </a:solidFill>
              </a:rPr>
              <a:t>"What's this one?" Jordan held up the math corrections.</a:t>
            </a:r>
          </a:p>
        </p:txBody>
      </p:sp>
      <p:sp>
        <p:nvSpPr>
          <p:cNvPr id="15" name="TextBox 14"/>
          <p:cNvSpPr txBox="1"/>
          <p:nvPr/>
        </p:nvSpPr>
        <p:spPr>
          <a:xfrm>
            <a:off x="228600" y="4389120"/>
            <a:ext cx="8686800" cy="246888"/>
          </a:xfrm>
          <a:prstGeom prst="rect">
            <a:avLst/>
          </a:prstGeom>
          <a:noFill/>
        </p:spPr>
        <p:txBody>
          <a:bodyPr wrap="square">
            <a:spAutoFit/>
          </a:bodyPr>
          <a:lstStyle/>
          <a:p>
            <a:pPr algn="l">
              <a:lnSpc>
                <a:spcPts val="1500"/>
              </a:lnSpc>
            </a:pPr>
            <a:r>
              <a:rPr sz="1050" b="0" i="1">
                <a:solidFill>
                  <a:srgbClr val="1A1A6E"/>
                </a:solidFill>
              </a:rPr>
              <a:t>"Might still count."</a:t>
            </a:r>
          </a:p>
        </p:txBody>
      </p:sp>
      <p:sp>
        <p:nvSpPr>
          <p:cNvPr id="16" name="TextBox 15"/>
          <p:cNvSpPr txBox="1"/>
          <p:nvPr/>
        </p:nvSpPr>
        <p:spPr>
          <a:xfrm>
            <a:off x="228600" y="4645152"/>
            <a:ext cx="8686800" cy="246888"/>
          </a:xfrm>
          <a:prstGeom prst="rect">
            <a:avLst/>
          </a:prstGeom>
          <a:noFill/>
        </p:spPr>
        <p:txBody>
          <a:bodyPr wrap="square">
            <a:spAutoFit/>
          </a:bodyPr>
          <a:lstStyle/>
          <a:p>
            <a:pPr algn="l">
              <a:lnSpc>
                <a:spcPts val="1500"/>
              </a:lnSpc>
            </a:pPr>
            <a:r>
              <a:rPr sz="1050" b="0" i="1">
                <a:solidFill>
                  <a:srgbClr val="1A1A6E"/>
                </a:solidFill>
              </a:rPr>
              <a:t>"Might?"</a:t>
            </a:r>
          </a:p>
        </p:txBody>
      </p:sp>
      <p:sp>
        <p:nvSpPr>
          <p:cNvPr id="17" name="TextBox 16"/>
          <p:cNvSpPr txBox="1"/>
          <p:nvPr/>
        </p:nvSpPr>
        <p:spPr>
          <a:xfrm>
            <a:off x="228600" y="4901184"/>
            <a:ext cx="8686800" cy="246888"/>
          </a:xfrm>
          <a:prstGeom prst="rect">
            <a:avLst/>
          </a:prstGeom>
          <a:noFill/>
        </p:spPr>
        <p:txBody>
          <a:bodyPr wrap="square">
            <a:spAutoFit/>
          </a:bodyPr>
          <a:lstStyle/>
          <a:p>
            <a:pPr algn="l">
              <a:lnSpc>
                <a:spcPts val="1500"/>
              </a:lnSpc>
            </a:pPr>
            <a:r>
              <a:rPr sz="1050" b="0" i="1">
                <a:solidFill>
                  <a:srgbClr val="1A1A6E"/>
                </a:solidFill>
              </a:rPr>
              <a:t>"I have to ask. I don't want to ask."</a:t>
            </a:r>
          </a:p>
        </p:txBody>
      </p:sp>
      <p:sp>
        <p:nvSpPr>
          <p:cNvPr id="18" name="TextBox 17"/>
          <p:cNvSpPr txBox="1"/>
          <p:nvPr/>
        </p:nvSpPr>
        <p:spPr>
          <a:xfrm>
            <a:off x="228600" y="5157216"/>
            <a:ext cx="8686800" cy="649224"/>
          </a:xfrm>
          <a:prstGeom prst="rect">
            <a:avLst/>
          </a:prstGeom>
          <a:noFill/>
        </p:spPr>
        <p:txBody>
          <a:bodyPr wrap="square">
            <a:spAutoFit/>
          </a:bodyPr>
          <a:lstStyle/>
          <a:p>
            <a:pPr algn="l">
              <a:lnSpc>
                <a:spcPts val="1500"/>
              </a:lnSpc>
            </a:pPr>
            <a:r>
              <a:rPr sz="1050" b="0" i="1">
                <a:solidFill>
                  <a:srgbClr val="1A1A6E"/>
                </a:solidFill>
              </a:rPr>
              <a:t>Jordan sat down. He didn't say anything for a minute. Then: "I've got like four things at home
just like this. Stuff I could fix, but I'd have to explain why I didn't do it, and that's
worse than just not doing it."</a:t>
            </a:r>
          </a:p>
        </p:txBody>
      </p:sp>
      <p:sp>
        <p:nvSpPr>
          <p:cNvPr id="19" name="TextBox 18"/>
          <p:cNvSpPr txBox="1"/>
          <p:nvPr/>
        </p:nvSpPr>
        <p:spPr>
          <a:xfrm>
            <a:off x="228600" y="5815584"/>
            <a:ext cx="8686800" cy="246888"/>
          </a:xfrm>
          <a:prstGeom prst="rect">
            <a:avLst/>
          </a:prstGeom>
          <a:noFill/>
        </p:spPr>
        <p:txBody>
          <a:bodyPr wrap="square">
            <a:spAutoFit/>
          </a:bodyPr>
          <a:lstStyle/>
          <a:p>
            <a:pPr algn="l">
              <a:lnSpc>
                <a:spcPts val="1500"/>
              </a:lnSpc>
            </a:pPr>
            <a:r>
              <a:rPr sz="1050" b="0" i="1">
                <a:solidFill>
                  <a:srgbClr val="1A1A6E"/>
                </a:solidFill>
              </a:rPr>
              <a:t>"Yeah," Eli said.</a:t>
            </a:r>
          </a:p>
        </p:txBody>
      </p:sp>
      <p:sp>
        <p:nvSpPr>
          <p:cNvPr id="20" name="TextBox 19"/>
          <p:cNvSpPr txBox="1"/>
          <p:nvPr/>
        </p:nvSpPr>
        <p:spPr>
          <a:xfrm>
            <a:off x="228600" y="6071616"/>
            <a:ext cx="8686800" cy="246888"/>
          </a:xfrm>
          <a:prstGeom prst="rect">
            <a:avLst/>
          </a:prstGeom>
          <a:noFill/>
        </p:spPr>
        <p:txBody>
          <a:bodyPr wrap="square">
            <a:spAutoFit/>
          </a:bodyPr>
          <a:lstStyle/>
          <a:p>
            <a:pPr algn="l">
              <a:lnSpc>
                <a:spcPts val="1500"/>
              </a:lnSpc>
            </a:pPr>
            <a:r>
              <a:rPr sz="1050" b="0" i="1">
                <a:solidFill>
                  <a:srgbClr val="1A1A6E"/>
                </a:solidFill>
              </a:rPr>
              <a:t>"So what do we do."</a:t>
            </a:r>
          </a:p>
        </p:txBody>
      </p:sp>
      <p:sp>
        <p:nvSpPr>
          <p:cNvPr id="21" name="TextBox 20"/>
          <p:cNvSpPr txBox="1"/>
          <p:nvPr/>
        </p:nvSpPr>
        <p:spPr>
          <a:xfrm>
            <a:off x="228600" y="6327648"/>
            <a:ext cx="8686800" cy="246888"/>
          </a:xfrm>
          <a:prstGeom prst="rect">
            <a:avLst/>
          </a:prstGeom>
          <a:noFill/>
        </p:spPr>
        <p:txBody>
          <a:bodyPr wrap="square">
            <a:spAutoFit/>
          </a:bodyPr>
          <a:lstStyle/>
          <a:p>
            <a:pPr algn="l">
              <a:lnSpc>
                <a:spcPts val="1500"/>
              </a:lnSpc>
            </a:pPr>
            <a:r>
              <a:rPr sz="1000" b="0" i="0">
                <a:solidFill>
                  <a:srgbClr val="212121"/>
                </a:solidFill>
              </a:rPr>
              <a:t>Eli looked at the stack. He thought about picking it up. He didn't.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Stack"</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Eli knows what's in the stack and what needs to happen. Why doesn't he act on it? What is
getting in the way?</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Jordan admits he has the same pattern at home. Why do you think they've both let things pile
up instead of dealing with them one at a time?</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What is the difference between a task that is urgent and one that is important? Where does
the math corrections sheet fit?</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What would it take for Eli to actually start on the stack tonight? What's the smallest
possible first step?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Urgent vs. Important — What's the Difference?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URGENT tasks demand your attention right now (they have a close deadline). IMPORTANT
tasks have high value and consequences if ignored — but they may not feel pressing. Many
students only react to urgent things and never get to the important ones. High-
performing students learn to schedule important work before it becomes urgent.</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Is there a task you've been putting off because it's 'not due yet'? Is it urgent? Is it important?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Practice: Sort Your Tasks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Look at the assignment list below. Draw the Eisenhower Matrix and place each task in the
correct box. Then answer: What should you do first? Why?</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C61414"/>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The most important tasks are often the ones that are NOT urgent yet. High performers schedule these before they become crises.</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Eisenhower Matrix  —  Lesson 1.2</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12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Draw the Eisenhower Matrix in your workbook (4 quadrants). Place each numbered task in the correct box. Then: what should you do FIRST? Share with a partner.</a:t>
            </a:r>
          </a:p>
        </p:txBody>
      </p:sp>
      <p:sp>
        <p:nvSpPr>
          <p:cNvPr id="7" name="Rectangle 6"/>
          <p:cNvSpPr/>
          <p:nvPr/>
        </p:nvSpPr>
        <p:spPr>
          <a:xfrm>
            <a:off x="182880" y="1783080"/>
            <a:ext cx="4297680" cy="192024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920240"/>
            <a:ext cx="4114800" cy="731520"/>
          </a:xfrm>
          <a:prstGeom prst="rect">
            <a:avLst/>
          </a:prstGeom>
          <a:noFill/>
        </p:spPr>
        <p:txBody>
          <a:bodyPr wrap="square">
            <a:spAutoFit/>
          </a:bodyPr>
          <a:lstStyle/>
          <a:p>
            <a:pPr algn="l"/>
            <a:r>
              <a:rPr sz="1100" b="1" i="0">
                <a:solidFill>
                  <a:srgbClr val="212121"/>
                </a:solidFill>
              </a:rPr>
              <a:t>URGENT + IMPORTANT
→ DO IT NOW</a:t>
            </a:r>
          </a:p>
        </p:txBody>
      </p:sp>
      <p:sp>
        <p:nvSpPr>
          <p:cNvPr id="9" name="Rectangle 8"/>
          <p:cNvSpPr/>
          <p:nvPr/>
        </p:nvSpPr>
        <p:spPr>
          <a:xfrm>
            <a:off x="4663440" y="1783080"/>
            <a:ext cx="4297680" cy="19202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1920240"/>
            <a:ext cx="4114800" cy="731520"/>
          </a:xfrm>
          <a:prstGeom prst="rect">
            <a:avLst/>
          </a:prstGeom>
          <a:noFill/>
        </p:spPr>
        <p:txBody>
          <a:bodyPr wrap="square">
            <a:spAutoFit/>
          </a:bodyPr>
          <a:lstStyle/>
          <a:p>
            <a:pPr algn="l"/>
            <a:r>
              <a:rPr sz="1100" b="1" i="0">
                <a:solidFill>
                  <a:srgbClr val="212121"/>
                </a:solidFill>
              </a:rPr>
              <a:t>NOT URGENT + IMPORTANT
→ SCHEDULE IT</a:t>
            </a:r>
          </a:p>
        </p:txBody>
      </p:sp>
      <p:sp>
        <p:nvSpPr>
          <p:cNvPr id="11" name="Rectangle 10"/>
          <p:cNvSpPr/>
          <p:nvPr/>
        </p:nvSpPr>
        <p:spPr>
          <a:xfrm>
            <a:off x="182880" y="3794760"/>
            <a:ext cx="4297680" cy="192024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931920"/>
            <a:ext cx="4114800" cy="731520"/>
          </a:xfrm>
          <a:prstGeom prst="rect">
            <a:avLst/>
          </a:prstGeom>
          <a:noFill/>
        </p:spPr>
        <p:txBody>
          <a:bodyPr wrap="square">
            <a:spAutoFit/>
          </a:bodyPr>
          <a:lstStyle/>
          <a:p>
            <a:pPr algn="l"/>
            <a:r>
              <a:rPr sz="1100" b="1" i="0">
                <a:solidFill>
                  <a:srgbClr val="212121"/>
                </a:solidFill>
              </a:rPr>
              <a:t>URGENT + NOT IMPORTANT
→ MINIMIZE IT</a:t>
            </a:r>
          </a:p>
        </p:txBody>
      </p:sp>
      <p:sp>
        <p:nvSpPr>
          <p:cNvPr id="13" name="Rectangle 12"/>
          <p:cNvSpPr/>
          <p:nvPr/>
        </p:nvSpPr>
        <p:spPr>
          <a:xfrm>
            <a:off x="4663440" y="3794760"/>
            <a:ext cx="429768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79" y="3931920"/>
            <a:ext cx="4114800" cy="731520"/>
          </a:xfrm>
          <a:prstGeom prst="rect">
            <a:avLst/>
          </a:prstGeom>
          <a:noFill/>
        </p:spPr>
        <p:txBody>
          <a:bodyPr wrap="square">
            <a:spAutoFit/>
          </a:bodyPr>
          <a:lstStyle/>
          <a:p>
            <a:pPr algn="l"/>
            <a:r>
              <a:rPr sz="1100" b="1" i="0">
                <a:solidFill>
                  <a:srgbClr val="212121"/>
                </a:solidFill>
              </a:rPr>
              <a:t>NOT URGENT + NOT IMPORTANT
→ ELIMINATE IT</a:t>
            </a:r>
          </a:p>
        </p:txBody>
      </p:sp>
      <p:sp>
        <p:nvSpPr>
          <p:cNvPr id="15" name="TextBox 14"/>
          <p:cNvSpPr txBox="1"/>
          <p:nvPr/>
        </p:nvSpPr>
        <p:spPr>
          <a:xfrm>
            <a:off x="182880" y="5989320"/>
            <a:ext cx="8778240" cy="274320"/>
          </a:xfrm>
          <a:prstGeom prst="rect">
            <a:avLst/>
          </a:prstGeom>
          <a:noFill/>
        </p:spPr>
        <p:txBody>
          <a:bodyPr wrap="square">
            <a:spAutoFit/>
          </a:bodyPr>
          <a:lstStyle/>
          <a:p>
            <a:pPr algn="l"/>
            <a:r>
              <a:rPr sz="1000" b="1" i="0">
                <a:solidFill>
                  <a:srgbClr val="212121"/>
                </a:solidFill>
              </a:rPr>
              <a:t>Tasks to sort:</a:t>
            </a:r>
          </a:p>
        </p:txBody>
      </p:sp>
      <p:sp>
        <p:nvSpPr>
          <p:cNvPr id="16" name="TextBox 15"/>
          <p:cNvSpPr txBox="1"/>
          <p:nvPr/>
        </p:nvSpPr>
        <p:spPr>
          <a:xfrm>
            <a:off x="182880" y="6309360"/>
            <a:ext cx="8778240" cy="347472"/>
          </a:xfrm>
          <a:prstGeom prst="rect">
            <a:avLst/>
          </a:prstGeom>
          <a:noFill/>
        </p:spPr>
        <p:txBody>
          <a:bodyPr wrap="square">
            <a:spAutoFit/>
          </a:bodyPr>
          <a:lstStyle/>
          <a:p>
            <a:pPr algn="l"/>
            <a:r>
              <a:rPr sz="950" b="0" i="0">
                <a:solidFill>
                  <a:srgbClr val="212121"/>
                </a:solidFill>
              </a:rPr>
              <a:t>1. Math test — tomorrow  2. Social studies project — due in 3 weeks  3. Clean out your locker  4. Reply to a friend's text</a:t>
            </a:r>
          </a:p>
        </p:txBody>
      </p:sp>
      <p:sp>
        <p:nvSpPr>
          <p:cNvPr id="17" name="TextBox 16"/>
          <p:cNvSpPr txBox="1"/>
          <p:nvPr/>
        </p:nvSpPr>
        <p:spPr>
          <a:xfrm>
            <a:off x="182880" y="6675120"/>
            <a:ext cx="8778240" cy="347472"/>
          </a:xfrm>
          <a:prstGeom prst="rect">
            <a:avLst/>
          </a:prstGeom>
          <a:noFill/>
        </p:spPr>
        <p:txBody>
          <a:bodyPr wrap="square">
            <a:spAutoFit/>
          </a:bodyPr>
          <a:lstStyle/>
          <a:p>
            <a:pPr algn="l"/>
            <a:r>
              <a:rPr sz="950" b="0" i="0">
                <a:solidFill>
                  <a:srgbClr val="212121"/>
                </a:solidFill>
              </a:rPr>
              <a:t>5. Read 10 pages of your English novel — due Friday  6. Watch a TV show  7. Study for a quiz — next class period  8. Pick a topic for your science fair project — due in 6 weeks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Planner Set-Up</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Turn to Week 1 in your Warrior Prep planner. Write in your 6 course names. Then record
any assignments or tests you already know about in the correct day/course box.</a:t>
            </a:r>
          </a:p>
        </p:txBody>
      </p:sp>
      <p:sp>
        <p:nvSpPr>
          <p:cNvPr id="5" name="Rectangle 4"/>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1.2: Organization &amp; Planning</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Rating Scale + Reflection</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914400"/>
          </a:xfrm>
          <a:prstGeom prst="rect">
            <a:avLst/>
          </a:prstGeom>
          <a:noFill/>
        </p:spPr>
        <p:txBody>
          <a:bodyPr wrap="square">
            <a:spAutoFit/>
          </a:bodyPr>
          <a:lstStyle/>
          <a:p>
            <a:pPr algn="l"/>
            <a:r>
              <a:rPr sz="1100" b="0" i="0">
                <a:solidFill>
                  <a:srgbClr val="212121"/>
                </a:solidFill>
              </a:rPr>
              <a:t>Rate how organized you felt TODAY (1 = not at all, 5 = very organized). Then explain: What is ONE specific thing you will do differently this week to improve your organization?</a:t>
            </a:r>
          </a:p>
        </p:txBody>
      </p:sp>
      <p:sp>
        <p:nvSpPr>
          <p:cNvPr id="9" name="Rectangle 8"/>
          <p:cNvSpPr/>
          <p:nvPr/>
        </p:nvSpPr>
        <p:spPr>
          <a:xfrm>
            <a:off x="22860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176272"/>
            <a:ext cx="1554480" cy="365760"/>
          </a:xfrm>
          <a:prstGeom prst="rect">
            <a:avLst/>
          </a:prstGeom>
          <a:noFill/>
        </p:spPr>
        <p:txBody>
          <a:bodyPr wrap="square">
            <a:spAutoFit/>
          </a:bodyPr>
          <a:lstStyle/>
          <a:p>
            <a:pPr algn="ctr"/>
            <a:r>
              <a:rPr sz="1100" b="0" i="0">
                <a:solidFill>
                  <a:srgbClr val="212121"/>
                </a:solidFill>
              </a:rPr>
              <a:t>1 — Not at all</a:t>
            </a:r>
          </a:p>
        </p:txBody>
      </p:sp>
      <p:sp>
        <p:nvSpPr>
          <p:cNvPr id="11" name="Rectangle 10"/>
          <p:cNvSpPr/>
          <p:nvPr/>
        </p:nvSpPr>
        <p:spPr>
          <a:xfrm>
            <a:off x="192024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2176272"/>
            <a:ext cx="1554480" cy="365760"/>
          </a:xfrm>
          <a:prstGeom prst="rect">
            <a:avLst/>
          </a:prstGeom>
          <a:noFill/>
        </p:spPr>
        <p:txBody>
          <a:bodyPr wrap="square">
            <a:spAutoFit/>
          </a:bodyPr>
          <a:lstStyle/>
          <a:p>
            <a:pPr algn="ctr"/>
            <a:r>
              <a:rPr sz="1100" b="0" i="0">
                <a:solidFill>
                  <a:srgbClr val="212121"/>
                </a:solidFill>
              </a:rPr>
              <a:t>2</a:t>
            </a:r>
          </a:p>
        </p:txBody>
      </p:sp>
      <p:sp>
        <p:nvSpPr>
          <p:cNvPr id="13" name="Rectangle 12"/>
          <p:cNvSpPr/>
          <p:nvPr/>
        </p:nvSpPr>
        <p:spPr>
          <a:xfrm>
            <a:off x="361188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176272"/>
            <a:ext cx="1554480" cy="365760"/>
          </a:xfrm>
          <a:prstGeom prst="rect">
            <a:avLst/>
          </a:prstGeom>
          <a:noFill/>
        </p:spPr>
        <p:txBody>
          <a:bodyPr wrap="square">
            <a:spAutoFit/>
          </a:bodyPr>
          <a:lstStyle/>
          <a:p>
            <a:pPr algn="ctr"/>
            <a:r>
              <a:rPr sz="1100" b="0" i="0">
                <a:solidFill>
                  <a:srgbClr val="212121"/>
                </a:solidFill>
              </a:rPr>
              <a:t>3 — Somewhat</a:t>
            </a:r>
          </a:p>
        </p:txBody>
      </p:sp>
      <p:sp>
        <p:nvSpPr>
          <p:cNvPr id="15" name="Rectangle 14"/>
          <p:cNvSpPr/>
          <p:nvPr/>
        </p:nvSpPr>
        <p:spPr>
          <a:xfrm>
            <a:off x="530352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2176272"/>
            <a:ext cx="1554480" cy="365760"/>
          </a:xfrm>
          <a:prstGeom prst="rect">
            <a:avLst/>
          </a:prstGeom>
          <a:noFill/>
        </p:spPr>
        <p:txBody>
          <a:bodyPr wrap="square">
            <a:spAutoFit/>
          </a:bodyPr>
          <a:lstStyle/>
          <a:p>
            <a:pPr algn="ctr"/>
            <a:r>
              <a:rPr sz="1100" b="0" i="0">
                <a:solidFill>
                  <a:srgbClr val="212121"/>
                </a:solidFill>
              </a:rPr>
              <a:t>4</a:t>
            </a:r>
          </a:p>
        </p:txBody>
      </p:sp>
      <p:sp>
        <p:nvSpPr>
          <p:cNvPr id="17" name="Rectangle 16"/>
          <p:cNvSpPr/>
          <p:nvPr/>
        </p:nvSpPr>
        <p:spPr>
          <a:xfrm>
            <a:off x="699516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176272"/>
            <a:ext cx="1554480" cy="365760"/>
          </a:xfrm>
          <a:prstGeom prst="rect">
            <a:avLst/>
          </a:prstGeom>
          <a:noFill/>
        </p:spPr>
        <p:txBody>
          <a:bodyPr wrap="square">
            <a:spAutoFit/>
          </a:bodyPr>
          <a:lstStyle/>
          <a:p>
            <a:pPr algn="ctr"/>
            <a:r>
              <a:rPr sz="1100" b="0" i="0">
                <a:solidFill>
                  <a:srgbClr val="212121"/>
                </a:solidFill>
              </a:rPr>
              <a:t>5 — Yes!</a:t>
            </a:r>
          </a:p>
        </p:txBody>
      </p:sp>
      <p:sp>
        <p:nvSpPr>
          <p:cNvPr id="19" name="Rectangle 18"/>
          <p:cNvSpPr/>
          <p:nvPr/>
        </p:nvSpPr>
        <p:spPr>
          <a:xfrm>
            <a:off x="228600" y="283463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65759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1.3  ·  5 minutes</a:t>
            </a:r>
          </a:p>
        </p:txBody>
      </p:sp>
      <p:sp>
        <p:nvSpPr>
          <p:cNvPr id="7" name="Rectangle 6"/>
          <p:cNvSpPr/>
          <p:nvPr/>
        </p:nvSpPr>
        <p:spPr>
          <a:xfrm>
            <a:off x="228600" y="868680"/>
            <a:ext cx="1463040"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ANTICIPATION</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Myth or Fact?</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Agree or Disagree — write your answer AND your reason:
'I can study while watching a show and still remember what I studied just as well as if I'd studied in silence.'</a:t>
            </a:r>
          </a:p>
        </p:txBody>
      </p:sp>
      <p:sp>
        <p:nvSpPr>
          <p:cNvPr id="13" name="Rectangle 12"/>
          <p:cNvSpPr/>
          <p:nvPr/>
        </p:nvSpPr>
        <p:spPr>
          <a:xfrm>
            <a:off x="228600" y="4919472"/>
            <a:ext cx="8686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Show of hands Agree/Disagree → brief debate (don't confirm yet — the reading will)</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1.3  |  Unit 1: Executive Functioning</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Working Memory &amp; Focus</a:t>
            </a:r>
          </a:p>
        </p:txBody>
      </p:sp>
      <p:sp>
        <p:nvSpPr>
          <p:cNvPr id="6" name="Rectangle 5"/>
          <p:cNvSpPr/>
          <p:nvPr/>
        </p:nvSpPr>
        <p:spPr>
          <a:xfrm>
            <a:off x="182880" y="1024128"/>
            <a:ext cx="8778240" cy="329184"/>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Describe what working memory is and why it is limited.</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Apply at least two strategies (chunking, brain dump, environment design) to improve focus.</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Conduct a personal distraction audit and create an action plan.</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C61414"/>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C61414"/>
                </a:solidFill>
              </a:rPr>
              <a:t>Metacognition</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Greek meta (beyond/about) + Latin cognitio (knowledge, understanding)</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Thinking about your own thinking — noticing when you are confused, distracted, or need a different strategy.</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737360"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664208" cy="320040"/>
          </a:xfrm>
          <a:prstGeom prst="rect">
            <a:avLst/>
          </a:prstGeom>
          <a:noFill/>
        </p:spPr>
        <p:txBody>
          <a:bodyPr wrap="square">
            <a:spAutoFit/>
          </a:bodyPr>
          <a:lstStyle/>
          <a:p>
            <a:pPr algn="ctr"/>
            <a:r>
              <a:rPr sz="1100" b="1" i="0">
                <a:solidFill>
                  <a:srgbClr val="FFFFFF"/>
                </a:solidFill>
              </a:rPr>
              <a:t>10</a:t>
            </a:r>
          </a:p>
        </p:txBody>
      </p:sp>
      <p:sp>
        <p:nvSpPr>
          <p:cNvPr id="33" name="TextBox 32"/>
          <p:cNvSpPr txBox="1"/>
          <p:nvPr/>
        </p:nvSpPr>
        <p:spPr>
          <a:xfrm>
            <a:off x="4572000" y="6163056"/>
            <a:ext cx="1737360"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309360" y="5623560"/>
            <a:ext cx="173736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715000"/>
            <a:ext cx="1664208" cy="320040"/>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6309360" y="6163056"/>
            <a:ext cx="173736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2 — Partial scaffold (key notes provided)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C61414"/>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Your Brain Is Not a Multitasker</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by the American Psychological Association and MIT neuroscience</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Brain Is Not a Multitasker  (p. 1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Here is a belief that almost every student holds and that neuroscience has thoroughly
disproven: the idea that you can multitask effectively. The truth is that the human
brain cannot process two complex tasks simultaneously. What we call 'multitasking' is
actually rapid task-switching — the brain flipping back and forth between tasks many
times per minute. And every single switch has a cost.</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Researchers at the American Psychological Association found that task-switching can
reduce productivity by up to 40 percent. That means doing homework while watching
Netflix does not just distract you a little — it can take almost twice as long and
result in significantly more errors. The problem is rooted in working memory, the
brain's mental scratchpad. Working memory can only hold about four items at a time. When
you overload it by switching between tasks, you literally knock information out of it —
which is why you read the same paragraph three times without remembering it when the TV
is on.</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Brain Is Not a Multitasker  (p. 2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Focus, however, can be built like a muscle. Researchers studying high-performing
students, musicians, and athletes consistently find that they practice sustained,
undivided attention — often called deep work. They remove distractions deliberately
before starting, not after they have already lost focus. Studies show that the average
person takes 23 minutes to fully regain focus after a distraction. A single phone
notification — even one you choose not to answer — can cost you nearly half an hour of
productive thought.</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most effective students have learned to design their environment for focus rather
than willpower their way through distraction. They put their phone in another room (not
face-down on the desk — researchers found that even a phone on the desk, face down,
slightly impairs cognitive function because part of the brain is still resisting it).
They use the 'brain dump' technique — writing down everything on their mind before
starting — to clear working memory before studying. These are not personality traits.
They are strategies, and they are learnable.</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'Your Brain Is Not a Multitasker'</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C61414"/>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the difference between 'multitasking' and 'task-switching'? Why does this distinction
matter?</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C61414"/>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The reading says task-switching can reduce productivity by up to 40%. What does this mean in
real terms for a student doing an hour of homework?</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C61414"/>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Explain what working memory is and why it is relevant to focus and distraction.</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C61414"/>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What does the reading say about a phone sitting face-down on a desk? Does this surprise you?
Explain your reaction.</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C61414"/>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The reading says focus 'can be built like a muscle.' What does this mean, and what is ONE
strategy from the reading you will try this week?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1.3</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Multitasking Is a Myth — Your Brain on Distraction</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National Geographic  ·  approx. 3 min</a:t>
            </a:r>
          </a:p>
        </p:txBody>
      </p:sp>
      <p:sp>
        <p:nvSpPr>
          <p:cNvPr id="9" name="Rectangle 8"/>
          <p:cNvSpPr/>
          <p:nvPr/>
        </p:nvSpPr>
        <p:spPr>
          <a:xfrm>
            <a:off x="365760" y="2377440"/>
            <a:ext cx="8412480" cy="2743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C61414"/>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Watch for the experiment showing what happens to brain activity during task-switching.</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"Deep Work — Do Hard Things"  |  Cal Newport / TED</a:t>
            </a:r>
          </a:p>
        </p:txBody>
      </p:sp>
      <p:sp>
        <p:nvSpPr>
          <p:cNvPr id="16" name="Rectangle 15">
            <a:hlinkClick r:id="rId3"/>
          </p:cNvPr>
          <p:cNvSpPr/>
          <p:nvPr/>
        </p:nvSpPr>
        <p:spPr>
          <a:xfrm>
            <a:off x="2743200" y="4480560"/>
            <a:ext cx="3657600" cy="7498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"Two Tabs"  —  Lesson 1.3</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They were doing homework together at Priya's kitchen table, which had started as a good idea.</a:t>
            </a:r>
          </a:p>
        </p:txBody>
      </p:sp>
      <p:sp>
        <p:nvSpPr>
          <p:cNvPr id="7" name="TextBox 6"/>
          <p:cNvSpPr txBox="1"/>
          <p:nvPr/>
        </p:nvSpPr>
        <p:spPr>
          <a:xfrm>
            <a:off x="228600" y="1133856"/>
            <a:ext cx="8686800" cy="649224"/>
          </a:xfrm>
          <a:prstGeom prst="rect">
            <a:avLst/>
          </a:prstGeom>
          <a:noFill/>
        </p:spPr>
        <p:txBody>
          <a:bodyPr wrap="square">
            <a:spAutoFit/>
          </a:bodyPr>
          <a:lstStyle/>
          <a:p>
            <a:pPr algn="l">
              <a:lnSpc>
                <a:spcPts val="1500"/>
              </a:lnSpc>
            </a:pPr>
            <a:r>
              <a:rPr sz="1000" b="0" i="0">
                <a:solidFill>
                  <a:srgbClr val="212121"/>
                </a:solidFill>
              </a:rPr>
              <a:t>That was forty-five minutes ago. Since then: Maya had checked Instagram twice, responded to a
voice message, opened a new tab about a shirt she didn't need, and read most of an article
about a celebrity she wasn't even interested in. Her English essay was on paragraph two.</a:t>
            </a:r>
          </a:p>
        </p:txBody>
      </p:sp>
      <p:sp>
        <p:nvSpPr>
          <p:cNvPr id="8" name="TextBox 7"/>
          <p:cNvSpPr txBox="1"/>
          <p:nvPr/>
        </p:nvSpPr>
        <p:spPr>
          <a:xfrm>
            <a:off x="228600" y="1792224"/>
            <a:ext cx="8686800" cy="246888"/>
          </a:xfrm>
          <a:prstGeom prst="rect">
            <a:avLst/>
          </a:prstGeom>
          <a:noFill/>
        </p:spPr>
        <p:txBody>
          <a:bodyPr wrap="square">
            <a:spAutoFit/>
          </a:bodyPr>
          <a:lstStyle/>
          <a:p>
            <a:pPr algn="l">
              <a:lnSpc>
                <a:spcPts val="1500"/>
              </a:lnSpc>
            </a:pPr>
            <a:r>
              <a:rPr sz="1000" b="0" i="0">
                <a:solidFill>
                  <a:srgbClr val="212121"/>
                </a:solidFill>
              </a:rPr>
              <a:t>Priya had her headphones in. She hadn't looked up once.</a:t>
            </a:r>
          </a:p>
        </p:txBody>
      </p:sp>
      <p:sp>
        <p:nvSpPr>
          <p:cNvPr id="9" name="TextBox 8"/>
          <p:cNvSpPr txBox="1"/>
          <p:nvPr/>
        </p:nvSpPr>
        <p:spPr>
          <a:xfrm>
            <a:off x="228600" y="2048256"/>
            <a:ext cx="8686800" cy="246888"/>
          </a:xfrm>
          <a:prstGeom prst="rect">
            <a:avLst/>
          </a:prstGeom>
          <a:noFill/>
        </p:spPr>
        <p:txBody>
          <a:bodyPr wrap="square">
            <a:spAutoFit/>
          </a:bodyPr>
          <a:lstStyle/>
          <a:p>
            <a:pPr algn="l">
              <a:lnSpc>
                <a:spcPts val="1500"/>
              </a:lnSpc>
            </a:pPr>
            <a:r>
              <a:rPr sz="1050" b="0" i="1">
                <a:solidFill>
                  <a:srgbClr val="1A1A6E"/>
                </a:solidFill>
              </a:rPr>
              <a:t>Maya watched her for a moment. "How do you do that?"</a:t>
            </a:r>
          </a:p>
        </p:txBody>
      </p:sp>
      <p:sp>
        <p:nvSpPr>
          <p:cNvPr id="10" name="TextBox 9"/>
          <p:cNvSpPr txBox="1"/>
          <p:nvPr/>
        </p:nvSpPr>
        <p:spPr>
          <a:xfrm>
            <a:off x="228600" y="2304288"/>
            <a:ext cx="8686800" cy="246888"/>
          </a:xfrm>
          <a:prstGeom prst="rect">
            <a:avLst/>
          </a:prstGeom>
          <a:noFill/>
        </p:spPr>
        <p:txBody>
          <a:bodyPr wrap="square">
            <a:spAutoFit/>
          </a:bodyPr>
          <a:lstStyle/>
          <a:p>
            <a:pPr algn="l">
              <a:lnSpc>
                <a:spcPts val="1500"/>
              </a:lnSpc>
            </a:pPr>
            <a:r>
              <a:rPr sz="1050" b="0" i="1">
                <a:solidFill>
                  <a:srgbClr val="1A1A6E"/>
                </a:solidFill>
              </a:rPr>
              <a:t>Priya took out one earbud. "What."</a:t>
            </a:r>
          </a:p>
        </p:txBody>
      </p:sp>
      <p:sp>
        <p:nvSpPr>
          <p:cNvPr id="11" name="TextBox 10"/>
          <p:cNvSpPr txBox="1"/>
          <p:nvPr/>
        </p:nvSpPr>
        <p:spPr>
          <a:xfrm>
            <a:off x="228600" y="2560320"/>
            <a:ext cx="8686800" cy="246888"/>
          </a:xfrm>
          <a:prstGeom prst="rect">
            <a:avLst/>
          </a:prstGeom>
          <a:noFill/>
        </p:spPr>
        <p:txBody>
          <a:bodyPr wrap="square">
            <a:spAutoFit/>
          </a:bodyPr>
          <a:lstStyle/>
          <a:p>
            <a:pPr algn="l">
              <a:lnSpc>
                <a:spcPts val="1500"/>
              </a:lnSpc>
            </a:pPr>
            <a:r>
              <a:rPr sz="1050" b="0" i="1">
                <a:solidFill>
                  <a:srgbClr val="1A1A6E"/>
                </a:solidFill>
              </a:rPr>
              <a:t>"Just... stay in it. You haven't moved in like forty-five minutes."</a:t>
            </a:r>
          </a:p>
        </p:txBody>
      </p:sp>
      <p:sp>
        <p:nvSpPr>
          <p:cNvPr id="12" name="TextBox 11"/>
          <p:cNvSpPr txBox="1"/>
          <p:nvPr/>
        </p:nvSpPr>
        <p:spPr>
          <a:xfrm>
            <a:off x="228600" y="2816352"/>
            <a:ext cx="8686800" cy="246888"/>
          </a:xfrm>
          <a:prstGeom prst="rect">
            <a:avLst/>
          </a:prstGeom>
          <a:noFill/>
        </p:spPr>
        <p:txBody>
          <a:bodyPr wrap="square">
            <a:spAutoFit/>
          </a:bodyPr>
          <a:lstStyle/>
          <a:p>
            <a:pPr algn="l">
              <a:lnSpc>
                <a:spcPts val="1500"/>
              </a:lnSpc>
            </a:pPr>
            <a:r>
              <a:rPr sz="1050" b="0" i="1">
                <a:solidFill>
                  <a:srgbClr val="1A1A6E"/>
                </a:solidFill>
              </a:rPr>
              <a:t>Priya considered this. "My phone's in my bag. In the other room."</a:t>
            </a:r>
          </a:p>
        </p:txBody>
      </p:sp>
      <p:sp>
        <p:nvSpPr>
          <p:cNvPr id="13" name="TextBox 12"/>
          <p:cNvSpPr txBox="1"/>
          <p:nvPr/>
        </p:nvSpPr>
        <p:spPr>
          <a:xfrm>
            <a:off x="228600" y="3072384"/>
            <a:ext cx="8686800" cy="246888"/>
          </a:xfrm>
          <a:prstGeom prst="rect">
            <a:avLst/>
          </a:prstGeom>
          <a:noFill/>
        </p:spPr>
        <p:txBody>
          <a:bodyPr wrap="square">
            <a:spAutoFit/>
          </a:bodyPr>
          <a:lstStyle/>
          <a:p>
            <a:pPr algn="l">
              <a:lnSpc>
                <a:spcPts val="1500"/>
              </a:lnSpc>
            </a:pPr>
            <a:r>
              <a:rPr sz="1050" b="0" i="1">
                <a:solidFill>
                  <a:srgbClr val="1A1A6E"/>
                </a:solidFill>
              </a:rPr>
              <a:t>"Why?"</a:t>
            </a:r>
          </a:p>
        </p:txBody>
      </p:sp>
      <p:sp>
        <p:nvSpPr>
          <p:cNvPr id="14" name="TextBox 13"/>
          <p:cNvSpPr txBox="1"/>
          <p:nvPr/>
        </p:nvSpPr>
        <p:spPr>
          <a:xfrm>
            <a:off x="228600" y="3328416"/>
            <a:ext cx="8686800" cy="246888"/>
          </a:xfrm>
          <a:prstGeom prst="rect">
            <a:avLst/>
          </a:prstGeom>
          <a:noFill/>
        </p:spPr>
        <p:txBody>
          <a:bodyPr wrap="square">
            <a:spAutoFit/>
          </a:bodyPr>
          <a:lstStyle/>
          <a:p>
            <a:pPr algn="l">
              <a:lnSpc>
                <a:spcPts val="1500"/>
              </a:lnSpc>
            </a:pPr>
            <a:r>
              <a:rPr sz="1050" b="0" i="1">
                <a:solidFill>
                  <a:srgbClr val="1A1A6E"/>
                </a:solidFill>
              </a:rPr>
              <a:t>"Because if it's in the same room I check it. I don't even mean to. I just do."</a:t>
            </a:r>
          </a:p>
        </p:txBody>
      </p:sp>
      <p:sp>
        <p:nvSpPr>
          <p:cNvPr id="15" name="TextBox 14"/>
          <p:cNvSpPr txBox="1"/>
          <p:nvPr/>
        </p:nvSpPr>
        <p:spPr>
          <a:xfrm>
            <a:off x="228600" y="3584448"/>
            <a:ext cx="8686800" cy="246888"/>
          </a:xfrm>
          <a:prstGeom prst="rect">
            <a:avLst/>
          </a:prstGeom>
          <a:noFill/>
        </p:spPr>
        <p:txBody>
          <a:bodyPr wrap="square">
            <a:spAutoFit/>
          </a:bodyPr>
          <a:lstStyle/>
          <a:p>
            <a:pPr algn="l">
              <a:lnSpc>
                <a:spcPts val="1500"/>
              </a:lnSpc>
            </a:pPr>
            <a:r>
              <a:rPr sz="1050" b="0" i="1">
                <a:solidFill>
                  <a:srgbClr val="1A1A6E"/>
                </a:solidFill>
              </a:rPr>
              <a:t>Maya looked at her own phone on the table. "That's kind of extreme."</a:t>
            </a:r>
          </a:p>
        </p:txBody>
      </p:sp>
      <p:sp>
        <p:nvSpPr>
          <p:cNvPr id="16" name="TextBox 15"/>
          <p:cNvSpPr txBox="1"/>
          <p:nvPr/>
        </p:nvSpPr>
        <p:spPr>
          <a:xfrm>
            <a:off x="228600" y="3840480"/>
            <a:ext cx="8686800" cy="246888"/>
          </a:xfrm>
          <a:prstGeom prst="rect">
            <a:avLst/>
          </a:prstGeom>
          <a:noFill/>
        </p:spPr>
        <p:txBody>
          <a:bodyPr wrap="square">
            <a:spAutoFit/>
          </a:bodyPr>
          <a:lstStyle/>
          <a:p>
            <a:pPr algn="l">
              <a:lnSpc>
                <a:spcPts val="1500"/>
              </a:lnSpc>
            </a:pPr>
            <a:r>
              <a:rPr sz="1050" b="0" i="1">
                <a:solidFill>
                  <a:srgbClr val="1A1A6E"/>
                </a:solidFill>
              </a:rPr>
              <a:t>"Is it?" Priya put her earbud back in, then took it out again. "How far are you on the essay?"</a:t>
            </a:r>
          </a:p>
        </p:txBody>
      </p:sp>
      <p:sp>
        <p:nvSpPr>
          <p:cNvPr id="17" name="TextBox 16"/>
          <p:cNvSpPr txBox="1"/>
          <p:nvPr/>
        </p:nvSpPr>
        <p:spPr>
          <a:xfrm>
            <a:off x="228600" y="4096512"/>
            <a:ext cx="8686800" cy="246888"/>
          </a:xfrm>
          <a:prstGeom prst="rect">
            <a:avLst/>
          </a:prstGeom>
          <a:noFill/>
        </p:spPr>
        <p:txBody>
          <a:bodyPr wrap="square">
            <a:spAutoFit/>
          </a:bodyPr>
          <a:lstStyle/>
          <a:p>
            <a:pPr algn="l">
              <a:lnSpc>
                <a:spcPts val="1500"/>
              </a:lnSpc>
            </a:pPr>
            <a:r>
              <a:rPr sz="1050" b="0" i="1">
                <a:solidFill>
                  <a:srgbClr val="1A1A6E"/>
                </a:solidFill>
              </a:rPr>
              <a:t>A pause. "Paragraph two."</a:t>
            </a:r>
          </a:p>
        </p:txBody>
      </p:sp>
      <p:sp>
        <p:nvSpPr>
          <p:cNvPr id="18" name="TextBox 17"/>
          <p:cNvSpPr txBox="1"/>
          <p:nvPr/>
        </p:nvSpPr>
        <p:spPr>
          <a:xfrm>
            <a:off x="228600" y="4352544"/>
            <a:ext cx="8686800" cy="246888"/>
          </a:xfrm>
          <a:prstGeom prst="rect">
            <a:avLst/>
          </a:prstGeom>
          <a:noFill/>
        </p:spPr>
        <p:txBody>
          <a:bodyPr wrap="square">
            <a:spAutoFit/>
          </a:bodyPr>
          <a:lstStyle/>
          <a:p>
            <a:pPr algn="l">
              <a:lnSpc>
                <a:spcPts val="1500"/>
              </a:lnSpc>
            </a:pPr>
            <a:r>
              <a:rPr sz="1050" b="0" i="1">
                <a:solidFill>
                  <a:srgbClr val="1A1A6E"/>
                </a:solidFill>
              </a:rPr>
              <a:t>"We've been here forty-five minutes."</a:t>
            </a:r>
          </a:p>
        </p:txBody>
      </p:sp>
      <p:sp>
        <p:nvSpPr>
          <p:cNvPr id="19" name="TextBox 18"/>
          <p:cNvSpPr txBox="1"/>
          <p:nvPr/>
        </p:nvSpPr>
        <p:spPr>
          <a:xfrm>
            <a:off x="228600" y="4608576"/>
            <a:ext cx="8686800" cy="246888"/>
          </a:xfrm>
          <a:prstGeom prst="rect">
            <a:avLst/>
          </a:prstGeom>
          <a:noFill/>
        </p:spPr>
        <p:txBody>
          <a:bodyPr wrap="square">
            <a:spAutoFit/>
          </a:bodyPr>
          <a:lstStyle/>
          <a:p>
            <a:pPr algn="l">
              <a:lnSpc>
                <a:spcPts val="1500"/>
              </a:lnSpc>
            </a:pPr>
            <a:r>
              <a:rPr sz="1050" b="0" i="1">
                <a:solidFill>
                  <a:srgbClr val="1A1A6E"/>
                </a:solidFill>
              </a:rPr>
              <a:t>"I know."</a:t>
            </a:r>
          </a:p>
        </p:txBody>
      </p:sp>
      <p:sp>
        <p:nvSpPr>
          <p:cNvPr id="20" name="TextBox 19"/>
          <p:cNvSpPr txBox="1"/>
          <p:nvPr/>
        </p:nvSpPr>
        <p:spPr>
          <a:xfrm>
            <a:off x="228600" y="4864608"/>
            <a:ext cx="8686800" cy="448056"/>
          </a:xfrm>
          <a:prstGeom prst="rect">
            <a:avLst/>
          </a:prstGeom>
          <a:noFill/>
        </p:spPr>
        <p:txBody>
          <a:bodyPr wrap="square">
            <a:spAutoFit/>
          </a:bodyPr>
          <a:lstStyle/>
          <a:p>
            <a:pPr algn="l">
              <a:lnSpc>
                <a:spcPts val="1500"/>
              </a:lnSpc>
            </a:pPr>
            <a:r>
              <a:rPr sz="1000" b="0" i="0">
                <a:solidFill>
                  <a:srgbClr val="212121"/>
                </a:solidFill>
              </a:rPr>
              <a:t>Priya didn't say anything judgmental. She just pushed her phone charger to the edge of the
table — not even looking at Maya, already back in her essay.</a:t>
            </a:r>
          </a:p>
        </p:txBody>
      </p:sp>
      <p:sp>
        <p:nvSpPr>
          <p:cNvPr id="21" name="TextBox 20"/>
          <p:cNvSpPr txBox="1"/>
          <p:nvPr/>
        </p:nvSpPr>
        <p:spPr>
          <a:xfrm>
            <a:off x="228600" y="5321808"/>
            <a:ext cx="8686800" cy="448056"/>
          </a:xfrm>
          <a:prstGeom prst="rect">
            <a:avLst/>
          </a:prstGeom>
          <a:noFill/>
        </p:spPr>
        <p:txBody>
          <a:bodyPr wrap="square">
            <a:spAutoFit/>
          </a:bodyPr>
          <a:lstStyle/>
          <a:p>
            <a:pPr algn="l">
              <a:lnSpc>
                <a:spcPts val="1500"/>
              </a:lnSpc>
            </a:pPr>
            <a:r>
              <a:rPr sz="1000" b="0" i="0">
                <a:solidFill>
                  <a:srgbClr val="212121"/>
                </a:solidFill>
              </a:rPr>
              <a:t>Maya picked up her phone. She put it in her bag. She put the bag on the floor. She opened her
essay.</a:t>
            </a:r>
          </a:p>
        </p:txBody>
      </p:sp>
      <p:sp>
        <p:nvSpPr>
          <p:cNvPr id="22" name="TextBox 21"/>
          <p:cNvSpPr txBox="1"/>
          <p:nvPr/>
        </p:nvSpPr>
        <p:spPr>
          <a:xfrm>
            <a:off x="228600" y="5779008"/>
            <a:ext cx="8686800" cy="246888"/>
          </a:xfrm>
          <a:prstGeom prst="rect">
            <a:avLst/>
          </a:prstGeom>
          <a:noFill/>
        </p:spPr>
        <p:txBody>
          <a:bodyPr wrap="square">
            <a:spAutoFit/>
          </a:bodyPr>
          <a:lstStyle/>
          <a:p>
            <a:pPr algn="l">
              <a:lnSpc>
                <a:spcPts val="1500"/>
              </a:lnSpc>
            </a:pPr>
            <a:r>
              <a:rPr sz="1000" b="0" i="0">
                <a:solidFill>
                  <a:srgbClr val="212121"/>
                </a:solidFill>
              </a:rPr>
              <a:t>Paragraph two. The cursor blinked.</a:t>
            </a:r>
          </a:p>
        </p:txBody>
      </p:sp>
      <p:sp>
        <p:nvSpPr>
          <p:cNvPr id="23" name="TextBox 22"/>
          <p:cNvSpPr txBox="1"/>
          <p:nvPr/>
        </p:nvSpPr>
        <p:spPr>
          <a:xfrm>
            <a:off x="228600" y="6035040"/>
            <a:ext cx="8686800" cy="448056"/>
          </a:xfrm>
          <a:prstGeom prst="rect">
            <a:avLst/>
          </a:prstGeom>
          <a:noFill/>
        </p:spPr>
        <p:txBody>
          <a:bodyPr wrap="square">
            <a:spAutoFit/>
          </a:bodyPr>
          <a:lstStyle/>
          <a:p>
            <a:pPr algn="l">
              <a:lnSpc>
                <a:spcPts val="1500"/>
              </a:lnSpc>
            </a:pPr>
            <a:r>
              <a:rPr sz="1000" b="0" i="0">
                <a:solidFill>
                  <a:srgbClr val="212121"/>
                </a:solidFill>
              </a:rPr>
              <a:t>She wrote one sentence. Then another. The shirt tab was still open. She closed it without
looking at what it cost.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"Two Tabs"</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Priya's solution is to put her phone in another room. Maya calls it 'extreme.' Who do you
think is right — and why?</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checks her phone without meaning to. What does that tell us about how habits and
environment interact?</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The story ends without saying whether Maya finishes the essay. What do you predict happens —
and what would change the outcome?</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What is one thing in your environment that pulls your attention away from work? Could you
change it? Would you?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The 40% Cost of Multitasking</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Research from the American Psychological Association shows that task-switching — what we
call 'multitasking' — reduces productivity by up to 40%. Your brain doesn't actually do
two things at once; it rapidly switches back and forth, and each switch costs time and
mental energy. For students, this means doing homework while watching TV takes almost
twice as long as doing it with the TV off.</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How many tasks do you have open on your phone or computer right now? What does that cost you?</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Distraction Audit</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Be honest with yourself. For each distractor below, circle how often it affects your
study time. Then choose your #1 distractor and write a plan to address it.</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C61414"/>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A phone on your desk — even face-down — reduces cognitive performance. Environment design beats willpower every time.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Distraction Audit  —  Lesson 1.3</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10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Circle how often each distractor affects your study time. Then: pick your #1 distractor and write a specific plan to address it in the box below the table.</a:t>
            </a:r>
          </a:p>
        </p:txBody>
      </p:sp>
      <p:sp>
        <p:nvSpPr>
          <p:cNvPr id="7" name="Rectangle 6"/>
          <p:cNvSpPr/>
          <p:nvPr/>
        </p:nvSpPr>
        <p:spPr>
          <a:xfrm>
            <a:off x="182880" y="1783080"/>
            <a:ext cx="3200400" cy="34747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28800"/>
            <a:ext cx="3017520" cy="256032"/>
          </a:xfrm>
          <a:prstGeom prst="rect">
            <a:avLst/>
          </a:prstGeom>
          <a:noFill/>
        </p:spPr>
        <p:txBody>
          <a:bodyPr wrap="square">
            <a:spAutoFit/>
          </a:bodyPr>
          <a:lstStyle/>
          <a:p>
            <a:pPr algn="l"/>
            <a:r>
              <a:rPr sz="1000" b="1" i="0">
                <a:solidFill>
                  <a:srgbClr val="FFFFFF"/>
                </a:solidFill>
              </a:rPr>
              <a:t>Distractor</a:t>
            </a:r>
          </a:p>
        </p:txBody>
      </p:sp>
      <p:sp>
        <p:nvSpPr>
          <p:cNvPr id="9" name="Rectangle 8"/>
          <p:cNvSpPr/>
          <p:nvPr/>
        </p:nvSpPr>
        <p:spPr>
          <a:xfrm>
            <a:off x="3429000" y="1783080"/>
            <a:ext cx="12801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1828800"/>
            <a:ext cx="1243584" cy="256032"/>
          </a:xfrm>
          <a:prstGeom prst="rect">
            <a:avLst/>
          </a:prstGeom>
          <a:noFill/>
        </p:spPr>
        <p:txBody>
          <a:bodyPr wrap="square">
            <a:spAutoFit/>
          </a:bodyPr>
          <a:lstStyle/>
          <a:p>
            <a:pPr algn="ctr"/>
            <a:r>
              <a:rPr sz="900" b="1" i="0">
                <a:solidFill>
                  <a:srgbClr val="FFFFFF"/>
                </a:solidFill>
              </a:rPr>
              <a:t>Never</a:t>
            </a:r>
          </a:p>
        </p:txBody>
      </p:sp>
      <p:sp>
        <p:nvSpPr>
          <p:cNvPr id="11" name="Rectangle 10"/>
          <p:cNvSpPr/>
          <p:nvPr/>
        </p:nvSpPr>
        <p:spPr>
          <a:xfrm>
            <a:off x="4754880" y="1783080"/>
            <a:ext cx="12801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73168" y="1828800"/>
            <a:ext cx="1243584" cy="256032"/>
          </a:xfrm>
          <a:prstGeom prst="rect">
            <a:avLst/>
          </a:prstGeom>
          <a:noFill/>
        </p:spPr>
        <p:txBody>
          <a:bodyPr wrap="square">
            <a:spAutoFit/>
          </a:bodyPr>
          <a:lstStyle/>
          <a:p>
            <a:pPr algn="ctr"/>
            <a:r>
              <a:rPr sz="900" b="1" i="0">
                <a:solidFill>
                  <a:srgbClr val="FFFFFF"/>
                </a:solidFill>
              </a:rPr>
              <a:t>Sometimes</a:t>
            </a:r>
          </a:p>
        </p:txBody>
      </p:sp>
      <p:sp>
        <p:nvSpPr>
          <p:cNvPr id="13" name="Rectangle 12"/>
          <p:cNvSpPr/>
          <p:nvPr/>
        </p:nvSpPr>
        <p:spPr>
          <a:xfrm>
            <a:off x="6080760" y="1783080"/>
            <a:ext cx="12801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8" y="1828800"/>
            <a:ext cx="1243584" cy="256032"/>
          </a:xfrm>
          <a:prstGeom prst="rect">
            <a:avLst/>
          </a:prstGeom>
          <a:noFill/>
        </p:spPr>
        <p:txBody>
          <a:bodyPr wrap="square">
            <a:spAutoFit/>
          </a:bodyPr>
          <a:lstStyle/>
          <a:p>
            <a:pPr algn="ctr"/>
            <a:r>
              <a:rPr sz="900" b="1" i="0">
                <a:solidFill>
                  <a:srgbClr val="FFFFFF"/>
                </a:solidFill>
              </a:rPr>
              <a:t>Often</a:t>
            </a:r>
          </a:p>
        </p:txBody>
      </p:sp>
      <p:sp>
        <p:nvSpPr>
          <p:cNvPr id="15" name="Rectangle 14"/>
          <p:cNvSpPr/>
          <p:nvPr/>
        </p:nvSpPr>
        <p:spPr>
          <a:xfrm>
            <a:off x="7406640" y="1783080"/>
            <a:ext cx="1280160" cy="34747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24927" y="1828800"/>
            <a:ext cx="1243584" cy="256032"/>
          </a:xfrm>
          <a:prstGeom prst="rect">
            <a:avLst/>
          </a:prstGeom>
          <a:noFill/>
        </p:spPr>
        <p:txBody>
          <a:bodyPr wrap="square">
            <a:spAutoFit/>
          </a:bodyPr>
          <a:lstStyle/>
          <a:p>
            <a:pPr algn="ctr"/>
            <a:r>
              <a:rPr sz="900" b="1" i="0">
                <a:solidFill>
                  <a:srgbClr val="FFFFFF"/>
                </a:solidFill>
              </a:rPr>
              <a:t>Almost always</a:t>
            </a:r>
          </a:p>
        </p:txBody>
      </p:sp>
      <p:sp>
        <p:nvSpPr>
          <p:cNvPr id="17" name="Rectangle 16"/>
          <p:cNvSpPr/>
          <p:nvPr/>
        </p:nvSpPr>
        <p:spPr>
          <a:xfrm>
            <a:off x="182880" y="2167128"/>
            <a:ext cx="32004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221992"/>
            <a:ext cx="3017520" cy="310896"/>
          </a:xfrm>
          <a:prstGeom prst="rect">
            <a:avLst/>
          </a:prstGeom>
          <a:noFill/>
        </p:spPr>
        <p:txBody>
          <a:bodyPr wrap="square">
            <a:spAutoFit/>
          </a:bodyPr>
          <a:lstStyle/>
          <a:p>
            <a:pPr algn="l"/>
            <a:r>
              <a:rPr sz="950" b="0" i="0">
                <a:solidFill>
                  <a:srgbClr val="212121"/>
                </a:solidFill>
              </a:rPr>
              <a:t>Phone / social media</a:t>
            </a:r>
          </a:p>
        </p:txBody>
      </p:sp>
      <p:sp>
        <p:nvSpPr>
          <p:cNvPr id="19" name="Rectangle 18"/>
          <p:cNvSpPr/>
          <p:nvPr/>
        </p:nvSpPr>
        <p:spPr>
          <a:xfrm>
            <a:off x="3429000" y="216712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39" y="2203704"/>
            <a:ext cx="640080" cy="329184"/>
          </a:xfrm>
          <a:prstGeom prst="rect">
            <a:avLst/>
          </a:prstGeom>
          <a:noFill/>
        </p:spPr>
        <p:txBody>
          <a:bodyPr wrap="square">
            <a:spAutoFit/>
          </a:bodyPr>
          <a:lstStyle/>
          <a:p>
            <a:pPr algn="ctr"/>
            <a:r>
              <a:rPr sz="1400" b="0" i="0">
                <a:solidFill>
                  <a:srgbClr val="212121"/>
                </a:solidFill>
              </a:rPr>
              <a:t>☐</a:t>
            </a:r>
          </a:p>
        </p:txBody>
      </p:sp>
      <p:sp>
        <p:nvSpPr>
          <p:cNvPr id="21" name="Rectangle 20"/>
          <p:cNvSpPr/>
          <p:nvPr/>
        </p:nvSpPr>
        <p:spPr>
          <a:xfrm>
            <a:off x="4754880" y="216712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203704"/>
            <a:ext cx="640080" cy="329184"/>
          </a:xfrm>
          <a:prstGeom prst="rect">
            <a:avLst/>
          </a:prstGeom>
          <a:noFill/>
        </p:spPr>
        <p:txBody>
          <a:bodyPr wrap="square">
            <a:spAutoFit/>
          </a:bodyPr>
          <a:lstStyle/>
          <a:p>
            <a:pPr algn="ctr"/>
            <a:r>
              <a:rPr sz="1400" b="0" i="0">
                <a:solidFill>
                  <a:srgbClr val="212121"/>
                </a:solidFill>
              </a:rPr>
              <a:t>☐</a:t>
            </a:r>
          </a:p>
        </p:txBody>
      </p:sp>
      <p:sp>
        <p:nvSpPr>
          <p:cNvPr id="23" name="Rectangle 22"/>
          <p:cNvSpPr/>
          <p:nvPr/>
        </p:nvSpPr>
        <p:spPr>
          <a:xfrm>
            <a:off x="6080760" y="216712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203704"/>
            <a:ext cx="640080" cy="329184"/>
          </a:xfrm>
          <a:prstGeom prst="rect">
            <a:avLst/>
          </a:prstGeom>
          <a:noFill/>
        </p:spPr>
        <p:txBody>
          <a:bodyPr wrap="square">
            <a:spAutoFit/>
          </a:bodyPr>
          <a:lstStyle/>
          <a:p>
            <a:pPr algn="ctr"/>
            <a:r>
              <a:rPr sz="1400" b="0" i="0">
                <a:solidFill>
                  <a:srgbClr val="212121"/>
                </a:solidFill>
              </a:rPr>
              <a:t>☐</a:t>
            </a:r>
          </a:p>
        </p:txBody>
      </p:sp>
      <p:sp>
        <p:nvSpPr>
          <p:cNvPr id="25" name="Rectangle 24"/>
          <p:cNvSpPr/>
          <p:nvPr/>
        </p:nvSpPr>
        <p:spPr>
          <a:xfrm>
            <a:off x="7406640" y="216712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79" y="2203704"/>
            <a:ext cx="640080" cy="329184"/>
          </a:xfrm>
          <a:prstGeom prst="rect">
            <a:avLst/>
          </a:prstGeom>
          <a:noFill/>
        </p:spPr>
        <p:txBody>
          <a:bodyPr wrap="square">
            <a:spAutoFit/>
          </a:bodyPr>
          <a:lstStyle/>
          <a:p>
            <a:pPr algn="ctr"/>
            <a:r>
              <a:rPr sz="1400" b="0" i="0">
                <a:solidFill>
                  <a:srgbClr val="212121"/>
                </a:solidFill>
              </a:rPr>
              <a:t>☐</a:t>
            </a:r>
          </a:p>
        </p:txBody>
      </p:sp>
      <p:sp>
        <p:nvSpPr>
          <p:cNvPr id="27" name="Rectangle 26"/>
          <p:cNvSpPr/>
          <p:nvPr/>
        </p:nvSpPr>
        <p:spPr>
          <a:xfrm>
            <a:off x="182880" y="2587752"/>
            <a:ext cx="32004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2642616"/>
            <a:ext cx="3017520" cy="310896"/>
          </a:xfrm>
          <a:prstGeom prst="rect">
            <a:avLst/>
          </a:prstGeom>
          <a:noFill/>
        </p:spPr>
        <p:txBody>
          <a:bodyPr wrap="square">
            <a:spAutoFit/>
          </a:bodyPr>
          <a:lstStyle/>
          <a:p>
            <a:pPr algn="l"/>
            <a:r>
              <a:rPr sz="950" b="0" i="0">
                <a:solidFill>
                  <a:srgbClr val="212121"/>
                </a:solidFill>
              </a:rPr>
              <a:t>TV / streaming in the background</a:t>
            </a:r>
          </a:p>
        </p:txBody>
      </p:sp>
      <p:sp>
        <p:nvSpPr>
          <p:cNvPr id="29" name="Rectangle 28"/>
          <p:cNvSpPr/>
          <p:nvPr/>
        </p:nvSpPr>
        <p:spPr>
          <a:xfrm>
            <a:off x="3429000" y="258775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39" y="2624328"/>
            <a:ext cx="640080" cy="329184"/>
          </a:xfrm>
          <a:prstGeom prst="rect">
            <a:avLst/>
          </a:prstGeom>
          <a:noFill/>
        </p:spPr>
        <p:txBody>
          <a:bodyPr wrap="square">
            <a:spAutoFit/>
          </a:bodyPr>
          <a:lstStyle/>
          <a:p>
            <a:pPr algn="ctr"/>
            <a:r>
              <a:rPr sz="1400" b="0" i="0">
                <a:solidFill>
                  <a:srgbClr val="212121"/>
                </a:solidFill>
              </a:rPr>
              <a:t>☐</a:t>
            </a:r>
          </a:p>
        </p:txBody>
      </p:sp>
      <p:sp>
        <p:nvSpPr>
          <p:cNvPr id="31" name="Rectangle 30"/>
          <p:cNvSpPr/>
          <p:nvPr/>
        </p:nvSpPr>
        <p:spPr>
          <a:xfrm>
            <a:off x="4754880" y="258775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2624328"/>
            <a:ext cx="640080" cy="329184"/>
          </a:xfrm>
          <a:prstGeom prst="rect">
            <a:avLst/>
          </a:prstGeom>
          <a:noFill/>
        </p:spPr>
        <p:txBody>
          <a:bodyPr wrap="square">
            <a:spAutoFit/>
          </a:bodyPr>
          <a:lstStyle/>
          <a:p>
            <a:pPr algn="ctr"/>
            <a:r>
              <a:rPr sz="1400" b="0" i="0">
                <a:solidFill>
                  <a:srgbClr val="212121"/>
                </a:solidFill>
              </a:rPr>
              <a:t>☐</a:t>
            </a:r>
          </a:p>
        </p:txBody>
      </p:sp>
      <p:sp>
        <p:nvSpPr>
          <p:cNvPr id="33" name="Rectangle 32"/>
          <p:cNvSpPr/>
          <p:nvPr/>
        </p:nvSpPr>
        <p:spPr>
          <a:xfrm>
            <a:off x="6080760" y="258775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2624328"/>
            <a:ext cx="640080" cy="329184"/>
          </a:xfrm>
          <a:prstGeom prst="rect">
            <a:avLst/>
          </a:prstGeom>
          <a:noFill/>
        </p:spPr>
        <p:txBody>
          <a:bodyPr wrap="square">
            <a:spAutoFit/>
          </a:bodyPr>
          <a:lstStyle/>
          <a:p>
            <a:pPr algn="ctr"/>
            <a:r>
              <a:rPr sz="1400" b="0" i="0">
                <a:solidFill>
                  <a:srgbClr val="212121"/>
                </a:solidFill>
              </a:rPr>
              <a:t>☐</a:t>
            </a:r>
          </a:p>
        </p:txBody>
      </p:sp>
      <p:sp>
        <p:nvSpPr>
          <p:cNvPr id="35" name="Rectangle 34"/>
          <p:cNvSpPr/>
          <p:nvPr/>
        </p:nvSpPr>
        <p:spPr>
          <a:xfrm>
            <a:off x="7406640" y="258775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26679" y="2624328"/>
            <a:ext cx="640080" cy="329184"/>
          </a:xfrm>
          <a:prstGeom prst="rect">
            <a:avLst/>
          </a:prstGeom>
          <a:noFill/>
        </p:spPr>
        <p:txBody>
          <a:bodyPr wrap="square">
            <a:spAutoFit/>
          </a:bodyPr>
          <a:lstStyle/>
          <a:p>
            <a:pPr algn="ctr"/>
            <a:r>
              <a:rPr sz="1400" b="0" i="0">
                <a:solidFill>
                  <a:srgbClr val="212121"/>
                </a:solidFill>
              </a:rPr>
              <a:t>☐</a:t>
            </a:r>
          </a:p>
        </p:txBody>
      </p:sp>
      <p:sp>
        <p:nvSpPr>
          <p:cNvPr id="37" name="Rectangle 36"/>
          <p:cNvSpPr/>
          <p:nvPr/>
        </p:nvSpPr>
        <p:spPr>
          <a:xfrm>
            <a:off x="182880" y="3008376"/>
            <a:ext cx="32004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6032" y="3063240"/>
            <a:ext cx="3017520" cy="310896"/>
          </a:xfrm>
          <a:prstGeom prst="rect">
            <a:avLst/>
          </a:prstGeom>
          <a:noFill/>
        </p:spPr>
        <p:txBody>
          <a:bodyPr wrap="square">
            <a:spAutoFit/>
          </a:bodyPr>
          <a:lstStyle/>
          <a:p>
            <a:pPr algn="l"/>
            <a:r>
              <a:rPr sz="950" b="0" i="0">
                <a:solidFill>
                  <a:srgbClr val="212121"/>
                </a:solidFill>
              </a:rPr>
              <a:t>Music with lyrics</a:t>
            </a:r>
          </a:p>
        </p:txBody>
      </p:sp>
      <p:sp>
        <p:nvSpPr>
          <p:cNvPr id="39" name="Rectangle 38"/>
          <p:cNvSpPr/>
          <p:nvPr/>
        </p:nvSpPr>
        <p:spPr>
          <a:xfrm>
            <a:off x="3429000" y="300837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49039" y="3044952"/>
            <a:ext cx="640080" cy="329184"/>
          </a:xfrm>
          <a:prstGeom prst="rect">
            <a:avLst/>
          </a:prstGeom>
          <a:noFill/>
        </p:spPr>
        <p:txBody>
          <a:bodyPr wrap="square">
            <a:spAutoFit/>
          </a:bodyPr>
          <a:lstStyle/>
          <a:p>
            <a:pPr algn="ctr"/>
            <a:r>
              <a:rPr sz="1400" b="0" i="0">
                <a:solidFill>
                  <a:srgbClr val="212121"/>
                </a:solidFill>
              </a:rPr>
              <a:t>☐</a:t>
            </a:r>
          </a:p>
        </p:txBody>
      </p:sp>
      <p:sp>
        <p:nvSpPr>
          <p:cNvPr id="41" name="Rectangle 40"/>
          <p:cNvSpPr/>
          <p:nvPr/>
        </p:nvSpPr>
        <p:spPr>
          <a:xfrm>
            <a:off x="4754880" y="300837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74920" y="3044952"/>
            <a:ext cx="640080" cy="329184"/>
          </a:xfrm>
          <a:prstGeom prst="rect">
            <a:avLst/>
          </a:prstGeom>
          <a:noFill/>
        </p:spPr>
        <p:txBody>
          <a:bodyPr wrap="square">
            <a:spAutoFit/>
          </a:bodyPr>
          <a:lstStyle/>
          <a:p>
            <a:pPr algn="ctr"/>
            <a:r>
              <a:rPr sz="1400" b="0" i="0">
                <a:solidFill>
                  <a:srgbClr val="212121"/>
                </a:solidFill>
              </a:rPr>
              <a:t>☐</a:t>
            </a:r>
          </a:p>
        </p:txBody>
      </p:sp>
      <p:sp>
        <p:nvSpPr>
          <p:cNvPr id="43" name="Rectangle 42"/>
          <p:cNvSpPr/>
          <p:nvPr/>
        </p:nvSpPr>
        <p:spPr>
          <a:xfrm>
            <a:off x="6080760" y="300837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044952"/>
            <a:ext cx="640080" cy="329184"/>
          </a:xfrm>
          <a:prstGeom prst="rect">
            <a:avLst/>
          </a:prstGeom>
          <a:noFill/>
        </p:spPr>
        <p:txBody>
          <a:bodyPr wrap="square">
            <a:spAutoFit/>
          </a:bodyPr>
          <a:lstStyle/>
          <a:p>
            <a:pPr algn="ctr"/>
            <a:r>
              <a:rPr sz="1400" b="0" i="0">
                <a:solidFill>
                  <a:srgbClr val="212121"/>
                </a:solidFill>
              </a:rPr>
              <a:t>☐</a:t>
            </a:r>
          </a:p>
        </p:txBody>
      </p:sp>
      <p:sp>
        <p:nvSpPr>
          <p:cNvPr id="45" name="Rectangle 44"/>
          <p:cNvSpPr/>
          <p:nvPr/>
        </p:nvSpPr>
        <p:spPr>
          <a:xfrm>
            <a:off x="7406640" y="300837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26679" y="3044952"/>
            <a:ext cx="640080" cy="329184"/>
          </a:xfrm>
          <a:prstGeom prst="rect">
            <a:avLst/>
          </a:prstGeom>
          <a:noFill/>
        </p:spPr>
        <p:txBody>
          <a:bodyPr wrap="square">
            <a:spAutoFit/>
          </a:bodyPr>
          <a:lstStyle/>
          <a:p>
            <a:pPr algn="ctr"/>
            <a:r>
              <a:rPr sz="1400" b="0" i="0">
                <a:solidFill>
                  <a:srgbClr val="212121"/>
                </a:solidFill>
              </a:rPr>
              <a:t>☐</a:t>
            </a:r>
          </a:p>
        </p:txBody>
      </p:sp>
      <p:sp>
        <p:nvSpPr>
          <p:cNvPr id="47" name="Rectangle 46"/>
          <p:cNvSpPr/>
          <p:nvPr/>
        </p:nvSpPr>
        <p:spPr>
          <a:xfrm>
            <a:off x="182880" y="3429000"/>
            <a:ext cx="32004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6032" y="3483864"/>
            <a:ext cx="3017520" cy="310896"/>
          </a:xfrm>
          <a:prstGeom prst="rect">
            <a:avLst/>
          </a:prstGeom>
          <a:noFill/>
        </p:spPr>
        <p:txBody>
          <a:bodyPr wrap="square">
            <a:spAutoFit/>
          </a:bodyPr>
          <a:lstStyle/>
          <a:p>
            <a:pPr algn="l"/>
            <a:r>
              <a:rPr sz="950" b="0" i="0">
                <a:solidFill>
                  <a:srgbClr val="212121"/>
                </a:solidFill>
              </a:rPr>
              <a:t>Noise from family / roommates</a:t>
            </a:r>
          </a:p>
        </p:txBody>
      </p:sp>
      <p:sp>
        <p:nvSpPr>
          <p:cNvPr id="49" name="Rectangle 48"/>
          <p:cNvSpPr/>
          <p:nvPr/>
        </p:nvSpPr>
        <p:spPr>
          <a:xfrm>
            <a:off x="3429000" y="3429000"/>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49039" y="3465576"/>
            <a:ext cx="640080" cy="329184"/>
          </a:xfrm>
          <a:prstGeom prst="rect">
            <a:avLst/>
          </a:prstGeom>
          <a:noFill/>
        </p:spPr>
        <p:txBody>
          <a:bodyPr wrap="square">
            <a:spAutoFit/>
          </a:bodyPr>
          <a:lstStyle/>
          <a:p>
            <a:pPr algn="ctr"/>
            <a:r>
              <a:rPr sz="1400" b="0" i="0">
                <a:solidFill>
                  <a:srgbClr val="212121"/>
                </a:solidFill>
              </a:rPr>
              <a:t>☐</a:t>
            </a:r>
          </a:p>
        </p:txBody>
      </p:sp>
      <p:sp>
        <p:nvSpPr>
          <p:cNvPr id="51" name="Rectangle 50"/>
          <p:cNvSpPr/>
          <p:nvPr/>
        </p:nvSpPr>
        <p:spPr>
          <a:xfrm>
            <a:off x="4754880" y="3429000"/>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74920" y="3465576"/>
            <a:ext cx="640080" cy="329184"/>
          </a:xfrm>
          <a:prstGeom prst="rect">
            <a:avLst/>
          </a:prstGeom>
          <a:noFill/>
        </p:spPr>
        <p:txBody>
          <a:bodyPr wrap="square">
            <a:spAutoFit/>
          </a:bodyPr>
          <a:lstStyle/>
          <a:p>
            <a:pPr algn="ctr"/>
            <a:r>
              <a:rPr sz="1400" b="0" i="0">
                <a:solidFill>
                  <a:srgbClr val="212121"/>
                </a:solidFill>
              </a:rPr>
              <a:t>☐</a:t>
            </a:r>
          </a:p>
        </p:txBody>
      </p:sp>
      <p:sp>
        <p:nvSpPr>
          <p:cNvPr id="53" name="Rectangle 52"/>
          <p:cNvSpPr/>
          <p:nvPr/>
        </p:nvSpPr>
        <p:spPr>
          <a:xfrm>
            <a:off x="6080760" y="3429000"/>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3465576"/>
            <a:ext cx="640080" cy="329184"/>
          </a:xfrm>
          <a:prstGeom prst="rect">
            <a:avLst/>
          </a:prstGeom>
          <a:noFill/>
        </p:spPr>
        <p:txBody>
          <a:bodyPr wrap="square">
            <a:spAutoFit/>
          </a:bodyPr>
          <a:lstStyle/>
          <a:p>
            <a:pPr algn="ctr"/>
            <a:r>
              <a:rPr sz="1400" b="0" i="0">
                <a:solidFill>
                  <a:srgbClr val="212121"/>
                </a:solidFill>
              </a:rPr>
              <a:t>☐</a:t>
            </a:r>
          </a:p>
        </p:txBody>
      </p:sp>
      <p:sp>
        <p:nvSpPr>
          <p:cNvPr id="55" name="Rectangle 54"/>
          <p:cNvSpPr/>
          <p:nvPr/>
        </p:nvSpPr>
        <p:spPr>
          <a:xfrm>
            <a:off x="7406640" y="3429000"/>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26679" y="3465576"/>
            <a:ext cx="640080" cy="329184"/>
          </a:xfrm>
          <a:prstGeom prst="rect">
            <a:avLst/>
          </a:prstGeom>
          <a:noFill/>
        </p:spPr>
        <p:txBody>
          <a:bodyPr wrap="square">
            <a:spAutoFit/>
          </a:bodyPr>
          <a:lstStyle/>
          <a:p>
            <a:pPr algn="ctr"/>
            <a:r>
              <a:rPr sz="1400" b="0" i="0">
                <a:solidFill>
                  <a:srgbClr val="212121"/>
                </a:solidFill>
              </a:rPr>
              <a:t>☐</a:t>
            </a:r>
          </a:p>
        </p:txBody>
      </p:sp>
      <p:sp>
        <p:nvSpPr>
          <p:cNvPr id="57" name="Rectangle 56"/>
          <p:cNvSpPr/>
          <p:nvPr/>
        </p:nvSpPr>
        <p:spPr>
          <a:xfrm>
            <a:off x="182880" y="3849624"/>
            <a:ext cx="32004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6032" y="3904487"/>
            <a:ext cx="3017520" cy="310896"/>
          </a:xfrm>
          <a:prstGeom prst="rect">
            <a:avLst/>
          </a:prstGeom>
          <a:noFill/>
        </p:spPr>
        <p:txBody>
          <a:bodyPr wrap="square">
            <a:spAutoFit/>
          </a:bodyPr>
          <a:lstStyle/>
          <a:p>
            <a:pPr algn="l"/>
            <a:r>
              <a:rPr sz="950" b="0" i="0">
                <a:solidFill>
                  <a:srgbClr val="212121"/>
                </a:solidFill>
              </a:rPr>
              <a:t>Hunger</a:t>
            </a:r>
          </a:p>
        </p:txBody>
      </p:sp>
      <p:sp>
        <p:nvSpPr>
          <p:cNvPr id="59" name="Rectangle 58"/>
          <p:cNvSpPr/>
          <p:nvPr/>
        </p:nvSpPr>
        <p:spPr>
          <a:xfrm>
            <a:off x="3429000" y="3849624"/>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49039" y="3886200"/>
            <a:ext cx="640080" cy="329184"/>
          </a:xfrm>
          <a:prstGeom prst="rect">
            <a:avLst/>
          </a:prstGeom>
          <a:noFill/>
        </p:spPr>
        <p:txBody>
          <a:bodyPr wrap="square">
            <a:spAutoFit/>
          </a:bodyPr>
          <a:lstStyle/>
          <a:p>
            <a:pPr algn="ctr"/>
            <a:r>
              <a:rPr sz="1400" b="0" i="0">
                <a:solidFill>
                  <a:srgbClr val="212121"/>
                </a:solidFill>
              </a:rPr>
              <a:t>☐</a:t>
            </a:r>
          </a:p>
        </p:txBody>
      </p:sp>
      <p:sp>
        <p:nvSpPr>
          <p:cNvPr id="61" name="Rectangle 60"/>
          <p:cNvSpPr/>
          <p:nvPr/>
        </p:nvSpPr>
        <p:spPr>
          <a:xfrm>
            <a:off x="4754880" y="3849624"/>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74920" y="3886200"/>
            <a:ext cx="640080" cy="329184"/>
          </a:xfrm>
          <a:prstGeom prst="rect">
            <a:avLst/>
          </a:prstGeom>
          <a:noFill/>
        </p:spPr>
        <p:txBody>
          <a:bodyPr wrap="square">
            <a:spAutoFit/>
          </a:bodyPr>
          <a:lstStyle/>
          <a:p>
            <a:pPr algn="ctr"/>
            <a:r>
              <a:rPr sz="1400" b="0" i="0">
                <a:solidFill>
                  <a:srgbClr val="212121"/>
                </a:solidFill>
              </a:rPr>
              <a:t>☐</a:t>
            </a:r>
          </a:p>
        </p:txBody>
      </p:sp>
      <p:sp>
        <p:nvSpPr>
          <p:cNvPr id="63" name="Rectangle 62"/>
          <p:cNvSpPr/>
          <p:nvPr/>
        </p:nvSpPr>
        <p:spPr>
          <a:xfrm>
            <a:off x="6080760" y="3849624"/>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0800" y="3886200"/>
            <a:ext cx="640080" cy="329184"/>
          </a:xfrm>
          <a:prstGeom prst="rect">
            <a:avLst/>
          </a:prstGeom>
          <a:noFill/>
        </p:spPr>
        <p:txBody>
          <a:bodyPr wrap="square">
            <a:spAutoFit/>
          </a:bodyPr>
          <a:lstStyle/>
          <a:p>
            <a:pPr algn="ctr"/>
            <a:r>
              <a:rPr sz="1400" b="0" i="0">
                <a:solidFill>
                  <a:srgbClr val="212121"/>
                </a:solidFill>
              </a:rPr>
              <a:t>☐</a:t>
            </a:r>
          </a:p>
        </p:txBody>
      </p:sp>
      <p:sp>
        <p:nvSpPr>
          <p:cNvPr id="65" name="Rectangle 64"/>
          <p:cNvSpPr/>
          <p:nvPr/>
        </p:nvSpPr>
        <p:spPr>
          <a:xfrm>
            <a:off x="7406640" y="3849624"/>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26679" y="3886200"/>
            <a:ext cx="640080" cy="329184"/>
          </a:xfrm>
          <a:prstGeom prst="rect">
            <a:avLst/>
          </a:prstGeom>
          <a:noFill/>
        </p:spPr>
        <p:txBody>
          <a:bodyPr wrap="square">
            <a:spAutoFit/>
          </a:bodyPr>
          <a:lstStyle/>
          <a:p>
            <a:pPr algn="ctr"/>
            <a:r>
              <a:rPr sz="1400" b="0" i="0">
                <a:solidFill>
                  <a:srgbClr val="212121"/>
                </a:solidFill>
              </a:rPr>
              <a:t>☐</a:t>
            </a:r>
          </a:p>
        </p:txBody>
      </p:sp>
      <p:sp>
        <p:nvSpPr>
          <p:cNvPr id="67" name="Rectangle 66"/>
          <p:cNvSpPr/>
          <p:nvPr/>
        </p:nvSpPr>
        <p:spPr>
          <a:xfrm>
            <a:off x="182880" y="4270248"/>
            <a:ext cx="32004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56032" y="4325112"/>
            <a:ext cx="3017520" cy="310896"/>
          </a:xfrm>
          <a:prstGeom prst="rect">
            <a:avLst/>
          </a:prstGeom>
          <a:noFill/>
        </p:spPr>
        <p:txBody>
          <a:bodyPr wrap="square">
            <a:spAutoFit/>
          </a:bodyPr>
          <a:lstStyle/>
          <a:p>
            <a:pPr algn="l"/>
            <a:r>
              <a:rPr sz="950" b="0" i="0">
                <a:solidFill>
                  <a:srgbClr val="212121"/>
                </a:solidFill>
              </a:rPr>
              <a:t>Fatigue / sleepiness</a:t>
            </a:r>
          </a:p>
        </p:txBody>
      </p:sp>
      <p:sp>
        <p:nvSpPr>
          <p:cNvPr id="69" name="Rectangle 68"/>
          <p:cNvSpPr/>
          <p:nvPr/>
        </p:nvSpPr>
        <p:spPr>
          <a:xfrm>
            <a:off x="3429000" y="427024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49039" y="4306824"/>
            <a:ext cx="640080" cy="329184"/>
          </a:xfrm>
          <a:prstGeom prst="rect">
            <a:avLst/>
          </a:prstGeom>
          <a:noFill/>
        </p:spPr>
        <p:txBody>
          <a:bodyPr wrap="square">
            <a:spAutoFit/>
          </a:bodyPr>
          <a:lstStyle/>
          <a:p>
            <a:pPr algn="ctr"/>
            <a:r>
              <a:rPr sz="1400" b="0" i="0">
                <a:solidFill>
                  <a:srgbClr val="212121"/>
                </a:solidFill>
              </a:rPr>
              <a:t>☐</a:t>
            </a:r>
          </a:p>
        </p:txBody>
      </p:sp>
      <p:sp>
        <p:nvSpPr>
          <p:cNvPr id="71" name="Rectangle 70"/>
          <p:cNvSpPr/>
          <p:nvPr/>
        </p:nvSpPr>
        <p:spPr>
          <a:xfrm>
            <a:off x="4754880" y="427024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074920" y="4306824"/>
            <a:ext cx="640080" cy="329184"/>
          </a:xfrm>
          <a:prstGeom prst="rect">
            <a:avLst/>
          </a:prstGeom>
          <a:noFill/>
        </p:spPr>
        <p:txBody>
          <a:bodyPr wrap="square">
            <a:spAutoFit/>
          </a:bodyPr>
          <a:lstStyle/>
          <a:p>
            <a:pPr algn="ctr"/>
            <a:r>
              <a:rPr sz="1400" b="0" i="0">
                <a:solidFill>
                  <a:srgbClr val="212121"/>
                </a:solidFill>
              </a:rPr>
              <a:t>☐</a:t>
            </a:r>
          </a:p>
        </p:txBody>
      </p:sp>
      <p:sp>
        <p:nvSpPr>
          <p:cNvPr id="73" name="Rectangle 72"/>
          <p:cNvSpPr/>
          <p:nvPr/>
        </p:nvSpPr>
        <p:spPr>
          <a:xfrm>
            <a:off x="6080760" y="427024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00800" y="4306824"/>
            <a:ext cx="640080" cy="329184"/>
          </a:xfrm>
          <a:prstGeom prst="rect">
            <a:avLst/>
          </a:prstGeom>
          <a:noFill/>
        </p:spPr>
        <p:txBody>
          <a:bodyPr wrap="square">
            <a:spAutoFit/>
          </a:bodyPr>
          <a:lstStyle/>
          <a:p>
            <a:pPr algn="ctr"/>
            <a:r>
              <a:rPr sz="1400" b="0" i="0">
                <a:solidFill>
                  <a:srgbClr val="212121"/>
                </a:solidFill>
              </a:rPr>
              <a:t>☐</a:t>
            </a:r>
          </a:p>
        </p:txBody>
      </p:sp>
      <p:sp>
        <p:nvSpPr>
          <p:cNvPr id="75" name="Rectangle 74"/>
          <p:cNvSpPr/>
          <p:nvPr/>
        </p:nvSpPr>
        <p:spPr>
          <a:xfrm>
            <a:off x="7406640" y="4270248"/>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26679" y="4306824"/>
            <a:ext cx="640080" cy="329184"/>
          </a:xfrm>
          <a:prstGeom prst="rect">
            <a:avLst/>
          </a:prstGeom>
          <a:noFill/>
        </p:spPr>
        <p:txBody>
          <a:bodyPr wrap="square">
            <a:spAutoFit/>
          </a:bodyPr>
          <a:lstStyle/>
          <a:p>
            <a:pPr algn="ctr"/>
            <a:r>
              <a:rPr sz="1400" b="0" i="0">
                <a:solidFill>
                  <a:srgbClr val="212121"/>
                </a:solidFill>
              </a:rPr>
              <a:t>☐</a:t>
            </a:r>
          </a:p>
        </p:txBody>
      </p:sp>
      <p:sp>
        <p:nvSpPr>
          <p:cNvPr id="77" name="Rectangle 76"/>
          <p:cNvSpPr/>
          <p:nvPr/>
        </p:nvSpPr>
        <p:spPr>
          <a:xfrm>
            <a:off x="182880" y="4690872"/>
            <a:ext cx="320040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56032" y="4745736"/>
            <a:ext cx="3017520" cy="310896"/>
          </a:xfrm>
          <a:prstGeom prst="rect">
            <a:avLst/>
          </a:prstGeom>
          <a:noFill/>
        </p:spPr>
        <p:txBody>
          <a:bodyPr wrap="square">
            <a:spAutoFit/>
          </a:bodyPr>
          <a:lstStyle/>
          <a:p>
            <a:pPr algn="l"/>
            <a:r>
              <a:rPr sz="950" b="0" i="0">
                <a:solidFill>
                  <a:srgbClr val="212121"/>
                </a:solidFill>
              </a:rPr>
              <a:t>Clutter / disorganized workspace</a:t>
            </a:r>
          </a:p>
        </p:txBody>
      </p:sp>
      <p:sp>
        <p:nvSpPr>
          <p:cNvPr id="79" name="Rectangle 78"/>
          <p:cNvSpPr/>
          <p:nvPr/>
        </p:nvSpPr>
        <p:spPr>
          <a:xfrm>
            <a:off x="3429000" y="469087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749039" y="4727448"/>
            <a:ext cx="640080" cy="329184"/>
          </a:xfrm>
          <a:prstGeom prst="rect">
            <a:avLst/>
          </a:prstGeom>
          <a:noFill/>
        </p:spPr>
        <p:txBody>
          <a:bodyPr wrap="square">
            <a:spAutoFit/>
          </a:bodyPr>
          <a:lstStyle/>
          <a:p>
            <a:pPr algn="ctr"/>
            <a:r>
              <a:rPr sz="1400" b="0" i="0">
                <a:solidFill>
                  <a:srgbClr val="212121"/>
                </a:solidFill>
              </a:rPr>
              <a:t>☐</a:t>
            </a:r>
          </a:p>
        </p:txBody>
      </p:sp>
      <p:sp>
        <p:nvSpPr>
          <p:cNvPr id="81" name="Rectangle 80"/>
          <p:cNvSpPr/>
          <p:nvPr/>
        </p:nvSpPr>
        <p:spPr>
          <a:xfrm>
            <a:off x="4754880" y="469087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74920" y="4727448"/>
            <a:ext cx="640080" cy="329184"/>
          </a:xfrm>
          <a:prstGeom prst="rect">
            <a:avLst/>
          </a:prstGeom>
          <a:noFill/>
        </p:spPr>
        <p:txBody>
          <a:bodyPr wrap="square">
            <a:spAutoFit/>
          </a:bodyPr>
          <a:lstStyle/>
          <a:p>
            <a:pPr algn="ctr"/>
            <a:r>
              <a:rPr sz="1400" b="0" i="0">
                <a:solidFill>
                  <a:srgbClr val="212121"/>
                </a:solidFill>
              </a:rPr>
              <a:t>☐</a:t>
            </a:r>
          </a:p>
        </p:txBody>
      </p:sp>
      <p:sp>
        <p:nvSpPr>
          <p:cNvPr id="83" name="Rectangle 82"/>
          <p:cNvSpPr/>
          <p:nvPr/>
        </p:nvSpPr>
        <p:spPr>
          <a:xfrm>
            <a:off x="6080760" y="469087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00800" y="4727448"/>
            <a:ext cx="640080" cy="329184"/>
          </a:xfrm>
          <a:prstGeom prst="rect">
            <a:avLst/>
          </a:prstGeom>
          <a:noFill/>
        </p:spPr>
        <p:txBody>
          <a:bodyPr wrap="square">
            <a:spAutoFit/>
          </a:bodyPr>
          <a:lstStyle/>
          <a:p>
            <a:pPr algn="ctr"/>
            <a:r>
              <a:rPr sz="1400" b="0" i="0">
                <a:solidFill>
                  <a:srgbClr val="212121"/>
                </a:solidFill>
              </a:rPr>
              <a:t>☐</a:t>
            </a:r>
          </a:p>
        </p:txBody>
      </p:sp>
      <p:sp>
        <p:nvSpPr>
          <p:cNvPr id="85" name="Rectangle 84"/>
          <p:cNvSpPr/>
          <p:nvPr/>
        </p:nvSpPr>
        <p:spPr>
          <a:xfrm>
            <a:off x="7406640" y="4690872"/>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726679" y="4727448"/>
            <a:ext cx="640080" cy="329184"/>
          </a:xfrm>
          <a:prstGeom prst="rect">
            <a:avLst/>
          </a:prstGeom>
          <a:noFill/>
        </p:spPr>
        <p:txBody>
          <a:bodyPr wrap="square">
            <a:spAutoFit/>
          </a:bodyPr>
          <a:lstStyle/>
          <a:p>
            <a:pPr algn="ctr"/>
            <a:r>
              <a:rPr sz="1400" b="0" i="0">
                <a:solidFill>
                  <a:srgbClr val="212121"/>
                </a:solidFill>
              </a:rPr>
              <a:t>☐</a:t>
            </a:r>
          </a:p>
        </p:txBody>
      </p:sp>
      <p:sp>
        <p:nvSpPr>
          <p:cNvPr id="87" name="Rectangle 86"/>
          <p:cNvSpPr/>
          <p:nvPr/>
        </p:nvSpPr>
        <p:spPr>
          <a:xfrm>
            <a:off x="182880" y="5111496"/>
            <a:ext cx="320040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6032" y="5166359"/>
            <a:ext cx="3017520" cy="310896"/>
          </a:xfrm>
          <a:prstGeom prst="rect">
            <a:avLst/>
          </a:prstGeom>
          <a:noFill/>
        </p:spPr>
        <p:txBody>
          <a:bodyPr wrap="square">
            <a:spAutoFit/>
          </a:bodyPr>
          <a:lstStyle/>
          <a:p>
            <a:pPr algn="l"/>
            <a:r>
              <a:rPr sz="950" b="0" i="0">
                <a:solidFill>
                  <a:srgbClr val="212121"/>
                </a:solidFill>
              </a:rPr>
              <a:t>Anxiety or stress</a:t>
            </a:r>
          </a:p>
        </p:txBody>
      </p:sp>
      <p:sp>
        <p:nvSpPr>
          <p:cNvPr id="89" name="Rectangle 88"/>
          <p:cNvSpPr/>
          <p:nvPr/>
        </p:nvSpPr>
        <p:spPr>
          <a:xfrm>
            <a:off x="3429000" y="511149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749039" y="5148072"/>
            <a:ext cx="640080" cy="329184"/>
          </a:xfrm>
          <a:prstGeom prst="rect">
            <a:avLst/>
          </a:prstGeom>
          <a:noFill/>
        </p:spPr>
        <p:txBody>
          <a:bodyPr wrap="square">
            <a:spAutoFit/>
          </a:bodyPr>
          <a:lstStyle/>
          <a:p>
            <a:pPr algn="ctr"/>
            <a:r>
              <a:rPr sz="1400" b="0" i="0">
                <a:solidFill>
                  <a:srgbClr val="212121"/>
                </a:solidFill>
              </a:rPr>
              <a:t>☐</a:t>
            </a:r>
          </a:p>
        </p:txBody>
      </p:sp>
      <p:sp>
        <p:nvSpPr>
          <p:cNvPr id="91" name="Rectangle 90"/>
          <p:cNvSpPr/>
          <p:nvPr/>
        </p:nvSpPr>
        <p:spPr>
          <a:xfrm>
            <a:off x="4754880" y="511149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74920" y="5148072"/>
            <a:ext cx="640080" cy="329184"/>
          </a:xfrm>
          <a:prstGeom prst="rect">
            <a:avLst/>
          </a:prstGeom>
          <a:noFill/>
        </p:spPr>
        <p:txBody>
          <a:bodyPr wrap="square">
            <a:spAutoFit/>
          </a:bodyPr>
          <a:lstStyle/>
          <a:p>
            <a:pPr algn="ctr"/>
            <a:r>
              <a:rPr sz="1400" b="0" i="0">
                <a:solidFill>
                  <a:srgbClr val="212121"/>
                </a:solidFill>
              </a:rPr>
              <a:t>☐</a:t>
            </a:r>
          </a:p>
        </p:txBody>
      </p:sp>
      <p:sp>
        <p:nvSpPr>
          <p:cNvPr id="93" name="Rectangle 92"/>
          <p:cNvSpPr/>
          <p:nvPr/>
        </p:nvSpPr>
        <p:spPr>
          <a:xfrm>
            <a:off x="6080760" y="511149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400800" y="5148072"/>
            <a:ext cx="640080" cy="329184"/>
          </a:xfrm>
          <a:prstGeom prst="rect">
            <a:avLst/>
          </a:prstGeom>
          <a:noFill/>
        </p:spPr>
        <p:txBody>
          <a:bodyPr wrap="square">
            <a:spAutoFit/>
          </a:bodyPr>
          <a:lstStyle/>
          <a:p>
            <a:pPr algn="ctr"/>
            <a:r>
              <a:rPr sz="1400" b="0" i="0">
                <a:solidFill>
                  <a:srgbClr val="212121"/>
                </a:solidFill>
              </a:rPr>
              <a:t>☐</a:t>
            </a:r>
          </a:p>
        </p:txBody>
      </p:sp>
      <p:sp>
        <p:nvSpPr>
          <p:cNvPr id="95" name="Rectangle 94"/>
          <p:cNvSpPr/>
          <p:nvPr/>
        </p:nvSpPr>
        <p:spPr>
          <a:xfrm>
            <a:off x="7406640" y="5111496"/>
            <a:ext cx="128016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726679" y="5148072"/>
            <a:ext cx="640080" cy="329184"/>
          </a:xfrm>
          <a:prstGeom prst="rect">
            <a:avLst/>
          </a:prstGeom>
          <a:noFill/>
        </p:spPr>
        <p:txBody>
          <a:bodyPr wrap="square">
            <a:spAutoFit/>
          </a:bodyPr>
          <a:lstStyle/>
          <a:p>
            <a:pPr algn="ctr"/>
            <a:r>
              <a:rPr sz="1400" b="0" i="0">
                <a:solidFill>
                  <a:srgbClr val="212121"/>
                </a:solidFill>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1.3: Working Memory &amp; Focus</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3-2-1 Reflection</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384048"/>
          </a:xfrm>
          <a:prstGeom prst="rect">
            <a:avLst/>
          </a:prstGeom>
          <a:noFill/>
        </p:spPr>
        <p:txBody>
          <a:bodyPr wrap="square">
            <a:spAutoFit/>
          </a:bodyPr>
          <a:lstStyle/>
          <a:p>
            <a:pPr algn="l"/>
            <a:r>
              <a:rPr sz="1100" b="0" i="1">
                <a:solidFill>
                  <a:srgbClr val="212121"/>
                </a:solidFill>
              </a:rPr>
              <a:t>3 things I learned today about working memory or focus:</a:t>
            </a:r>
          </a:p>
        </p:txBody>
      </p:sp>
      <p:sp>
        <p:nvSpPr>
          <p:cNvPr id="9" name="Rectangle 8"/>
          <p:cNvSpPr/>
          <p:nvPr/>
        </p:nvSpPr>
        <p:spPr>
          <a:xfrm>
            <a:off x="228600" y="155448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609344"/>
            <a:ext cx="8412480" cy="384048"/>
          </a:xfrm>
          <a:prstGeom prst="rect">
            <a:avLst/>
          </a:prstGeom>
          <a:noFill/>
        </p:spPr>
        <p:txBody>
          <a:bodyPr wrap="square">
            <a:spAutoFit/>
          </a:bodyPr>
          <a:lstStyle/>
          <a:p>
            <a:pPr algn="l"/>
            <a:r>
              <a:rPr sz="1100" b="0" i="1">
                <a:solidFill>
                  <a:srgbClr val="212121"/>
                </a:solidFill>
              </a:rPr>
              <a:t>2 strategies I will try this week:</a:t>
            </a:r>
          </a:p>
        </p:txBody>
      </p:sp>
      <p:sp>
        <p:nvSpPr>
          <p:cNvPr id="11" name="Rectangle 10"/>
          <p:cNvSpPr/>
          <p:nvPr/>
        </p:nvSpPr>
        <p:spPr>
          <a:xfrm>
            <a:off x="228600" y="210312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157984"/>
            <a:ext cx="8412480" cy="384048"/>
          </a:xfrm>
          <a:prstGeom prst="rect">
            <a:avLst/>
          </a:prstGeom>
          <a:noFill/>
        </p:spPr>
        <p:txBody>
          <a:bodyPr wrap="square">
            <a:spAutoFit/>
          </a:bodyPr>
          <a:lstStyle/>
          <a:p>
            <a:pPr algn="l"/>
            <a:r>
              <a:rPr sz="1100" b="0" i="1">
                <a:solidFill>
                  <a:srgbClr val="212121"/>
                </a:solidFill>
              </a:rPr>
              <a:t>1 question I still have:</a:t>
            </a:r>
          </a:p>
        </p:txBody>
      </p:sp>
      <p:sp>
        <p:nvSpPr>
          <p:cNvPr id="13" name="Rectangle 12"/>
          <p:cNvSpPr/>
          <p:nvPr/>
        </p:nvSpPr>
        <p:spPr>
          <a:xfrm>
            <a:off x="228600" y="27432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31546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1.4  ·  5 minutes</a:t>
            </a:r>
          </a:p>
        </p:txBody>
      </p:sp>
      <p:sp>
        <p:nvSpPr>
          <p:cNvPr id="7" name="Rectangle 6"/>
          <p:cNvSpPr/>
          <p:nvPr/>
        </p:nvSpPr>
        <p:spPr>
          <a:xfrm>
            <a:off x="228600" y="868680"/>
            <a:ext cx="1463040" cy="329184"/>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Unit 1 Vocabulary Lightning Round</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Without your workbook: write the definition of EACH word in your own words.
1. Executive functioning  2. Inhibitory control  3. Working memory  4. Cognitive flexibility</a:t>
            </a:r>
          </a:p>
        </p:txBody>
      </p:sp>
      <p:sp>
        <p:nvSpPr>
          <p:cNvPr id="13" name="Rectangle 12"/>
          <p:cNvSpPr/>
          <p:nvPr/>
        </p:nvSpPr>
        <p:spPr>
          <a:xfrm>
            <a:off x="228600" y="4919472"/>
            <a:ext cx="8686800" cy="47548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Partner check — compare definitions and agree on one shared version</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1.4  |  Unit 1: Executive Functioning</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Self-Regulation &amp; Goal-Setting</a:t>
            </a:r>
          </a:p>
        </p:txBody>
      </p:sp>
      <p:sp>
        <p:nvSpPr>
          <p:cNvPr id="6" name="Rectangle 5"/>
          <p:cNvSpPr/>
          <p:nvPr/>
        </p:nvSpPr>
        <p:spPr>
          <a:xfrm>
            <a:off x="182880" y="1024128"/>
            <a:ext cx="8778240" cy="329184"/>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Define self-regulation and explain its connection to academic success.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Write a SMART goal using the full framework.</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Create a monitoring plan to track progress on their SMART goal.</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C61414"/>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C61414"/>
                </a:solidFill>
              </a:rPr>
              <a:t>Self-Regulation</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se (oneself) + Latin regulare (to control, to rule)</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The ability to manage your own emotions, thoughts, and behavior to work toward a goal, even when things are difficult.</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042415"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969263" cy="320040"/>
          </a:xfrm>
          <a:prstGeom prst="rect">
            <a:avLst/>
          </a:prstGeom>
          <a:noFill/>
        </p:spPr>
        <p:txBody>
          <a:bodyPr wrap="square">
            <a:spAutoFit/>
          </a:bodyPr>
          <a:lstStyle/>
          <a:p>
            <a:pPr algn="ctr"/>
            <a:r>
              <a:rPr sz="1100" b="1" i="0">
                <a:solidFill>
                  <a:srgbClr val="FFFFFF"/>
                </a:solidFill>
              </a:rPr>
              <a:t>6</a:t>
            </a:r>
          </a:p>
        </p:txBody>
      </p:sp>
      <p:sp>
        <p:nvSpPr>
          <p:cNvPr id="30" name="TextBox 29"/>
          <p:cNvSpPr txBox="1"/>
          <p:nvPr/>
        </p:nvSpPr>
        <p:spPr>
          <a:xfrm>
            <a:off x="3355848" y="6163056"/>
            <a:ext cx="1042415"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398264"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398264"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788152" y="5623560"/>
            <a:ext cx="2258568"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24728" y="5715000"/>
            <a:ext cx="2185416" cy="320040"/>
          </a:xfrm>
          <a:prstGeom prst="rect">
            <a:avLst/>
          </a:prstGeom>
          <a:noFill/>
        </p:spPr>
        <p:txBody>
          <a:bodyPr wrap="square">
            <a:spAutoFit/>
          </a:bodyPr>
          <a:lstStyle/>
          <a:p>
            <a:pPr algn="ctr"/>
            <a:r>
              <a:rPr sz="1100" b="1" i="0">
                <a:solidFill>
                  <a:srgbClr val="FFFFFF"/>
                </a:solidFill>
              </a:rPr>
              <a:t>13</a:t>
            </a:r>
          </a:p>
        </p:txBody>
      </p:sp>
      <p:sp>
        <p:nvSpPr>
          <p:cNvPr id="36" name="TextBox 35"/>
          <p:cNvSpPr txBox="1"/>
          <p:nvPr/>
        </p:nvSpPr>
        <p:spPr>
          <a:xfrm>
            <a:off x="5788152" y="6163056"/>
            <a:ext cx="2258568"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2 — Partial scaffold (key notes provided)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C61414"/>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The Science of Willpower — and Why Goals Beat Willpower Every Time</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by Dr. Carol Dweck, Walter Mischel, and Angela Duckworth</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Science of Willpower — and Why Goals Beat Willpower Every Time  (p. 1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In the 1960s, a Stanford psychologist named Walter Mischel ran an experiment that became
one of the most famous in all of psychology. He placed young children in front of a
marshmallow and gave them a choice: eat it now, or wait 15 minutes and get two. Years
later, Mischel tracked down those same children as teenagers and adults. The ones who
had waited, he found, had higher SAT scores, better social skills, and lower rates of
substance abuse. The experiment seemed to prove that self-control was the key to
success.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But here is what later researchers discovered that changed everything: the children who
waited successfully were not simply born with more willpower. They used strategies. They
covered their eyes so they couldn't see the marshmallow. They sang songs. They pretended
the marshmallow was a picture, not real food. Self-regulation, it turns out, is not a
fixed trait — it is a skill that depends heavily on having effective strategies and a
supportive environment.</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Science of Willpower — and Why Goals Beat Willpower Every Time  (p. 2 of 2)</a:t>
            </a:r>
          </a:p>
        </p:txBody>
      </p:sp>
      <p:sp>
        <p:nvSpPr>
          <p:cNvPr id="4" name="Rectangle 3"/>
          <p:cNvSpPr/>
          <p:nvPr/>
        </p:nvSpPr>
        <p:spPr>
          <a:xfrm>
            <a:off x="182880" y="6217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Psychologist Angela Duckworth's research on 'grit' — the combination of passion and
perseverance for long-term goals — confirms this. The most successful people she studied
were not those who relied on raw willpower to grind through everything. They were people
who had clear, meaningful goals that motivated them through difficulty. A goal gives
your effort direction. Without a goal, every challenge feels like a reason to quit. With
a goal, the same challenge becomes evidence that you are doing something hard and
worthwhile.</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SMART goal framework — Specific, Measurable, Achievable, Relevant, and Time-bound —
exists because vague intentions rarely become real action. 'I want to do better in math'
is an intention. 'I will earn a B or higher on my next three math tests by studying for
20 minutes every other day using practice problems' is a SMART goal. The difference is
accountability: you know exactly what success looks like, and you can track your
progress week by week. Research shows that people who write down their goals are
significantly more likely to achieve them than those who keep goals only in their heads.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'The Science of Willpower — and Why Goals Beat Willpower Every Time'</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6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C61414"/>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Describe the marshmallow experiment in your own words. What did researchers originally conclude
from it?</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C61414"/>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did later researchers discover that changed the interpretation of the marshmallow study?
Why is this distinction important?</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C61414"/>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According to Angela Duckworth's research, what do the most successful people have in common?
How is this different from just having willpower?</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C61414"/>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Compare these two goals: 'I want to get better grades' vs. 'I will earn a B+ or higher in
science this semester by reviewing my notes for 15 minutes after every class.' Which is SMART?
Explain each element.</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C61414"/>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Write your OWN SMART goal for this semester. It must be school-related. Make sure all five
elements (S, M, A, R, T) are clearly present.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1.4</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Grit: The Power of Passion and Perseverance</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TED (Angela Duckworth)  ·  approx. 6 min</a:t>
            </a:r>
          </a:p>
        </p:txBody>
      </p:sp>
      <p:sp>
        <p:nvSpPr>
          <p:cNvPr id="9" name="Rectangle 8"/>
          <p:cNvSpPr/>
          <p:nvPr/>
        </p:nvSpPr>
        <p:spPr>
          <a:xfrm>
            <a:off x="365760" y="2377440"/>
            <a:ext cx="8412480" cy="2743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C61414"/>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does Duckworth say is MORE important than talent? Do you agree?</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"The Marshmallow Test — Self-Control"  |  SciShow Psych</a:t>
            </a:r>
          </a:p>
        </p:txBody>
      </p:sp>
      <p:sp>
        <p:nvSpPr>
          <p:cNvPr id="16" name="Rectangle 15">
            <a:hlinkClick r:id="rId3"/>
          </p:cNvPr>
          <p:cNvSpPr/>
          <p:nvPr/>
        </p:nvSpPr>
        <p:spPr>
          <a:xfrm>
            <a:off x="2743200" y="4480560"/>
            <a:ext cx="3657600" cy="749808"/>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Goal That Wasn't"  —  Lesson 1.4</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50" b="0" i="1">
                <a:solidFill>
                  <a:srgbClr val="1A1A6E"/>
                </a:solidFill>
              </a:rPr>
              <a:t>Their advisor had them write goals at the start of the semester. Jordan wrote: Get better
grades.</a:t>
            </a:r>
          </a:p>
        </p:txBody>
      </p:sp>
      <p:sp>
        <p:nvSpPr>
          <p:cNvPr id="7" name="TextBox 6"/>
          <p:cNvSpPr txBox="1"/>
          <p:nvPr/>
        </p:nvSpPr>
        <p:spPr>
          <a:xfrm>
            <a:off x="228600" y="1335024"/>
            <a:ext cx="8686800" cy="448056"/>
          </a:xfrm>
          <a:prstGeom prst="rect">
            <a:avLst/>
          </a:prstGeom>
          <a:noFill/>
        </p:spPr>
        <p:txBody>
          <a:bodyPr wrap="square">
            <a:spAutoFit/>
          </a:bodyPr>
          <a:lstStyle/>
          <a:p>
            <a:pPr algn="l">
              <a:lnSpc>
                <a:spcPts val="1500"/>
              </a:lnSpc>
            </a:pPr>
            <a:r>
              <a:rPr sz="1000" b="0" i="0">
                <a:solidFill>
                  <a:srgbClr val="212121"/>
                </a:solidFill>
              </a:rPr>
              <a:t>He'd been looking at it for four months. It still said Get better grades. His grades had not
gotten better.</a:t>
            </a:r>
          </a:p>
        </p:txBody>
      </p:sp>
      <p:sp>
        <p:nvSpPr>
          <p:cNvPr id="8" name="TextBox 7"/>
          <p:cNvSpPr txBox="1"/>
          <p:nvPr/>
        </p:nvSpPr>
        <p:spPr>
          <a:xfrm>
            <a:off x="228600" y="1792224"/>
            <a:ext cx="8686800" cy="246888"/>
          </a:xfrm>
          <a:prstGeom prst="rect">
            <a:avLst/>
          </a:prstGeom>
          <a:noFill/>
        </p:spPr>
        <p:txBody>
          <a:bodyPr wrap="square">
            <a:spAutoFit/>
          </a:bodyPr>
          <a:lstStyle/>
          <a:p>
            <a:pPr algn="l">
              <a:lnSpc>
                <a:spcPts val="1500"/>
              </a:lnSpc>
            </a:pPr>
            <a:r>
              <a:rPr sz="1000" b="0" i="0">
                <a:solidFill>
                  <a:srgbClr val="212121"/>
                </a:solidFill>
              </a:rPr>
              <a:t>In Warrior Prep, the teacher asked them to take out that goal and read it.</a:t>
            </a:r>
          </a:p>
        </p:txBody>
      </p:sp>
      <p:sp>
        <p:nvSpPr>
          <p:cNvPr id="9" name="TextBox 8"/>
          <p:cNvSpPr txBox="1"/>
          <p:nvPr/>
        </p:nvSpPr>
        <p:spPr>
          <a:xfrm>
            <a:off x="228600" y="2048256"/>
            <a:ext cx="8686800" cy="246888"/>
          </a:xfrm>
          <a:prstGeom prst="rect">
            <a:avLst/>
          </a:prstGeom>
          <a:noFill/>
        </p:spPr>
        <p:txBody>
          <a:bodyPr wrap="square">
            <a:spAutoFit/>
          </a:bodyPr>
          <a:lstStyle/>
          <a:p>
            <a:pPr algn="l">
              <a:lnSpc>
                <a:spcPts val="1500"/>
              </a:lnSpc>
            </a:pPr>
            <a:r>
              <a:rPr sz="1050" b="0" i="1">
                <a:solidFill>
                  <a:srgbClr val="1A1A6E"/>
                </a:solidFill>
              </a:rPr>
              <a:t>"Mine's embarrassing," Jordan said, showing Maya.</a:t>
            </a:r>
          </a:p>
        </p:txBody>
      </p:sp>
      <p:sp>
        <p:nvSpPr>
          <p:cNvPr id="10" name="TextBox 9"/>
          <p:cNvSpPr txBox="1"/>
          <p:nvPr/>
        </p:nvSpPr>
        <p:spPr>
          <a:xfrm>
            <a:off x="228600" y="2304288"/>
            <a:ext cx="8686800" cy="246888"/>
          </a:xfrm>
          <a:prstGeom prst="rect">
            <a:avLst/>
          </a:prstGeom>
          <a:noFill/>
        </p:spPr>
        <p:txBody>
          <a:bodyPr wrap="square">
            <a:spAutoFit/>
          </a:bodyPr>
          <a:lstStyle/>
          <a:p>
            <a:pPr algn="l">
              <a:lnSpc>
                <a:spcPts val="1500"/>
              </a:lnSpc>
            </a:pPr>
            <a:r>
              <a:rPr sz="1050" b="0" i="1">
                <a:solidFill>
                  <a:srgbClr val="1A1A6E"/>
                </a:solidFill>
              </a:rPr>
              <a:t>She read it. "What does 'better' mean?"</a:t>
            </a:r>
          </a:p>
        </p:txBody>
      </p:sp>
      <p:sp>
        <p:nvSpPr>
          <p:cNvPr id="11" name="TextBox 10"/>
          <p:cNvSpPr txBox="1"/>
          <p:nvPr/>
        </p:nvSpPr>
        <p:spPr>
          <a:xfrm>
            <a:off x="228600" y="2560320"/>
            <a:ext cx="8686800" cy="246888"/>
          </a:xfrm>
          <a:prstGeom prst="rect">
            <a:avLst/>
          </a:prstGeom>
          <a:noFill/>
        </p:spPr>
        <p:txBody>
          <a:bodyPr wrap="square">
            <a:spAutoFit/>
          </a:bodyPr>
          <a:lstStyle/>
          <a:p>
            <a:pPr algn="l">
              <a:lnSpc>
                <a:spcPts val="1500"/>
              </a:lnSpc>
            </a:pPr>
            <a:r>
              <a:rPr sz="1050" b="0" i="1">
                <a:solidFill>
                  <a:srgbClr val="1A1A6E"/>
                </a:solidFill>
              </a:rPr>
              <a:t>"Like... higher."</a:t>
            </a:r>
          </a:p>
        </p:txBody>
      </p:sp>
      <p:sp>
        <p:nvSpPr>
          <p:cNvPr id="12" name="TextBox 11"/>
          <p:cNvSpPr txBox="1"/>
          <p:nvPr/>
        </p:nvSpPr>
        <p:spPr>
          <a:xfrm>
            <a:off x="228600" y="2816352"/>
            <a:ext cx="8686800" cy="246888"/>
          </a:xfrm>
          <a:prstGeom prst="rect">
            <a:avLst/>
          </a:prstGeom>
          <a:noFill/>
        </p:spPr>
        <p:txBody>
          <a:bodyPr wrap="square">
            <a:spAutoFit/>
          </a:bodyPr>
          <a:lstStyle/>
          <a:p>
            <a:pPr algn="l">
              <a:lnSpc>
                <a:spcPts val="1500"/>
              </a:lnSpc>
            </a:pPr>
            <a:r>
              <a:rPr sz="1050" b="0" i="1">
                <a:solidFill>
                  <a:srgbClr val="1A1A6E"/>
                </a:solidFill>
              </a:rPr>
              <a:t>"Higher than what? By how much? In which class? By when?"</a:t>
            </a:r>
          </a:p>
        </p:txBody>
      </p:sp>
      <p:sp>
        <p:nvSpPr>
          <p:cNvPr id="13" name="TextBox 12"/>
          <p:cNvSpPr txBox="1"/>
          <p:nvPr/>
        </p:nvSpPr>
        <p:spPr>
          <a:xfrm>
            <a:off x="228600" y="3072384"/>
            <a:ext cx="8686800" cy="246888"/>
          </a:xfrm>
          <a:prstGeom prst="rect">
            <a:avLst/>
          </a:prstGeom>
          <a:noFill/>
        </p:spPr>
        <p:txBody>
          <a:bodyPr wrap="square">
            <a:spAutoFit/>
          </a:bodyPr>
          <a:lstStyle/>
          <a:p>
            <a:pPr algn="l">
              <a:lnSpc>
                <a:spcPts val="1500"/>
              </a:lnSpc>
            </a:pPr>
            <a:r>
              <a:rPr sz="1050" b="0" i="1">
                <a:solidFill>
                  <a:srgbClr val="1A1A6E"/>
                </a:solidFill>
              </a:rPr>
              <a:t>Jordan stared at her. "You sound like a lawyer."</a:t>
            </a:r>
          </a:p>
        </p:txBody>
      </p:sp>
      <p:sp>
        <p:nvSpPr>
          <p:cNvPr id="14" name="TextBox 13"/>
          <p:cNvSpPr txBox="1"/>
          <p:nvPr/>
        </p:nvSpPr>
        <p:spPr>
          <a:xfrm>
            <a:off x="228600" y="3328416"/>
            <a:ext cx="8686800" cy="246888"/>
          </a:xfrm>
          <a:prstGeom prst="rect">
            <a:avLst/>
          </a:prstGeom>
          <a:noFill/>
        </p:spPr>
        <p:txBody>
          <a:bodyPr wrap="square">
            <a:spAutoFit/>
          </a:bodyPr>
          <a:lstStyle/>
          <a:p>
            <a:pPr algn="l">
              <a:lnSpc>
                <a:spcPts val="1500"/>
              </a:lnSpc>
            </a:pPr>
            <a:r>
              <a:rPr sz="1050" b="0" i="1">
                <a:solidFill>
                  <a:srgbClr val="1A1A6E"/>
                </a:solidFill>
              </a:rPr>
              <a:t>"I'm serious. How would you know if you hit it?"</a:t>
            </a:r>
          </a:p>
        </p:txBody>
      </p:sp>
      <p:sp>
        <p:nvSpPr>
          <p:cNvPr id="15" name="TextBox 14"/>
          <p:cNvSpPr txBox="1"/>
          <p:nvPr/>
        </p:nvSpPr>
        <p:spPr>
          <a:xfrm>
            <a:off x="228600" y="3584448"/>
            <a:ext cx="8686800" cy="649224"/>
          </a:xfrm>
          <a:prstGeom prst="rect">
            <a:avLst/>
          </a:prstGeom>
          <a:noFill/>
        </p:spPr>
        <p:txBody>
          <a:bodyPr wrap="square">
            <a:spAutoFit/>
          </a:bodyPr>
          <a:lstStyle/>
          <a:p>
            <a:pPr algn="l">
              <a:lnSpc>
                <a:spcPts val="1500"/>
              </a:lnSpc>
            </a:pPr>
            <a:r>
              <a:rPr sz="1000" b="0" i="0">
                <a:solidFill>
                  <a:srgbClr val="212121"/>
                </a:solidFill>
              </a:rPr>
              <a:t>He thought about it. He genuinely did not know. The goal had felt real when he wrote it. It
had felt like wanting something. But wanting something and having a plan for it were different
things, and he hadn't thought about that until right now.</a:t>
            </a:r>
          </a:p>
        </p:txBody>
      </p:sp>
      <p:sp>
        <p:nvSpPr>
          <p:cNvPr id="16" name="TextBox 15"/>
          <p:cNvSpPr txBox="1"/>
          <p:nvPr/>
        </p:nvSpPr>
        <p:spPr>
          <a:xfrm>
            <a:off x="228600" y="4242816"/>
            <a:ext cx="8686800" cy="246888"/>
          </a:xfrm>
          <a:prstGeom prst="rect">
            <a:avLst/>
          </a:prstGeom>
          <a:noFill/>
        </p:spPr>
        <p:txBody>
          <a:bodyPr wrap="square">
            <a:spAutoFit/>
          </a:bodyPr>
          <a:lstStyle/>
          <a:p>
            <a:pPr algn="l">
              <a:lnSpc>
                <a:spcPts val="1500"/>
              </a:lnSpc>
            </a:pPr>
            <a:r>
              <a:rPr sz="1050" b="0" i="1">
                <a:solidFill>
                  <a:srgbClr val="1A1A6E"/>
                </a:solidFill>
              </a:rPr>
              <a:t>Eli was looking at his goal too. He'd written: Stay on top of things.</a:t>
            </a:r>
          </a:p>
        </p:txBody>
      </p:sp>
      <p:sp>
        <p:nvSpPr>
          <p:cNvPr id="17" name="TextBox 16"/>
          <p:cNvSpPr txBox="1"/>
          <p:nvPr/>
        </p:nvSpPr>
        <p:spPr>
          <a:xfrm>
            <a:off x="228600" y="4498848"/>
            <a:ext cx="8686800" cy="246888"/>
          </a:xfrm>
          <a:prstGeom prst="rect">
            <a:avLst/>
          </a:prstGeom>
          <a:noFill/>
        </p:spPr>
        <p:txBody>
          <a:bodyPr wrap="square">
            <a:spAutoFit/>
          </a:bodyPr>
          <a:lstStyle/>
          <a:p>
            <a:pPr algn="l">
              <a:lnSpc>
                <a:spcPts val="1500"/>
              </a:lnSpc>
            </a:pPr>
            <a:r>
              <a:rPr sz="1050" b="0" i="1">
                <a:solidFill>
                  <a:srgbClr val="1A1A6E"/>
                </a:solidFill>
              </a:rPr>
              <a:t>"Yours is the same," Maya said.</a:t>
            </a:r>
          </a:p>
        </p:txBody>
      </p:sp>
      <p:sp>
        <p:nvSpPr>
          <p:cNvPr id="18" name="TextBox 17"/>
          <p:cNvSpPr txBox="1"/>
          <p:nvPr/>
        </p:nvSpPr>
        <p:spPr>
          <a:xfrm>
            <a:off x="228600" y="4754880"/>
            <a:ext cx="8686800" cy="246888"/>
          </a:xfrm>
          <a:prstGeom prst="rect">
            <a:avLst/>
          </a:prstGeom>
          <a:noFill/>
        </p:spPr>
        <p:txBody>
          <a:bodyPr wrap="square">
            <a:spAutoFit/>
          </a:bodyPr>
          <a:lstStyle/>
          <a:p>
            <a:pPr algn="l">
              <a:lnSpc>
                <a:spcPts val="1500"/>
              </a:lnSpc>
            </a:pPr>
            <a:r>
              <a:rPr sz="1050" b="0" i="1">
                <a:solidFill>
                  <a:srgbClr val="1A1A6E"/>
                </a:solidFill>
              </a:rPr>
              <a:t>"I know."</a:t>
            </a:r>
          </a:p>
        </p:txBody>
      </p:sp>
      <p:sp>
        <p:nvSpPr>
          <p:cNvPr id="19" name="TextBox 18"/>
          <p:cNvSpPr txBox="1"/>
          <p:nvPr/>
        </p:nvSpPr>
        <p:spPr>
          <a:xfrm>
            <a:off x="228600" y="5010912"/>
            <a:ext cx="8686800" cy="246888"/>
          </a:xfrm>
          <a:prstGeom prst="rect">
            <a:avLst/>
          </a:prstGeom>
          <a:noFill/>
        </p:spPr>
        <p:txBody>
          <a:bodyPr wrap="square">
            <a:spAutoFit/>
          </a:bodyPr>
          <a:lstStyle/>
          <a:p>
            <a:pPr algn="l">
              <a:lnSpc>
                <a:spcPts val="1500"/>
              </a:lnSpc>
            </a:pPr>
            <a:r>
              <a:rPr sz="1050" b="0" i="1">
                <a:solidFill>
                  <a:srgbClr val="1A1A6E"/>
                </a:solidFill>
              </a:rPr>
              <a:t>"What does 'on top of things' look like on a Tuesday?"</a:t>
            </a:r>
          </a:p>
        </p:txBody>
      </p:sp>
      <p:sp>
        <p:nvSpPr>
          <p:cNvPr id="20" name="TextBox 19"/>
          <p:cNvSpPr txBox="1"/>
          <p:nvPr/>
        </p:nvSpPr>
        <p:spPr>
          <a:xfrm>
            <a:off x="228600" y="5266944"/>
            <a:ext cx="8686800" cy="246888"/>
          </a:xfrm>
          <a:prstGeom prst="rect">
            <a:avLst/>
          </a:prstGeom>
          <a:noFill/>
        </p:spPr>
        <p:txBody>
          <a:bodyPr wrap="square">
            <a:spAutoFit/>
          </a:bodyPr>
          <a:lstStyle/>
          <a:p>
            <a:pPr algn="l">
              <a:lnSpc>
                <a:spcPts val="1500"/>
              </a:lnSpc>
            </a:pPr>
            <a:r>
              <a:rPr sz="1000" b="0" i="0">
                <a:solidFill>
                  <a:srgbClr val="212121"/>
                </a:solidFill>
              </a:rPr>
              <a:t>Eli put his paper face-down.</a:t>
            </a:r>
          </a:p>
        </p:txBody>
      </p:sp>
      <p:sp>
        <p:nvSpPr>
          <p:cNvPr id="21" name="TextBox 20"/>
          <p:cNvSpPr txBox="1"/>
          <p:nvPr/>
        </p:nvSpPr>
        <p:spPr>
          <a:xfrm>
            <a:off x="228600" y="5522976"/>
            <a:ext cx="8686800" cy="649224"/>
          </a:xfrm>
          <a:prstGeom prst="rect">
            <a:avLst/>
          </a:prstGeom>
          <a:noFill/>
        </p:spPr>
        <p:txBody>
          <a:bodyPr wrap="square">
            <a:spAutoFit/>
          </a:bodyPr>
          <a:lstStyle/>
          <a:p>
            <a:pPr algn="l">
              <a:lnSpc>
                <a:spcPts val="1500"/>
              </a:lnSpc>
            </a:pPr>
            <a:r>
              <a:rPr sz="1000" b="0" i="0">
                <a:solidFill>
                  <a:srgbClr val="212121"/>
                </a:solidFill>
              </a:rPr>
              <a:t>Maya looked at her own goal. She'd written two full sentences, with a specific class, a
specific grade target, and a self-check date. She'd thought it was good. Now she wasn't sure
if she'd actually done anything toward it or just written it carefully and felt satisfied.</a:t>
            </a:r>
          </a:p>
        </p:txBody>
      </p:sp>
      <p:sp>
        <p:nvSpPr>
          <p:cNvPr id="22" name="TextBox 21"/>
          <p:cNvSpPr txBox="1"/>
          <p:nvPr/>
        </p:nvSpPr>
        <p:spPr>
          <a:xfrm>
            <a:off x="228600" y="6181344"/>
            <a:ext cx="8686800" cy="448056"/>
          </a:xfrm>
          <a:prstGeom prst="rect">
            <a:avLst/>
          </a:prstGeom>
          <a:noFill/>
        </p:spPr>
        <p:txBody>
          <a:bodyPr wrap="square">
            <a:spAutoFit/>
          </a:bodyPr>
          <a:lstStyle/>
          <a:p>
            <a:pPr algn="l">
              <a:lnSpc>
                <a:spcPts val="1500"/>
              </a:lnSpc>
            </a:pPr>
            <a:r>
              <a:rPr sz="1050" b="0" i="1">
                <a:solidFill>
                  <a:srgbClr val="1A1A6E"/>
                </a:solidFill>
              </a:rPr>
              <a:t>"I think mine might be fake too," she said quietly. "I hit the checkpoints but I don't know if
anything actually changed."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Goal That Wasn't"</a:t>
            </a:r>
          </a:p>
        </p:txBody>
      </p:sp>
      <p:sp>
        <p:nvSpPr>
          <p:cNvPr id="4" name="Rectangle 3"/>
          <p:cNvSpPr/>
          <p:nvPr/>
        </p:nvSpPr>
        <p:spPr>
          <a:xfrm>
            <a:off x="182880" y="594360"/>
            <a:ext cx="8778240" cy="320040"/>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Jordan's goal is 'get better grades.' What's missing? What would make it a real SMART goal?</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wrote a specific, well-crafted goal — but still questions whether she actually worked
toward it. What's the difference between writing a good goal and acting on one?</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Eli puts his paper face-down. What do you think he's feeling? Why is that reaction
understandable — and also a problem?</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Write a one-sentence goal for this semester that is specific enough that you'd be able to
tell on the last day of school whether you hit it or not.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The Marshmallow Test — and What It Really Means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In a famous study, young children were given a marshmallow and told they could eat it
now, or wait 15 minutes and get two. Researchers found that children who waited tended
to have better academic outcomes later in life. But the real lesson isn't that some
people are born with willpower — it's that strategies matter. The children who waited
successfully used distraction techniques and mental tricks. Self-regulation is a skill,
not a personality trait.</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Think of a goal you set for yourself in the past. Was it SMART? What happened to it?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Write Your SMART Goal</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Use the template below to write ONE SMART goal you will work on for the rest of this
semester. This goal should relate to school — grades, habits, organization, or a
specific subject.</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C61414"/>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Written goals are significantly more likely to be achieved than goals you just keep in your head. Writing = commitment.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Write Your SMART Goal  —  Lesson 1.4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13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Fill in each section of the SMART framework. Your goal must be school-related and must meet ALL five criteria. We'll share with a partner at the end.</a:t>
            </a:r>
          </a:p>
        </p:txBody>
      </p:sp>
      <p:sp>
        <p:nvSpPr>
          <p:cNvPr id="7" name="Rectangle 6"/>
          <p:cNvSpPr/>
          <p:nvPr/>
        </p:nvSpPr>
        <p:spPr>
          <a:xfrm>
            <a:off x="182880" y="1783080"/>
            <a:ext cx="8778240" cy="621792"/>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783080"/>
            <a:ext cx="1463040"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892807"/>
            <a:ext cx="1335024" cy="402336"/>
          </a:xfrm>
          <a:prstGeom prst="rect">
            <a:avLst/>
          </a:prstGeom>
          <a:noFill/>
        </p:spPr>
        <p:txBody>
          <a:bodyPr wrap="square">
            <a:spAutoFit/>
          </a:bodyPr>
          <a:lstStyle/>
          <a:p>
            <a:pPr algn="l"/>
            <a:r>
              <a:rPr sz="1100" b="1" i="0">
                <a:solidFill>
                  <a:srgbClr val="FFFFFF"/>
                </a:solidFill>
              </a:rPr>
              <a:t>S — Specific</a:t>
            </a:r>
          </a:p>
        </p:txBody>
      </p:sp>
      <p:sp>
        <p:nvSpPr>
          <p:cNvPr id="10" name="TextBox 9"/>
          <p:cNvSpPr txBox="1"/>
          <p:nvPr/>
        </p:nvSpPr>
        <p:spPr>
          <a:xfrm>
            <a:off x="1719072" y="1929384"/>
            <a:ext cx="7132320" cy="329184"/>
          </a:xfrm>
          <a:prstGeom prst="rect">
            <a:avLst/>
          </a:prstGeom>
          <a:noFill/>
        </p:spPr>
        <p:txBody>
          <a:bodyPr wrap="square">
            <a:spAutoFit/>
          </a:bodyPr>
          <a:lstStyle/>
          <a:p>
            <a:pPr algn="l"/>
            <a:r>
              <a:rPr sz="1000" b="0" i="1">
                <a:solidFill>
                  <a:srgbClr val="888888"/>
                </a:solidFill>
              </a:rPr>
              <a:t>What exactly will I do?</a:t>
            </a:r>
          </a:p>
        </p:txBody>
      </p:sp>
      <p:sp>
        <p:nvSpPr>
          <p:cNvPr id="11" name="Rectangle 10"/>
          <p:cNvSpPr/>
          <p:nvPr/>
        </p:nvSpPr>
        <p:spPr>
          <a:xfrm>
            <a:off x="228600" y="2441448"/>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441448"/>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441448"/>
            <a:ext cx="1463040"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 y="2551176"/>
            <a:ext cx="1335024" cy="402336"/>
          </a:xfrm>
          <a:prstGeom prst="rect">
            <a:avLst/>
          </a:prstGeom>
          <a:noFill/>
        </p:spPr>
        <p:txBody>
          <a:bodyPr wrap="square">
            <a:spAutoFit/>
          </a:bodyPr>
          <a:lstStyle/>
          <a:p>
            <a:pPr algn="l"/>
            <a:r>
              <a:rPr sz="1100" b="1" i="0">
                <a:solidFill>
                  <a:srgbClr val="FFFFFF"/>
                </a:solidFill>
              </a:rPr>
              <a:t>M — Measurable</a:t>
            </a:r>
          </a:p>
        </p:txBody>
      </p:sp>
      <p:sp>
        <p:nvSpPr>
          <p:cNvPr id="15" name="TextBox 14"/>
          <p:cNvSpPr txBox="1"/>
          <p:nvPr/>
        </p:nvSpPr>
        <p:spPr>
          <a:xfrm>
            <a:off x="1719072" y="2587752"/>
            <a:ext cx="7132320" cy="329184"/>
          </a:xfrm>
          <a:prstGeom prst="rect">
            <a:avLst/>
          </a:prstGeom>
          <a:noFill/>
        </p:spPr>
        <p:txBody>
          <a:bodyPr wrap="square">
            <a:spAutoFit/>
          </a:bodyPr>
          <a:lstStyle/>
          <a:p>
            <a:pPr algn="l"/>
            <a:r>
              <a:rPr sz="1000" b="0" i="1">
                <a:solidFill>
                  <a:srgbClr val="888888"/>
                </a:solidFill>
              </a:rPr>
              <a:t>How will I measure success?</a:t>
            </a:r>
          </a:p>
        </p:txBody>
      </p:sp>
      <p:sp>
        <p:nvSpPr>
          <p:cNvPr id="16" name="Rectangle 15"/>
          <p:cNvSpPr/>
          <p:nvPr/>
        </p:nvSpPr>
        <p:spPr>
          <a:xfrm>
            <a:off x="228600" y="3099815"/>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3099815"/>
            <a:ext cx="8778240" cy="621792"/>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099815"/>
            <a:ext cx="1463040"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3209544"/>
            <a:ext cx="1335024" cy="402336"/>
          </a:xfrm>
          <a:prstGeom prst="rect">
            <a:avLst/>
          </a:prstGeom>
          <a:noFill/>
        </p:spPr>
        <p:txBody>
          <a:bodyPr wrap="square">
            <a:spAutoFit/>
          </a:bodyPr>
          <a:lstStyle/>
          <a:p>
            <a:pPr algn="l"/>
            <a:r>
              <a:rPr sz="1100" b="1" i="0">
                <a:solidFill>
                  <a:srgbClr val="FFFFFF"/>
                </a:solidFill>
              </a:rPr>
              <a:t>A — Achievable</a:t>
            </a:r>
          </a:p>
        </p:txBody>
      </p:sp>
      <p:sp>
        <p:nvSpPr>
          <p:cNvPr id="20" name="TextBox 19"/>
          <p:cNvSpPr txBox="1"/>
          <p:nvPr/>
        </p:nvSpPr>
        <p:spPr>
          <a:xfrm>
            <a:off x="1719072" y="3246120"/>
            <a:ext cx="7132320" cy="329184"/>
          </a:xfrm>
          <a:prstGeom prst="rect">
            <a:avLst/>
          </a:prstGeom>
          <a:noFill/>
        </p:spPr>
        <p:txBody>
          <a:bodyPr wrap="square">
            <a:spAutoFit/>
          </a:bodyPr>
          <a:lstStyle/>
          <a:p>
            <a:pPr algn="l"/>
            <a:r>
              <a:rPr sz="1000" b="0" i="1">
                <a:solidFill>
                  <a:srgbClr val="888888"/>
                </a:solidFill>
              </a:rPr>
              <a:t>Why is this realistic for me right now?</a:t>
            </a:r>
          </a:p>
        </p:txBody>
      </p:sp>
      <p:sp>
        <p:nvSpPr>
          <p:cNvPr id="21" name="Rectangle 20"/>
          <p:cNvSpPr/>
          <p:nvPr/>
        </p:nvSpPr>
        <p:spPr>
          <a:xfrm>
            <a:off x="228600" y="3758183"/>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 y="3758183"/>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3758183"/>
            <a:ext cx="1463040"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 y="3867911"/>
            <a:ext cx="1335024" cy="402336"/>
          </a:xfrm>
          <a:prstGeom prst="rect">
            <a:avLst/>
          </a:prstGeom>
          <a:noFill/>
        </p:spPr>
        <p:txBody>
          <a:bodyPr wrap="square">
            <a:spAutoFit/>
          </a:bodyPr>
          <a:lstStyle/>
          <a:p>
            <a:pPr algn="l"/>
            <a:r>
              <a:rPr sz="1100" b="1" i="0">
                <a:solidFill>
                  <a:srgbClr val="FFFFFF"/>
                </a:solidFill>
              </a:rPr>
              <a:t>R — Relevant</a:t>
            </a:r>
          </a:p>
        </p:txBody>
      </p:sp>
      <p:sp>
        <p:nvSpPr>
          <p:cNvPr id="25" name="TextBox 24"/>
          <p:cNvSpPr txBox="1"/>
          <p:nvPr/>
        </p:nvSpPr>
        <p:spPr>
          <a:xfrm>
            <a:off x="1719072" y="3904487"/>
            <a:ext cx="7132320" cy="329184"/>
          </a:xfrm>
          <a:prstGeom prst="rect">
            <a:avLst/>
          </a:prstGeom>
          <a:noFill/>
        </p:spPr>
        <p:txBody>
          <a:bodyPr wrap="square">
            <a:spAutoFit/>
          </a:bodyPr>
          <a:lstStyle/>
          <a:p>
            <a:pPr algn="l"/>
            <a:r>
              <a:rPr sz="1000" b="0" i="1">
                <a:solidFill>
                  <a:srgbClr val="888888"/>
                </a:solidFill>
              </a:rPr>
              <a:t>Why does this matter to me?</a:t>
            </a:r>
          </a:p>
        </p:txBody>
      </p:sp>
      <p:sp>
        <p:nvSpPr>
          <p:cNvPr id="26" name="Rectangle 25"/>
          <p:cNvSpPr/>
          <p:nvPr/>
        </p:nvSpPr>
        <p:spPr>
          <a:xfrm>
            <a:off x="228600" y="4416551"/>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 y="4416551"/>
            <a:ext cx="8778240" cy="621792"/>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 y="4416551"/>
            <a:ext cx="1463040" cy="62179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6032" y="4526279"/>
            <a:ext cx="1335024" cy="402336"/>
          </a:xfrm>
          <a:prstGeom prst="rect">
            <a:avLst/>
          </a:prstGeom>
          <a:noFill/>
        </p:spPr>
        <p:txBody>
          <a:bodyPr wrap="square">
            <a:spAutoFit/>
          </a:bodyPr>
          <a:lstStyle/>
          <a:p>
            <a:pPr algn="l"/>
            <a:r>
              <a:rPr sz="1100" b="1" i="0">
                <a:solidFill>
                  <a:srgbClr val="FFFFFF"/>
                </a:solidFill>
              </a:rPr>
              <a:t>T — Time-bound</a:t>
            </a:r>
          </a:p>
        </p:txBody>
      </p:sp>
      <p:sp>
        <p:nvSpPr>
          <p:cNvPr id="30" name="TextBox 29"/>
          <p:cNvSpPr txBox="1"/>
          <p:nvPr/>
        </p:nvSpPr>
        <p:spPr>
          <a:xfrm>
            <a:off x="1719072" y="4562855"/>
            <a:ext cx="7132320" cy="329184"/>
          </a:xfrm>
          <a:prstGeom prst="rect">
            <a:avLst/>
          </a:prstGeom>
          <a:noFill/>
        </p:spPr>
        <p:txBody>
          <a:bodyPr wrap="square">
            <a:spAutoFit/>
          </a:bodyPr>
          <a:lstStyle/>
          <a:p>
            <a:pPr algn="l"/>
            <a:r>
              <a:rPr sz="1000" b="0" i="1">
                <a:solidFill>
                  <a:srgbClr val="888888"/>
                </a:solidFill>
              </a:rPr>
              <a:t>I will achieve this by:</a:t>
            </a:r>
          </a:p>
        </p:txBody>
      </p:sp>
      <p:sp>
        <p:nvSpPr>
          <p:cNvPr id="31" name="Rectangle 30"/>
          <p:cNvSpPr/>
          <p:nvPr/>
        </p:nvSpPr>
        <p:spPr>
          <a:xfrm>
            <a:off x="228600" y="507491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1.4: Self-Regulation &amp; Goal-Setting</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Vocabulary Check</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TextBox 6"/>
          <p:cNvSpPr txBox="1"/>
          <p:nvPr/>
        </p:nvSpPr>
        <p:spPr>
          <a:xfrm>
            <a:off x="274320" y="1005840"/>
            <a:ext cx="8595360" cy="548640"/>
          </a:xfrm>
          <a:prstGeom prst="rect">
            <a:avLst/>
          </a:prstGeom>
          <a:noFill/>
        </p:spPr>
        <p:txBody>
          <a:bodyPr wrap="square">
            <a:spAutoFit/>
          </a:bodyPr>
          <a:lstStyle/>
          <a:p>
            <a:pPr algn="l"/>
            <a:r>
              <a:rPr sz="1100" b="0" i="0">
                <a:solidFill>
                  <a:srgbClr val="212121"/>
                </a:solidFill>
              </a:rPr>
              <a:t>Match each term to its definition. Then use TWO of the terms in a sentence that connects to your own life.</a:t>
            </a:r>
          </a:p>
        </p:txBody>
      </p:sp>
      <p:sp>
        <p:nvSpPr>
          <p:cNvPr id="8" name="Rectangle 7"/>
          <p:cNvSpPr/>
          <p:nvPr/>
        </p:nvSpPr>
        <p:spPr>
          <a:xfrm>
            <a:off x="228600" y="1645920"/>
            <a:ext cx="2743200" cy="38404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17520" y="1645920"/>
            <a:ext cx="585216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691640"/>
            <a:ext cx="2560320" cy="292608"/>
          </a:xfrm>
          <a:prstGeom prst="rect">
            <a:avLst/>
          </a:prstGeom>
          <a:noFill/>
        </p:spPr>
        <p:txBody>
          <a:bodyPr wrap="square">
            <a:spAutoFit/>
          </a:bodyPr>
          <a:lstStyle/>
          <a:p>
            <a:pPr algn="l"/>
            <a:r>
              <a:rPr sz="1100" b="1" i="0">
                <a:solidFill>
                  <a:srgbClr val="C61414"/>
                </a:solidFill>
              </a:rPr>
              <a:t>Self-regulation</a:t>
            </a:r>
          </a:p>
        </p:txBody>
      </p:sp>
      <p:sp>
        <p:nvSpPr>
          <p:cNvPr id="11" name="TextBox 10"/>
          <p:cNvSpPr txBox="1"/>
          <p:nvPr/>
        </p:nvSpPr>
        <p:spPr>
          <a:xfrm>
            <a:off x="3108960" y="1691640"/>
            <a:ext cx="5669280" cy="292608"/>
          </a:xfrm>
          <a:prstGeom prst="rect">
            <a:avLst/>
          </a:prstGeom>
          <a:noFill/>
        </p:spPr>
        <p:txBody>
          <a:bodyPr wrap="square">
            <a:spAutoFit/>
          </a:bodyPr>
          <a:lstStyle/>
          <a:p>
            <a:pPr algn="l"/>
            <a:r>
              <a:rPr sz="1000" b="0" i="0">
                <a:solidFill>
                  <a:srgbClr val="212121"/>
                </a:solidFill>
              </a:rPr>
              <a:t>Thinking about your own thinking and learning</a:t>
            </a:r>
          </a:p>
        </p:txBody>
      </p:sp>
      <p:sp>
        <p:nvSpPr>
          <p:cNvPr id="12" name="Rectangle 11"/>
          <p:cNvSpPr/>
          <p:nvPr/>
        </p:nvSpPr>
        <p:spPr>
          <a:xfrm>
            <a:off x="228600" y="2084832"/>
            <a:ext cx="2743200" cy="38404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17520" y="2084832"/>
            <a:ext cx="585216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130552"/>
            <a:ext cx="2560320" cy="292608"/>
          </a:xfrm>
          <a:prstGeom prst="rect">
            <a:avLst/>
          </a:prstGeom>
          <a:noFill/>
        </p:spPr>
        <p:txBody>
          <a:bodyPr wrap="square">
            <a:spAutoFit/>
          </a:bodyPr>
          <a:lstStyle/>
          <a:p>
            <a:pPr algn="l"/>
            <a:r>
              <a:rPr sz="1100" b="1" i="0">
                <a:solidFill>
                  <a:srgbClr val="C61414"/>
                </a:solidFill>
              </a:rPr>
              <a:t>SMART goal</a:t>
            </a:r>
          </a:p>
        </p:txBody>
      </p:sp>
      <p:sp>
        <p:nvSpPr>
          <p:cNvPr id="15" name="TextBox 14"/>
          <p:cNvSpPr txBox="1"/>
          <p:nvPr/>
        </p:nvSpPr>
        <p:spPr>
          <a:xfrm>
            <a:off x="3108960" y="2130552"/>
            <a:ext cx="5669280" cy="292608"/>
          </a:xfrm>
          <a:prstGeom prst="rect">
            <a:avLst/>
          </a:prstGeom>
          <a:noFill/>
        </p:spPr>
        <p:txBody>
          <a:bodyPr wrap="square">
            <a:spAutoFit/>
          </a:bodyPr>
          <a:lstStyle/>
          <a:p>
            <a:pPr algn="l"/>
            <a:r>
              <a:rPr sz="1000" b="0" i="0">
                <a:solidFill>
                  <a:srgbClr val="212121"/>
                </a:solidFill>
              </a:rPr>
              <a:t>A goal that is Specific, Measurable, Achievable, Relevant, and Time-bound</a:t>
            </a:r>
          </a:p>
        </p:txBody>
      </p:sp>
      <p:sp>
        <p:nvSpPr>
          <p:cNvPr id="16" name="Rectangle 15"/>
          <p:cNvSpPr/>
          <p:nvPr/>
        </p:nvSpPr>
        <p:spPr>
          <a:xfrm>
            <a:off x="228600" y="2523744"/>
            <a:ext cx="2743200" cy="38404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17520" y="2523744"/>
            <a:ext cx="585216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569464"/>
            <a:ext cx="2560320" cy="292608"/>
          </a:xfrm>
          <a:prstGeom prst="rect">
            <a:avLst/>
          </a:prstGeom>
          <a:noFill/>
        </p:spPr>
        <p:txBody>
          <a:bodyPr wrap="square">
            <a:spAutoFit/>
          </a:bodyPr>
          <a:lstStyle/>
          <a:p>
            <a:pPr algn="l"/>
            <a:r>
              <a:rPr sz="1100" b="1" i="0">
                <a:solidFill>
                  <a:srgbClr val="C61414"/>
                </a:solidFill>
              </a:rPr>
              <a:t>Metacognition</a:t>
            </a:r>
          </a:p>
        </p:txBody>
      </p:sp>
      <p:sp>
        <p:nvSpPr>
          <p:cNvPr id="19" name="TextBox 18"/>
          <p:cNvSpPr txBox="1"/>
          <p:nvPr/>
        </p:nvSpPr>
        <p:spPr>
          <a:xfrm>
            <a:off x="3108960" y="2569464"/>
            <a:ext cx="5669280" cy="292608"/>
          </a:xfrm>
          <a:prstGeom prst="rect">
            <a:avLst/>
          </a:prstGeom>
          <a:noFill/>
        </p:spPr>
        <p:txBody>
          <a:bodyPr wrap="square">
            <a:spAutoFit/>
          </a:bodyPr>
          <a:lstStyle/>
          <a:p>
            <a:pPr algn="l"/>
            <a:r>
              <a:rPr sz="1000" b="0" i="0">
                <a:solidFill>
                  <a:srgbClr val="212121"/>
                </a:solidFill>
              </a:rPr>
              <a:t>Managing your emotions and behavior to reach a goal</a:t>
            </a:r>
          </a:p>
        </p:txBody>
      </p:sp>
      <p:sp>
        <p:nvSpPr>
          <p:cNvPr id="20" name="Rectangle 19"/>
          <p:cNvSpPr/>
          <p:nvPr/>
        </p:nvSpPr>
        <p:spPr>
          <a:xfrm>
            <a:off x="228600" y="2962656"/>
            <a:ext cx="2743200" cy="38404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17520" y="2962656"/>
            <a:ext cx="585216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3008376"/>
            <a:ext cx="2560320" cy="292608"/>
          </a:xfrm>
          <a:prstGeom prst="rect">
            <a:avLst/>
          </a:prstGeom>
          <a:noFill/>
        </p:spPr>
        <p:txBody>
          <a:bodyPr wrap="square">
            <a:spAutoFit/>
          </a:bodyPr>
          <a:lstStyle/>
          <a:p>
            <a:pPr algn="l"/>
            <a:r>
              <a:rPr sz="1100" b="1" i="0">
                <a:solidFill>
                  <a:srgbClr val="C61414"/>
                </a:solidFill>
              </a:rPr>
              <a:t>Executive functioning</a:t>
            </a:r>
          </a:p>
        </p:txBody>
      </p:sp>
      <p:sp>
        <p:nvSpPr>
          <p:cNvPr id="23" name="TextBox 22"/>
          <p:cNvSpPr txBox="1"/>
          <p:nvPr/>
        </p:nvSpPr>
        <p:spPr>
          <a:xfrm>
            <a:off x="3108960" y="3008376"/>
            <a:ext cx="5669280" cy="292608"/>
          </a:xfrm>
          <a:prstGeom prst="rect">
            <a:avLst/>
          </a:prstGeom>
          <a:noFill/>
        </p:spPr>
        <p:txBody>
          <a:bodyPr wrap="square">
            <a:spAutoFit/>
          </a:bodyPr>
          <a:lstStyle/>
          <a:p>
            <a:pPr algn="l"/>
            <a:r>
              <a:rPr sz="1000" b="0" i="0">
                <a:solidFill>
                  <a:srgbClr val="212121"/>
                </a:solidFill>
              </a:rPr>
              <a:t>Mental skills that help you plan, focus, and manage yourself</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C6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1 Post-Test  —  How Far Have You Come?</a:t>
            </a:r>
          </a:p>
        </p:txBody>
      </p:sp>
      <p:sp>
        <p:nvSpPr>
          <p:cNvPr id="4" name="TextBox 3"/>
          <p:cNvSpPr txBox="1"/>
          <p:nvPr/>
        </p:nvSpPr>
        <p:spPr>
          <a:xfrm>
            <a:off x="274320" y="640080"/>
            <a:ext cx="8595360" cy="2286000"/>
          </a:xfrm>
          <a:prstGeom prst="rect">
            <a:avLst/>
          </a:prstGeom>
          <a:noFill/>
        </p:spPr>
        <p:txBody>
          <a:bodyPr wrap="square">
            <a:spAutoFit/>
          </a:bodyPr>
          <a:lstStyle/>
          <a:p>
            <a:pPr algn="l"/>
            <a:r>
              <a:rPr sz="1250" b="0" i="0">
                <a:solidFill>
                  <a:srgbClr val="212121"/>
                </a:solidFill>
              </a:rPr>
              <a:t>Revisit the five questions from your pre-test. Answer each question again — you may use more detail and vocabulary from this unit. Then write 3–5 sentences describing the most important change you plan to make in how you manage your learning.</a:t>
            </a:r>
          </a:p>
        </p:txBody>
      </p:sp>
      <p:sp>
        <p:nvSpPr>
          <p:cNvPr id="5" name="Rectangle 4"/>
          <p:cNvSpPr/>
          <p:nvPr/>
        </p:nvSpPr>
        <p:spPr>
          <a:xfrm>
            <a:off x="228600" y="3063240"/>
            <a:ext cx="8686800" cy="65836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3145536"/>
            <a:ext cx="8412480" cy="502920"/>
          </a:xfrm>
          <a:prstGeom prst="rect">
            <a:avLst/>
          </a:prstGeom>
          <a:noFill/>
        </p:spPr>
        <p:txBody>
          <a:bodyPr wrap="square">
            <a:spAutoFit/>
          </a:bodyPr>
          <a:lstStyle/>
          <a:p>
            <a:pPr algn="l"/>
            <a:r>
              <a:rPr sz="1100" b="0" i="1">
                <a:solidFill>
                  <a:srgbClr val="212121"/>
                </a:solidFill>
              </a:rPr>
              <a:t>TIP: Your Cornell Notes are your best resource. Use the vocabulary, the key ideas from the readings, and the activities from this unit to write a thorough, specific response.</a:t>
            </a:r>
          </a:p>
        </p:txBody>
      </p:sp>
      <p:sp>
        <p:nvSpPr>
          <p:cNvPr id="7" name="Rectangle 6"/>
          <p:cNvSpPr/>
          <p:nvPr/>
        </p:nvSpPr>
        <p:spPr>
          <a:xfrm>
            <a:off x="228600" y="3886200"/>
            <a:ext cx="8686800" cy="5029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950208"/>
            <a:ext cx="8412480" cy="384048"/>
          </a:xfrm>
          <a:prstGeom prst="rect">
            <a:avLst/>
          </a:prstGeom>
          <a:noFill/>
        </p:spPr>
        <p:txBody>
          <a:bodyPr wrap="square">
            <a:spAutoFit/>
          </a:bodyPr>
          <a:lstStyle/>
          <a:p>
            <a:pPr algn="l"/>
            <a:r>
              <a:rPr sz="1100" b="1" i="0">
                <a:solidFill>
                  <a:srgbClr val="212121"/>
                </a:solidFill>
              </a:rPr>
              <a:t>Growth Check: Compare your post-test to your pre-test. Circle 3 specific things you know now that you did not know at the start of this unit.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159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8229600" cy="502920"/>
          </a:xfrm>
          <a:prstGeom prst="rect">
            <a:avLst/>
          </a:prstGeom>
          <a:noFill/>
        </p:spPr>
        <p:txBody>
          <a:bodyPr wrap="square">
            <a:spAutoFit/>
          </a:bodyPr>
          <a:lstStyle/>
          <a:p>
            <a:pPr algn="l"/>
            <a:r>
              <a:rPr sz="2000" b="0" i="0">
                <a:solidFill>
                  <a:srgbClr val="F5E0B2"/>
                </a:solidFill>
              </a:rPr>
              <a:t>UNIT 2</a:t>
            </a:r>
          </a:p>
        </p:txBody>
      </p:sp>
      <p:sp>
        <p:nvSpPr>
          <p:cNvPr id="5" name="TextBox 4"/>
          <p:cNvSpPr txBox="1"/>
          <p:nvPr/>
        </p:nvSpPr>
        <p:spPr>
          <a:xfrm>
            <a:off x="457200" y="1234440"/>
            <a:ext cx="8229600" cy="1188720"/>
          </a:xfrm>
          <a:prstGeom prst="rect">
            <a:avLst/>
          </a:prstGeom>
          <a:noFill/>
        </p:spPr>
        <p:txBody>
          <a:bodyPr wrap="square">
            <a:spAutoFit/>
          </a:bodyPr>
          <a:lstStyle/>
          <a:p>
            <a:pPr algn="l"/>
            <a:r>
              <a:rPr sz="3800" b="1" i="0">
                <a:solidFill>
                  <a:srgbClr val="FFFFFF"/>
                </a:solidFill>
              </a:rPr>
              <a:t>Career Pathways at Two Rivers</a:t>
            </a:r>
          </a:p>
        </p:txBody>
      </p:sp>
      <p:sp>
        <p:nvSpPr>
          <p:cNvPr id="6" name="Rectangle 5"/>
          <p:cNvSpPr/>
          <p:nvPr/>
        </p:nvSpPr>
        <p:spPr>
          <a:xfrm>
            <a:off x="457200" y="2514600"/>
            <a:ext cx="4114800" cy="457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697480"/>
            <a:ext cx="8229600" cy="1828800"/>
          </a:xfrm>
          <a:prstGeom prst="rect">
            <a:avLst/>
          </a:prstGeom>
          <a:noFill/>
        </p:spPr>
        <p:txBody>
          <a:bodyPr wrap="square">
            <a:spAutoFit/>
          </a:bodyPr>
          <a:lstStyle/>
          <a:p>
            <a:pPr algn="l"/>
            <a:r>
              <a:rPr sz="1400" b="0" i="0">
                <a:solidFill>
                  <a:srgbClr val="FFFFFF"/>
                </a:solidFill>
              </a:rPr>
              <a:t>In this unit you will explore the six Minnesota career fields and the CTE pathways available at Two Rivers High School. Through reading activities and reflection, you will connect your interests to real courses and experiences you can pursue starting in 9th grade.</a:t>
            </a:r>
          </a:p>
        </p:txBody>
      </p:sp>
      <p:sp>
        <p:nvSpPr>
          <p:cNvPr id="8" name="TextBox 7"/>
          <p:cNvSpPr txBox="1"/>
          <p:nvPr/>
        </p:nvSpPr>
        <p:spPr>
          <a:xfrm>
            <a:off x="457200" y="4663440"/>
            <a:ext cx="8229600" cy="347472"/>
          </a:xfrm>
          <a:prstGeom prst="rect">
            <a:avLst/>
          </a:prstGeom>
          <a:noFill/>
        </p:spPr>
        <p:txBody>
          <a:bodyPr wrap="square">
            <a:spAutoFit/>
          </a:bodyPr>
          <a:lstStyle/>
          <a:p>
            <a:pPr algn="l"/>
            <a:r>
              <a:rPr sz="1300" b="1" i="0">
                <a:solidFill>
                  <a:srgbClr val="F5E0B2"/>
                </a:solidFill>
              </a:rPr>
              <a:t>Unit Vocabulary</a:t>
            </a:r>
          </a:p>
        </p:txBody>
      </p:sp>
      <p:sp>
        <p:nvSpPr>
          <p:cNvPr id="9" name="TextBox 8"/>
          <p:cNvSpPr txBox="1"/>
          <p:nvPr/>
        </p:nvSpPr>
        <p:spPr>
          <a:xfrm>
            <a:off x="457200" y="5074920"/>
            <a:ext cx="8503920" cy="384048"/>
          </a:xfrm>
          <a:prstGeom prst="rect">
            <a:avLst/>
          </a:prstGeom>
          <a:noFill/>
        </p:spPr>
        <p:txBody>
          <a:bodyPr wrap="square">
            <a:spAutoFit/>
          </a:bodyPr>
          <a:lstStyle/>
          <a:p>
            <a:pPr algn="l"/>
            <a:r>
              <a:rPr sz="950" b="0" i="0">
                <a:solidFill>
                  <a:srgbClr val="FFFFFF"/>
                </a:solidFill>
              </a:rPr>
              <a:t>• Career Pathway  —  A sequence of courses, experiences, and skills that prepares a person for a specific group of careers.</a:t>
            </a:r>
          </a:p>
        </p:txBody>
      </p:sp>
      <p:sp>
        <p:nvSpPr>
          <p:cNvPr id="10" name="TextBox 9"/>
          <p:cNvSpPr txBox="1"/>
          <p:nvPr/>
        </p:nvSpPr>
        <p:spPr>
          <a:xfrm>
            <a:off x="457200" y="5477256"/>
            <a:ext cx="8503920" cy="384048"/>
          </a:xfrm>
          <a:prstGeom prst="rect">
            <a:avLst/>
          </a:prstGeom>
          <a:noFill/>
        </p:spPr>
        <p:txBody>
          <a:bodyPr wrap="square">
            <a:spAutoFit/>
          </a:bodyPr>
          <a:lstStyle/>
          <a:p>
            <a:pPr algn="l"/>
            <a:r>
              <a:rPr sz="950" b="0" i="0">
                <a:solidFill>
                  <a:srgbClr val="FFFFFF"/>
                </a:solidFill>
              </a:rPr>
              <a:t>• CTE (Career &amp; Technical Education)  —  Courses and programs that combine academic learning with real-world technical and career skills.</a:t>
            </a:r>
          </a:p>
        </p:txBody>
      </p:sp>
      <p:sp>
        <p:nvSpPr>
          <p:cNvPr id="11" name="TextBox 10"/>
          <p:cNvSpPr txBox="1"/>
          <p:nvPr/>
        </p:nvSpPr>
        <p:spPr>
          <a:xfrm>
            <a:off x="457200" y="5879592"/>
            <a:ext cx="8503920" cy="384048"/>
          </a:xfrm>
          <a:prstGeom prst="rect">
            <a:avLst/>
          </a:prstGeom>
          <a:noFill/>
        </p:spPr>
        <p:txBody>
          <a:bodyPr wrap="square">
            <a:spAutoFit/>
          </a:bodyPr>
          <a:lstStyle/>
          <a:p>
            <a:pPr algn="l"/>
            <a:r>
              <a:rPr sz="950" b="0" i="0">
                <a:solidFill>
                  <a:srgbClr val="FFFFFF"/>
                </a:solidFill>
              </a:rPr>
              <a:t>• Internship  —  A supervised, hands-on learning experience within a workplace or professional setting.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2 Vocabulary — Etymology &amp; Meaning</a:t>
            </a:r>
          </a:p>
        </p:txBody>
      </p:sp>
      <p:sp>
        <p:nvSpPr>
          <p:cNvPr id="4" name="Rectangle 3"/>
          <p:cNvSpPr/>
          <p:nvPr/>
        </p:nvSpPr>
        <p:spPr>
          <a:xfrm>
            <a:off x="228600" y="59436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30936"/>
            <a:ext cx="2743200" cy="347472"/>
          </a:xfrm>
          <a:prstGeom prst="rect">
            <a:avLst/>
          </a:prstGeom>
          <a:noFill/>
        </p:spPr>
        <p:txBody>
          <a:bodyPr wrap="square">
            <a:spAutoFit/>
          </a:bodyPr>
          <a:lstStyle/>
          <a:p>
            <a:pPr algn="l"/>
            <a:r>
              <a:rPr sz="1300" b="1" i="0">
                <a:solidFill>
                  <a:srgbClr val="215999"/>
                </a:solidFill>
              </a:rPr>
              <a:t>Career Pathway</a:t>
            </a:r>
          </a:p>
        </p:txBody>
      </p:sp>
      <p:sp>
        <p:nvSpPr>
          <p:cNvPr id="6" name="TextBox 5"/>
          <p:cNvSpPr txBox="1"/>
          <p:nvPr/>
        </p:nvSpPr>
        <p:spPr>
          <a:xfrm>
            <a:off x="320040" y="1005840"/>
            <a:ext cx="4114800" cy="320040"/>
          </a:xfrm>
          <a:prstGeom prst="rect">
            <a:avLst/>
          </a:prstGeom>
          <a:noFill/>
        </p:spPr>
        <p:txBody>
          <a:bodyPr wrap="square">
            <a:spAutoFit/>
          </a:bodyPr>
          <a:lstStyle/>
          <a:p>
            <a:pPr algn="l"/>
            <a:r>
              <a:rPr sz="900" b="0" i="1">
                <a:solidFill>
                  <a:srgbClr val="888888"/>
                </a:solidFill>
              </a:rPr>
              <a:t>⬅ Latin carrera (road, course) + Old English paþ (path, track)</a:t>
            </a:r>
          </a:p>
        </p:txBody>
      </p:sp>
      <p:sp>
        <p:nvSpPr>
          <p:cNvPr id="7" name="TextBox 6"/>
          <p:cNvSpPr txBox="1"/>
          <p:nvPr/>
        </p:nvSpPr>
        <p:spPr>
          <a:xfrm>
            <a:off x="3200400" y="685800"/>
            <a:ext cx="5577840" cy="594360"/>
          </a:xfrm>
          <a:prstGeom prst="rect">
            <a:avLst/>
          </a:prstGeom>
          <a:noFill/>
        </p:spPr>
        <p:txBody>
          <a:bodyPr wrap="square">
            <a:spAutoFit/>
          </a:bodyPr>
          <a:lstStyle/>
          <a:p>
            <a:pPr algn="l"/>
            <a:r>
              <a:rPr sz="1100" b="0" i="0">
                <a:solidFill>
                  <a:srgbClr val="212121"/>
                </a:solidFill>
              </a:rPr>
              <a:t>A sequence of courses, experiences, and skills that prepares a person for a specific group of careers.</a:t>
            </a:r>
          </a:p>
        </p:txBody>
      </p:sp>
      <p:sp>
        <p:nvSpPr>
          <p:cNvPr id="8" name="Rectangle 7"/>
          <p:cNvSpPr/>
          <p:nvPr/>
        </p:nvSpPr>
        <p:spPr>
          <a:xfrm>
            <a:off x="228600" y="146304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9616"/>
            <a:ext cx="2743200" cy="347472"/>
          </a:xfrm>
          <a:prstGeom prst="rect">
            <a:avLst/>
          </a:prstGeom>
          <a:noFill/>
        </p:spPr>
        <p:txBody>
          <a:bodyPr wrap="square">
            <a:spAutoFit/>
          </a:bodyPr>
          <a:lstStyle/>
          <a:p>
            <a:pPr algn="l"/>
            <a:r>
              <a:rPr sz="1300" b="1" i="0">
                <a:solidFill>
                  <a:srgbClr val="215999"/>
                </a:solidFill>
              </a:rPr>
              <a:t>CTE (Career &amp; Technical Education)</a:t>
            </a:r>
          </a:p>
        </p:txBody>
      </p:sp>
      <p:sp>
        <p:nvSpPr>
          <p:cNvPr id="10" name="TextBox 9"/>
          <p:cNvSpPr txBox="1"/>
          <p:nvPr/>
        </p:nvSpPr>
        <p:spPr>
          <a:xfrm>
            <a:off x="320040" y="1874520"/>
            <a:ext cx="4114800" cy="320040"/>
          </a:xfrm>
          <a:prstGeom prst="rect">
            <a:avLst/>
          </a:prstGeom>
          <a:noFill/>
        </p:spPr>
        <p:txBody>
          <a:bodyPr wrap="square">
            <a:spAutoFit/>
          </a:bodyPr>
          <a:lstStyle/>
          <a:p>
            <a:pPr algn="l"/>
            <a:r>
              <a:rPr sz="900" b="0" i="1">
                <a:solidFill>
                  <a:srgbClr val="888888"/>
                </a:solidFill>
              </a:rPr>
              <a:t>⬅ Latin carrera (course/road) + Latin technica (art, skill) + Latin educare (to lead out, to raise)</a:t>
            </a:r>
          </a:p>
        </p:txBody>
      </p:sp>
      <p:sp>
        <p:nvSpPr>
          <p:cNvPr id="11" name="TextBox 10"/>
          <p:cNvSpPr txBox="1"/>
          <p:nvPr/>
        </p:nvSpPr>
        <p:spPr>
          <a:xfrm>
            <a:off x="3200400" y="1554480"/>
            <a:ext cx="5577840" cy="594360"/>
          </a:xfrm>
          <a:prstGeom prst="rect">
            <a:avLst/>
          </a:prstGeom>
          <a:noFill/>
        </p:spPr>
        <p:txBody>
          <a:bodyPr wrap="square">
            <a:spAutoFit/>
          </a:bodyPr>
          <a:lstStyle/>
          <a:p>
            <a:pPr algn="l"/>
            <a:r>
              <a:rPr sz="1100" b="0" i="0">
                <a:solidFill>
                  <a:srgbClr val="212121"/>
                </a:solidFill>
              </a:rPr>
              <a:t>Courses and programs that combine academic learning with real-world technical and career skills.</a:t>
            </a:r>
          </a:p>
        </p:txBody>
      </p:sp>
      <p:sp>
        <p:nvSpPr>
          <p:cNvPr id="12" name="Rectangle 11"/>
          <p:cNvSpPr/>
          <p:nvPr/>
        </p:nvSpPr>
        <p:spPr>
          <a:xfrm>
            <a:off x="228600" y="233172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368296"/>
            <a:ext cx="2743200" cy="347472"/>
          </a:xfrm>
          <a:prstGeom prst="rect">
            <a:avLst/>
          </a:prstGeom>
          <a:noFill/>
        </p:spPr>
        <p:txBody>
          <a:bodyPr wrap="square">
            <a:spAutoFit/>
          </a:bodyPr>
          <a:lstStyle/>
          <a:p>
            <a:pPr algn="l"/>
            <a:r>
              <a:rPr sz="1300" b="1" i="0">
                <a:solidFill>
                  <a:srgbClr val="215999"/>
                </a:solidFill>
              </a:rPr>
              <a:t>Internship</a:t>
            </a:r>
          </a:p>
        </p:txBody>
      </p:sp>
      <p:sp>
        <p:nvSpPr>
          <p:cNvPr id="14" name="TextBox 13"/>
          <p:cNvSpPr txBox="1"/>
          <p:nvPr/>
        </p:nvSpPr>
        <p:spPr>
          <a:xfrm>
            <a:off x="320040" y="2743200"/>
            <a:ext cx="4114800" cy="320040"/>
          </a:xfrm>
          <a:prstGeom prst="rect">
            <a:avLst/>
          </a:prstGeom>
          <a:noFill/>
        </p:spPr>
        <p:txBody>
          <a:bodyPr wrap="square">
            <a:spAutoFit/>
          </a:bodyPr>
          <a:lstStyle/>
          <a:p>
            <a:pPr algn="l"/>
            <a:r>
              <a:rPr sz="900" b="0" i="1">
                <a:solidFill>
                  <a:srgbClr val="888888"/>
                </a:solidFill>
              </a:rPr>
              <a:t>⬅ Latin internus (within, inside) — a position inside an organization for learning</a:t>
            </a:r>
          </a:p>
        </p:txBody>
      </p:sp>
      <p:sp>
        <p:nvSpPr>
          <p:cNvPr id="15" name="TextBox 14"/>
          <p:cNvSpPr txBox="1"/>
          <p:nvPr/>
        </p:nvSpPr>
        <p:spPr>
          <a:xfrm>
            <a:off x="3200400" y="2423160"/>
            <a:ext cx="5577840" cy="594360"/>
          </a:xfrm>
          <a:prstGeom prst="rect">
            <a:avLst/>
          </a:prstGeom>
          <a:noFill/>
        </p:spPr>
        <p:txBody>
          <a:bodyPr wrap="square">
            <a:spAutoFit/>
          </a:bodyPr>
          <a:lstStyle/>
          <a:p>
            <a:pPr algn="l"/>
            <a:r>
              <a:rPr sz="1100" b="0" i="0">
                <a:solidFill>
                  <a:srgbClr val="212121"/>
                </a:solidFill>
              </a:rPr>
              <a:t>A supervised, hands-on learning experience within a workplace or professional setting.</a:t>
            </a:r>
          </a:p>
        </p:txBody>
      </p:sp>
      <p:sp>
        <p:nvSpPr>
          <p:cNvPr id="16" name="Rectangle 15"/>
          <p:cNvSpPr/>
          <p:nvPr/>
        </p:nvSpPr>
        <p:spPr>
          <a:xfrm>
            <a:off x="228600" y="320040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236976"/>
            <a:ext cx="2743200" cy="347472"/>
          </a:xfrm>
          <a:prstGeom prst="rect">
            <a:avLst/>
          </a:prstGeom>
          <a:noFill/>
        </p:spPr>
        <p:txBody>
          <a:bodyPr wrap="square">
            <a:spAutoFit/>
          </a:bodyPr>
          <a:lstStyle/>
          <a:p>
            <a:pPr algn="l"/>
            <a:r>
              <a:rPr sz="1300" b="1" i="0">
                <a:solidFill>
                  <a:srgbClr val="215999"/>
                </a:solidFill>
              </a:rPr>
              <a:t>Cluster</a:t>
            </a:r>
          </a:p>
        </p:txBody>
      </p:sp>
      <p:sp>
        <p:nvSpPr>
          <p:cNvPr id="18" name="TextBox 17"/>
          <p:cNvSpPr txBox="1"/>
          <p:nvPr/>
        </p:nvSpPr>
        <p:spPr>
          <a:xfrm>
            <a:off x="320040" y="3611880"/>
            <a:ext cx="4114800" cy="320040"/>
          </a:xfrm>
          <a:prstGeom prst="rect">
            <a:avLst/>
          </a:prstGeom>
          <a:noFill/>
        </p:spPr>
        <p:txBody>
          <a:bodyPr wrap="square">
            <a:spAutoFit/>
          </a:bodyPr>
          <a:lstStyle/>
          <a:p>
            <a:pPr algn="l"/>
            <a:r>
              <a:rPr sz="900" b="0" i="1">
                <a:solidFill>
                  <a:srgbClr val="888888"/>
                </a:solidFill>
              </a:rPr>
              <a:t>⬅ Old English clyster (bunch, group)</a:t>
            </a:r>
          </a:p>
        </p:txBody>
      </p:sp>
      <p:sp>
        <p:nvSpPr>
          <p:cNvPr id="19" name="TextBox 18"/>
          <p:cNvSpPr txBox="1"/>
          <p:nvPr/>
        </p:nvSpPr>
        <p:spPr>
          <a:xfrm>
            <a:off x="3200400" y="3291840"/>
            <a:ext cx="5577840" cy="594360"/>
          </a:xfrm>
          <a:prstGeom prst="rect">
            <a:avLst/>
          </a:prstGeom>
          <a:noFill/>
        </p:spPr>
        <p:txBody>
          <a:bodyPr wrap="square">
            <a:spAutoFit/>
          </a:bodyPr>
          <a:lstStyle/>
          <a:p>
            <a:pPr algn="l"/>
            <a:r>
              <a:rPr sz="1100" b="0" i="0">
                <a:solidFill>
                  <a:srgbClr val="212121"/>
                </a:solidFill>
              </a:rPr>
              <a:t>A group of related careers organized around common knowledge and skills.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2 Pre-Test  —  What Do You Already Know?</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each question honestly in your workbook. This is NOT graded for correctness.</a:t>
            </a:r>
          </a:p>
        </p:txBody>
      </p:sp>
      <p:sp>
        <p:nvSpPr>
          <p:cNvPr id="6" name="TextBox 5"/>
          <p:cNvSpPr txBox="1"/>
          <p:nvPr/>
        </p:nvSpPr>
        <p:spPr>
          <a:xfrm>
            <a:off x="274320" y="1005840"/>
            <a:ext cx="8595360" cy="475488"/>
          </a:xfrm>
          <a:prstGeom prst="rect">
            <a:avLst/>
          </a:prstGeom>
          <a:noFill/>
        </p:spPr>
        <p:txBody>
          <a:bodyPr wrap="square">
            <a:spAutoFit/>
          </a:bodyPr>
          <a:lstStyle/>
          <a:p>
            <a:pPr algn="l"/>
            <a:r>
              <a:rPr sz="1200" b="0" i="0">
                <a:solidFill>
                  <a:srgbClr val="212121"/>
                </a:solidFill>
              </a:rPr>
              <a:t>1.  Name THREE jobs or careers you are curious about. Why do they interest you?</a:t>
            </a:r>
          </a:p>
        </p:txBody>
      </p:sp>
      <p:sp>
        <p:nvSpPr>
          <p:cNvPr id="7" name="TextBox 6"/>
          <p:cNvSpPr txBox="1"/>
          <p:nvPr/>
        </p:nvSpPr>
        <p:spPr>
          <a:xfrm>
            <a:off x="274320" y="1517904"/>
            <a:ext cx="8595360" cy="475488"/>
          </a:xfrm>
          <a:prstGeom prst="rect">
            <a:avLst/>
          </a:prstGeom>
          <a:noFill/>
        </p:spPr>
        <p:txBody>
          <a:bodyPr wrap="square">
            <a:spAutoFit/>
          </a:bodyPr>
          <a:lstStyle/>
          <a:p>
            <a:pPr algn="l"/>
            <a:r>
              <a:rPr sz="1200" b="0" i="0">
                <a:solidFill>
                  <a:srgbClr val="212121"/>
                </a:solidFill>
              </a:rPr>
              <a:t>2.  What is a 'career pathway'? Explain in your own words.</a:t>
            </a:r>
          </a:p>
        </p:txBody>
      </p:sp>
      <p:sp>
        <p:nvSpPr>
          <p:cNvPr id="8" name="TextBox 7"/>
          <p:cNvSpPr txBox="1"/>
          <p:nvPr/>
        </p:nvSpPr>
        <p:spPr>
          <a:xfrm>
            <a:off x="274320" y="2029968"/>
            <a:ext cx="8595360" cy="475488"/>
          </a:xfrm>
          <a:prstGeom prst="rect">
            <a:avLst/>
          </a:prstGeom>
          <a:noFill/>
        </p:spPr>
        <p:txBody>
          <a:bodyPr wrap="square">
            <a:spAutoFit/>
          </a:bodyPr>
          <a:lstStyle/>
          <a:p>
            <a:pPr algn="l"/>
            <a:r>
              <a:rPr sz="1200" b="0" i="0">
                <a:solidFill>
                  <a:srgbClr val="212121"/>
                </a:solidFill>
              </a:rPr>
              <a:t>3.  What does CTE stand for, and what do you think those courses involve?</a:t>
            </a:r>
          </a:p>
        </p:txBody>
      </p:sp>
      <p:sp>
        <p:nvSpPr>
          <p:cNvPr id="9" name="TextBox 8"/>
          <p:cNvSpPr txBox="1"/>
          <p:nvPr/>
        </p:nvSpPr>
        <p:spPr>
          <a:xfrm>
            <a:off x="274320" y="2542032"/>
            <a:ext cx="8595360" cy="475488"/>
          </a:xfrm>
          <a:prstGeom prst="rect">
            <a:avLst/>
          </a:prstGeom>
          <a:noFill/>
        </p:spPr>
        <p:txBody>
          <a:bodyPr wrap="square">
            <a:spAutoFit/>
          </a:bodyPr>
          <a:lstStyle/>
          <a:p>
            <a:pPr algn="l"/>
            <a:r>
              <a:rPr sz="1200" b="0" i="0">
                <a:solidFill>
                  <a:srgbClr val="212121"/>
                </a:solidFill>
              </a:rPr>
              <a:t>4.  Have you ever thought about what you might study in high school or beyond? Describe your current thinking.</a:t>
            </a:r>
          </a:p>
        </p:txBody>
      </p:sp>
      <p:sp>
        <p:nvSpPr>
          <p:cNvPr id="10" name="TextBox 9"/>
          <p:cNvSpPr txBox="1"/>
          <p:nvPr/>
        </p:nvSpPr>
        <p:spPr>
          <a:xfrm>
            <a:off x="274320" y="3054096"/>
            <a:ext cx="8595360" cy="475488"/>
          </a:xfrm>
          <a:prstGeom prst="rect">
            <a:avLst/>
          </a:prstGeom>
          <a:noFill/>
        </p:spPr>
        <p:txBody>
          <a:bodyPr wrap="square">
            <a:spAutoFit/>
          </a:bodyPr>
          <a:lstStyle/>
          <a:p>
            <a:pPr algn="l"/>
            <a:r>
              <a:rPr sz="1200" b="0" i="0">
                <a:solidFill>
                  <a:srgbClr val="212121"/>
                </a:solidFill>
              </a:rPr>
              <a:t>5.  What questions do you have about the courses available at Two Rivers High School?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2.1  ·  5 minutes</a:t>
            </a:r>
          </a:p>
        </p:txBody>
      </p:sp>
      <p:sp>
        <p:nvSpPr>
          <p:cNvPr id="7" name="Rectangle 6"/>
          <p:cNvSpPr/>
          <p:nvPr/>
        </p:nvSpPr>
        <p:spPr>
          <a:xfrm>
            <a:off x="228600" y="868680"/>
            <a:ext cx="1463040" cy="329184"/>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LAUNCH</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Career Assumption Check</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Respond quickly — don't overthink:
Name one career you think you might be interested in someday. NOW: where does that career fit in school? What courses at Two Rivers connect to it?</a:t>
            </a:r>
          </a:p>
        </p:txBody>
      </p:sp>
      <p:sp>
        <p:nvSpPr>
          <p:cNvPr id="13" name="Rectangle 12"/>
          <p:cNvSpPr/>
          <p:nvPr/>
        </p:nvSpPr>
        <p:spPr>
          <a:xfrm>
            <a:off x="228600" y="4919472"/>
            <a:ext cx="8686800" cy="47548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Table share (1 min) → 3 volunteers share out</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2.1  |  Unit 2: Career Pathways at Two Rivers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Minnesota Career Fields &amp; Pathways</a:t>
            </a:r>
          </a:p>
        </p:txBody>
      </p:sp>
      <p:sp>
        <p:nvSpPr>
          <p:cNvPr id="6" name="Rectangle 5"/>
          <p:cNvSpPr/>
          <p:nvPr/>
        </p:nvSpPr>
        <p:spPr>
          <a:xfrm>
            <a:off x="182880" y="1024128"/>
            <a:ext cx="8778240" cy="329184"/>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Name and describe the six Minnesota career fields.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Explain the relationship between career fields, clusters, and pathways.</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Identify at least one career field that matches your interests.</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2159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215999"/>
                </a:solidFill>
              </a:rPr>
              <a:t>Career Pathway</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carrera (road, course) + Old English paþ (path, track)</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sequence of related courses, experiences, and skills that leads toward a specific group of careers.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572000"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961888" y="5623560"/>
            <a:ext cx="2084831"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715000"/>
            <a:ext cx="2011679" cy="320040"/>
          </a:xfrm>
          <a:prstGeom prst="rect">
            <a:avLst/>
          </a:prstGeom>
          <a:noFill/>
        </p:spPr>
        <p:txBody>
          <a:bodyPr wrap="square">
            <a:spAutoFit/>
          </a:bodyPr>
          <a:lstStyle/>
          <a:p>
            <a:pPr algn="ctr"/>
            <a:r>
              <a:rPr sz="1100" b="1" i="0">
                <a:solidFill>
                  <a:srgbClr val="FFFFFF"/>
                </a:solidFill>
              </a:rPr>
              <a:t>12</a:t>
            </a:r>
          </a:p>
        </p:txBody>
      </p:sp>
      <p:sp>
        <p:nvSpPr>
          <p:cNvPr id="36" name="TextBox 35"/>
          <p:cNvSpPr txBox="1"/>
          <p:nvPr/>
        </p:nvSpPr>
        <p:spPr>
          <a:xfrm>
            <a:off x="5961888" y="6163056"/>
            <a:ext cx="2084831"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19"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5"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19"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2 — Partial scaffold (key notes provided)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159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Finding Your Path: Minnesota's Career Fields and What They Mean for You</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the Minnesota Department of Education Career Fields, Clusters &amp; Pathways Framework</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Finding Your Path: Minnesota's Career Fields and What They Mean for You  (p. 1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Every job that exists — from brain surgeon to video game designer to farmer to social
worker — fits somewhere in a larger map. The Minnesota Department of Education has
organized all careers into six broad career fields. These fields are not rigid boxes;
they are organizing tools that help students connect their interests to real courses,
real experiences, and real futures. Understanding the map makes it easier to find your
direction.</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Within each field, careers are organized into clusters — groups of related industries
and occupations that share common knowledge and skills. Within each cluster, careers are
further organized into pathways — the specific roads that lead from school through
training to a particular career. Think of it like a set of Russian nesting dolls: the
career field is the outer layer, the cluster is the middle, and the pathway is the
specific destination inside.</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Finding Your Path: Minnesota's Career Fields and What They Mean for You  (p. 2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Minnesota's six career fields are: Engineering, Manufacturing &amp; Technology; Health
Sciences Technology; Arts, Communications &amp; Information Systems; Business, Management &amp;
Administration; Human Services; and Agriculture, Food &amp; Natural Resources. Each field
represents a broad category of work that shapes our communities and economy. Every
student's interests connect to at least one of these fields — often several.</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Here is why this matters for you right now: Two Rivers High School has designed its
courses to connect directly to these six fields. When you take Woodworking I, you are
exploring the Engineering &amp; Technology field. When you take Drawing or Digital Music
Production, you are exploring Arts &amp; Communications. When you take Child Psychology, you
are entering the Human Services pathway. Your elective choices in high school are not
random — they can be the beginning of a career path. The students who use high school
most effectively treat each course as an exploration, not just a requirement.</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'Finding Your Path: Minnesota's Career Fields and What They Mean for You'</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2159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are Minnesota's six career fields? List all six from memory, then check the reading.</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2159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Explain the relationship between a career field, a career cluster, and a career pathway. Use
the Russian nesting dolls analogy in your explanation.</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2159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The reading says students' interests 'connect to at least one of these fields — often several.'
Look at the six fields. Which TWO connect most to your interests right now? Explain your
reasoning.</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2159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'elective choices in high school can be the beginning of a career path.' Do
you agree with this idea? Does it change how you think about choosing electives?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2159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Choose ONE specific course from Two Rivers you know about. Which career field does it connect
to? Explain the connection.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2.1</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Minnesota Career Pathways — What's Your Direction?</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Minnesota Department of Education  ·  approx. 4 min</a:t>
            </a:r>
          </a:p>
        </p:txBody>
      </p:sp>
      <p:sp>
        <p:nvSpPr>
          <p:cNvPr id="9" name="Rectangle 8"/>
          <p:cNvSpPr/>
          <p:nvPr/>
        </p:nvSpPr>
        <p:spPr>
          <a:xfrm>
            <a:off x="365760" y="2377440"/>
            <a:ext cx="8412480" cy="2743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2159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Which of the six career fields do you hear described in a way you hadn't considered?</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"How to Choose a Career (That You'll Actually Love)"  |  Big Think</a:t>
            </a:r>
          </a:p>
        </p:txBody>
      </p:sp>
      <p:sp>
        <p:nvSpPr>
          <p:cNvPr id="16" name="Rectangle 15">
            <a:hlinkClick r:id="rId3"/>
          </p:cNvPr>
          <p:cNvSpPr/>
          <p:nvPr/>
        </p:nvSpPr>
        <p:spPr>
          <a:xfrm>
            <a:off x="2743200" y="4480560"/>
            <a:ext cx="3657600" cy="7498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"What Do You Want to Be"  —  Lesson 2.1</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50" b="0" i="1">
                <a:solidFill>
                  <a:srgbClr val="1A1A6E"/>
                </a:solidFill>
              </a:rPr>
              <a:t>The school counselor came to homeroom with a worksheet. At the top it said: CAREER INTEREST
INVENTORY.</a:t>
            </a:r>
          </a:p>
        </p:txBody>
      </p:sp>
      <p:sp>
        <p:nvSpPr>
          <p:cNvPr id="7" name="TextBox 6"/>
          <p:cNvSpPr txBox="1"/>
          <p:nvPr/>
        </p:nvSpPr>
        <p:spPr>
          <a:xfrm>
            <a:off x="228600" y="1335024"/>
            <a:ext cx="8686800" cy="649224"/>
          </a:xfrm>
          <a:prstGeom prst="rect">
            <a:avLst/>
          </a:prstGeom>
          <a:noFill/>
        </p:spPr>
        <p:txBody>
          <a:bodyPr wrap="square">
            <a:spAutoFit/>
          </a:bodyPr>
          <a:lstStyle/>
          <a:p>
            <a:pPr algn="l">
              <a:lnSpc>
                <a:spcPts val="1500"/>
              </a:lnSpc>
            </a:pPr>
            <a:r>
              <a:rPr sz="1050" b="0" i="1">
                <a:solidFill>
                  <a:srgbClr val="1A1A6E"/>
                </a:solidFill>
              </a:rPr>
              <a:t>Jordan finished it in four minutes. He checked: Work with people. Outdoors sometimes. Not a
lot of reading. Something that matters. The results said: Social Worker, Landscape Architect,
Athletic Trainer.</a:t>
            </a:r>
          </a:p>
        </p:txBody>
      </p:sp>
      <p:sp>
        <p:nvSpPr>
          <p:cNvPr id="8" name="TextBox 7"/>
          <p:cNvSpPr txBox="1"/>
          <p:nvPr/>
        </p:nvSpPr>
        <p:spPr>
          <a:xfrm>
            <a:off x="228600" y="1993391"/>
            <a:ext cx="8686800" cy="246888"/>
          </a:xfrm>
          <a:prstGeom prst="rect">
            <a:avLst/>
          </a:prstGeom>
          <a:noFill/>
        </p:spPr>
        <p:txBody>
          <a:bodyPr wrap="square">
            <a:spAutoFit/>
          </a:bodyPr>
          <a:lstStyle/>
          <a:p>
            <a:pPr algn="l">
              <a:lnSpc>
                <a:spcPts val="1500"/>
              </a:lnSpc>
            </a:pPr>
            <a:r>
              <a:rPr sz="1000" b="0" i="0">
                <a:solidFill>
                  <a:srgbClr val="212121"/>
                </a:solidFill>
              </a:rPr>
              <a:t>He put it in his folder.</a:t>
            </a:r>
          </a:p>
        </p:txBody>
      </p:sp>
      <p:sp>
        <p:nvSpPr>
          <p:cNvPr id="9" name="TextBox 8"/>
          <p:cNvSpPr txBox="1"/>
          <p:nvPr/>
        </p:nvSpPr>
        <p:spPr>
          <a:xfrm>
            <a:off x="228600" y="2249424"/>
            <a:ext cx="8686800" cy="246888"/>
          </a:xfrm>
          <a:prstGeom prst="rect">
            <a:avLst/>
          </a:prstGeom>
          <a:noFill/>
        </p:spPr>
        <p:txBody>
          <a:bodyPr wrap="square">
            <a:spAutoFit/>
          </a:bodyPr>
          <a:lstStyle/>
          <a:p>
            <a:pPr algn="l">
              <a:lnSpc>
                <a:spcPts val="1500"/>
              </a:lnSpc>
            </a:pPr>
            <a:r>
              <a:rPr sz="1000" b="0" i="0">
                <a:solidFill>
                  <a:srgbClr val="212121"/>
                </a:solidFill>
              </a:rPr>
              <a:t>Priya was still on page one. She kept going back and changing her answers.</a:t>
            </a:r>
          </a:p>
        </p:txBody>
      </p:sp>
      <p:sp>
        <p:nvSpPr>
          <p:cNvPr id="10" name="TextBox 9"/>
          <p:cNvSpPr txBox="1"/>
          <p:nvPr/>
        </p:nvSpPr>
        <p:spPr>
          <a:xfrm>
            <a:off x="228600" y="2505456"/>
            <a:ext cx="8686800" cy="246888"/>
          </a:xfrm>
          <a:prstGeom prst="rect">
            <a:avLst/>
          </a:prstGeom>
          <a:noFill/>
        </p:spPr>
        <p:txBody>
          <a:bodyPr wrap="square">
            <a:spAutoFit/>
          </a:bodyPr>
          <a:lstStyle/>
          <a:p>
            <a:pPr algn="l">
              <a:lnSpc>
                <a:spcPts val="1500"/>
              </a:lnSpc>
            </a:pPr>
            <a:r>
              <a:rPr sz="1050" b="0" i="1">
                <a:solidFill>
                  <a:srgbClr val="1A1A6E"/>
                </a:solidFill>
              </a:rPr>
              <a:t>"Just pick one," Jordan said.</a:t>
            </a:r>
          </a:p>
        </p:txBody>
      </p:sp>
      <p:sp>
        <p:nvSpPr>
          <p:cNvPr id="11" name="TextBox 10"/>
          <p:cNvSpPr txBox="1"/>
          <p:nvPr/>
        </p:nvSpPr>
        <p:spPr>
          <a:xfrm>
            <a:off x="228600" y="2761488"/>
            <a:ext cx="8686800" cy="246888"/>
          </a:xfrm>
          <a:prstGeom prst="rect">
            <a:avLst/>
          </a:prstGeom>
          <a:noFill/>
        </p:spPr>
        <p:txBody>
          <a:bodyPr wrap="square">
            <a:spAutoFit/>
          </a:bodyPr>
          <a:lstStyle/>
          <a:p>
            <a:pPr algn="l">
              <a:lnSpc>
                <a:spcPts val="1500"/>
              </a:lnSpc>
            </a:pPr>
            <a:r>
              <a:rPr sz="1050" b="0" i="1">
                <a:solidFill>
                  <a:srgbClr val="1A1A6E"/>
                </a:solidFill>
              </a:rPr>
              <a:t>"What if I pick wrong?"</a:t>
            </a:r>
          </a:p>
        </p:txBody>
      </p:sp>
      <p:sp>
        <p:nvSpPr>
          <p:cNvPr id="12" name="TextBox 11"/>
          <p:cNvSpPr txBox="1"/>
          <p:nvPr/>
        </p:nvSpPr>
        <p:spPr>
          <a:xfrm>
            <a:off x="228600" y="3017520"/>
            <a:ext cx="8686800" cy="246888"/>
          </a:xfrm>
          <a:prstGeom prst="rect">
            <a:avLst/>
          </a:prstGeom>
          <a:noFill/>
        </p:spPr>
        <p:txBody>
          <a:bodyPr wrap="square">
            <a:spAutoFit/>
          </a:bodyPr>
          <a:lstStyle/>
          <a:p>
            <a:pPr algn="l">
              <a:lnSpc>
                <a:spcPts val="1500"/>
              </a:lnSpc>
            </a:pPr>
            <a:r>
              <a:rPr sz="1050" b="0" i="1">
                <a:solidFill>
                  <a:srgbClr val="1A1A6E"/>
                </a:solidFill>
              </a:rPr>
              <a:t>"It's not a test."</a:t>
            </a:r>
          </a:p>
        </p:txBody>
      </p:sp>
      <p:sp>
        <p:nvSpPr>
          <p:cNvPr id="13" name="TextBox 12"/>
          <p:cNvSpPr txBox="1"/>
          <p:nvPr/>
        </p:nvSpPr>
        <p:spPr>
          <a:xfrm>
            <a:off x="228600" y="3273552"/>
            <a:ext cx="8686800" cy="246888"/>
          </a:xfrm>
          <a:prstGeom prst="rect">
            <a:avLst/>
          </a:prstGeom>
          <a:noFill/>
        </p:spPr>
        <p:txBody>
          <a:bodyPr wrap="square">
            <a:spAutoFit/>
          </a:bodyPr>
          <a:lstStyle/>
          <a:p>
            <a:pPr algn="l">
              <a:lnSpc>
                <a:spcPts val="1500"/>
              </a:lnSpc>
            </a:pPr>
            <a:r>
              <a:rPr sz="1050" b="0" i="1">
                <a:solidFill>
                  <a:srgbClr val="1A1A6E"/>
                </a:solidFill>
              </a:rPr>
              <a:t>"It feels like one." She erased something again. "What did yours say?"</a:t>
            </a:r>
          </a:p>
        </p:txBody>
      </p:sp>
      <p:sp>
        <p:nvSpPr>
          <p:cNvPr id="14" name="TextBox 13"/>
          <p:cNvSpPr txBox="1"/>
          <p:nvPr/>
        </p:nvSpPr>
        <p:spPr>
          <a:xfrm>
            <a:off x="228600" y="3529584"/>
            <a:ext cx="8686800" cy="246888"/>
          </a:xfrm>
          <a:prstGeom prst="rect">
            <a:avLst/>
          </a:prstGeom>
          <a:noFill/>
        </p:spPr>
        <p:txBody>
          <a:bodyPr wrap="square">
            <a:spAutoFit/>
          </a:bodyPr>
          <a:lstStyle/>
          <a:p>
            <a:pPr algn="l">
              <a:lnSpc>
                <a:spcPts val="1500"/>
              </a:lnSpc>
            </a:pPr>
            <a:r>
              <a:rPr sz="1000" b="0" i="0">
                <a:solidFill>
                  <a:srgbClr val="212121"/>
                </a:solidFill>
              </a:rPr>
              <a:t>Jordan showed her. She looked at it for a long time.</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50" b="0" i="1">
                <a:solidFill>
                  <a:srgbClr val="1A1A6E"/>
                </a:solidFill>
              </a:rPr>
              <a:t>"Athletic trainer is interesting," she said.</a:t>
            </a:r>
          </a:p>
        </p:txBody>
      </p:sp>
      <p:sp>
        <p:nvSpPr>
          <p:cNvPr id="16" name="TextBox 15"/>
          <p:cNvSpPr txBox="1"/>
          <p:nvPr/>
        </p:nvSpPr>
        <p:spPr>
          <a:xfrm>
            <a:off x="228600" y="4041648"/>
            <a:ext cx="8686800" cy="246888"/>
          </a:xfrm>
          <a:prstGeom prst="rect">
            <a:avLst/>
          </a:prstGeom>
          <a:noFill/>
        </p:spPr>
        <p:txBody>
          <a:bodyPr wrap="square">
            <a:spAutoFit/>
          </a:bodyPr>
          <a:lstStyle/>
          <a:p>
            <a:pPr algn="l">
              <a:lnSpc>
                <a:spcPts val="1500"/>
              </a:lnSpc>
            </a:pPr>
            <a:r>
              <a:rPr sz="1050" b="0" i="1">
                <a:solidFill>
                  <a:srgbClr val="1A1A6E"/>
                </a:solidFill>
              </a:rPr>
              <a:t>"I don't actually know what that is."</a:t>
            </a:r>
          </a:p>
        </p:txBody>
      </p:sp>
      <p:sp>
        <p:nvSpPr>
          <p:cNvPr id="17" name="TextBox 16"/>
          <p:cNvSpPr txBox="1"/>
          <p:nvPr/>
        </p:nvSpPr>
        <p:spPr>
          <a:xfrm>
            <a:off x="228600" y="4297680"/>
            <a:ext cx="8686800" cy="448056"/>
          </a:xfrm>
          <a:prstGeom prst="rect">
            <a:avLst/>
          </a:prstGeom>
          <a:noFill/>
        </p:spPr>
        <p:txBody>
          <a:bodyPr wrap="square">
            <a:spAutoFit/>
          </a:bodyPr>
          <a:lstStyle/>
          <a:p>
            <a:pPr algn="l">
              <a:lnSpc>
                <a:spcPts val="1500"/>
              </a:lnSpc>
            </a:pPr>
            <a:r>
              <a:rPr sz="1050" b="0" i="1">
                <a:solidFill>
                  <a:srgbClr val="1A1A6E"/>
                </a:solidFill>
              </a:rPr>
              <a:t>"It's like... the person on the sideline who wraps ankles and figures out if someone got a
concussion. And works with physical therapists."</a:t>
            </a:r>
          </a:p>
        </p:txBody>
      </p:sp>
      <p:sp>
        <p:nvSpPr>
          <p:cNvPr id="18" name="TextBox 17"/>
          <p:cNvSpPr txBox="1"/>
          <p:nvPr/>
        </p:nvSpPr>
        <p:spPr>
          <a:xfrm>
            <a:off x="228600" y="4754880"/>
            <a:ext cx="8686800" cy="246888"/>
          </a:xfrm>
          <a:prstGeom prst="rect">
            <a:avLst/>
          </a:prstGeom>
          <a:noFill/>
        </p:spPr>
        <p:txBody>
          <a:bodyPr wrap="square">
            <a:spAutoFit/>
          </a:bodyPr>
          <a:lstStyle/>
          <a:p>
            <a:pPr algn="l">
              <a:lnSpc>
                <a:spcPts val="1500"/>
              </a:lnSpc>
            </a:pPr>
            <a:r>
              <a:rPr sz="1050" b="0" i="1">
                <a:solidFill>
                  <a:srgbClr val="1A1A6E"/>
                </a:solidFill>
              </a:rPr>
              <a:t>Jordan looked at the paper with new interest. "How do you know that?"</a:t>
            </a:r>
          </a:p>
        </p:txBody>
      </p:sp>
      <p:sp>
        <p:nvSpPr>
          <p:cNvPr id="19" name="TextBox 18"/>
          <p:cNvSpPr txBox="1"/>
          <p:nvPr/>
        </p:nvSpPr>
        <p:spPr>
          <a:xfrm>
            <a:off x="228600" y="5010912"/>
            <a:ext cx="8686800" cy="246888"/>
          </a:xfrm>
          <a:prstGeom prst="rect">
            <a:avLst/>
          </a:prstGeom>
          <a:noFill/>
        </p:spPr>
        <p:txBody>
          <a:bodyPr wrap="square">
            <a:spAutoFit/>
          </a:bodyPr>
          <a:lstStyle/>
          <a:p>
            <a:pPr algn="l">
              <a:lnSpc>
                <a:spcPts val="1500"/>
              </a:lnSpc>
            </a:pPr>
            <a:r>
              <a:rPr sz="1050" b="0" i="1">
                <a:solidFill>
                  <a:srgbClr val="1A1A6E"/>
                </a:solidFill>
              </a:rPr>
              <a:t>"My mom's a physical therapist."</a:t>
            </a:r>
          </a:p>
        </p:txBody>
      </p:sp>
      <p:sp>
        <p:nvSpPr>
          <p:cNvPr id="20" name="TextBox 19"/>
          <p:cNvSpPr txBox="1"/>
          <p:nvPr/>
        </p:nvSpPr>
        <p:spPr>
          <a:xfrm>
            <a:off x="228600" y="5266944"/>
            <a:ext cx="8686800" cy="246888"/>
          </a:xfrm>
          <a:prstGeom prst="rect">
            <a:avLst/>
          </a:prstGeom>
          <a:noFill/>
        </p:spPr>
        <p:txBody>
          <a:bodyPr wrap="square">
            <a:spAutoFit/>
          </a:bodyPr>
          <a:lstStyle/>
          <a:p>
            <a:pPr algn="l">
              <a:lnSpc>
                <a:spcPts val="1500"/>
              </a:lnSpc>
            </a:pPr>
            <a:r>
              <a:rPr sz="1050" b="0" i="1">
                <a:solidFill>
                  <a:srgbClr val="1A1A6E"/>
                </a:solidFill>
              </a:rPr>
              <a:t>"Priya. I've known you for two years. I did not know that."</a:t>
            </a:r>
          </a:p>
        </p:txBody>
      </p:sp>
      <p:sp>
        <p:nvSpPr>
          <p:cNvPr id="21" name="TextBox 20"/>
          <p:cNvSpPr txBox="1"/>
          <p:nvPr/>
        </p:nvSpPr>
        <p:spPr>
          <a:xfrm>
            <a:off x="228600" y="5522976"/>
            <a:ext cx="8686800" cy="448056"/>
          </a:xfrm>
          <a:prstGeom prst="rect">
            <a:avLst/>
          </a:prstGeom>
          <a:noFill/>
        </p:spPr>
        <p:txBody>
          <a:bodyPr wrap="square">
            <a:spAutoFit/>
          </a:bodyPr>
          <a:lstStyle/>
          <a:p>
            <a:pPr algn="l">
              <a:lnSpc>
                <a:spcPts val="1500"/>
              </a:lnSpc>
            </a:pPr>
            <a:r>
              <a:rPr sz="1050" b="0" i="1">
                <a:solidFill>
                  <a:srgbClr val="1A1A6E"/>
                </a:solidFill>
              </a:rPr>
              <a:t>She shrugged. Then, more quietly: "There's a CAPS program at Two Rivers. Health and medicine.
I looked it up."</a:t>
            </a:r>
          </a:p>
        </p:txBody>
      </p:sp>
      <p:sp>
        <p:nvSpPr>
          <p:cNvPr id="22" name="TextBox 21"/>
          <p:cNvSpPr txBox="1"/>
          <p:nvPr/>
        </p:nvSpPr>
        <p:spPr>
          <a:xfrm>
            <a:off x="228600" y="5980176"/>
            <a:ext cx="8686800" cy="246888"/>
          </a:xfrm>
          <a:prstGeom prst="rect">
            <a:avLst/>
          </a:prstGeom>
          <a:noFill/>
        </p:spPr>
        <p:txBody>
          <a:bodyPr wrap="square">
            <a:spAutoFit/>
          </a:bodyPr>
          <a:lstStyle/>
          <a:p>
            <a:pPr algn="l">
              <a:lnSpc>
                <a:spcPts val="1500"/>
              </a:lnSpc>
            </a:pPr>
            <a:r>
              <a:rPr sz="1050" b="0" i="1">
                <a:solidFill>
                  <a:srgbClr val="1A1A6E"/>
                </a:solidFill>
              </a:rPr>
              <a:t>"Why didn't you sign up?"</a:t>
            </a:r>
          </a:p>
        </p:txBody>
      </p:sp>
      <p:sp>
        <p:nvSpPr>
          <p:cNvPr id="23" name="TextBox 22"/>
          <p:cNvSpPr txBox="1"/>
          <p:nvPr/>
        </p:nvSpPr>
        <p:spPr>
          <a:xfrm>
            <a:off x="228600" y="6236208"/>
            <a:ext cx="8686800" cy="448056"/>
          </a:xfrm>
          <a:prstGeom prst="rect">
            <a:avLst/>
          </a:prstGeom>
          <a:noFill/>
        </p:spPr>
        <p:txBody>
          <a:bodyPr wrap="square">
            <a:spAutoFit/>
          </a:bodyPr>
          <a:lstStyle/>
          <a:p>
            <a:pPr algn="l">
              <a:lnSpc>
                <a:spcPts val="1500"/>
              </a:lnSpc>
            </a:pPr>
            <a:r>
              <a:rPr sz="1050" b="0" i="1">
                <a:solidFill>
                  <a:srgbClr val="1A1A6E"/>
                </a:solidFill>
              </a:rPr>
              <a:t>A long pause. She looked at her still-unfinished worksheet. "I don't know if I'm the kind of
person who gets into something like that."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"What Do You Want to Be"</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Priya says she doesn't know if she's 'the kind of person' who gets into the CAPS program.
What does she mean — and what might be getting in her way?</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Jordan checked off interests without thinking too hard. Priya agonized over every answer.
Which approach do you think is more useful for a career interest inventory — and why?</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Jordan didn't know his friend's parent was a physical therapist after two years. What does
that suggest about how well we know the people around us — including their career
connections?</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Is there a career or program you've looked up but talked yourself out of? What stopped you?</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Minnesota Career Fields at Two Rivers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Minnesota organizes all careers into six broad fields. Each field contains multiple
clusters — groups of related industries. Each cluster branches into specific pathways
that point toward particular jobs and college programs. Two Rivers has deliberately
designed its course offerings to connect to every one of these six fields, giving you
the ability to start exploring your interests in 9th grade and build toward a pathway
over four years.</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Before today, did you know what 'career pathways' meant? How might knowing this change how you think about school?</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Career Field Inventory</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Read the description of each career field below. Rate your interest in each (1 = not
interested, 5 = very interested), then list one career from each field that you have
heard of.</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2159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Every course you take at Two Rivers connects to at least one of the six Minnesota career fields. Your electives are not random.</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Career Field Inventory  —  Lesson 2.1</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12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Rate your interest in each career field (1–5). List one career you already know from each field. We'll share out after — be ready to explain your top rating.</a:t>
            </a:r>
          </a:p>
        </p:txBody>
      </p:sp>
      <p:sp>
        <p:nvSpPr>
          <p:cNvPr id="7" name="Rectangle 6"/>
          <p:cNvSpPr/>
          <p:nvPr/>
        </p:nvSpPr>
        <p:spPr>
          <a:xfrm>
            <a:off x="182880" y="1783080"/>
            <a:ext cx="8778240" cy="34747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828800"/>
            <a:ext cx="1463040" cy="256032"/>
          </a:xfrm>
          <a:prstGeom prst="rect">
            <a:avLst/>
          </a:prstGeom>
          <a:noFill/>
        </p:spPr>
        <p:txBody>
          <a:bodyPr wrap="square">
            <a:spAutoFit/>
          </a:bodyPr>
          <a:lstStyle/>
          <a:p>
            <a:pPr algn="l"/>
            <a:r>
              <a:rPr sz="900" b="1" i="0">
                <a:solidFill>
                  <a:srgbClr val="FFFFFF"/>
                </a:solidFill>
              </a:rPr>
              <a:t>Career Field</a:t>
            </a:r>
          </a:p>
        </p:txBody>
      </p:sp>
      <p:sp>
        <p:nvSpPr>
          <p:cNvPr id="9" name="TextBox 8"/>
          <p:cNvSpPr txBox="1"/>
          <p:nvPr/>
        </p:nvSpPr>
        <p:spPr>
          <a:xfrm>
            <a:off x="1764792" y="1828800"/>
            <a:ext cx="2286000" cy="256032"/>
          </a:xfrm>
          <a:prstGeom prst="rect">
            <a:avLst/>
          </a:prstGeom>
          <a:noFill/>
        </p:spPr>
        <p:txBody>
          <a:bodyPr wrap="square">
            <a:spAutoFit/>
          </a:bodyPr>
          <a:lstStyle/>
          <a:p>
            <a:pPr algn="l"/>
            <a:r>
              <a:rPr sz="900" b="1" i="0">
                <a:solidFill>
                  <a:srgbClr val="FFFFFF"/>
                </a:solidFill>
              </a:rPr>
              <a:t>Description</a:t>
            </a:r>
          </a:p>
        </p:txBody>
      </p:sp>
      <p:sp>
        <p:nvSpPr>
          <p:cNvPr id="10" name="TextBox 9"/>
          <p:cNvSpPr txBox="1"/>
          <p:nvPr/>
        </p:nvSpPr>
        <p:spPr>
          <a:xfrm>
            <a:off x="4123944" y="1828800"/>
            <a:ext cx="1280160" cy="256032"/>
          </a:xfrm>
          <a:prstGeom prst="rect">
            <a:avLst/>
          </a:prstGeom>
          <a:noFill/>
        </p:spPr>
        <p:txBody>
          <a:bodyPr wrap="square">
            <a:spAutoFit/>
          </a:bodyPr>
          <a:lstStyle/>
          <a:p>
            <a:pPr algn="l"/>
            <a:r>
              <a:rPr sz="900" b="1" i="0">
                <a:solidFill>
                  <a:srgbClr val="FFFFFF"/>
                </a:solidFill>
              </a:rPr>
              <a:t>My Interest (1–5)</a:t>
            </a:r>
          </a:p>
        </p:txBody>
      </p:sp>
      <p:sp>
        <p:nvSpPr>
          <p:cNvPr id="11" name="TextBox 10"/>
          <p:cNvSpPr txBox="1"/>
          <p:nvPr/>
        </p:nvSpPr>
        <p:spPr>
          <a:xfrm>
            <a:off x="5477256" y="1828800"/>
            <a:ext cx="2468880" cy="256032"/>
          </a:xfrm>
          <a:prstGeom prst="rect">
            <a:avLst/>
          </a:prstGeom>
          <a:noFill/>
        </p:spPr>
        <p:txBody>
          <a:bodyPr wrap="square">
            <a:spAutoFit/>
          </a:bodyPr>
          <a:lstStyle/>
          <a:p>
            <a:pPr algn="l"/>
            <a:r>
              <a:rPr sz="900" b="1" i="0">
                <a:solidFill>
                  <a:srgbClr val="FFFFFF"/>
                </a:solidFill>
              </a:rPr>
              <a:t>Career I Know</a:t>
            </a:r>
          </a:p>
        </p:txBody>
      </p:sp>
      <p:sp>
        <p:nvSpPr>
          <p:cNvPr id="12" name="Rectangle 11"/>
          <p:cNvSpPr/>
          <p:nvPr/>
        </p:nvSpPr>
        <p:spPr>
          <a:xfrm>
            <a:off x="182880" y="2167128"/>
            <a:ext cx="8778240" cy="47548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2221992"/>
            <a:ext cx="1463040" cy="365760"/>
          </a:xfrm>
          <a:prstGeom prst="rect">
            <a:avLst/>
          </a:prstGeom>
          <a:noFill/>
        </p:spPr>
        <p:txBody>
          <a:bodyPr wrap="square">
            <a:spAutoFit/>
          </a:bodyPr>
          <a:lstStyle/>
          <a:p>
            <a:pPr algn="l"/>
            <a:r>
              <a:rPr sz="900" b="0" i="0">
                <a:solidFill>
                  <a:srgbClr val="212121"/>
                </a:solidFill>
              </a:rPr>
              <a:t>Engineering, Manufacturing &amp; Technology</a:t>
            </a:r>
          </a:p>
        </p:txBody>
      </p:sp>
      <p:sp>
        <p:nvSpPr>
          <p:cNvPr id="14" name="TextBox 13"/>
          <p:cNvSpPr txBox="1"/>
          <p:nvPr/>
        </p:nvSpPr>
        <p:spPr>
          <a:xfrm>
            <a:off x="1764792" y="2221992"/>
            <a:ext cx="2286000" cy="365760"/>
          </a:xfrm>
          <a:prstGeom prst="rect">
            <a:avLst/>
          </a:prstGeom>
          <a:noFill/>
        </p:spPr>
        <p:txBody>
          <a:bodyPr wrap="square">
            <a:spAutoFit/>
          </a:bodyPr>
          <a:lstStyle/>
          <a:p>
            <a:pPr algn="l"/>
            <a:r>
              <a:rPr sz="900" b="0" i="0">
                <a:solidFill>
                  <a:srgbClr val="212121"/>
                </a:solidFill>
              </a:rPr>
              <a:t>Designing, building, and maintaining systems, structures, and machines.</a:t>
            </a:r>
          </a:p>
        </p:txBody>
      </p:sp>
      <p:sp>
        <p:nvSpPr>
          <p:cNvPr id="15" name="TextBox 14"/>
          <p:cNvSpPr txBox="1"/>
          <p:nvPr/>
        </p:nvSpPr>
        <p:spPr>
          <a:xfrm>
            <a:off x="4123944" y="2221992"/>
            <a:ext cx="1280160" cy="365760"/>
          </a:xfrm>
          <a:prstGeom prst="rect">
            <a:avLst/>
          </a:prstGeom>
          <a:noFill/>
        </p:spPr>
        <p:txBody>
          <a:bodyPr wrap="square">
            <a:spAutoFit/>
          </a:bodyPr>
          <a:lstStyle/>
          <a:p>
            <a:pPr algn="l"/>
            <a:r>
              <a:rPr sz="900" b="0" i="0">
                <a:solidFill>
                  <a:srgbClr val="212121"/>
                </a:solidFill>
              </a:rPr>
              <a:t/>
            </a:r>
          </a:p>
        </p:txBody>
      </p:sp>
      <p:sp>
        <p:nvSpPr>
          <p:cNvPr id="16" name="TextBox 15"/>
          <p:cNvSpPr txBox="1"/>
          <p:nvPr/>
        </p:nvSpPr>
        <p:spPr>
          <a:xfrm>
            <a:off x="5477256" y="2221992"/>
            <a:ext cx="2468880" cy="365760"/>
          </a:xfrm>
          <a:prstGeom prst="rect">
            <a:avLst/>
          </a:prstGeom>
          <a:noFill/>
        </p:spPr>
        <p:txBody>
          <a:bodyPr wrap="square">
            <a:spAutoFit/>
          </a:bodyPr>
          <a:lstStyle/>
          <a:p>
            <a:pPr algn="l"/>
            <a:r>
              <a:rPr sz="900" b="0" i="0">
                <a:solidFill>
                  <a:srgbClr val="212121"/>
                </a:solidFill>
              </a:rPr>
              <a:t/>
            </a:r>
          </a:p>
        </p:txBody>
      </p:sp>
      <p:sp>
        <p:nvSpPr>
          <p:cNvPr id="17" name="Rectangle 16"/>
          <p:cNvSpPr/>
          <p:nvPr/>
        </p:nvSpPr>
        <p:spPr>
          <a:xfrm>
            <a:off x="182880" y="2660904"/>
            <a:ext cx="8778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2715768"/>
            <a:ext cx="1463040" cy="365760"/>
          </a:xfrm>
          <a:prstGeom prst="rect">
            <a:avLst/>
          </a:prstGeom>
          <a:noFill/>
        </p:spPr>
        <p:txBody>
          <a:bodyPr wrap="square">
            <a:spAutoFit/>
          </a:bodyPr>
          <a:lstStyle/>
          <a:p>
            <a:pPr algn="l"/>
            <a:r>
              <a:rPr sz="900" b="0" i="0">
                <a:solidFill>
                  <a:srgbClr val="212121"/>
                </a:solidFill>
              </a:rPr>
              <a:t>Health Sciences Technology</a:t>
            </a:r>
          </a:p>
        </p:txBody>
      </p:sp>
      <p:sp>
        <p:nvSpPr>
          <p:cNvPr id="19" name="TextBox 18"/>
          <p:cNvSpPr txBox="1"/>
          <p:nvPr/>
        </p:nvSpPr>
        <p:spPr>
          <a:xfrm>
            <a:off x="1764792" y="2715768"/>
            <a:ext cx="2286000" cy="365760"/>
          </a:xfrm>
          <a:prstGeom prst="rect">
            <a:avLst/>
          </a:prstGeom>
          <a:noFill/>
        </p:spPr>
        <p:txBody>
          <a:bodyPr wrap="square">
            <a:spAutoFit/>
          </a:bodyPr>
          <a:lstStyle/>
          <a:p>
            <a:pPr algn="l"/>
            <a:r>
              <a:rPr sz="900" b="0" i="0">
                <a:solidFill>
                  <a:srgbClr val="212121"/>
                </a:solidFill>
              </a:rPr>
              <a:t>Caring for human health — from doctors and nurses to lab technicians and researchers.</a:t>
            </a:r>
          </a:p>
        </p:txBody>
      </p:sp>
      <p:sp>
        <p:nvSpPr>
          <p:cNvPr id="20" name="TextBox 19"/>
          <p:cNvSpPr txBox="1"/>
          <p:nvPr/>
        </p:nvSpPr>
        <p:spPr>
          <a:xfrm>
            <a:off x="4123944" y="2715768"/>
            <a:ext cx="1280160" cy="365760"/>
          </a:xfrm>
          <a:prstGeom prst="rect">
            <a:avLst/>
          </a:prstGeom>
          <a:noFill/>
        </p:spPr>
        <p:txBody>
          <a:bodyPr wrap="square">
            <a:spAutoFit/>
          </a:bodyPr>
          <a:lstStyle/>
          <a:p>
            <a:pPr algn="l"/>
            <a:r>
              <a:rPr sz="900" b="0" i="0">
                <a:solidFill>
                  <a:srgbClr val="212121"/>
                </a:solidFill>
              </a:rPr>
              <a:t/>
            </a:r>
          </a:p>
        </p:txBody>
      </p:sp>
      <p:sp>
        <p:nvSpPr>
          <p:cNvPr id="21" name="TextBox 20"/>
          <p:cNvSpPr txBox="1"/>
          <p:nvPr/>
        </p:nvSpPr>
        <p:spPr>
          <a:xfrm>
            <a:off x="5477256" y="2715768"/>
            <a:ext cx="2468880" cy="365760"/>
          </a:xfrm>
          <a:prstGeom prst="rect">
            <a:avLst/>
          </a:prstGeom>
          <a:noFill/>
        </p:spPr>
        <p:txBody>
          <a:bodyPr wrap="square">
            <a:spAutoFit/>
          </a:bodyPr>
          <a:lstStyle/>
          <a:p>
            <a:pPr algn="l"/>
            <a:r>
              <a:rPr sz="900" b="0" i="0">
                <a:solidFill>
                  <a:srgbClr val="212121"/>
                </a:solidFill>
              </a:rPr>
              <a:t/>
            </a:r>
          </a:p>
        </p:txBody>
      </p:sp>
      <p:sp>
        <p:nvSpPr>
          <p:cNvPr id="22" name="Rectangle 21"/>
          <p:cNvSpPr/>
          <p:nvPr/>
        </p:nvSpPr>
        <p:spPr>
          <a:xfrm>
            <a:off x="182880" y="3154680"/>
            <a:ext cx="8778240" cy="47548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8600" y="3209544"/>
            <a:ext cx="1463040" cy="365760"/>
          </a:xfrm>
          <a:prstGeom prst="rect">
            <a:avLst/>
          </a:prstGeom>
          <a:noFill/>
        </p:spPr>
        <p:txBody>
          <a:bodyPr wrap="square">
            <a:spAutoFit/>
          </a:bodyPr>
          <a:lstStyle/>
          <a:p>
            <a:pPr algn="l"/>
            <a:r>
              <a:rPr sz="900" b="0" i="0">
                <a:solidFill>
                  <a:srgbClr val="212121"/>
                </a:solidFill>
              </a:rPr>
              <a:t>Arts, Communications &amp; Information Systems</a:t>
            </a:r>
          </a:p>
        </p:txBody>
      </p:sp>
      <p:sp>
        <p:nvSpPr>
          <p:cNvPr id="24" name="TextBox 23"/>
          <p:cNvSpPr txBox="1"/>
          <p:nvPr/>
        </p:nvSpPr>
        <p:spPr>
          <a:xfrm>
            <a:off x="1764792" y="3209544"/>
            <a:ext cx="2286000" cy="365760"/>
          </a:xfrm>
          <a:prstGeom prst="rect">
            <a:avLst/>
          </a:prstGeom>
          <a:noFill/>
        </p:spPr>
        <p:txBody>
          <a:bodyPr wrap="square">
            <a:spAutoFit/>
          </a:bodyPr>
          <a:lstStyle/>
          <a:p>
            <a:pPr algn="l"/>
            <a:r>
              <a:rPr sz="900" b="0" i="0">
                <a:solidFill>
                  <a:srgbClr val="212121"/>
                </a:solidFill>
              </a:rPr>
              <a:t>Creating and communicating through art, music, media, and technology.</a:t>
            </a:r>
          </a:p>
        </p:txBody>
      </p:sp>
      <p:sp>
        <p:nvSpPr>
          <p:cNvPr id="25" name="TextBox 24"/>
          <p:cNvSpPr txBox="1"/>
          <p:nvPr/>
        </p:nvSpPr>
        <p:spPr>
          <a:xfrm>
            <a:off x="4123944" y="3209544"/>
            <a:ext cx="1280160" cy="365760"/>
          </a:xfrm>
          <a:prstGeom prst="rect">
            <a:avLst/>
          </a:prstGeom>
          <a:noFill/>
        </p:spPr>
        <p:txBody>
          <a:bodyPr wrap="square">
            <a:spAutoFit/>
          </a:bodyPr>
          <a:lstStyle/>
          <a:p>
            <a:pPr algn="l"/>
            <a:r>
              <a:rPr sz="900" b="0" i="0">
                <a:solidFill>
                  <a:srgbClr val="212121"/>
                </a:solidFill>
              </a:rPr>
              <a:t/>
            </a:r>
          </a:p>
        </p:txBody>
      </p:sp>
      <p:sp>
        <p:nvSpPr>
          <p:cNvPr id="26" name="TextBox 25"/>
          <p:cNvSpPr txBox="1"/>
          <p:nvPr/>
        </p:nvSpPr>
        <p:spPr>
          <a:xfrm>
            <a:off x="5477256" y="3209544"/>
            <a:ext cx="2468880" cy="365760"/>
          </a:xfrm>
          <a:prstGeom prst="rect">
            <a:avLst/>
          </a:prstGeom>
          <a:noFill/>
        </p:spPr>
        <p:txBody>
          <a:bodyPr wrap="square">
            <a:spAutoFit/>
          </a:bodyPr>
          <a:lstStyle/>
          <a:p>
            <a:pPr algn="l"/>
            <a:r>
              <a:rPr sz="900" b="0" i="0">
                <a:solidFill>
                  <a:srgbClr val="212121"/>
                </a:solidFill>
              </a:rPr>
              <a:t/>
            </a:r>
          </a:p>
        </p:txBody>
      </p:sp>
      <p:sp>
        <p:nvSpPr>
          <p:cNvPr id="27" name="Rectangle 26"/>
          <p:cNvSpPr/>
          <p:nvPr/>
        </p:nvSpPr>
        <p:spPr>
          <a:xfrm>
            <a:off x="182880" y="3648456"/>
            <a:ext cx="8778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600" y="3703320"/>
            <a:ext cx="1463040" cy="365760"/>
          </a:xfrm>
          <a:prstGeom prst="rect">
            <a:avLst/>
          </a:prstGeom>
          <a:noFill/>
        </p:spPr>
        <p:txBody>
          <a:bodyPr wrap="square">
            <a:spAutoFit/>
          </a:bodyPr>
          <a:lstStyle/>
          <a:p>
            <a:pPr algn="l"/>
            <a:r>
              <a:rPr sz="900" b="0" i="0">
                <a:solidFill>
                  <a:srgbClr val="212121"/>
                </a:solidFill>
              </a:rPr>
              <a:t>Business, Management &amp; Administration</a:t>
            </a:r>
          </a:p>
        </p:txBody>
      </p:sp>
      <p:sp>
        <p:nvSpPr>
          <p:cNvPr id="29" name="TextBox 28"/>
          <p:cNvSpPr txBox="1"/>
          <p:nvPr/>
        </p:nvSpPr>
        <p:spPr>
          <a:xfrm>
            <a:off x="1764792" y="3703320"/>
            <a:ext cx="2286000" cy="365760"/>
          </a:xfrm>
          <a:prstGeom prst="rect">
            <a:avLst/>
          </a:prstGeom>
          <a:noFill/>
        </p:spPr>
        <p:txBody>
          <a:bodyPr wrap="square">
            <a:spAutoFit/>
          </a:bodyPr>
          <a:lstStyle/>
          <a:p>
            <a:pPr algn="l"/>
            <a:r>
              <a:rPr sz="900" b="0" i="0">
                <a:solidFill>
                  <a:srgbClr val="212121"/>
                </a:solidFill>
              </a:rPr>
              <a:t>Running organizations, managing finances, marketing products, and leading teams.</a:t>
            </a:r>
          </a:p>
        </p:txBody>
      </p:sp>
      <p:sp>
        <p:nvSpPr>
          <p:cNvPr id="30" name="TextBox 29"/>
          <p:cNvSpPr txBox="1"/>
          <p:nvPr/>
        </p:nvSpPr>
        <p:spPr>
          <a:xfrm>
            <a:off x="4123944" y="3703320"/>
            <a:ext cx="1280160" cy="365760"/>
          </a:xfrm>
          <a:prstGeom prst="rect">
            <a:avLst/>
          </a:prstGeom>
          <a:noFill/>
        </p:spPr>
        <p:txBody>
          <a:bodyPr wrap="square">
            <a:spAutoFit/>
          </a:bodyPr>
          <a:lstStyle/>
          <a:p>
            <a:pPr algn="l"/>
            <a:r>
              <a:rPr sz="900" b="0" i="0">
                <a:solidFill>
                  <a:srgbClr val="212121"/>
                </a:solidFill>
              </a:rPr>
              <a:t/>
            </a:r>
          </a:p>
        </p:txBody>
      </p:sp>
      <p:sp>
        <p:nvSpPr>
          <p:cNvPr id="31" name="TextBox 30"/>
          <p:cNvSpPr txBox="1"/>
          <p:nvPr/>
        </p:nvSpPr>
        <p:spPr>
          <a:xfrm>
            <a:off x="5477256" y="3703320"/>
            <a:ext cx="2468880" cy="365760"/>
          </a:xfrm>
          <a:prstGeom prst="rect">
            <a:avLst/>
          </a:prstGeom>
          <a:noFill/>
        </p:spPr>
        <p:txBody>
          <a:bodyPr wrap="square">
            <a:spAutoFit/>
          </a:bodyPr>
          <a:lstStyle/>
          <a:p>
            <a:pPr algn="l"/>
            <a:r>
              <a:rPr sz="900" b="0" i="0">
                <a:solidFill>
                  <a:srgbClr val="212121"/>
                </a:solidFill>
              </a:rPr>
              <a:t/>
            </a:r>
          </a:p>
        </p:txBody>
      </p:sp>
      <p:sp>
        <p:nvSpPr>
          <p:cNvPr id="32" name="Rectangle 31"/>
          <p:cNvSpPr/>
          <p:nvPr/>
        </p:nvSpPr>
        <p:spPr>
          <a:xfrm>
            <a:off x="182880" y="4142232"/>
            <a:ext cx="8778240" cy="47548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 y="4197096"/>
            <a:ext cx="1463040" cy="365760"/>
          </a:xfrm>
          <a:prstGeom prst="rect">
            <a:avLst/>
          </a:prstGeom>
          <a:noFill/>
        </p:spPr>
        <p:txBody>
          <a:bodyPr wrap="square">
            <a:spAutoFit/>
          </a:bodyPr>
          <a:lstStyle/>
          <a:p>
            <a:pPr algn="l"/>
            <a:r>
              <a:rPr sz="900" b="0" i="0">
                <a:solidFill>
                  <a:srgbClr val="212121"/>
                </a:solidFill>
              </a:rPr>
              <a:t>Human Services</a:t>
            </a:r>
          </a:p>
        </p:txBody>
      </p:sp>
      <p:sp>
        <p:nvSpPr>
          <p:cNvPr id="34" name="TextBox 33"/>
          <p:cNvSpPr txBox="1"/>
          <p:nvPr/>
        </p:nvSpPr>
        <p:spPr>
          <a:xfrm>
            <a:off x="1764792" y="4197096"/>
            <a:ext cx="2286000" cy="365760"/>
          </a:xfrm>
          <a:prstGeom prst="rect">
            <a:avLst/>
          </a:prstGeom>
          <a:noFill/>
        </p:spPr>
        <p:txBody>
          <a:bodyPr wrap="square">
            <a:spAutoFit/>
          </a:bodyPr>
          <a:lstStyle/>
          <a:p>
            <a:pPr algn="l"/>
            <a:r>
              <a:rPr sz="900" b="0" i="0">
                <a:solidFill>
                  <a:srgbClr val="212121"/>
                </a:solidFill>
              </a:rPr>
              <a:t>Supporting people through education, social work, law enforcement, and government.</a:t>
            </a:r>
          </a:p>
        </p:txBody>
      </p:sp>
      <p:sp>
        <p:nvSpPr>
          <p:cNvPr id="35" name="TextBox 34"/>
          <p:cNvSpPr txBox="1"/>
          <p:nvPr/>
        </p:nvSpPr>
        <p:spPr>
          <a:xfrm>
            <a:off x="4123944" y="4197096"/>
            <a:ext cx="1280160" cy="365760"/>
          </a:xfrm>
          <a:prstGeom prst="rect">
            <a:avLst/>
          </a:prstGeom>
          <a:noFill/>
        </p:spPr>
        <p:txBody>
          <a:bodyPr wrap="square">
            <a:spAutoFit/>
          </a:bodyPr>
          <a:lstStyle/>
          <a:p>
            <a:pPr algn="l"/>
            <a:r>
              <a:rPr sz="900" b="0" i="0">
                <a:solidFill>
                  <a:srgbClr val="212121"/>
                </a:solidFill>
              </a:rPr>
              <a:t/>
            </a:r>
          </a:p>
        </p:txBody>
      </p:sp>
      <p:sp>
        <p:nvSpPr>
          <p:cNvPr id="36" name="TextBox 35"/>
          <p:cNvSpPr txBox="1"/>
          <p:nvPr/>
        </p:nvSpPr>
        <p:spPr>
          <a:xfrm>
            <a:off x="5477256" y="4197096"/>
            <a:ext cx="2468880" cy="365760"/>
          </a:xfrm>
          <a:prstGeom prst="rect">
            <a:avLst/>
          </a:prstGeom>
          <a:noFill/>
        </p:spPr>
        <p:txBody>
          <a:bodyPr wrap="square">
            <a:spAutoFit/>
          </a:bodyPr>
          <a:lstStyle/>
          <a:p>
            <a:pPr algn="l"/>
            <a:r>
              <a:rPr sz="900" b="0" i="0">
                <a:solidFill>
                  <a:srgbClr val="212121"/>
                </a:solidFill>
              </a:rPr>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2.1: Minnesota Career Fields &amp; Pathways</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Quick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Which career field interests you MOST right now? Write 3–4 sentences explaining your choice. What careers within that field have you heard of or are curious about?</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2.2  ·  5 minutes</a:t>
            </a:r>
          </a:p>
        </p:txBody>
      </p:sp>
      <p:sp>
        <p:nvSpPr>
          <p:cNvPr id="7" name="Rectangle 6"/>
          <p:cNvSpPr/>
          <p:nvPr/>
        </p:nvSpPr>
        <p:spPr>
          <a:xfrm>
            <a:off x="228600" y="868680"/>
            <a:ext cx="1463040" cy="329184"/>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Career Fields Memory Map</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In 2 minutes: from memory, list as many of the six Minnesota career fields as you can. Under each one, name at least ONE Two Rivers course or program that fits.</a:t>
            </a:r>
          </a:p>
        </p:txBody>
      </p:sp>
      <p:sp>
        <p:nvSpPr>
          <p:cNvPr id="13" name="Rectangle 12"/>
          <p:cNvSpPr/>
          <p:nvPr/>
        </p:nvSpPr>
        <p:spPr>
          <a:xfrm>
            <a:off x="228600" y="4919472"/>
            <a:ext cx="8686800" cy="47548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Compare with a partner — fill in anything you missed</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2.2  |  Unit 2: Career Pathways at Two Rivers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STEM &amp; Health Pathways at TRHS</a:t>
            </a:r>
          </a:p>
        </p:txBody>
      </p:sp>
      <p:sp>
        <p:nvSpPr>
          <p:cNvPr id="6" name="Rectangle 5"/>
          <p:cNvSpPr/>
          <p:nvPr/>
        </p:nvSpPr>
        <p:spPr>
          <a:xfrm>
            <a:off x="182880" y="1024128"/>
            <a:ext cx="8778240" cy="329184"/>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Identify specific TRHS courses that connect to Engineering/Technology and Health Sciences pathways.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Read and summarize course descriptions from the Academic Planning Guide.</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Evaluate which courses in these fields align with their interests and abilities.</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2159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215999"/>
                </a:solidFill>
              </a:rPr>
              <a:t>CTE (Career &amp; Technical Education)</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carrera (course/road) + Latin technica (art, skill) + Latin educare (to lead out, to raise)</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Programs that blend classroom learning with hands-on technical and career-readiness skills.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737360"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664208" cy="320040"/>
          </a:xfrm>
          <a:prstGeom prst="rect">
            <a:avLst/>
          </a:prstGeom>
          <a:noFill/>
        </p:spPr>
        <p:txBody>
          <a:bodyPr wrap="square">
            <a:spAutoFit/>
          </a:bodyPr>
          <a:lstStyle/>
          <a:p>
            <a:pPr algn="ctr"/>
            <a:r>
              <a:rPr sz="1100" b="1" i="0">
                <a:solidFill>
                  <a:srgbClr val="FFFFFF"/>
                </a:solidFill>
              </a:rPr>
              <a:t>10</a:t>
            </a:r>
          </a:p>
        </p:txBody>
      </p:sp>
      <p:sp>
        <p:nvSpPr>
          <p:cNvPr id="33" name="TextBox 32"/>
          <p:cNvSpPr txBox="1"/>
          <p:nvPr/>
        </p:nvSpPr>
        <p:spPr>
          <a:xfrm>
            <a:off x="4572000" y="6163056"/>
            <a:ext cx="1737360"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309360" y="5623560"/>
            <a:ext cx="173736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715000"/>
            <a:ext cx="1664208" cy="320040"/>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6309360" y="6163056"/>
            <a:ext cx="173736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2 — Partial scaffold (key notes provided)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59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Building and Healing: STEM and Health Pathways at Two Rivers</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the TRHS 2026-27 Academic Planning Guide</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Building and Healing: STEM and Health Pathways at Two Rivers  (p. 1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Some of the fastest-growing and highest-paying careers in the United States sit within
two career fields: Engineering, Manufacturing &amp; Technology and Health Sciences
Technology. At Two Rivers High School, students can begin exploring both of these fields
as early as 9th grade through a wide range of courses and, for older students, immersive
CAPS (Career Academy Programs) experiences.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In the Engineering, Manufacturing &amp; Technology field, Two Rivers offers courses that
span a remarkable range: Computer-Aided Design and Drafting (CADD) teaches students to
use industry-standard software to create precise technical drawings. Woodworking I, II,
and III build skills in design, measurement, and precision work with hand and power
tools. Metals teaches welding, fabrication, and metalworking. Small Gas Engine Repair
and Basic Auto Mechanics introduce students to engine systems and real diagnostic work.
Super Mileage Car Design challenges students to design and build a fuel-efficient
vehicle for competition. These courses develop practical skills and problem-solving
habits that transfer directly to engineering, trades, and technology careers.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Building and Healing: STEM and Health Pathways at Two Rivers  (p. 2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In the Health Sciences Technology field, Human Anatomy &amp; Physiology gives students a
rigorous, college-preparatory look at how the human body works — a course that is
considered foundational for any health career, from doctor to nurse to physical
therapist to biomedical engineer. For motivated juniors and seniors, the Certified
Nursing Assistant (CNA) program earns a professional certification that qualifies
graduates for entry-level health care work.</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most immersive options in both fields are the TriDistrict CAPS programs. CAPS
Transportation &amp; Skilled Trades places students in real workplaces in the transportation
industry for a half-day internship in the second semester. CAPS Healthcare &amp; Medicine
places students in a professional healthcare learning center, working alongside real
healthcare providers. Both programs earn 2-3 high school credits plus additional credits
in English or another core subject. They require an application, a recommendation, and a
record of good attendance — because real workplaces demand exactly that.</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'Building and Healing: STEM and Health Pathways at Two Rivers'</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2159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List at least FOUR courses Two Rivers offers in the Engineering, Manufacturing &amp; Technology
field. For each, write one sentence describing what students learn.</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2159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is the Certified Nursing Assistant (CNA) program and what does it earn students?</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2159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is a CAPS program? What makes it different from a regular high school course?</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2159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CAPS programs 'require an application, a recommendation, and a record of good
attendance — because real workplaces demand exactly that.' What does this tell you about how to
prepare for these opportunities starting in 9th grade?</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2159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Which course or program from this reading interests you most? What career does it connect to?
What would you need to do to qualify for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2.2</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A Day in the Life — Skilled Trades &amp; Healthcare Careers</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CareerOneStop (U.S. Department of Labor)  ·  approx. 5 min</a:t>
            </a:r>
          </a:p>
        </p:txBody>
      </p:sp>
      <p:sp>
        <p:nvSpPr>
          <p:cNvPr id="9" name="Rectangle 8"/>
          <p:cNvSpPr/>
          <p:nvPr/>
        </p:nvSpPr>
        <p:spPr>
          <a:xfrm>
            <a:off x="365760" y="2377440"/>
            <a:ext cx="8412480" cy="2743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2159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surprised you about what these workers actually do day-to-day?</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"Why Trades Are the Best Kept Secret in America"  |  Mike Rowe / TED</a:t>
            </a:r>
          </a:p>
        </p:txBody>
      </p:sp>
      <p:sp>
        <p:nvSpPr>
          <p:cNvPr id="16" name="Rectangle 15">
            <a:hlinkClick r:id="rId3"/>
          </p:cNvPr>
          <p:cNvSpPr/>
          <p:nvPr/>
        </p:nvSpPr>
        <p:spPr>
          <a:xfrm>
            <a:off x="2743200" y="4480560"/>
            <a:ext cx="3657600" cy="7498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Video"  —  Lesson 2.2</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850392"/>
          </a:xfrm>
          <a:prstGeom prst="rect">
            <a:avLst/>
          </a:prstGeom>
          <a:noFill/>
        </p:spPr>
        <p:txBody>
          <a:bodyPr wrap="square">
            <a:spAutoFit/>
          </a:bodyPr>
          <a:lstStyle/>
          <a:p>
            <a:pPr algn="l">
              <a:lnSpc>
                <a:spcPts val="1500"/>
              </a:lnSpc>
            </a:pPr>
            <a:r>
              <a:rPr sz="1000" b="0" i="0">
                <a:solidFill>
                  <a:srgbClr val="212121"/>
                </a:solidFill>
              </a:rPr>
              <a:t>The Two Rivers website had a video about CAPS. Eli watched it during lunch, headphones in,
alone at the end of a table. In it, a junior was standing in an actual auto body shop, talking
about a real car he'd helped restore. He looked comfortable. He looked like he knew what he
was doing.</a:t>
            </a:r>
          </a:p>
        </p:txBody>
      </p:sp>
      <p:sp>
        <p:nvSpPr>
          <p:cNvPr id="7" name="TextBox 6"/>
          <p:cNvSpPr txBox="1"/>
          <p:nvPr/>
        </p:nvSpPr>
        <p:spPr>
          <a:xfrm>
            <a:off x="228600" y="1737360"/>
            <a:ext cx="8686800" cy="246888"/>
          </a:xfrm>
          <a:prstGeom prst="rect">
            <a:avLst/>
          </a:prstGeom>
          <a:noFill/>
        </p:spPr>
        <p:txBody>
          <a:bodyPr wrap="square">
            <a:spAutoFit/>
          </a:bodyPr>
          <a:lstStyle/>
          <a:p>
            <a:pPr algn="l">
              <a:lnSpc>
                <a:spcPts val="1500"/>
              </a:lnSpc>
            </a:pPr>
            <a:r>
              <a:rPr sz="1000" b="0" i="0">
                <a:solidFill>
                  <a:srgbClr val="212121"/>
                </a:solidFill>
              </a:rPr>
              <a:t>Eli watched it twice.</a:t>
            </a:r>
          </a:p>
        </p:txBody>
      </p:sp>
      <p:sp>
        <p:nvSpPr>
          <p:cNvPr id="8" name="TextBox 7"/>
          <p:cNvSpPr txBox="1"/>
          <p:nvPr/>
        </p:nvSpPr>
        <p:spPr>
          <a:xfrm>
            <a:off x="228600" y="1993391"/>
            <a:ext cx="8686800" cy="246888"/>
          </a:xfrm>
          <a:prstGeom prst="rect">
            <a:avLst/>
          </a:prstGeom>
          <a:noFill/>
        </p:spPr>
        <p:txBody>
          <a:bodyPr wrap="square">
            <a:spAutoFit/>
          </a:bodyPr>
          <a:lstStyle/>
          <a:p>
            <a:pPr algn="l">
              <a:lnSpc>
                <a:spcPts val="1500"/>
              </a:lnSpc>
            </a:pPr>
            <a:r>
              <a:rPr sz="1050" b="0" i="1">
                <a:solidFill>
                  <a:srgbClr val="1A1A6E"/>
                </a:solidFill>
              </a:rPr>
              <a:t>Maya sat down across from him. "What are you watching?"</a:t>
            </a:r>
          </a:p>
        </p:txBody>
      </p:sp>
      <p:sp>
        <p:nvSpPr>
          <p:cNvPr id="9" name="TextBox 8"/>
          <p:cNvSpPr txBox="1"/>
          <p:nvPr/>
        </p:nvSpPr>
        <p:spPr>
          <a:xfrm>
            <a:off x="228600" y="2249424"/>
            <a:ext cx="8686800" cy="246888"/>
          </a:xfrm>
          <a:prstGeom prst="rect">
            <a:avLst/>
          </a:prstGeom>
          <a:noFill/>
        </p:spPr>
        <p:txBody>
          <a:bodyPr wrap="square">
            <a:spAutoFit/>
          </a:bodyPr>
          <a:lstStyle/>
          <a:p>
            <a:pPr algn="l">
              <a:lnSpc>
                <a:spcPts val="1500"/>
              </a:lnSpc>
            </a:pPr>
            <a:r>
              <a:rPr sz="1050" b="0" i="1">
                <a:solidFill>
                  <a:srgbClr val="1A1A6E"/>
                </a:solidFill>
              </a:rPr>
              <a:t>He turned his phone over. "Nothing."</a:t>
            </a:r>
          </a:p>
        </p:txBody>
      </p:sp>
      <p:sp>
        <p:nvSpPr>
          <p:cNvPr id="10" name="TextBox 9"/>
          <p:cNvSpPr txBox="1"/>
          <p:nvPr/>
        </p:nvSpPr>
        <p:spPr>
          <a:xfrm>
            <a:off x="228600" y="2505456"/>
            <a:ext cx="8686800" cy="246888"/>
          </a:xfrm>
          <a:prstGeom prst="rect">
            <a:avLst/>
          </a:prstGeom>
          <a:noFill/>
        </p:spPr>
        <p:txBody>
          <a:bodyPr wrap="square">
            <a:spAutoFit/>
          </a:bodyPr>
          <a:lstStyle/>
          <a:p>
            <a:pPr algn="l">
              <a:lnSpc>
                <a:spcPts val="1500"/>
              </a:lnSpc>
            </a:pPr>
            <a:r>
              <a:rPr sz="1000" b="0" i="0">
                <a:solidFill>
                  <a:srgbClr val="212121"/>
                </a:solidFill>
              </a:rPr>
              <a:t>She looked at him. He turned it back over and showed her.</a:t>
            </a:r>
          </a:p>
        </p:txBody>
      </p:sp>
      <p:sp>
        <p:nvSpPr>
          <p:cNvPr id="11" name="TextBox 10"/>
          <p:cNvSpPr txBox="1"/>
          <p:nvPr/>
        </p:nvSpPr>
        <p:spPr>
          <a:xfrm>
            <a:off x="228600" y="2761488"/>
            <a:ext cx="8686800" cy="246888"/>
          </a:xfrm>
          <a:prstGeom prst="rect">
            <a:avLst/>
          </a:prstGeom>
          <a:noFill/>
        </p:spPr>
        <p:txBody>
          <a:bodyPr wrap="square">
            <a:spAutoFit/>
          </a:bodyPr>
          <a:lstStyle/>
          <a:p>
            <a:pPr algn="l">
              <a:lnSpc>
                <a:spcPts val="1500"/>
              </a:lnSpc>
            </a:pPr>
            <a:r>
              <a:rPr sz="1050" b="0" i="1">
                <a:solidFill>
                  <a:srgbClr val="1A1A6E"/>
                </a:solidFill>
              </a:rPr>
              <a:t>She watched for a minute. "The Transportation CAPS?"</a:t>
            </a:r>
          </a:p>
        </p:txBody>
      </p:sp>
      <p:sp>
        <p:nvSpPr>
          <p:cNvPr id="12" name="TextBox 11"/>
          <p:cNvSpPr txBox="1"/>
          <p:nvPr/>
        </p:nvSpPr>
        <p:spPr>
          <a:xfrm>
            <a:off x="228600" y="3017520"/>
            <a:ext cx="8686800" cy="246888"/>
          </a:xfrm>
          <a:prstGeom prst="rect">
            <a:avLst/>
          </a:prstGeom>
          <a:noFill/>
        </p:spPr>
        <p:txBody>
          <a:bodyPr wrap="square">
            <a:spAutoFit/>
          </a:bodyPr>
          <a:lstStyle/>
          <a:p>
            <a:pPr algn="l">
              <a:lnSpc>
                <a:spcPts val="1500"/>
              </a:lnSpc>
            </a:pPr>
            <a:r>
              <a:rPr sz="1050" b="0" i="1">
                <a:solidFill>
                  <a:srgbClr val="1A1A6E"/>
                </a:solidFill>
              </a:rPr>
              <a:t>"Yeah."</a:t>
            </a:r>
          </a:p>
        </p:txBody>
      </p:sp>
      <p:sp>
        <p:nvSpPr>
          <p:cNvPr id="13" name="TextBox 12"/>
          <p:cNvSpPr txBox="1"/>
          <p:nvPr/>
        </p:nvSpPr>
        <p:spPr>
          <a:xfrm>
            <a:off x="228600" y="3273552"/>
            <a:ext cx="8686800" cy="246888"/>
          </a:xfrm>
          <a:prstGeom prst="rect">
            <a:avLst/>
          </a:prstGeom>
          <a:noFill/>
        </p:spPr>
        <p:txBody>
          <a:bodyPr wrap="square">
            <a:spAutoFit/>
          </a:bodyPr>
          <a:lstStyle/>
          <a:p>
            <a:pPr algn="l">
              <a:lnSpc>
                <a:spcPts val="1500"/>
              </a:lnSpc>
            </a:pPr>
            <a:r>
              <a:rPr sz="1050" b="0" i="1">
                <a:solidFill>
                  <a:srgbClr val="1A1A6E"/>
                </a:solidFill>
              </a:rPr>
              <a:t>"Are you thinking about it?"</a:t>
            </a:r>
          </a:p>
        </p:txBody>
      </p:sp>
      <p:sp>
        <p:nvSpPr>
          <p:cNvPr id="14" name="TextBox 13"/>
          <p:cNvSpPr txBox="1"/>
          <p:nvPr/>
        </p:nvSpPr>
        <p:spPr>
          <a:xfrm>
            <a:off x="228600" y="3529584"/>
            <a:ext cx="8686800" cy="448056"/>
          </a:xfrm>
          <a:prstGeom prst="rect">
            <a:avLst/>
          </a:prstGeom>
          <a:noFill/>
        </p:spPr>
        <p:txBody>
          <a:bodyPr wrap="square">
            <a:spAutoFit/>
          </a:bodyPr>
          <a:lstStyle/>
          <a:p>
            <a:pPr algn="l">
              <a:lnSpc>
                <a:spcPts val="1500"/>
              </a:lnSpc>
            </a:pPr>
            <a:r>
              <a:rPr sz="1050" b="0" i="1">
                <a:solidFill>
                  <a:srgbClr val="1A1A6E"/>
                </a:solidFill>
              </a:rPr>
              <a:t>"I don't know. Maybe." He put his phone down. "My uncle has a shop. I work there on weekends.
I actually like it. Like, actually like it, not just saying that."</a:t>
            </a:r>
          </a:p>
        </p:txBody>
      </p:sp>
      <p:sp>
        <p:nvSpPr>
          <p:cNvPr id="15" name="TextBox 14"/>
          <p:cNvSpPr txBox="1"/>
          <p:nvPr/>
        </p:nvSpPr>
        <p:spPr>
          <a:xfrm>
            <a:off x="228600" y="3986784"/>
            <a:ext cx="8686800" cy="246888"/>
          </a:xfrm>
          <a:prstGeom prst="rect">
            <a:avLst/>
          </a:prstGeom>
          <a:noFill/>
        </p:spPr>
        <p:txBody>
          <a:bodyPr wrap="square">
            <a:spAutoFit/>
          </a:bodyPr>
          <a:lstStyle/>
          <a:p>
            <a:pPr algn="l">
              <a:lnSpc>
                <a:spcPts val="1500"/>
              </a:lnSpc>
            </a:pPr>
            <a:r>
              <a:rPr sz="1050" b="0" i="1">
                <a:solidFill>
                  <a:srgbClr val="1A1A6E"/>
                </a:solidFill>
              </a:rPr>
              <a:t>"So apply."</a:t>
            </a:r>
          </a:p>
        </p:txBody>
      </p:sp>
      <p:sp>
        <p:nvSpPr>
          <p:cNvPr id="16" name="TextBox 15"/>
          <p:cNvSpPr txBox="1"/>
          <p:nvPr/>
        </p:nvSpPr>
        <p:spPr>
          <a:xfrm>
            <a:off x="228600" y="4242816"/>
            <a:ext cx="8686800" cy="246888"/>
          </a:xfrm>
          <a:prstGeom prst="rect">
            <a:avLst/>
          </a:prstGeom>
          <a:noFill/>
        </p:spPr>
        <p:txBody>
          <a:bodyPr wrap="square">
            <a:spAutoFit/>
          </a:bodyPr>
          <a:lstStyle/>
          <a:p>
            <a:pPr algn="l">
              <a:lnSpc>
                <a:spcPts val="1500"/>
              </a:lnSpc>
            </a:pPr>
            <a:r>
              <a:rPr sz="1050" b="0" i="1">
                <a:solidFill>
                  <a:srgbClr val="1A1A6E"/>
                </a:solidFill>
              </a:rPr>
              <a:t>"It's a whole thing. You have to write something. Interview maybe."</a:t>
            </a:r>
          </a:p>
        </p:txBody>
      </p:sp>
      <p:sp>
        <p:nvSpPr>
          <p:cNvPr id="17" name="TextBox 16"/>
          <p:cNvSpPr txBox="1"/>
          <p:nvPr/>
        </p:nvSpPr>
        <p:spPr>
          <a:xfrm>
            <a:off x="228600" y="4498848"/>
            <a:ext cx="8686800" cy="246888"/>
          </a:xfrm>
          <a:prstGeom prst="rect">
            <a:avLst/>
          </a:prstGeom>
          <a:noFill/>
        </p:spPr>
        <p:txBody>
          <a:bodyPr wrap="square">
            <a:spAutoFit/>
          </a:bodyPr>
          <a:lstStyle/>
          <a:p>
            <a:pPr algn="l">
              <a:lnSpc>
                <a:spcPts val="1500"/>
              </a:lnSpc>
            </a:pPr>
            <a:r>
              <a:rPr sz="1050" b="0" i="1">
                <a:solidFill>
                  <a:srgbClr val="1A1A6E"/>
                </a:solidFill>
              </a:rPr>
              <a:t>"Eli. You literally already do this job."</a:t>
            </a:r>
          </a:p>
        </p:txBody>
      </p:sp>
      <p:sp>
        <p:nvSpPr>
          <p:cNvPr id="18" name="TextBox 17"/>
          <p:cNvSpPr txBox="1"/>
          <p:nvPr/>
        </p:nvSpPr>
        <p:spPr>
          <a:xfrm>
            <a:off x="228600" y="4754880"/>
            <a:ext cx="8686800" cy="246888"/>
          </a:xfrm>
          <a:prstGeom prst="rect">
            <a:avLst/>
          </a:prstGeom>
          <a:noFill/>
        </p:spPr>
        <p:txBody>
          <a:bodyPr wrap="square">
            <a:spAutoFit/>
          </a:bodyPr>
          <a:lstStyle/>
          <a:p>
            <a:pPr algn="l">
              <a:lnSpc>
                <a:spcPts val="1500"/>
              </a:lnSpc>
            </a:pPr>
            <a:r>
              <a:rPr sz="1050" b="0" i="1">
                <a:solidFill>
                  <a:srgbClr val="1A1A6E"/>
                </a:solidFill>
              </a:rPr>
              <a:t>"It's different."</a:t>
            </a:r>
          </a:p>
        </p:txBody>
      </p:sp>
      <p:sp>
        <p:nvSpPr>
          <p:cNvPr id="19" name="TextBox 18"/>
          <p:cNvSpPr txBox="1"/>
          <p:nvPr/>
        </p:nvSpPr>
        <p:spPr>
          <a:xfrm>
            <a:off x="228600" y="5010912"/>
            <a:ext cx="8686800" cy="448056"/>
          </a:xfrm>
          <a:prstGeom prst="rect">
            <a:avLst/>
          </a:prstGeom>
          <a:noFill/>
        </p:spPr>
        <p:txBody>
          <a:bodyPr wrap="square">
            <a:spAutoFit/>
          </a:bodyPr>
          <a:lstStyle/>
          <a:p>
            <a:pPr algn="l">
              <a:lnSpc>
                <a:spcPts val="1500"/>
              </a:lnSpc>
            </a:pPr>
            <a:r>
              <a:rPr sz="1000" b="0" i="0">
                <a:solidFill>
                  <a:srgbClr val="212121"/>
                </a:solidFill>
              </a:rPr>
              <a:t>Maya looked at him. She knew what 'it's different' meant. It meant: what if I apply and don't
get in. It meant: what if I try for something real and it doesn't work.</a:t>
            </a:r>
          </a:p>
        </p:txBody>
      </p:sp>
      <p:sp>
        <p:nvSpPr>
          <p:cNvPr id="20" name="TextBox 19"/>
          <p:cNvSpPr txBox="1"/>
          <p:nvPr/>
        </p:nvSpPr>
        <p:spPr>
          <a:xfrm>
            <a:off x="228600" y="5468112"/>
            <a:ext cx="8686800" cy="246888"/>
          </a:xfrm>
          <a:prstGeom prst="rect">
            <a:avLst/>
          </a:prstGeom>
          <a:noFill/>
        </p:spPr>
        <p:txBody>
          <a:bodyPr wrap="square">
            <a:spAutoFit/>
          </a:bodyPr>
          <a:lstStyle/>
          <a:p>
            <a:pPr algn="l">
              <a:lnSpc>
                <a:spcPts val="1500"/>
              </a:lnSpc>
            </a:pPr>
            <a:r>
              <a:rPr sz="1050" b="0" i="1">
                <a:solidFill>
                  <a:srgbClr val="1A1A6E"/>
                </a:solidFill>
              </a:rPr>
              <a:t>"The application's on the planning guide," she said carefully. "It's not that long."</a:t>
            </a:r>
          </a:p>
        </p:txBody>
      </p:sp>
      <p:sp>
        <p:nvSpPr>
          <p:cNvPr id="21" name="TextBox 20"/>
          <p:cNvSpPr txBox="1"/>
          <p:nvPr/>
        </p:nvSpPr>
        <p:spPr>
          <a:xfrm>
            <a:off x="228600" y="5724144"/>
            <a:ext cx="8686800" cy="246888"/>
          </a:xfrm>
          <a:prstGeom prst="rect">
            <a:avLst/>
          </a:prstGeom>
          <a:noFill/>
        </p:spPr>
        <p:txBody>
          <a:bodyPr wrap="square">
            <a:spAutoFit/>
          </a:bodyPr>
          <a:lstStyle/>
          <a:p>
            <a:pPr algn="l">
              <a:lnSpc>
                <a:spcPts val="1500"/>
              </a:lnSpc>
            </a:pPr>
            <a:r>
              <a:rPr sz="1050" b="0" i="1">
                <a:solidFill>
                  <a:srgbClr val="1A1A6E"/>
                </a:solidFill>
              </a:rPr>
              <a:t>"I know. I looked."</a:t>
            </a:r>
          </a:p>
        </p:txBody>
      </p:sp>
      <p:sp>
        <p:nvSpPr>
          <p:cNvPr id="22" name="TextBox 21"/>
          <p:cNvSpPr txBox="1"/>
          <p:nvPr/>
        </p:nvSpPr>
        <p:spPr>
          <a:xfrm>
            <a:off x="228600" y="5980176"/>
            <a:ext cx="8686800" cy="246888"/>
          </a:xfrm>
          <a:prstGeom prst="rect">
            <a:avLst/>
          </a:prstGeom>
          <a:noFill/>
        </p:spPr>
        <p:txBody>
          <a:bodyPr wrap="square">
            <a:spAutoFit/>
          </a:bodyPr>
          <a:lstStyle/>
          <a:p>
            <a:pPr algn="l">
              <a:lnSpc>
                <a:spcPts val="1500"/>
              </a:lnSpc>
            </a:pPr>
            <a:r>
              <a:rPr sz="1050" b="0" i="1">
                <a:solidFill>
                  <a:srgbClr val="1A1A6E"/>
                </a:solidFill>
              </a:rPr>
              <a:t>"You looked."</a:t>
            </a:r>
          </a:p>
        </p:txBody>
      </p:sp>
      <p:sp>
        <p:nvSpPr>
          <p:cNvPr id="23" name="TextBox 22"/>
          <p:cNvSpPr txBox="1"/>
          <p:nvPr/>
        </p:nvSpPr>
        <p:spPr>
          <a:xfrm>
            <a:off x="228600" y="6236208"/>
            <a:ext cx="8686800" cy="246888"/>
          </a:xfrm>
          <a:prstGeom prst="rect">
            <a:avLst/>
          </a:prstGeom>
          <a:noFill/>
        </p:spPr>
        <p:txBody>
          <a:bodyPr wrap="square">
            <a:spAutoFit/>
          </a:bodyPr>
          <a:lstStyle/>
          <a:p>
            <a:pPr algn="l">
              <a:lnSpc>
                <a:spcPts val="1500"/>
              </a:lnSpc>
            </a:pPr>
            <a:r>
              <a:rPr sz="1050" b="0" i="1">
                <a:solidFill>
                  <a:srgbClr val="1A1A6E"/>
                </a:solidFill>
              </a:rPr>
              <a:t>"Yeah."</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Video"</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Eli has real-world experience in exactly the CAPS field he's interested in. Why hasn't he
applied?</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figures out what 'it's different' really means without Eli saying it. What does she
understand that Eli isn't saying out loud?</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What's the difference between researching something (Eli has the tab open) and actually
moving toward it? What makes that gap hard to close?</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Is there something you've already looked into but haven't acted on? What would it take to
take one actual step this week?</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Course Descriptions from the Planning Guide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Two Rivers offers a wide range of technical courses you can take as early as 9th grade.
In Engineering &amp; Technology, courses like CADD and Woodworking teach you to design,
build, and problem-solve with real tools. In Health Sciences, Human Anatomy &amp; Physiology
gives you a rigorous look at how the human body works — a foundation for any health
career. The CAPS (Career Academy Programs) are the most immersive option: year-long
courses where you work alongside professionals and complete a real internship.</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Would you rather take a traditional course or a CAPS internship experience? What does your answer tell you about how you learn?</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Course Connection Chart</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Pick TWO courses from the list above that you find most interesting. For each one,
complete the chart below using information from the Academic Planning Guide.</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2159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CAPS programs require an application and a strong attendance record — because real workplaces demand exactly that.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Course Connection Chart  —  Lesson 2.2</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10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Choose the TWO courses from today's reading that interest you most. Use the Academic Planning Guide to complete the chart for each one.</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Choose the TWO courses from today's reading that interest you most. Use the Academic Planning Guide to complete the chart for each one.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2.2: STEM &amp; Health Pathways at TRHS</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Sentence Stems</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8412480" cy="347472"/>
          </a:xfrm>
          <a:prstGeom prst="rect">
            <a:avLst/>
          </a:prstGeom>
          <a:noFill/>
        </p:spPr>
        <p:txBody>
          <a:bodyPr wrap="square">
            <a:spAutoFit/>
          </a:bodyPr>
          <a:lstStyle/>
          <a:p>
            <a:pPr algn="l"/>
            <a:r>
              <a:rPr sz="1100" b="0" i="1">
                <a:solidFill>
                  <a:srgbClr val="212121"/>
                </a:solidFill>
              </a:rPr>
              <a:t>One course in Engineering/Technology or Health Sciences that I would consider taking is _____ because…</a:t>
            </a:r>
          </a:p>
        </p:txBody>
      </p:sp>
      <p:sp>
        <p:nvSpPr>
          <p:cNvPr id="9" name="Rectangle 8"/>
          <p:cNvSpPr/>
          <p:nvPr/>
        </p:nvSpPr>
        <p:spPr>
          <a:xfrm>
            <a:off x="228600" y="150876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9202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96596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011680"/>
            <a:ext cx="8412480" cy="347472"/>
          </a:xfrm>
          <a:prstGeom prst="rect">
            <a:avLst/>
          </a:prstGeom>
          <a:noFill/>
        </p:spPr>
        <p:txBody>
          <a:bodyPr wrap="square">
            <a:spAutoFit/>
          </a:bodyPr>
          <a:lstStyle/>
          <a:p>
            <a:pPr algn="l"/>
            <a:r>
              <a:rPr sz="1100" b="0" i="1">
                <a:solidFill>
                  <a:srgbClr val="212121"/>
                </a:solidFill>
              </a:rPr>
              <a:t>Something I did NOT know about TRHS course options before today is…</a:t>
            </a:r>
          </a:p>
        </p:txBody>
      </p:sp>
      <p:sp>
        <p:nvSpPr>
          <p:cNvPr id="13" name="Rectangle 12"/>
          <p:cNvSpPr/>
          <p:nvPr/>
        </p:nvSpPr>
        <p:spPr>
          <a:xfrm>
            <a:off x="228600" y="24688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288036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2.3  ·  5 minutes</a:t>
            </a:r>
          </a:p>
        </p:txBody>
      </p:sp>
      <p:sp>
        <p:nvSpPr>
          <p:cNvPr id="7" name="Rectangle 6"/>
          <p:cNvSpPr/>
          <p:nvPr/>
        </p:nvSpPr>
        <p:spPr>
          <a:xfrm>
            <a:off x="228600" y="868680"/>
            <a:ext cx="1463040"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ANTICIPATION</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What Does a Communicator Do?</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Quick write: What job do you picture when you hear 'Arts, Communications, and Information Systems'? Do you think that field pays well? Do you think it's in demand? Explain your reasoning.</a:t>
            </a:r>
          </a:p>
        </p:txBody>
      </p:sp>
      <p:sp>
        <p:nvSpPr>
          <p:cNvPr id="13" name="Rectangle 12"/>
          <p:cNvSpPr/>
          <p:nvPr/>
        </p:nvSpPr>
        <p:spPr>
          <a:xfrm>
            <a:off x="228600" y="4919472"/>
            <a:ext cx="8686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Pair-share → 2 volunteers</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2.3  |  Unit 2: Career Pathways at Two Rivers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Arts, Business &amp; Human Services Pathways</a:t>
            </a:r>
          </a:p>
        </p:txBody>
      </p:sp>
      <p:sp>
        <p:nvSpPr>
          <p:cNvPr id="6" name="Rectangle 5"/>
          <p:cNvSpPr/>
          <p:nvPr/>
        </p:nvSpPr>
        <p:spPr>
          <a:xfrm>
            <a:off x="182880" y="1024128"/>
            <a:ext cx="8778240" cy="329184"/>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Identify TRHS courses connected to Arts/Communications, Business/Management, and Human Services.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Compare two different career pathways using evidence from the Academic Planning Guide.</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Articulate how their personal interests and strengths connect to one or more pathways.</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2159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215999"/>
                </a:solidFill>
              </a:rPr>
              <a:t>Internship</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internus (within, inside) — learning from inside an organization</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supervised experience inside a professional workplace that provides real-world career training.</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737360"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664208" cy="320040"/>
          </a:xfrm>
          <a:prstGeom prst="rect">
            <a:avLst/>
          </a:prstGeom>
          <a:noFill/>
        </p:spPr>
        <p:txBody>
          <a:bodyPr wrap="square">
            <a:spAutoFit/>
          </a:bodyPr>
          <a:lstStyle/>
          <a:p>
            <a:pPr algn="ctr"/>
            <a:r>
              <a:rPr sz="1100" b="1" i="0">
                <a:solidFill>
                  <a:srgbClr val="FFFFFF"/>
                </a:solidFill>
              </a:rPr>
              <a:t>10</a:t>
            </a:r>
          </a:p>
        </p:txBody>
      </p:sp>
      <p:sp>
        <p:nvSpPr>
          <p:cNvPr id="33" name="TextBox 32"/>
          <p:cNvSpPr txBox="1"/>
          <p:nvPr/>
        </p:nvSpPr>
        <p:spPr>
          <a:xfrm>
            <a:off x="4572000" y="6163056"/>
            <a:ext cx="1737360"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309360" y="5623560"/>
            <a:ext cx="173736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715000"/>
            <a:ext cx="1664208" cy="320040"/>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6309360" y="6163056"/>
            <a:ext cx="173736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3 — Light scaffold (guiding questions only)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2159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Create, Connect, Lead: Arts, Business, and Human Services at Two Rivers</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the TRHS 2026-27 Academic Planning Guide</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Create, Connect, Lead: Arts, Business, and Human Services at Two Rivers  (p. 1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Not every student is drawn to building engines or working in hospitals. Two Rivers High
School offers equally rich pathways in the Arts, Communications &amp; Information Systems
field; Business, Management &amp; Administration; and Human Services. These three career
fields cover careers in creativity, commerce, and community — and they are more
connected to each other than you might think.</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Arts, Communications &amp; Information Systems field at Two Rivers is one of the
broadest in the school. Visual artists can study Drawing, Painting, Ceramics, Sculpture,
Digital Art, and AP Studio Art. Students interested in media and production can take
Video Production, Mass Media Production, Intro to Photography, and Advanced Photography.
Musicians can choose from Concert Band, Symphonic Band, Wind Ensemble, Concert
Orchestra, Philharmonic Orchestra, or multiple choirs — and students interested in the
technology of music can take Digital Music Production I &amp; II or Music Theory. Students
drawn to technology itself can take Intro to Computer Science or AP Computer Science
Principles. The CAPS Computer Science &amp; Information Technology program earns students 3
elective credits and an industry-recognized A+ certification.</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Create, Connect, Lead: Arts, Business, and Human Services at Two Rivers  (p. 2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The Business, Management &amp; Administration field offers a pipeline from Introduction to
Business &amp; Entrepreneurship and Accounting I (available in 9th grade) through Personal
Finance, AP Business with Personal Finance, and Sales, Marketing &amp; School Store
Management. The CAPS Business &amp; Entrepreneurship program places juniors and seniors at
Evolve Workplace in St. Paul, where they complete an actual business internship and earn
2 elective credits plus 1 English credit.</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Human Services is the field focused on people: education, social work, law, government,
and community support. At Two Rivers, students interested in this field can take Child
Psychology, Introduction to Personal Law, Psychology, Youth Leadership, and the CIS
Exploring the Teaching Profession course — which includes a supervised field experience
in a real classroom at the University of Minnesota. If you care about people, justice,
education, or community, this field has a pathway for you.</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'Create, Connect, Lead: Arts, Business, and Human Services at Two Rivers'</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2159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List THREE specific courses from the Arts, Communications &amp; Information Systems field that
interest you. For each, write one sentence explaining why.</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2159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does the CAPS Computer Science &amp; IT program earn students, and what is an A+
certification?</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2159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Trace a career pathway from one of the Business courses at Two Rivers all the way to a specific
career after high school. What courses would you take? What would you do after graduation?</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2159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Arts, Business, and Human Services are 'more connected to each other than you
might think.' Can you think of an example of a career that connects at least two of these
fields?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2159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Which of the three fields in this reading interests you most: Arts &amp; Communications, Business,
or Human Services? Use specific details from the reading to justify your answer.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2.3</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Careers in Tech, Arts, and Business — What Do They Pay?</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CareerOneStop (U.S. Department of Labor)  ·  approx. 4 min</a:t>
            </a:r>
          </a:p>
        </p:txBody>
      </p:sp>
      <p:sp>
        <p:nvSpPr>
          <p:cNvPr id="9" name="Rectangle 8"/>
          <p:cNvSpPr/>
          <p:nvPr/>
        </p:nvSpPr>
        <p:spPr>
          <a:xfrm>
            <a:off x="365760" y="2377440"/>
            <a:ext cx="8412480" cy="2743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2159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Pick one career from this video. Look up its median salary and write it down.</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"Computer Science Is Changing Everything"  |  Code.org</a:t>
            </a:r>
          </a:p>
        </p:txBody>
      </p:sp>
      <p:sp>
        <p:nvSpPr>
          <p:cNvPr id="16" name="Rectangle 15">
            <a:hlinkClick r:id="rId3"/>
          </p:cNvPr>
          <p:cNvSpPr/>
          <p:nvPr/>
        </p:nvSpPr>
        <p:spPr>
          <a:xfrm>
            <a:off x="2743200" y="4480560"/>
            <a:ext cx="3657600" cy="7498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"She Drew It"  —  Lesson 2.3</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00" b="0" i="0">
                <a:solidFill>
                  <a:srgbClr val="212121"/>
                </a:solidFill>
              </a:rPr>
              <a:t>The assignment was to research one career from the Arts, Communications, and Information
Systems field. Jordan put YouTuber on his paper and then stared at the ceiling.</a:t>
            </a:r>
          </a:p>
        </p:txBody>
      </p:sp>
      <p:sp>
        <p:nvSpPr>
          <p:cNvPr id="7" name="TextBox 6"/>
          <p:cNvSpPr txBox="1"/>
          <p:nvPr/>
        </p:nvSpPr>
        <p:spPr>
          <a:xfrm>
            <a:off x="228600" y="1335024"/>
            <a:ext cx="8686800" cy="246888"/>
          </a:xfrm>
          <a:prstGeom prst="rect">
            <a:avLst/>
          </a:prstGeom>
          <a:noFill/>
        </p:spPr>
        <p:txBody>
          <a:bodyPr wrap="square">
            <a:spAutoFit/>
          </a:bodyPr>
          <a:lstStyle/>
          <a:p>
            <a:pPr algn="l">
              <a:lnSpc>
                <a:spcPts val="1500"/>
              </a:lnSpc>
            </a:pPr>
            <a:r>
              <a:rPr sz="1000" b="0" i="0">
                <a:solidFill>
                  <a:srgbClr val="212121"/>
                </a:solidFill>
              </a:rPr>
              <a:t>Priya drew something.</a:t>
            </a:r>
          </a:p>
        </p:txBody>
      </p:sp>
      <p:sp>
        <p:nvSpPr>
          <p:cNvPr id="8" name="TextBox 7"/>
          <p:cNvSpPr txBox="1"/>
          <p:nvPr/>
        </p:nvSpPr>
        <p:spPr>
          <a:xfrm>
            <a:off x="228600" y="1591056"/>
            <a:ext cx="8686800" cy="448056"/>
          </a:xfrm>
          <a:prstGeom prst="rect">
            <a:avLst/>
          </a:prstGeom>
          <a:noFill/>
        </p:spPr>
        <p:txBody>
          <a:bodyPr wrap="square">
            <a:spAutoFit/>
          </a:bodyPr>
          <a:lstStyle/>
          <a:p>
            <a:pPr algn="l">
              <a:lnSpc>
                <a:spcPts val="1500"/>
              </a:lnSpc>
            </a:pPr>
            <a:r>
              <a:rPr sz="1000" b="0" i="0">
                <a:solidFill>
                  <a:srgbClr val="212121"/>
                </a:solidFill>
              </a:rPr>
              <a:t>She drew it small, in the margin of her notes — a logo, with letters arranged in an arc, like
something you'd see on a real company's signage. She didn't think about it. She just drew it.</a:t>
            </a:r>
          </a:p>
        </p:txBody>
      </p:sp>
      <p:sp>
        <p:nvSpPr>
          <p:cNvPr id="9" name="TextBox 8"/>
          <p:cNvSpPr txBox="1"/>
          <p:nvPr/>
        </p:nvSpPr>
        <p:spPr>
          <a:xfrm>
            <a:off x="228600" y="2048256"/>
            <a:ext cx="8686800" cy="246888"/>
          </a:xfrm>
          <a:prstGeom prst="rect">
            <a:avLst/>
          </a:prstGeom>
          <a:noFill/>
        </p:spPr>
        <p:txBody>
          <a:bodyPr wrap="square">
            <a:spAutoFit/>
          </a:bodyPr>
          <a:lstStyle/>
          <a:p>
            <a:pPr algn="l">
              <a:lnSpc>
                <a:spcPts val="1500"/>
              </a:lnSpc>
            </a:pPr>
            <a:r>
              <a:rPr sz="1050" b="0" i="1">
                <a:solidFill>
                  <a:srgbClr val="1A1A6E"/>
                </a:solidFill>
              </a:rPr>
              <a:t>Jordan looked over. "What is that?"</a:t>
            </a:r>
          </a:p>
        </p:txBody>
      </p:sp>
      <p:sp>
        <p:nvSpPr>
          <p:cNvPr id="10" name="TextBox 9"/>
          <p:cNvSpPr txBox="1"/>
          <p:nvPr/>
        </p:nvSpPr>
        <p:spPr>
          <a:xfrm>
            <a:off x="228600" y="2304288"/>
            <a:ext cx="8686800" cy="246888"/>
          </a:xfrm>
          <a:prstGeom prst="rect">
            <a:avLst/>
          </a:prstGeom>
          <a:noFill/>
        </p:spPr>
        <p:txBody>
          <a:bodyPr wrap="square">
            <a:spAutoFit/>
          </a:bodyPr>
          <a:lstStyle/>
          <a:p>
            <a:pPr algn="l">
              <a:lnSpc>
                <a:spcPts val="1500"/>
              </a:lnSpc>
            </a:pPr>
            <a:r>
              <a:rPr sz="1050" b="0" i="1">
                <a:solidFill>
                  <a:srgbClr val="1A1A6E"/>
                </a:solidFill>
              </a:rPr>
              <a:t>"I don't know. Just doodling."</a:t>
            </a:r>
          </a:p>
        </p:txBody>
      </p:sp>
      <p:sp>
        <p:nvSpPr>
          <p:cNvPr id="11" name="TextBox 10"/>
          <p:cNvSpPr txBox="1"/>
          <p:nvPr/>
        </p:nvSpPr>
        <p:spPr>
          <a:xfrm>
            <a:off x="228600" y="2560320"/>
            <a:ext cx="8686800" cy="246888"/>
          </a:xfrm>
          <a:prstGeom prst="rect">
            <a:avLst/>
          </a:prstGeom>
          <a:noFill/>
        </p:spPr>
        <p:txBody>
          <a:bodyPr wrap="square">
            <a:spAutoFit/>
          </a:bodyPr>
          <a:lstStyle/>
          <a:p>
            <a:pPr algn="l">
              <a:lnSpc>
                <a:spcPts val="1500"/>
              </a:lnSpc>
            </a:pPr>
            <a:r>
              <a:rPr sz="1050" b="0" i="1">
                <a:solidFill>
                  <a:srgbClr val="1A1A6E"/>
                </a:solidFill>
              </a:rPr>
              <a:t>"That looks like a real logo."</a:t>
            </a:r>
          </a:p>
        </p:txBody>
      </p:sp>
      <p:sp>
        <p:nvSpPr>
          <p:cNvPr id="12" name="TextBox 11"/>
          <p:cNvSpPr txBox="1"/>
          <p:nvPr/>
        </p:nvSpPr>
        <p:spPr>
          <a:xfrm>
            <a:off x="228600" y="2816352"/>
            <a:ext cx="8686800" cy="246888"/>
          </a:xfrm>
          <a:prstGeom prst="rect">
            <a:avLst/>
          </a:prstGeom>
          <a:noFill/>
        </p:spPr>
        <p:txBody>
          <a:bodyPr wrap="square">
            <a:spAutoFit/>
          </a:bodyPr>
          <a:lstStyle/>
          <a:p>
            <a:pPr algn="l">
              <a:lnSpc>
                <a:spcPts val="1500"/>
              </a:lnSpc>
            </a:pPr>
            <a:r>
              <a:rPr sz="1000" b="0" i="0">
                <a:solidFill>
                  <a:srgbClr val="212121"/>
                </a:solidFill>
              </a:rPr>
              <a:t>She looked at it. It did, kind of. "Graphic design is a career," she said, mostly to herself.</a:t>
            </a:r>
          </a:p>
        </p:txBody>
      </p:sp>
      <p:sp>
        <p:nvSpPr>
          <p:cNvPr id="13" name="TextBox 12"/>
          <p:cNvSpPr txBox="1"/>
          <p:nvPr/>
        </p:nvSpPr>
        <p:spPr>
          <a:xfrm>
            <a:off x="228600" y="3072384"/>
            <a:ext cx="8686800" cy="246888"/>
          </a:xfrm>
          <a:prstGeom prst="rect">
            <a:avLst/>
          </a:prstGeom>
          <a:noFill/>
        </p:spPr>
        <p:txBody>
          <a:bodyPr wrap="square">
            <a:spAutoFit/>
          </a:bodyPr>
          <a:lstStyle/>
          <a:p>
            <a:pPr algn="l">
              <a:lnSpc>
                <a:spcPts val="1500"/>
              </a:lnSpc>
            </a:pPr>
            <a:r>
              <a:rPr sz="1050" b="0" i="1">
                <a:solidFill>
                  <a:srgbClr val="1A1A6E"/>
                </a:solidFill>
              </a:rPr>
              <a:t>"Yeah?"</a:t>
            </a:r>
          </a:p>
        </p:txBody>
      </p:sp>
      <p:sp>
        <p:nvSpPr>
          <p:cNvPr id="14" name="TextBox 13"/>
          <p:cNvSpPr txBox="1"/>
          <p:nvPr/>
        </p:nvSpPr>
        <p:spPr>
          <a:xfrm>
            <a:off x="228600" y="3328416"/>
            <a:ext cx="8686800" cy="448056"/>
          </a:xfrm>
          <a:prstGeom prst="rect">
            <a:avLst/>
          </a:prstGeom>
          <a:noFill/>
        </p:spPr>
        <p:txBody>
          <a:bodyPr wrap="square">
            <a:spAutoFit/>
          </a:bodyPr>
          <a:lstStyle/>
          <a:p>
            <a:pPr algn="l">
              <a:lnSpc>
                <a:spcPts val="1500"/>
              </a:lnSpc>
            </a:pPr>
            <a:r>
              <a:rPr sz="1050" b="0" i="1">
                <a:solidFill>
                  <a:srgbClr val="1A1A6E"/>
                </a:solidFill>
              </a:rPr>
              <a:t>"In the planning guide. Under ACI. You can take Digital Media Design at Two Rivers and there's
also a pathway into visual communications."</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50" b="0" i="1">
                <a:solidFill>
                  <a:srgbClr val="1A1A6E"/>
                </a:solidFill>
              </a:rPr>
              <a:t>"How do you know all this stuff?"</a:t>
            </a:r>
          </a:p>
        </p:txBody>
      </p:sp>
      <p:sp>
        <p:nvSpPr>
          <p:cNvPr id="16" name="TextBox 15"/>
          <p:cNvSpPr txBox="1"/>
          <p:nvPr/>
        </p:nvSpPr>
        <p:spPr>
          <a:xfrm>
            <a:off x="228600" y="4041648"/>
            <a:ext cx="8686800" cy="246888"/>
          </a:xfrm>
          <a:prstGeom prst="rect">
            <a:avLst/>
          </a:prstGeom>
          <a:noFill/>
        </p:spPr>
        <p:txBody>
          <a:bodyPr wrap="square">
            <a:spAutoFit/>
          </a:bodyPr>
          <a:lstStyle/>
          <a:p>
            <a:pPr algn="l">
              <a:lnSpc>
                <a:spcPts val="1500"/>
              </a:lnSpc>
            </a:pPr>
            <a:r>
              <a:rPr sz="1050" b="0" i="1">
                <a:solidFill>
                  <a:srgbClr val="1A1A6E"/>
                </a:solidFill>
              </a:rPr>
              <a:t>"I read the guide."</a:t>
            </a:r>
          </a:p>
        </p:txBody>
      </p:sp>
      <p:sp>
        <p:nvSpPr>
          <p:cNvPr id="17" name="TextBox 16"/>
          <p:cNvSpPr txBox="1"/>
          <p:nvPr/>
        </p:nvSpPr>
        <p:spPr>
          <a:xfrm>
            <a:off x="228600" y="4297680"/>
            <a:ext cx="8686800" cy="246888"/>
          </a:xfrm>
          <a:prstGeom prst="rect">
            <a:avLst/>
          </a:prstGeom>
          <a:noFill/>
        </p:spPr>
        <p:txBody>
          <a:bodyPr wrap="square">
            <a:spAutoFit/>
          </a:bodyPr>
          <a:lstStyle/>
          <a:p>
            <a:pPr algn="l">
              <a:lnSpc>
                <a:spcPts val="1500"/>
              </a:lnSpc>
            </a:pPr>
            <a:r>
              <a:rPr sz="1050" b="0" i="1">
                <a:solidFill>
                  <a:srgbClr val="1A1A6E"/>
                </a:solidFill>
              </a:rPr>
              <a:t>"The whole thing?"</a:t>
            </a:r>
          </a:p>
        </p:txBody>
      </p:sp>
      <p:sp>
        <p:nvSpPr>
          <p:cNvPr id="18" name="TextBox 17"/>
          <p:cNvSpPr txBox="1"/>
          <p:nvPr/>
        </p:nvSpPr>
        <p:spPr>
          <a:xfrm>
            <a:off x="228600" y="4553712"/>
            <a:ext cx="8686800" cy="246888"/>
          </a:xfrm>
          <a:prstGeom prst="rect">
            <a:avLst/>
          </a:prstGeom>
          <a:noFill/>
        </p:spPr>
        <p:txBody>
          <a:bodyPr wrap="square">
            <a:spAutoFit/>
          </a:bodyPr>
          <a:lstStyle/>
          <a:p>
            <a:pPr algn="l">
              <a:lnSpc>
                <a:spcPts val="1500"/>
              </a:lnSpc>
            </a:pPr>
            <a:r>
              <a:rPr sz="1050" b="0" i="1">
                <a:solidFill>
                  <a:srgbClr val="1A1A6E"/>
                </a:solidFill>
              </a:rPr>
              <a:t>"It's not that long."</a:t>
            </a:r>
          </a:p>
        </p:txBody>
      </p:sp>
      <p:sp>
        <p:nvSpPr>
          <p:cNvPr id="19" name="TextBox 18"/>
          <p:cNvSpPr txBox="1"/>
          <p:nvPr/>
        </p:nvSpPr>
        <p:spPr>
          <a:xfrm>
            <a:off x="228600" y="4809744"/>
            <a:ext cx="8686800" cy="246888"/>
          </a:xfrm>
          <a:prstGeom prst="rect">
            <a:avLst/>
          </a:prstGeom>
          <a:noFill/>
        </p:spPr>
        <p:txBody>
          <a:bodyPr wrap="square">
            <a:spAutoFit/>
          </a:bodyPr>
          <a:lstStyle/>
          <a:p>
            <a:pPr algn="l">
              <a:lnSpc>
                <a:spcPts val="1500"/>
              </a:lnSpc>
            </a:pPr>
            <a:r>
              <a:rPr sz="1050" b="0" i="1">
                <a:solidFill>
                  <a:srgbClr val="1A1A6E"/>
                </a:solidFill>
              </a:rPr>
              <a:t>Jordan looked at the logo again. "Priya. You should be in art."</a:t>
            </a:r>
          </a:p>
        </p:txBody>
      </p:sp>
      <p:sp>
        <p:nvSpPr>
          <p:cNvPr id="20" name="TextBox 19"/>
          <p:cNvSpPr txBox="1"/>
          <p:nvPr/>
        </p:nvSpPr>
        <p:spPr>
          <a:xfrm>
            <a:off x="228600" y="5065776"/>
            <a:ext cx="8686800" cy="246888"/>
          </a:xfrm>
          <a:prstGeom prst="rect">
            <a:avLst/>
          </a:prstGeom>
          <a:noFill/>
        </p:spPr>
        <p:txBody>
          <a:bodyPr wrap="square">
            <a:spAutoFit/>
          </a:bodyPr>
          <a:lstStyle/>
          <a:p>
            <a:pPr algn="l">
              <a:lnSpc>
                <a:spcPts val="1500"/>
              </a:lnSpc>
            </a:pPr>
            <a:r>
              <a:rPr sz="1050" b="0" i="1">
                <a:solidFill>
                  <a:srgbClr val="1A1A6E"/>
                </a:solidFill>
              </a:rPr>
              <a:t>"I'm not an art person."</a:t>
            </a:r>
          </a:p>
        </p:txBody>
      </p:sp>
      <p:sp>
        <p:nvSpPr>
          <p:cNvPr id="21" name="TextBox 20"/>
          <p:cNvSpPr txBox="1"/>
          <p:nvPr/>
        </p:nvSpPr>
        <p:spPr>
          <a:xfrm>
            <a:off x="228600" y="5321808"/>
            <a:ext cx="8686800" cy="246888"/>
          </a:xfrm>
          <a:prstGeom prst="rect">
            <a:avLst/>
          </a:prstGeom>
          <a:noFill/>
        </p:spPr>
        <p:txBody>
          <a:bodyPr wrap="square">
            <a:spAutoFit/>
          </a:bodyPr>
          <a:lstStyle/>
          <a:p>
            <a:pPr algn="l">
              <a:lnSpc>
                <a:spcPts val="1500"/>
              </a:lnSpc>
            </a:pPr>
            <a:r>
              <a:rPr sz="1050" b="0" i="1">
                <a:solidFill>
                  <a:srgbClr val="1A1A6E"/>
                </a:solidFill>
              </a:rPr>
              <a:t>"You just drew a professional logo in the margin of your homework."</a:t>
            </a:r>
          </a:p>
        </p:txBody>
      </p:sp>
      <p:sp>
        <p:nvSpPr>
          <p:cNvPr id="22" name="TextBox 21"/>
          <p:cNvSpPr txBox="1"/>
          <p:nvPr/>
        </p:nvSpPr>
        <p:spPr>
          <a:xfrm>
            <a:off x="228600" y="5577840"/>
            <a:ext cx="8686800" cy="246888"/>
          </a:xfrm>
          <a:prstGeom prst="rect">
            <a:avLst/>
          </a:prstGeom>
          <a:noFill/>
        </p:spPr>
        <p:txBody>
          <a:bodyPr wrap="square">
            <a:spAutoFit/>
          </a:bodyPr>
          <a:lstStyle/>
          <a:p>
            <a:pPr algn="l">
              <a:lnSpc>
                <a:spcPts val="1500"/>
              </a:lnSpc>
            </a:pPr>
            <a:r>
              <a:rPr sz="1050" b="0" i="1">
                <a:solidFill>
                  <a:srgbClr val="1A1A6E"/>
                </a:solidFill>
              </a:rPr>
              <a:t>She covered it with her hand. "I'm going into medicine."</a:t>
            </a:r>
          </a:p>
        </p:txBody>
      </p:sp>
      <p:sp>
        <p:nvSpPr>
          <p:cNvPr id="23" name="TextBox 22"/>
          <p:cNvSpPr txBox="1"/>
          <p:nvPr/>
        </p:nvSpPr>
        <p:spPr>
          <a:xfrm>
            <a:off x="228600" y="5833872"/>
            <a:ext cx="8686800" cy="246888"/>
          </a:xfrm>
          <a:prstGeom prst="rect">
            <a:avLst/>
          </a:prstGeom>
          <a:noFill/>
        </p:spPr>
        <p:txBody>
          <a:bodyPr wrap="square">
            <a:spAutoFit/>
          </a:bodyPr>
          <a:lstStyle/>
          <a:p>
            <a:pPr algn="l">
              <a:lnSpc>
                <a:spcPts val="1500"/>
              </a:lnSpc>
            </a:pPr>
            <a:r>
              <a:rPr sz="1050" b="0" i="1">
                <a:solidFill>
                  <a:srgbClr val="1A1A6E"/>
                </a:solidFill>
              </a:rPr>
              <a:t>"You literally said 'maybe' when I asked you last week."</a:t>
            </a:r>
          </a:p>
        </p:txBody>
      </p:sp>
      <p:sp>
        <p:nvSpPr>
          <p:cNvPr id="24" name="TextBox 23"/>
          <p:cNvSpPr txBox="1"/>
          <p:nvPr/>
        </p:nvSpPr>
        <p:spPr>
          <a:xfrm>
            <a:off x="228600" y="6089904"/>
            <a:ext cx="8686800" cy="246888"/>
          </a:xfrm>
          <a:prstGeom prst="rect">
            <a:avLst/>
          </a:prstGeom>
          <a:noFill/>
        </p:spPr>
        <p:txBody>
          <a:bodyPr wrap="square">
            <a:spAutoFit/>
          </a:bodyPr>
          <a:lstStyle/>
          <a:p>
            <a:pPr algn="l">
              <a:lnSpc>
                <a:spcPts val="1500"/>
              </a:lnSpc>
            </a:pPr>
            <a:r>
              <a:rPr sz="1050" b="0" i="1">
                <a:solidFill>
                  <a:srgbClr val="1A1A6E"/>
                </a:solidFill>
              </a:rPr>
              <a:t>"I — " She stopped. She looked at the logo again. "You can't make a living in graphic design."</a:t>
            </a:r>
          </a:p>
        </p:txBody>
      </p:sp>
      <p:sp>
        <p:nvSpPr>
          <p:cNvPr id="25" name="TextBox 24"/>
          <p:cNvSpPr txBox="1"/>
          <p:nvPr/>
        </p:nvSpPr>
        <p:spPr>
          <a:xfrm>
            <a:off x="228600" y="6345936"/>
            <a:ext cx="8686800" cy="246888"/>
          </a:xfrm>
          <a:prstGeom prst="rect">
            <a:avLst/>
          </a:prstGeom>
          <a:noFill/>
        </p:spPr>
        <p:txBody>
          <a:bodyPr wrap="square">
            <a:spAutoFit/>
          </a:bodyPr>
          <a:lstStyle/>
          <a:p>
            <a:pPr algn="l">
              <a:lnSpc>
                <a:spcPts val="1500"/>
              </a:lnSpc>
            </a:pPr>
            <a:r>
              <a:rPr sz="1050" b="0" i="1">
                <a:solidFill>
                  <a:srgbClr val="1A1A6E"/>
                </a:solidFill>
              </a:rPr>
              <a:t>"Can you not?"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"She Drew It"</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Priya says 'you can't make a living in graphic design' — but then admits she doesn't actually
know that. Where do beliefs like that come from?</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She covers the logo with her hand. What does that gesture tell you about how she feels about
the drawing?</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Jordan put 'YouTuber' on his paper without thinking. Priya discovered something real by
accident. What's the difference in their processes?</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Is there something you're good at that you've never considered as a career — because you
assumed it wasn't practical? Where did that assumption come from?</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Arts, Communications &amp; Information Systems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Two Rivers has one of the broadest arts offerings in the district. Students can study
visual art (drawing, painting, ceramics, sculpture, digital art, AP Studio Art), music
(band, orchestra, choir, guitar, digital music production, music theory), and media
(video production, mass media production, photography, journalism, yearbook). For
students interested in technology and computing, Intro to Computer Science and AP
Computer Science Principles are also in this pathway. The CAPS Computer Science &amp; IT
program (junior/senior) earns 3 elective credits and an industry-recognized A+
certification.</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Does your career interest fall more in Arts, Business, or Human Services? Or somewhere else?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Business, Management &amp; Administration</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Students interested in business can start with Business &amp; Entrepreneurship or Accounting
I as early as 9th grade. Upper-level options include Personal Finance, AP Business with
Personal Finance, and Sales, Marketing &amp; School Store Management. The CAPS Business &amp;
Entrepreneurship program (junior/senior, at Evolve Workplace in St. Paul) earns 2
elective credits plus 1 English credit and includes a real business internship. Family
and Consumer Sciences courses (Intro to Foods, Culinary I &amp; II, Clothing) also fit in
the Business pathway.</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2159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The CAPS Computer Science program at Two Rivers earns students an industry-recognized A+ certification alongside their high school credits.</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Compare Two Pathways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Choose ANY two career pathways from Units 2.2 or 2.3. Use the Venn Diagram below to
compare them. Consider: types of courses, types of careers, skills needed, and whether
you can earn college credit.</a:t>
            </a:r>
          </a:p>
        </p:txBody>
      </p:sp>
      <p:sp>
        <p:nvSpPr>
          <p:cNvPr id="5" name="Rectangle 4"/>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Compare Two Pathways  —  Lesson 2.3</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10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Choose two career pathways we've discussed. In the outer sections, list what's different about each. In the overlap, list what they have in common.</a:t>
            </a:r>
          </a:p>
        </p:txBody>
      </p:sp>
      <p:sp>
        <p:nvSpPr>
          <p:cNvPr id="7" name="Rectangle 6"/>
          <p:cNvSpPr/>
          <p:nvPr/>
        </p:nvSpPr>
        <p:spPr>
          <a:xfrm>
            <a:off x="228600" y="1783080"/>
            <a:ext cx="3657600" cy="34747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257800" y="1783080"/>
            <a:ext cx="3657600" cy="34747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2057400"/>
            <a:ext cx="2743200" cy="2926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874519"/>
            <a:ext cx="3474720" cy="384048"/>
          </a:xfrm>
          <a:prstGeom prst="rect">
            <a:avLst/>
          </a:prstGeom>
          <a:noFill/>
        </p:spPr>
        <p:txBody>
          <a:bodyPr wrap="square">
            <a:spAutoFit/>
          </a:bodyPr>
          <a:lstStyle/>
          <a:p>
            <a:pPr algn="ctr"/>
            <a:r>
              <a:rPr sz="1100" b="1" i="0">
                <a:solidFill>
                  <a:srgbClr val="215999"/>
                </a:solidFill>
              </a:rPr>
              <a:t>Pathway 1: ___________</a:t>
            </a:r>
          </a:p>
        </p:txBody>
      </p:sp>
      <p:sp>
        <p:nvSpPr>
          <p:cNvPr id="11" name="TextBox 10"/>
          <p:cNvSpPr txBox="1"/>
          <p:nvPr/>
        </p:nvSpPr>
        <p:spPr>
          <a:xfrm>
            <a:off x="5349240" y="1874519"/>
            <a:ext cx="3474720" cy="384048"/>
          </a:xfrm>
          <a:prstGeom prst="rect">
            <a:avLst/>
          </a:prstGeom>
          <a:noFill/>
        </p:spPr>
        <p:txBody>
          <a:bodyPr wrap="square">
            <a:spAutoFit/>
          </a:bodyPr>
          <a:lstStyle/>
          <a:p>
            <a:pPr algn="ctr"/>
            <a:r>
              <a:rPr sz="1100" b="1" i="0">
                <a:solidFill>
                  <a:srgbClr val="212121"/>
                </a:solidFill>
              </a:rPr>
              <a:t>Pathway 2: ___________</a:t>
            </a:r>
          </a:p>
        </p:txBody>
      </p:sp>
      <p:sp>
        <p:nvSpPr>
          <p:cNvPr id="12" name="TextBox 11"/>
          <p:cNvSpPr txBox="1"/>
          <p:nvPr/>
        </p:nvSpPr>
        <p:spPr>
          <a:xfrm>
            <a:off x="3246120" y="2148840"/>
            <a:ext cx="2651760" cy="347472"/>
          </a:xfrm>
          <a:prstGeom prst="rect">
            <a:avLst/>
          </a:prstGeom>
          <a:noFill/>
        </p:spPr>
        <p:txBody>
          <a:bodyPr wrap="square">
            <a:spAutoFit/>
          </a:bodyPr>
          <a:lstStyle/>
          <a:p>
            <a:pPr algn="ctr"/>
            <a:r>
              <a:rPr sz="1000" b="1" i="0">
                <a:solidFill>
                  <a:srgbClr val="212121"/>
                </a:solidFill>
              </a:rPr>
              <a:t>Shared / Similar</a:t>
            </a:r>
          </a:p>
        </p:txBody>
      </p:sp>
      <p:sp>
        <p:nvSpPr>
          <p:cNvPr id="13" name="TextBox 12"/>
          <p:cNvSpPr txBox="1"/>
          <p:nvPr/>
        </p:nvSpPr>
        <p:spPr>
          <a:xfrm>
            <a:off x="457200" y="3154680"/>
            <a:ext cx="2560320" cy="347472"/>
          </a:xfrm>
          <a:prstGeom prst="rect">
            <a:avLst/>
          </a:prstGeom>
          <a:noFill/>
        </p:spPr>
        <p:txBody>
          <a:bodyPr wrap="square">
            <a:spAutoFit/>
          </a:bodyPr>
          <a:lstStyle/>
          <a:p>
            <a:pPr algn="ctr"/>
            <a:r>
              <a:rPr sz="900" b="0" i="1">
                <a:solidFill>
                  <a:srgbClr val="888888"/>
                </a:solidFill>
              </a:rPr>
              <a:t>(Differences)</a:t>
            </a:r>
          </a:p>
        </p:txBody>
      </p:sp>
      <p:sp>
        <p:nvSpPr>
          <p:cNvPr id="14" name="TextBox 13"/>
          <p:cNvSpPr txBox="1"/>
          <p:nvPr/>
        </p:nvSpPr>
        <p:spPr>
          <a:xfrm>
            <a:off x="5486400" y="3154680"/>
            <a:ext cx="2560320" cy="347472"/>
          </a:xfrm>
          <a:prstGeom prst="rect">
            <a:avLst/>
          </a:prstGeom>
          <a:noFill/>
        </p:spPr>
        <p:txBody>
          <a:bodyPr wrap="square">
            <a:spAutoFit/>
          </a:bodyPr>
          <a:lstStyle/>
          <a:p>
            <a:pPr algn="ctr"/>
            <a:r>
              <a:rPr sz="900" b="0" i="1">
                <a:solidFill>
                  <a:srgbClr val="888888"/>
                </a:solidFill>
              </a:rPr>
              <a:t>(Differences)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2.3: Arts, Business &amp; Human Services Pathways</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Rating Scale + Reflection</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914400"/>
          </a:xfrm>
          <a:prstGeom prst="rect">
            <a:avLst/>
          </a:prstGeom>
          <a:noFill/>
        </p:spPr>
        <p:txBody>
          <a:bodyPr wrap="square">
            <a:spAutoFit/>
          </a:bodyPr>
          <a:lstStyle/>
          <a:p>
            <a:pPr algn="l"/>
            <a:r>
              <a:rPr sz="1100" b="0" i="0">
                <a:solidFill>
                  <a:srgbClr val="212121"/>
                </a:solidFill>
              </a:rPr>
              <a:t>After exploring three career fields today, rate how clear you feel about your own interests (1 = very unclear, 5 = very clear). Then explain: Which pathway feels most 'like you' and why?</a:t>
            </a:r>
          </a:p>
        </p:txBody>
      </p:sp>
      <p:sp>
        <p:nvSpPr>
          <p:cNvPr id="9" name="Rectangle 8"/>
          <p:cNvSpPr/>
          <p:nvPr/>
        </p:nvSpPr>
        <p:spPr>
          <a:xfrm>
            <a:off x="22860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176272"/>
            <a:ext cx="1554480" cy="365760"/>
          </a:xfrm>
          <a:prstGeom prst="rect">
            <a:avLst/>
          </a:prstGeom>
          <a:noFill/>
        </p:spPr>
        <p:txBody>
          <a:bodyPr wrap="square">
            <a:spAutoFit/>
          </a:bodyPr>
          <a:lstStyle/>
          <a:p>
            <a:pPr algn="ctr"/>
            <a:r>
              <a:rPr sz="1100" b="0" i="0">
                <a:solidFill>
                  <a:srgbClr val="212121"/>
                </a:solidFill>
              </a:rPr>
              <a:t>1 — Not at all</a:t>
            </a:r>
          </a:p>
        </p:txBody>
      </p:sp>
      <p:sp>
        <p:nvSpPr>
          <p:cNvPr id="11" name="Rectangle 10"/>
          <p:cNvSpPr/>
          <p:nvPr/>
        </p:nvSpPr>
        <p:spPr>
          <a:xfrm>
            <a:off x="192024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2176272"/>
            <a:ext cx="1554480" cy="365760"/>
          </a:xfrm>
          <a:prstGeom prst="rect">
            <a:avLst/>
          </a:prstGeom>
          <a:noFill/>
        </p:spPr>
        <p:txBody>
          <a:bodyPr wrap="square">
            <a:spAutoFit/>
          </a:bodyPr>
          <a:lstStyle/>
          <a:p>
            <a:pPr algn="ctr"/>
            <a:r>
              <a:rPr sz="1100" b="0" i="0">
                <a:solidFill>
                  <a:srgbClr val="212121"/>
                </a:solidFill>
              </a:rPr>
              <a:t>2</a:t>
            </a:r>
          </a:p>
        </p:txBody>
      </p:sp>
      <p:sp>
        <p:nvSpPr>
          <p:cNvPr id="13" name="Rectangle 12"/>
          <p:cNvSpPr/>
          <p:nvPr/>
        </p:nvSpPr>
        <p:spPr>
          <a:xfrm>
            <a:off x="361188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176272"/>
            <a:ext cx="1554480" cy="365760"/>
          </a:xfrm>
          <a:prstGeom prst="rect">
            <a:avLst/>
          </a:prstGeom>
          <a:noFill/>
        </p:spPr>
        <p:txBody>
          <a:bodyPr wrap="square">
            <a:spAutoFit/>
          </a:bodyPr>
          <a:lstStyle/>
          <a:p>
            <a:pPr algn="ctr"/>
            <a:r>
              <a:rPr sz="1100" b="0" i="0">
                <a:solidFill>
                  <a:srgbClr val="212121"/>
                </a:solidFill>
              </a:rPr>
              <a:t>3 — Somewhat</a:t>
            </a:r>
          </a:p>
        </p:txBody>
      </p:sp>
      <p:sp>
        <p:nvSpPr>
          <p:cNvPr id="15" name="Rectangle 14"/>
          <p:cNvSpPr/>
          <p:nvPr/>
        </p:nvSpPr>
        <p:spPr>
          <a:xfrm>
            <a:off x="530352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2176272"/>
            <a:ext cx="1554480" cy="365760"/>
          </a:xfrm>
          <a:prstGeom prst="rect">
            <a:avLst/>
          </a:prstGeom>
          <a:noFill/>
        </p:spPr>
        <p:txBody>
          <a:bodyPr wrap="square">
            <a:spAutoFit/>
          </a:bodyPr>
          <a:lstStyle/>
          <a:p>
            <a:pPr algn="ctr"/>
            <a:r>
              <a:rPr sz="1100" b="0" i="0">
                <a:solidFill>
                  <a:srgbClr val="212121"/>
                </a:solidFill>
              </a:rPr>
              <a:t>4</a:t>
            </a:r>
          </a:p>
        </p:txBody>
      </p:sp>
      <p:sp>
        <p:nvSpPr>
          <p:cNvPr id="17" name="Rectangle 16"/>
          <p:cNvSpPr/>
          <p:nvPr/>
        </p:nvSpPr>
        <p:spPr>
          <a:xfrm>
            <a:off x="699516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176272"/>
            <a:ext cx="1554480" cy="365760"/>
          </a:xfrm>
          <a:prstGeom prst="rect">
            <a:avLst/>
          </a:prstGeom>
          <a:noFill/>
        </p:spPr>
        <p:txBody>
          <a:bodyPr wrap="square">
            <a:spAutoFit/>
          </a:bodyPr>
          <a:lstStyle/>
          <a:p>
            <a:pPr algn="ctr"/>
            <a:r>
              <a:rPr sz="1100" b="0" i="0">
                <a:solidFill>
                  <a:srgbClr val="212121"/>
                </a:solidFill>
              </a:rPr>
              <a:t>5 — Yes!</a:t>
            </a:r>
          </a:p>
        </p:txBody>
      </p:sp>
      <p:sp>
        <p:nvSpPr>
          <p:cNvPr id="19" name="Rectangle 18"/>
          <p:cNvSpPr/>
          <p:nvPr/>
        </p:nvSpPr>
        <p:spPr>
          <a:xfrm>
            <a:off x="228600" y="283463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65759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2.4  ·  5 minutes</a:t>
            </a:r>
          </a:p>
        </p:txBody>
      </p:sp>
      <p:sp>
        <p:nvSpPr>
          <p:cNvPr id="7" name="Rectangle 6"/>
          <p:cNvSpPr/>
          <p:nvPr/>
        </p:nvSpPr>
        <p:spPr>
          <a:xfrm>
            <a:off x="228600" y="868680"/>
            <a:ext cx="1463040" cy="329184"/>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Two Rivers Pathway Recap</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Draw a quick web/mind map from memory: put 'Two Rivers HS' in the center. Branch out to every pathway, program, or field we've studied so far. Add at least one course or career under each.</a:t>
            </a:r>
          </a:p>
        </p:txBody>
      </p:sp>
      <p:sp>
        <p:nvSpPr>
          <p:cNvPr id="13" name="Rectangle 12"/>
          <p:cNvSpPr/>
          <p:nvPr/>
        </p:nvSpPr>
        <p:spPr>
          <a:xfrm>
            <a:off x="228600" y="4919472"/>
            <a:ext cx="8686800" cy="47548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Compare maps with a partner — what's on theirs that's not on yours?</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2.4  |  Unit 2: Career Pathways at Two Rivers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Ag, Food &amp; Natural Resources — and Planning My Path</a:t>
            </a:r>
          </a:p>
        </p:txBody>
      </p:sp>
      <p:sp>
        <p:nvSpPr>
          <p:cNvPr id="6" name="Rectangle 5"/>
          <p:cNvSpPr/>
          <p:nvPr/>
        </p:nvSpPr>
        <p:spPr>
          <a:xfrm>
            <a:off x="182880" y="1024128"/>
            <a:ext cx="8778240" cy="329184"/>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Identify courses and CAPS experiences in the Agriculture/Natural Resources field.</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Synthesize learning from all four career lessons into a personal interest reflection.</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Articulate a potential career field direction and the first TRHS course they would take to explore it.</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2159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215999"/>
                </a:solidFill>
              </a:rPr>
              <a:t>Cluster</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Old English clyster (bunch, group) — a group of related things organized together</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In career planning, a cluster is a group of related occupations built around common knowledge and skills.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572000"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961888" y="5623560"/>
            <a:ext cx="2084831"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715000"/>
            <a:ext cx="2011679" cy="320040"/>
          </a:xfrm>
          <a:prstGeom prst="rect">
            <a:avLst/>
          </a:prstGeom>
          <a:noFill/>
        </p:spPr>
        <p:txBody>
          <a:bodyPr wrap="square">
            <a:spAutoFit/>
          </a:bodyPr>
          <a:lstStyle/>
          <a:p>
            <a:pPr algn="ctr"/>
            <a:r>
              <a:rPr sz="1100" b="1" i="0">
                <a:solidFill>
                  <a:srgbClr val="FFFFFF"/>
                </a:solidFill>
              </a:rPr>
              <a:t>12</a:t>
            </a:r>
          </a:p>
        </p:txBody>
      </p:sp>
      <p:sp>
        <p:nvSpPr>
          <p:cNvPr id="36" name="TextBox 35"/>
          <p:cNvSpPr txBox="1"/>
          <p:nvPr/>
        </p:nvSpPr>
        <p:spPr>
          <a:xfrm>
            <a:off x="5961888" y="6163056"/>
            <a:ext cx="2084831"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19"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5"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19"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3 — Light scaffold (guiding questions only)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2159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From the Ground Up: Agriculture, Food, Natural Resources — and Planning Your Path</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the TRHS 2026-27 Academic Planning Guide and MDE Career Frameworks</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From the Ground Up: Agriculture, Food, Natural Resources — and Planning Your Path  (p. 1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Soil. Water. Food. Air. These are not abstract concerns — they are the foundation of
every human life on earth. The Agriculture, Food &amp; Natural Resources career field
encompasses careers that many students have never considered: conservation scientists,
organic farmers, environmental engineers, food scientists, water quality specialists,
sustainability coordinators, and more. In a world facing climate change, food
insecurity, and environmental degradation, these careers are increasingly critical.</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At Two Rivers, the entry point into this field is AP Environmental Science — a college-
level course that explores the interrelationships between human activity and natural
systems. Students investigate real environmental problems, conduct field studies, and
prepare for a College Board exam that can earn college credit. For students who want to
go deeper, the CAPS Natural Resources, Sustainability &amp; Food Systems program is one of
the most distinctive offerings in the entire district. Co-taught by a chemistry and
agriculture teacher, it meets at Dodge Nature Center in West St. Paul. Students explore
soil science, food systems, water chemistry, and sustainable agriculture through hands-
on labs and field work — and complete a second-semester internship with a local
community partner. The course earns 2 elective credits and 1 Chemistry credit.</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From the Ground Up: Agriculture, Food, Natural Resources — and Planning Your Path  (p. 2 of 2)</a:t>
            </a:r>
          </a:p>
        </p:txBody>
      </p:sp>
      <p:sp>
        <p:nvSpPr>
          <p:cNvPr id="4" name="Rectangle 3"/>
          <p:cNvSpPr/>
          <p:nvPr/>
        </p:nvSpPr>
        <p:spPr>
          <a:xfrm>
            <a:off x="182880" y="6217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Now that you have explored all six career fields and the specific courses and programs
available at Two Rivers, you are ready to think about your own path. Career planning at
13 or 14 does not mean deciding what you will do for the rest of your life — research
shows that most people change careers several times. What it does mean is making
intentional choices about the experiences you seek, the courses you take, and the skills
you build. Every course you choose in high school is a small vote for the kind of person
you are becoming.</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most effective approach to high school course selection is what counselors call
'exploring with purpose': you pick electives that connect to genuine interests, you try
things you have never tried before, and you pay attention to what energizes you versus
what drains you. The goal is not to have your entire career figured out by 9th grade.
The goal is to walk out of Two Rivers with a clearer sense of your strengths, your
interests, and your direction — and with the academic foundation to pursue whatever path
you choose.</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'From the Ground Up: Agriculture, Food, Natural Resources — and Planning Your Path'</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2159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kinds of careers are in the Agriculture, Food &amp; Natural Resources field? List at least
four from the reading.</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2159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Describe the CAPS Natural Resources, Sustainability &amp; Food Systems program. What makes it
unusual compared to a regular high school course?</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2159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The reading says career planning at 13-14 'does not mean deciding what you will do for the rest
of your life.' What does it mean, according to the author?</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2159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What is 'exploring with purpose' and how is it different from just picking random electives?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2159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After reading about all six career fields in Unit 2, write a paragraph describing your current
career thinking. Which field interests you most? What specific course or program at Two Rivers
would help you explore it? What do you still not know about yourself that you need to figure
out?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2.4</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Careers in Agriculture and Natural Resources</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CareerOneStop (U.S. Department of Labor)  ·  approx. 4 min</a:t>
            </a:r>
          </a:p>
        </p:txBody>
      </p:sp>
      <p:sp>
        <p:nvSpPr>
          <p:cNvPr id="9" name="Rectangle 8"/>
          <p:cNvSpPr/>
          <p:nvPr/>
        </p:nvSpPr>
        <p:spPr>
          <a:xfrm>
            <a:off x="365760" y="2377440"/>
            <a:ext cx="8412480" cy="2743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2159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is one job in this field you'd never heard of before?</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"Holland Code — What Career Fits Your Personality?"  |  Career Center / TED-Ed</a:t>
            </a:r>
          </a:p>
        </p:txBody>
      </p:sp>
      <p:sp>
        <p:nvSpPr>
          <p:cNvPr id="16" name="Rectangle 15">
            <a:hlinkClick r:id="rId3"/>
          </p:cNvPr>
          <p:cNvSpPr/>
          <p:nvPr/>
        </p:nvSpPr>
        <p:spPr>
          <a:xfrm>
            <a:off x="2743200" y="4480560"/>
            <a:ext cx="3657600" cy="749808"/>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Planning Guide"  —  Lesson 2.4</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00" b="0" i="0">
                <a:solidFill>
                  <a:srgbClr val="212121"/>
                </a:solidFill>
              </a:rPr>
              <a:t>Maya had tabbed hers. Color-coded tabs, naturally — pink for graduation requirements, yellow
for electives, blue for CAPS, green for activities.</a:t>
            </a:r>
          </a:p>
        </p:txBody>
      </p:sp>
      <p:sp>
        <p:nvSpPr>
          <p:cNvPr id="7" name="TextBox 6"/>
          <p:cNvSpPr txBox="1"/>
          <p:nvPr/>
        </p:nvSpPr>
        <p:spPr>
          <a:xfrm>
            <a:off x="228600" y="1335024"/>
            <a:ext cx="8686800" cy="246888"/>
          </a:xfrm>
          <a:prstGeom prst="rect">
            <a:avLst/>
          </a:prstGeom>
          <a:noFill/>
        </p:spPr>
        <p:txBody>
          <a:bodyPr wrap="square">
            <a:spAutoFit/>
          </a:bodyPr>
          <a:lstStyle/>
          <a:p>
            <a:pPr algn="l">
              <a:lnSpc>
                <a:spcPts val="1500"/>
              </a:lnSpc>
            </a:pPr>
            <a:r>
              <a:rPr sz="1000" b="0" i="0">
                <a:solidFill>
                  <a:srgbClr val="212121"/>
                </a:solidFill>
              </a:rPr>
              <a:t>Jordan's was still in the envelope from when they'd handed it out three weeks ago.</a:t>
            </a:r>
          </a:p>
        </p:txBody>
      </p:sp>
      <p:sp>
        <p:nvSpPr>
          <p:cNvPr id="8" name="TextBox 7"/>
          <p:cNvSpPr txBox="1"/>
          <p:nvPr/>
        </p:nvSpPr>
        <p:spPr>
          <a:xfrm>
            <a:off x="228600" y="1591056"/>
            <a:ext cx="8686800" cy="649224"/>
          </a:xfrm>
          <a:prstGeom prst="rect">
            <a:avLst/>
          </a:prstGeom>
          <a:noFill/>
        </p:spPr>
        <p:txBody>
          <a:bodyPr wrap="square">
            <a:spAutoFit/>
          </a:bodyPr>
          <a:lstStyle/>
          <a:p>
            <a:pPr algn="l">
              <a:lnSpc>
                <a:spcPts val="1500"/>
              </a:lnSpc>
            </a:pPr>
            <a:r>
              <a:rPr sz="1000" b="0" i="0">
                <a:solidFill>
                  <a:srgbClr val="212121"/>
                </a:solidFill>
              </a:rPr>
              <a:t>They were supposed to spend the class period finding two courses they were interested in.
Jordan opened his for the first time and immediately felt a familiar quiet panic — not loud
enough to name, just heavy enough to make him want to look at his phone.</a:t>
            </a:r>
          </a:p>
        </p:txBody>
      </p:sp>
      <p:sp>
        <p:nvSpPr>
          <p:cNvPr id="9" name="TextBox 8"/>
          <p:cNvSpPr txBox="1"/>
          <p:nvPr/>
        </p:nvSpPr>
        <p:spPr>
          <a:xfrm>
            <a:off x="228600" y="2249424"/>
            <a:ext cx="8686800" cy="246888"/>
          </a:xfrm>
          <a:prstGeom prst="rect">
            <a:avLst/>
          </a:prstGeom>
          <a:noFill/>
        </p:spPr>
        <p:txBody>
          <a:bodyPr wrap="square">
            <a:spAutoFit/>
          </a:bodyPr>
          <a:lstStyle/>
          <a:p>
            <a:pPr algn="l">
              <a:lnSpc>
                <a:spcPts val="1500"/>
              </a:lnSpc>
            </a:pPr>
            <a:r>
              <a:rPr sz="1050" b="0" i="1">
                <a:solidFill>
                  <a:srgbClr val="1A1A6E"/>
                </a:solidFill>
              </a:rPr>
              <a:t>"How many pages is this," he said.</a:t>
            </a:r>
          </a:p>
        </p:txBody>
      </p:sp>
      <p:sp>
        <p:nvSpPr>
          <p:cNvPr id="10" name="TextBox 9"/>
          <p:cNvSpPr txBox="1"/>
          <p:nvPr/>
        </p:nvSpPr>
        <p:spPr>
          <a:xfrm>
            <a:off x="228600" y="2505456"/>
            <a:ext cx="8686800" cy="246888"/>
          </a:xfrm>
          <a:prstGeom prst="rect">
            <a:avLst/>
          </a:prstGeom>
          <a:noFill/>
        </p:spPr>
        <p:txBody>
          <a:bodyPr wrap="square">
            <a:spAutoFit/>
          </a:bodyPr>
          <a:lstStyle/>
          <a:p>
            <a:pPr algn="l">
              <a:lnSpc>
                <a:spcPts val="1500"/>
              </a:lnSpc>
            </a:pPr>
            <a:r>
              <a:rPr sz="1050" b="0" i="1">
                <a:solidFill>
                  <a:srgbClr val="1A1A6E"/>
                </a:solidFill>
              </a:rPr>
              <a:t>"One twenty-three," Maya said, without looking up.</a:t>
            </a:r>
          </a:p>
        </p:txBody>
      </p:sp>
      <p:sp>
        <p:nvSpPr>
          <p:cNvPr id="11" name="TextBox 10"/>
          <p:cNvSpPr txBox="1"/>
          <p:nvPr/>
        </p:nvSpPr>
        <p:spPr>
          <a:xfrm>
            <a:off x="228600" y="2761488"/>
            <a:ext cx="8686800" cy="246888"/>
          </a:xfrm>
          <a:prstGeom prst="rect">
            <a:avLst/>
          </a:prstGeom>
          <a:noFill/>
        </p:spPr>
        <p:txBody>
          <a:bodyPr wrap="square">
            <a:spAutoFit/>
          </a:bodyPr>
          <a:lstStyle/>
          <a:p>
            <a:pPr algn="l">
              <a:lnSpc>
                <a:spcPts val="1500"/>
              </a:lnSpc>
            </a:pPr>
            <a:r>
              <a:rPr sz="1050" b="0" i="1">
                <a:solidFill>
                  <a:srgbClr val="1A1A6E"/>
                </a:solidFill>
              </a:rPr>
              <a:t>"That's not a planning guide. That's a novel."</a:t>
            </a:r>
          </a:p>
        </p:txBody>
      </p:sp>
      <p:sp>
        <p:nvSpPr>
          <p:cNvPr id="12" name="TextBox 11"/>
          <p:cNvSpPr txBox="1"/>
          <p:nvPr/>
        </p:nvSpPr>
        <p:spPr>
          <a:xfrm>
            <a:off x="228600" y="3017520"/>
            <a:ext cx="8686800" cy="448056"/>
          </a:xfrm>
          <a:prstGeom prst="rect">
            <a:avLst/>
          </a:prstGeom>
          <a:noFill/>
        </p:spPr>
        <p:txBody>
          <a:bodyPr wrap="square">
            <a:spAutoFit/>
          </a:bodyPr>
          <a:lstStyle/>
          <a:p>
            <a:pPr algn="l">
              <a:lnSpc>
                <a:spcPts val="1500"/>
              </a:lnSpc>
            </a:pPr>
            <a:r>
              <a:rPr sz="1000" b="0" i="0">
                <a:solidFill>
                  <a:srgbClr val="212121"/>
                </a:solidFill>
              </a:rPr>
              <a:t>Priya had it open to the CAPS section. She was reading about graphic design concentrations.
She hadn't told anyone she was doing that.</a:t>
            </a:r>
          </a:p>
        </p:txBody>
      </p:sp>
      <p:sp>
        <p:nvSpPr>
          <p:cNvPr id="13" name="TextBox 12"/>
          <p:cNvSpPr txBox="1"/>
          <p:nvPr/>
        </p:nvSpPr>
        <p:spPr>
          <a:xfrm>
            <a:off x="228600" y="3474720"/>
            <a:ext cx="8686800" cy="448056"/>
          </a:xfrm>
          <a:prstGeom prst="rect">
            <a:avLst/>
          </a:prstGeom>
          <a:noFill/>
        </p:spPr>
        <p:txBody>
          <a:bodyPr wrap="square">
            <a:spAutoFit/>
          </a:bodyPr>
          <a:lstStyle/>
          <a:p>
            <a:pPr algn="l">
              <a:lnSpc>
                <a:spcPts val="1500"/>
              </a:lnSpc>
            </a:pPr>
            <a:r>
              <a:rPr sz="1000" b="0" i="0">
                <a:solidFill>
                  <a:srgbClr val="212121"/>
                </a:solidFill>
              </a:rPr>
              <a:t>Eli was looking at page 44. It was the agriculture and natural resources page. He didn't have
any particular reason to be looking at it. He just was.</a:t>
            </a:r>
          </a:p>
        </p:txBody>
      </p:sp>
      <p:sp>
        <p:nvSpPr>
          <p:cNvPr id="14" name="TextBox 13"/>
          <p:cNvSpPr txBox="1"/>
          <p:nvPr/>
        </p:nvSpPr>
        <p:spPr>
          <a:xfrm>
            <a:off x="228600" y="3931920"/>
            <a:ext cx="8686800" cy="246888"/>
          </a:xfrm>
          <a:prstGeom prst="rect">
            <a:avLst/>
          </a:prstGeom>
          <a:noFill/>
        </p:spPr>
        <p:txBody>
          <a:bodyPr wrap="square">
            <a:spAutoFit/>
          </a:bodyPr>
          <a:lstStyle/>
          <a:p>
            <a:pPr algn="l">
              <a:lnSpc>
                <a:spcPts val="1500"/>
              </a:lnSpc>
            </a:pPr>
            <a:r>
              <a:rPr sz="1050" b="0" i="1">
                <a:solidFill>
                  <a:srgbClr val="1A1A6E"/>
                </a:solidFill>
              </a:rPr>
              <a:t>"Eli, what career field?" Maya asked.</a:t>
            </a:r>
          </a:p>
        </p:txBody>
      </p:sp>
      <p:sp>
        <p:nvSpPr>
          <p:cNvPr id="15" name="TextBox 14"/>
          <p:cNvSpPr txBox="1"/>
          <p:nvPr/>
        </p:nvSpPr>
        <p:spPr>
          <a:xfrm>
            <a:off x="228600" y="4187952"/>
            <a:ext cx="8686800" cy="246888"/>
          </a:xfrm>
          <a:prstGeom prst="rect">
            <a:avLst/>
          </a:prstGeom>
          <a:noFill/>
        </p:spPr>
        <p:txBody>
          <a:bodyPr wrap="square">
            <a:spAutoFit/>
          </a:bodyPr>
          <a:lstStyle/>
          <a:p>
            <a:pPr algn="l">
              <a:lnSpc>
                <a:spcPts val="1500"/>
              </a:lnSpc>
            </a:pPr>
            <a:r>
              <a:rPr sz="1050" b="0" i="1">
                <a:solidFill>
                  <a:srgbClr val="1A1A6E"/>
                </a:solidFill>
              </a:rPr>
              <a:t>"I don't know. Transportation, I think."</a:t>
            </a:r>
          </a:p>
        </p:txBody>
      </p:sp>
      <p:sp>
        <p:nvSpPr>
          <p:cNvPr id="16" name="TextBox 15"/>
          <p:cNvSpPr txBox="1"/>
          <p:nvPr/>
        </p:nvSpPr>
        <p:spPr>
          <a:xfrm>
            <a:off x="228600" y="4443984"/>
            <a:ext cx="8686800" cy="246888"/>
          </a:xfrm>
          <a:prstGeom prst="rect">
            <a:avLst/>
          </a:prstGeom>
          <a:noFill/>
        </p:spPr>
        <p:txBody>
          <a:bodyPr wrap="square">
            <a:spAutoFit/>
          </a:bodyPr>
          <a:lstStyle/>
          <a:p>
            <a:pPr algn="l">
              <a:lnSpc>
                <a:spcPts val="1500"/>
              </a:lnSpc>
            </a:pPr>
            <a:r>
              <a:rPr sz="1050" b="0" i="1">
                <a:solidFill>
                  <a:srgbClr val="1A1A6E"/>
                </a:solidFill>
              </a:rPr>
              <a:t>"Did you check prerequisites?"</a:t>
            </a:r>
          </a:p>
        </p:txBody>
      </p:sp>
      <p:sp>
        <p:nvSpPr>
          <p:cNvPr id="17" name="TextBox 16"/>
          <p:cNvSpPr txBox="1"/>
          <p:nvPr/>
        </p:nvSpPr>
        <p:spPr>
          <a:xfrm>
            <a:off x="228600" y="4700016"/>
            <a:ext cx="8686800" cy="246888"/>
          </a:xfrm>
          <a:prstGeom prst="rect">
            <a:avLst/>
          </a:prstGeom>
          <a:noFill/>
        </p:spPr>
        <p:txBody>
          <a:bodyPr wrap="square">
            <a:spAutoFit/>
          </a:bodyPr>
          <a:lstStyle/>
          <a:p>
            <a:pPr algn="l">
              <a:lnSpc>
                <a:spcPts val="1500"/>
              </a:lnSpc>
            </a:pPr>
            <a:r>
              <a:rPr sz="1000" b="0" i="0">
                <a:solidFill>
                  <a:srgbClr val="212121"/>
                </a:solidFill>
              </a:rPr>
              <a:t>He had not. He looked. There was a prerequisites section. He read it slowly.</a:t>
            </a:r>
          </a:p>
        </p:txBody>
      </p:sp>
      <p:sp>
        <p:nvSpPr>
          <p:cNvPr id="18" name="TextBox 17"/>
          <p:cNvSpPr txBox="1"/>
          <p:nvPr/>
        </p:nvSpPr>
        <p:spPr>
          <a:xfrm>
            <a:off x="228600" y="4956048"/>
            <a:ext cx="8686800" cy="246888"/>
          </a:xfrm>
          <a:prstGeom prst="rect">
            <a:avLst/>
          </a:prstGeom>
          <a:noFill/>
        </p:spPr>
        <p:txBody>
          <a:bodyPr wrap="square">
            <a:spAutoFit/>
          </a:bodyPr>
          <a:lstStyle/>
          <a:p>
            <a:pPr algn="l">
              <a:lnSpc>
                <a:spcPts val="1500"/>
              </a:lnSpc>
            </a:pPr>
            <a:r>
              <a:rPr sz="1050" b="0" i="1">
                <a:solidFill>
                  <a:srgbClr val="1A1A6E"/>
                </a:solidFill>
              </a:rPr>
              <a:t>"I'd need to take Intro to Technology," he said. "Or already have shop experience."</a:t>
            </a:r>
          </a:p>
        </p:txBody>
      </p:sp>
      <p:sp>
        <p:nvSpPr>
          <p:cNvPr id="19" name="TextBox 18"/>
          <p:cNvSpPr txBox="1"/>
          <p:nvPr/>
        </p:nvSpPr>
        <p:spPr>
          <a:xfrm>
            <a:off x="228600" y="5212080"/>
            <a:ext cx="8686800" cy="246888"/>
          </a:xfrm>
          <a:prstGeom prst="rect">
            <a:avLst/>
          </a:prstGeom>
          <a:noFill/>
        </p:spPr>
        <p:txBody>
          <a:bodyPr wrap="square">
            <a:spAutoFit/>
          </a:bodyPr>
          <a:lstStyle/>
          <a:p>
            <a:pPr algn="l">
              <a:lnSpc>
                <a:spcPts val="1500"/>
              </a:lnSpc>
            </a:pPr>
            <a:r>
              <a:rPr sz="1050" b="0" i="1">
                <a:solidFill>
                  <a:srgbClr val="1A1A6E"/>
                </a:solidFill>
              </a:rPr>
              <a:t>"Do you have shop experience?"</a:t>
            </a:r>
          </a:p>
        </p:txBody>
      </p:sp>
      <p:sp>
        <p:nvSpPr>
          <p:cNvPr id="20" name="TextBox 19"/>
          <p:cNvSpPr txBox="1"/>
          <p:nvPr/>
        </p:nvSpPr>
        <p:spPr>
          <a:xfrm>
            <a:off x="228600" y="5468112"/>
            <a:ext cx="8686800" cy="246888"/>
          </a:xfrm>
          <a:prstGeom prst="rect">
            <a:avLst/>
          </a:prstGeom>
          <a:noFill/>
        </p:spPr>
        <p:txBody>
          <a:bodyPr wrap="square">
            <a:spAutoFit/>
          </a:bodyPr>
          <a:lstStyle/>
          <a:p>
            <a:pPr algn="l">
              <a:lnSpc>
                <a:spcPts val="1500"/>
              </a:lnSpc>
            </a:pPr>
            <a:r>
              <a:rPr sz="1050" b="0" i="1">
                <a:solidFill>
                  <a:srgbClr val="1A1A6E"/>
                </a:solidFill>
              </a:rPr>
              <a:t>"I work in my uncle's shop."</a:t>
            </a:r>
          </a:p>
        </p:txBody>
      </p:sp>
      <p:sp>
        <p:nvSpPr>
          <p:cNvPr id="21" name="TextBox 20"/>
          <p:cNvSpPr txBox="1"/>
          <p:nvPr/>
        </p:nvSpPr>
        <p:spPr>
          <a:xfrm>
            <a:off x="228600" y="5724144"/>
            <a:ext cx="8686800" cy="246888"/>
          </a:xfrm>
          <a:prstGeom prst="rect">
            <a:avLst/>
          </a:prstGeom>
          <a:noFill/>
        </p:spPr>
        <p:txBody>
          <a:bodyPr wrap="square">
            <a:spAutoFit/>
          </a:bodyPr>
          <a:lstStyle/>
          <a:p>
            <a:pPr algn="l">
              <a:lnSpc>
                <a:spcPts val="1500"/>
              </a:lnSpc>
            </a:pPr>
            <a:r>
              <a:rPr sz="1050" b="0" i="1">
                <a:solidFill>
                  <a:srgbClr val="1A1A6E"/>
                </a:solidFill>
              </a:rPr>
              <a:t>"Then you probably qualify."</a:t>
            </a:r>
          </a:p>
        </p:txBody>
      </p:sp>
      <p:sp>
        <p:nvSpPr>
          <p:cNvPr id="22" name="TextBox 21"/>
          <p:cNvSpPr txBox="1"/>
          <p:nvPr/>
        </p:nvSpPr>
        <p:spPr>
          <a:xfrm>
            <a:off x="228600" y="5980176"/>
            <a:ext cx="8686800" cy="448056"/>
          </a:xfrm>
          <a:prstGeom prst="rect">
            <a:avLst/>
          </a:prstGeom>
          <a:noFill/>
        </p:spPr>
        <p:txBody>
          <a:bodyPr wrap="square">
            <a:spAutoFit/>
          </a:bodyPr>
          <a:lstStyle/>
          <a:p>
            <a:pPr algn="l">
              <a:lnSpc>
                <a:spcPts val="1500"/>
              </a:lnSpc>
            </a:pPr>
            <a:r>
              <a:rPr sz="1050" b="0" i="1">
                <a:solidFill>
                  <a:srgbClr val="1A1A6E"/>
                </a:solidFill>
              </a:rPr>
              <a:t>He read the sentence again. Students with documented work-based or vocational experience may
petition for prerequisite equivalency.</a:t>
            </a:r>
          </a:p>
        </p:txBody>
      </p:sp>
      <p:sp>
        <p:nvSpPr>
          <p:cNvPr id="23" name="TextBox 22"/>
          <p:cNvSpPr txBox="1"/>
          <p:nvPr/>
        </p:nvSpPr>
        <p:spPr>
          <a:xfrm>
            <a:off x="228600" y="6437376"/>
            <a:ext cx="8686800" cy="448056"/>
          </a:xfrm>
          <a:prstGeom prst="rect">
            <a:avLst/>
          </a:prstGeom>
          <a:noFill/>
        </p:spPr>
        <p:txBody>
          <a:bodyPr wrap="square">
            <a:spAutoFit/>
          </a:bodyPr>
          <a:lstStyle/>
          <a:p>
            <a:pPr algn="l">
              <a:lnSpc>
                <a:spcPts val="1500"/>
              </a:lnSpc>
            </a:pPr>
            <a:r>
              <a:rPr sz="1000" b="0" i="0">
                <a:solidFill>
                  <a:srgbClr val="212121"/>
                </a:solidFill>
              </a:rPr>
              <a:t>He'd never petitioned for anything. He wasn't sure how. But the sentence was there, and it
said he might be able to, and that felt like a door he hadn't known existed.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Planning Guide"</a:t>
            </a:r>
          </a:p>
        </p:txBody>
      </p:sp>
      <p:sp>
        <p:nvSpPr>
          <p:cNvPr id="4" name="Rectangle 3"/>
          <p:cNvSpPr/>
          <p:nvPr/>
        </p:nvSpPr>
        <p:spPr>
          <a:xfrm>
            <a:off x="182880" y="594360"/>
            <a:ext cx="8778240" cy="320040"/>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Jordan's planning guide is still in the envelope. Eli's is open to a page he landed on by
chance. What does each approach cost them?</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Eli finds a sentence that might change his options — but only because he stopped to actually
read carefully. What habit made that possible?</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Priya is researching graphic design quietly, not telling anyone. Why might she be keeping
that private — and should she be?</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What is the difference between skimming a resource and actually using it? Which one have you
been doing with the Academic Planning Guide?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Agriculture, Food &amp; Natural Resources at TRHS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This field may be smaller in course offerings at Two Rivers, but its CAPS program is one
of the most unique. The CAPS Natural Resources, Sustainability &amp; Food Systems program is
co-taught by a chemistry and agriculture teacher at Dodge Nature Center in West St.
Paul. Students explore soil science, food systems, water quality, and sustainable
agriculture through hands-on labs and fieldwork — and complete a second-semester
internship. The course earns 2 elective credits plus 1 Chemistry credit. AP
Environmental Science is also a strong option within this field.</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What career field do you still know the least about? What would help you learn more?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My Career Pathway Reflection</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Use the prompts below to write a personal reflection on all four career pathway lessons.
Use specific course names and pathway titles from the Academic Planning Guide.</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2159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Career planning at 13-14 is not about deciding your life — it's about exploring with purpose.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Career Pathway Reflection  —  Lesson 2.4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12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Complete all five prompts using complete sentences. Use specific course names and pathway titles from the Academic Planning Guide.</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Complete all five prompts using complete sentences. Use specific course names and pathway titles from the Academic Planning Guide.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2.4: Ag, Food &amp; Natural Resources — and Planning My Path</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Postcard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1097280"/>
          </a:xfrm>
          <a:prstGeom prst="rect">
            <a:avLst/>
          </a:prstGeom>
          <a:noFill/>
        </p:spPr>
        <p:txBody>
          <a:bodyPr wrap="square">
            <a:spAutoFit/>
          </a:bodyPr>
          <a:lstStyle/>
          <a:p>
            <a:pPr algn="l"/>
            <a:r>
              <a:rPr sz="1100" b="0" i="0">
                <a:solidFill>
                  <a:srgbClr val="212121"/>
                </a:solidFill>
              </a:rPr>
              <a:t>Imagine you are writing a postcard to your future 9th-grade self. In 4–6 sentences, tell them: which career pathway you are most curious about, one course at TRHS you cannot wait to try, and one piece of advice about exploring their interests.</a:t>
            </a:r>
          </a:p>
        </p:txBody>
      </p:sp>
      <p:sp>
        <p:nvSpPr>
          <p:cNvPr id="9" name="Rectangle 8"/>
          <p:cNvSpPr/>
          <p:nvPr/>
        </p:nvSpPr>
        <p:spPr>
          <a:xfrm>
            <a:off x="228600" y="2331720"/>
            <a:ext cx="457200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92040" y="2331720"/>
            <a:ext cx="402336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788920"/>
            <a:ext cx="4297680" cy="457200"/>
          </a:xfrm>
          <a:prstGeom prst="rect">
            <a:avLst/>
          </a:prstGeom>
          <a:noFill/>
        </p:spPr>
        <p:txBody>
          <a:bodyPr wrap="square">
            <a:spAutoFit/>
          </a:bodyPr>
          <a:lstStyle/>
          <a:p>
            <a:pPr algn="l"/>
            <a:r>
              <a:rPr sz="1000" b="0" i="1">
                <a:solidFill>
                  <a:srgbClr val="888888"/>
                </a:solidFill>
              </a:rPr>
              <a:t>[Write your postcard here]</a:t>
            </a:r>
          </a:p>
        </p:txBody>
      </p:sp>
      <p:sp>
        <p:nvSpPr>
          <p:cNvPr id="12" name="TextBox 11"/>
          <p:cNvSpPr txBox="1"/>
          <p:nvPr/>
        </p:nvSpPr>
        <p:spPr>
          <a:xfrm>
            <a:off x="4983480" y="2606039"/>
            <a:ext cx="3840480" cy="822960"/>
          </a:xfrm>
          <a:prstGeom prst="rect">
            <a:avLst/>
          </a:prstGeom>
          <a:noFill/>
        </p:spPr>
        <p:txBody>
          <a:bodyPr wrap="square">
            <a:spAutoFit/>
          </a:bodyPr>
          <a:lstStyle/>
          <a:p>
            <a:pPr algn="l"/>
            <a:r>
              <a:rPr sz="1000" b="0" i="0">
                <a:solidFill>
                  <a:srgbClr val="212121"/>
                </a:solidFill>
              </a:rPr>
              <a:t>To: My Future 9th-Grade Self
Two Rivers HS, Mendota Heights, MN 55118</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5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2 Post-Test  —  How Far Have You Come?</a:t>
            </a:r>
          </a:p>
        </p:txBody>
      </p:sp>
      <p:sp>
        <p:nvSpPr>
          <p:cNvPr id="4" name="TextBox 3"/>
          <p:cNvSpPr txBox="1"/>
          <p:nvPr/>
        </p:nvSpPr>
        <p:spPr>
          <a:xfrm>
            <a:off x="274320" y="640080"/>
            <a:ext cx="8595360" cy="2286000"/>
          </a:xfrm>
          <a:prstGeom prst="rect">
            <a:avLst/>
          </a:prstGeom>
          <a:noFill/>
        </p:spPr>
        <p:txBody>
          <a:bodyPr wrap="square">
            <a:spAutoFit/>
          </a:bodyPr>
          <a:lstStyle/>
          <a:p>
            <a:pPr algn="l"/>
            <a:r>
              <a:rPr sz="1250" b="0" i="0">
                <a:solidFill>
                  <a:srgbClr val="212121"/>
                </a:solidFill>
              </a:rPr>
              <a:t>Revisit your pre-test responses. Then write a paragraph (5–7 sentences) describing: which career field interests you most, at least two TRHS courses or experiences related to that field, and one CAPS program you would consider applying for and why.</a:t>
            </a:r>
          </a:p>
        </p:txBody>
      </p:sp>
      <p:sp>
        <p:nvSpPr>
          <p:cNvPr id="5" name="Rectangle 4"/>
          <p:cNvSpPr/>
          <p:nvPr/>
        </p:nvSpPr>
        <p:spPr>
          <a:xfrm>
            <a:off x="228600" y="3063240"/>
            <a:ext cx="8686800" cy="65836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3145536"/>
            <a:ext cx="8412480" cy="502920"/>
          </a:xfrm>
          <a:prstGeom prst="rect">
            <a:avLst/>
          </a:prstGeom>
          <a:noFill/>
        </p:spPr>
        <p:txBody>
          <a:bodyPr wrap="square">
            <a:spAutoFit/>
          </a:bodyPr>
          <a:lstStyle/>
          <a:p>
            <a:pPr algn="l"/>
            <a:r>
              <a:rPr sz="1100" b="0" i="1">
                <a:solidFill>
                  <a:srgbClr val="212121"/>
                </a:solidFill>
              </a:rPr>
              <a:t>TIP: Your Cornell Notes are your best resource. Use the vocabulary, the key ideas from the readings, and the activities from this unit to write a thorough, specific response.</a:t>
            </a:r>
          </a:p>
        </p:txBody>
      </p:sp>
      <p:sp>
        <p:nvSpPr>
          <p:cNvPr id="7" name="Rectangle 6"/>
          <p:cNvSpPr/>
          <p:nvPr/>
        </p:nvSpPr>
        <p:spPr>
          <a:xfrm>
            <a:off x="228600" y="3886200"/>
            <a:ext cx="8686800" cy="5029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950208"/>
            <a:ext cx="8412480" cy="384048"/>
          </a:xfrm>
          <a:prstGeom prst="rect">
            <a:avLst/>
          </a:prstGeom>
          <a:noFill/>
        </p:spPr>
        <p:txBody>
          <a:bodyPr wrap="square">
            <a:spAutoFit/>
          </a:bodyPr>
          <a:lstStyle/>
          <a:p>
            <a:pPr algn="l"/>
            <a:r>
              <a:rPr sz="1100" b="1" i="0">
                <a:solidFill>
                  <a:srgbClr val="212121"/>
                </a:solidFill>
              </a:rPr>
              <a:t>Growth Check: Compare your post-test to your pre-test. Circle 3 specific things you know now that you did not know at the start of this unit.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337F3F"/>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8229600" cy="502920"/>
          </a:xfrm>
          <a:prstGeom prst="rect">
            <a:avLst/>
          </a:prstGeom>
          <a:noFill/>
        </p:spPr>
        <p:txBody>
          <a:bodyPr wrap="square">
            <a:spAutoFit/>
          </a:bodyPr>
          <a:lstStyle/>
          <a:p>
            <a:pPr algn="l"/>
            <a:r>
              <a:rPr sz="2000" b="0" i="0">
                <a:solidFill>
                  <a:srgbClr val="F5E0B2"/>
                </a:solidFill>
              </a:rPr>
              <a:t>UNIT 3</a:t>
            </a:r>
          </a:p>
        </p:txBody>
      </p:sp>
      <p:sp>
        <p:nvSpPr>
          <p:cNvPr id="5" name="TextBox 4"/>
          <p:cNvSpPr txBox="1"/>
          <p:nvPr/>
        </p:nvSpPr>
        <p:spPr>
          <a:xfrm>
            <a:off x="457200" y="1234440"/>
            <a:ext cx="8229600" cy="1188720"/>
          </a:xfrm>
          <a:prstGeom prst="rect">
            <a:avLst/>
          </a:prstGeom>
          <a:noFill/>
        </p:spPr>
        <p:txBody>
          <a:bodyPr wrap="square">
            <a:spAutoFit/>
          </a:bodyPr>
          <a:lstStyle/>
          <a:p>
            <a:pPr algn="l"/>
            <a:r>
              <a:rPr sz="3800" b="1" i="0">
                <a:solidFill>
                  <a:srgbClr val="FFFFFF"/>
                </a:solidFill>
              </a:rPr>
              <a:t>Academic Preparation for Rigorous Courses</a:t>
            </a:r>
          </a:p>
        </p:txBody>
      </p:sp>
      <p:sp>
        <p:nvSpPr>
          <p:cNvPr id="6" name="Rectangle 5"/>
          <p:cNvSpPr/>
          <p:nvPr/>
        </p:nvSpPr>
        <p:spPr>
          <a:xfrm>
            <a:off x="457200" y="2514600"/>
            <a:ext cx="4114800" cy="457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697480"/>
            <a:ext cx="8229600" cy="1828800"/>
          </a:xfrm>
          <a:prstGeom prst="rect">
            <a:avLst/>
          </a:prstGeom>
          <a:noFill/>
        </p:spPr>
        <p:txBody>
          <a:bodyPr wrap="square">
            <a:spAutoFit/>
          </a:bodyPr>
          <a:lstStyle/>
          <a:p>
            <a:pPr algn="l"/>
            <a:r>
              <a:rPr sz="1400" b="0" i="0">
                <a:solidFill>
                  <a:srgbClr val="FFFFFF"/>
                </a:solidFill>
              </a:rPr>
              <a:t>This unit builds the academic skills you will need to succeed in challenging high school courses and beyond. You will develop strategies for reading complex texts, writing with clarity and stamina, studying effectively, and managing long-term academic work — the exact skills that separate thriving students from struggling ones in rigorous courses.</a:t>
            </a:r>
          </a:p>
        </p:txBody>
      </p:sp>
      <p:sp>
        <p:nvSpPr>
          <p:cNvPr id="8" name="TextBox 7"/>
          <p:cNvSpPr txBox="1"/>
          <p:nvPr/>
        </p:nvSpPr>
        <p:spPr>
          <a:xfrm>
            <a:off x="457200" y="4663440"/>
            <a:ext cx="8229600" cy="347472"/>
          </a:xfrm>
          <a:prstGeom prst="rect">
            <a:avLst/>
          </a:prstGeom>
          <a:noFill/>
        </p:spPr>
        <p:txBody>
          <a:bodyPr wrap="square">
            <a:spAutoFit/>
          </a:bodyPr>
          <a:lstStyle/>
          <a:p>
            <a:pPr algn="l"/>
            <a:r>
              <a:rPr sz="1300" b="1" i="0">
                <a:solidFill>
                  <a:srgbClr val="F5E0B2"/>
                </a:solidFill>
              </a:rPr>
              <a:t>Unit Vocabulary</a:t>
            </a:r>
          </a:p>
        </p:txBody>
      </p:sp>
      <p:sp>
        <p:nvSpPr>
          <p:cNvPr id="9" name="TextBox 8"/>
          <p:cNvSpPr txBox="1"/>
          <p:nvPr/>
        </p:nvSpPr>
        <p:spPr>
          <a:xfrm>
            <a:off x="457200" y="5074920"/>
            <a:ext cx="8503920" cy="384048"/>
          </a:xfrm>
          <a:prstGeom prst="rect">
            <a:avLst/>
          </a:prstGeom>
          <a:noFill/>
        </p:spPr>
        <p:txBody>
          <a:bodyPr wrap="square">
            <a:spAutoFit/>
          </a:bodyPr>
          <a:lstStyle/>
          <a:p>
            <a:pPr algn="l"/>
            <a:r>
              <a:rPr sz="950" b="0" i="0">
                <a:solidFill>
                  <a:srgbClr val="FFFFFF"/>
                </a:solidFill>
              </a:rPr>
              <a:t>• Stamina  —  The ability to sustain effort over time without giving up; in reading/writing, the capacity to focus for extended periods.</a:t>
            </a:r>
          </a:p>
        </p:txBody>
      </p:sp>
      <p:sp>
        <p:nvSpPr>
          <p:cNvPr id="10" name="TextBox 9"/>
          <p:cNvSpPr txBox="1"/>
          <p:nvPr/>
        </p:nvSpPr>
        <p:spPr>
          <a:xfrm>
            <a:off x="457200" y="5477256"/>
            <a:ext cx="8503920" cy="384048"/>
          </a:xfrm>
          <a:prstGeom prst="rect">
            <a:avLst/>
          </a:prstGeom>
          <a:noFill/>
        </p:spPr>
        <p:txBody>
          <a:bodyPr wrap="square">
            <a:spAutoFit/>
          </a:bodyPr>
          <a:lstStyle/>
          <a:p>
            <a:pPr algn="l"/>
            <a:r>
              <a:rPr sz="950" b="0" i="0">
                <a:solidFill>
                  <a:srgbClr val="FFFFFF"/>
                </a:solidFill>
              </a:rPr>
              <a:t>• Annotation  —  Writing notes, questions, and reactions directly on or near a text to deepen understanding.</a:t>
            </a:r>
          </a:p>
        </p:txBody>
      </p:sp>
      <p:sp>
        <p:nvSpPr>
          <p:cNvPr id="11" name="TextBox 10"/>
          <p:cNvSpPr txBox="1"/>
          <p:nvPr/>
        </p:nvSpPr>
        <p:spPr>
          <a:xfrm>
            <a:off x="457200" y="5879592"/>
            <a:ext cx="8503920" cy="384048"/>
          </a:xfrm>
          <a:prstGeom prst="rect">
            <a:avLst/>
          </a:prstGeom>
          <a:noFill/>
        </p:spPr>
        <p:txBody>
          <a:bodyPr wrap="square">
            <a:spAutoFit/>
          </a:bodyPr>
          <a:lstStyle/>
          <a:p>
            <a:pPr algn="l"/>
            <a:r>
              <a:rPr sz="950" b="0" i="0">
                <a:solidFill>
                  <a:srgbClr val="FFFFFF"/>
                </a:solidFill>
              </a:rPr>
              <a:t>• Synthesis  —  Combining information from multiple sources or ideas to form a new, deeper understanding.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3 Vocabulary — Etymology &amp; Meaning</a:t>
            </a:r>
          </a:p>
        </p:txBody>
      </p:sp>
      <p:sp>
        <p:nvSpPr>
          <p:cNvPr id="4" name="Rectangle 3"/>
          <p:cNvSpPr/>
          <p:nvPr/>
        </p:nvSpPr>
        <p:spPr>
          <a:xfrm>
            <a:off x="228600" y="59436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30936"/>
            <a:ext cx="2743200" cy="347472"/>
          </a:xfrm>
          <a:prstGeom prst="rect">
            <a:avLst/>
          </a:prstGeom>
          <a:noFill/>
        </p:spPr>
        <p:txBody>
          <a:bodyPr wrap="square">
            <a:spAutoFit/>
          </a:bodyPr>
          <a:lstStyle/>
          <a:p>
            <a:pPr algn="l"/>
            <a:r>
              <a:rPr sz="1300" b="1" i="0">
                <a:solidFill>
                  <a:srgbClr val="337F3F"/>
                </a:solidFill>
              </a:rPr>
              <a:t>Stamina</a:t>
            </a:r>
          </a:p>
        </p:txBody>
      </p:sp>
      <p:sp>
        <p:nvSpPr>
          <p:cNvPr id="6" name="TextBox 5"/>
          <p:cNvSpPr txBox="1"/>
          <p:nvPr/>
        </p:nvSpPr>
        <p:spPr>
          <a:xfrm>
            <a:off x="320040" y="1005840"/>
            <a:ext cx="4114800" cy="320040"/>
          </a:xfrm>
          <a:prstGeom prst="rect">
            <a:avLst/>
          </a:prstGeom>
          <a:noFill/>
        </p:spPr>
        <p:txBody>
          <a:bodyPr wrap="square">
            <a:spAutoFit/>
          </a:bodyPr>
          <a:lstStyle/>
          <a:p>
            <a:pPr algn="l"/>
            <a:r>
              <a:rPr sz="900" b="0" i="1">
                <a:solidFill>
                  <a:srgbClr val="888888"/>
                </a:solidFill>
              </a:rPr>
              <a:t>⬅ Latin stamina (threads of life, staying power) — from stamen (the warp thread of cloth)</a:t>
            </a:r>
          </a:p>
        </p:txBody>
      </p:sp>
      <p:sp>
        <p:nvSpPr>
          <p:cNvPr id="7" name="TextBox 6"/>
          <p:cNvSpPr txBox="1"/>
          <p:nvPr/>
        </p:nvSpPr>
        <p:spPr>
          <a:xfrm>
            <a:off x="3200400" y="685800"/>
            <a:ext cx="5577840" cy="594360"/>
          </a:xfrm>
          <a:prstGeom prst="rect">
            <a:avLst/>
          </a:prstGeom>
          <a:noFill/>
        </p:spPr>
        <p:txBody>
          <a:bodyPr wrap="square">
            <a:spAutoFit/>
          </a:bodyPr>
          <a:lstStyle/>
          <a:p>
            <a:pPr algn="l"/>
            <a:r>
              <a:rPr sz="1100" b="0" i="0">
                <a:solidFill>
                  <a:srgbClr val="212121"/>
                </a:solidFill>
              </a:rPr>
              <a:t>The ability to sustain effort over time without giving up; in reading/writing, the capacity to focus for extended periods.</a:t>
            </a:r>
          </a:p>
        </p:txBody>
      </p:sp>
      <p:sp>
        <p:nvSpPr>
          <p:cNvPr id="8" name="Rectangle 7"/>
          <p:cNvSpPr/>
          <p:nvPr/>
        </p:nvSpPr>
        <p:spPr>
          <a:xfrm>
            <a:off x="228600" y="146304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9616"/>
            <a:ext cx="2743200" cy="347472"/>
          </a:xfrm>
          <a:prstGeom prst="rect">
            <a:avLst/>
          </a:prstGeom>
          <a:noFill/>
        </p:spPr>
        <p:txBody>
          <a:bodyPr wrap="square">
            <a:spAutoFit/>
          </a:bodyPr>
          <a:lstStyle/>
          <a:p>
            <a:pPr algn="l"/>
            <a:r>
              <a:rPr sz="1300" b="1" i="0">
                <a:solidFill>
                  <a:srgbClr val="337F3F"/>
                </a:solidFill>
              </a:rPr>
              <a:t>Annotation</a:t>
            </a:r>
          </a:p>
        </p:txBody>
      </p:sp>
      <p:sp>
        <p:nvSpPr>
          <p:cNvPr id="10" name="TextBox 9"/>
          <p:cNvSpPr txBox="1"/>
          <p:nvPr/>
        </p:nvSpPr>
        <p:spPr>
          <a:xfrm>
            <a:off x="320040" y="1874520"/>
            <a:ext cx="4114800" cy="320040"/>
          </a:xfrm>
          <a:prstGeom prst="rect">
            <a:avLst/>
          </a:prstGeom>
          <a:noFill/>
        </p:spPr>
        <p:txBody>
          <a:bodyPr wrap="square">
            <a:spAutoFit/>
          </a:bodyPr>
          <a:lstStyle/>
          <a:p>
            <a:pPr algn="l"/>
            <a:r>
              <a:rPr sz="900" b="0" i="1">
                <a:solidFill>
                  <a:srgbClr val="888888"/>
                </a:solidFill>
              </a:rPr>
              <a:t>⬅ Latin annotare (to note down) — ad (to) + notare (to mark)</a:t>
            </a:r>
          </a:p>
        </p:txBody>
      </p:sp>
      <p:sp>
        <p:nvSpPr>
          <p:cNvPr id="11" name="TextBox 10"/>
          <p:cNvSpPr txBox="1"/>
          <p:nvPr/>
        </p:nvSpPr>
        <p:spPr>
          <a:xfrm>
            <a:off x="3200400" y="1554480"/>
            <a:ext cx="5577840" cy="594360"/>
          </a:xfrm>
          <a:prstGeom prst="rect">
            <a:avLst/>
          </a:prstGeom>
          <a:noFill/>
        </p:spPr>
        <p:txBody>
          <a:bodyPr wrap="square">
            <a:spAutoFit/>
          </a:bodyPr>
          <a:lstStyle/>
          <a:p>
            <a:pPr algn="l"/>
            <a:r>
              <a:rPr sz="1100" b="0" i="0">
                <a:solidFill>
                  <a:srgbClr val="212121"/>
                </a:solidFill>
              </a:rPr>
              <a:t>Writing notes, questions, and reactions directly on or near a text to deepen understanding.</a:t>
            </a:r>
          </a:p>
        </p:txBody>
      </p:sp>
      <p:sp>
        <p:nvSpPr>
          <p:cNvPr id="12" name="Rectangle 11"/>
          <p:cNvSpPr/>
          <p:nvPr/>
        </p:nvSpPr>
        <p:spPr>
          <a:xfrm>
            <a:off x="228600" y="233172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368296"/>
            <a:ext cx="2743200" cy="347472"/>
          </a:xfrm>
          <a:prstGeom prst="rect">
            <a:avLst/>
          </a:prstGeom>
          <a:noFill/>
        </p:spPr>
        <p:txBody>
          <a:bodyPr wrap="square">
            <a:spAutoFit/>
          </a:bodyPr>
          <a:lstStyle/>
          <a:p>
            <a:pPr algn="l"/>
            <a:r>
              <a:rPr sz="1300" b="1" i="0">
                <a:solidFill>
                  <a:srgbClr val="337F3F"/>
                </a:solidFill>
              </a:rPr>
              <a:t>Synthesis</a:t>
            </a:r>
          </a:p>
        </p:txBody>
      </p:sp>
      <p:sp>
        <p:nvSpPr>
          <p:cNvPr id="14" name="TextBox 13"/>
          <p:cNvSpPr txBox="1"/>
          <p:nvPr/>
        </p:nvSpPr>
        <p:spPr>
          <a:xfrm>
            <a:off x="320040" y="2743200"/>
            <a:ext cx="4114800" cy="320040"/>
          </a:xfrm>
          <a:prstGeom prst="rect">
            <a:avLst/>
          </a:prstGeom>
          <a:noFill/>
        </p:spPr>
        <p:txBody>
          <a:bodyPr wrap="square">
            <a:spAutoFit/>
          </a:bodyPr>
          <a:lstStyle/>
          <a:p>
            <a:pPr algn="l"/>
            <a:r>
              <a:rPr sz="900" b="0" i="1">
                <a:solidFill>
                  <a:srgbClr val="888888"/>
                </a:solidFill>
              </a:rPr>
              <a:t>⬅ Greek synthesis (putting together) — syn (together) + tithenai (to place)</a:t>
            </a:r>
          </a:p>
        </p:txBody>
      </p:sp>
      <p:sp>
        <p:nvSpPr>
          <p:cNvPr id="15" name="TextBox 14"/>
          <p:cNvSpPr txBox="1"/>
          <p:nvPr/>
        </p:nvSpPr>
        <p:spPr>
          <a:xfrm>
            <a:off x="3200400" y="2423160"/>
            <a:ext cx="5577840" cy="594360"/>
          </a:xfrm>
          <a:prstGeom prst="rect">
            <a:avLst/>
          </a:prstGeom>
          <a:noFill/>
        </p:spPr>
        <p:txBody>
          <a:bodyPr wrap="square">
            <a:spAutoFit/>
          </a:bodyPr>
          <a:lstStyle/>
          <a:p>
            <a:pPr algn="l"/>
            <a:r>
              <a:rPr sz="1100" b="0" i="0">
                <a:solidFill>
                  <a:srgbClr val="212121"/>
                </a:solidFill>
              </a:rPr>
              <a:t>Combining information from multiple sources or ideas to form a new, deeper understanding.</a:t>
            </a:r>
          </a:p>
        </p:txBody>
      </p:sp>
      <p:sp>
        <p:nvSpPr>
          <p:cNvPr id="16" name="Rectangle 15"/>
          <p:cNvSpPr/>
          <p:nvPr/>
        </p:nvSpPr>
        <p:spPr>
          <a:xfrm>
            <a:off x="228600" y="320040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236976"/>
            <a:ext cx="2743200" cy="347472"/>
          </a:xfrm>
          <a:prstGeom prst="rect">
            <a:avLst/>
          </a:prstGeom>
          <a:noFill/>
        </p:spPr>
        <p:txBody>
          <a:bodyPr wrap="square">
            <a:spAutoFit/>
          </a:bodyPr>
          <a:lstStyle/>
          <a:p>
            <a:pPr algn="l"/>
            <a:r>
              <a:rPr sz="1300" b="1" i="0">
                <a:solidFill>
                  <a:srgbClr val="337F3F"/>
                </a:solidFill>
              </a:rPr>
              <a:t>Spaced Practice</a:t>
            </a:r>
          </a:p>
        </p:txBody>
      </p:sp>
      <p:sp>
        <p:nvSpPr>
          <p:cNvPr id="18" name="TextBox 17"/>
          <p:cNvSpPr txBox="1"/>
          <p:nvPr/>
        </p:nvSpPr>
        <p:spPr>
          <a:xfrm>
            <a:off x="320040" y="3611880"/>
            <a:ext cx="4114800" cy="320040"/>
          </a:xfrm>
          <a:prstGeom prst="rect">
            <a:avLst/>
          </a:prstGeom>
          <a:noFill/>
        </p:spPr>
        <p:txBody>
          <a:bodyPr wrap="square">
            <a:spAutoFit/>
          </a:bodyPr>
          <a:lstStyle/>
          <a:p>
            <a:pPr algn="l"/>
            <a:r>
              <a:rPr sz="900" b="0" i="1">
                <a:solidFill>
                  <a:srgbClr val="888888"/>
                </a:solidFill>
              </a:rPr>
              <a:t>⬅ Latin spatium (space, interval) + Latin practicare (to practice, to perform)</a:t>
            </a:r>
          </a:p>
        </p:txBody>
      </p:sp>
      <p:sp>
        <p:nvSpPr>
          <p:cNvPr id="19" name="TextBox 18"/>
          <p:cNvSpPr txBox="1"/>
          <p:nvPr/>
        </p:nvSpPr>
        <p:spPr>
          <a:xfrm>
            <a:off x="3200400" y="3291840"/>
            <a:ext cx="5577840" cy="594360"/>
          </a:xfrm>
          <a:prstGeom prst="rect">
            <a:avLst/>
          </a:prstGeom>
          <a:noFill/>
        </p:spPr>
        <p:txBody>
          <a:bodyPr wrap="square">
            <a:spAutoFit/>
          </a:bodyPr>
          <a:lstStyle/>
          <a:p>
            <a:pPr algn="l"/>
            <a:r>
              <a:rPr sz="1100" b="0" i="0">
                <a:solidFill>
                  <a:srgbClr val="212121"/>
                </a:solidFill>
              </a:rPr>
              <a:t>A study technique in which learning is spread out over multiple shorter sessions rather than crammed into one long session.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3 Pre-Test  —  What Do You Already Know?</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each question honestly in your workbook. This is NOT graded for correctness.</a:t>
            </a:r>
          </a:p>
        </p:txBody>
      </p:sp>
      <p:sp>
        <p:nvSpPr>
          <p:cNvPr id="6" name="TextBox 5"/>
          <p:cNvSpPr txBox="1"/>
          <p:nvPr/>
        </p:nvSpPr>
        <p:spPr>
          <a:xfrm>
            <a:off x="274320" y="1005840"/>
            <a:ext cx="8595360" cy="475488"/>
          </a:xfrm>
          <a:prstGeom prst="rect">
            <a:avLst/>
          </a:prstGeom>
          <a:noFill/>
        </p:spPr>
        <p:txBody>
          <a:bodyPr wrap="square">
            <a:spAutoFit/>
          </a:bodyPr>
          <a:lstStyle/>
          <a:p>
            <a:pPr algn="l"/>
            <a:r>
              <a:rPr sz="1200" b="0" i="0">
                <a:solidFill>
                  <a:srgbClr val="212121"/>
                </a:solidFill>
              </a:rPr>
              <a:t>1.  Describe how you currently read a difficult text (a science article, a history chapter, etc.).</a:t>
            </a:r>
          </a:p>
        </p:txBody>
      </p:sp>
      <p:sp>
        <p:nvSpPr>
          <p:cNvPr id="7" name="TextBox 6"/>
          <p:cNvSpPr txBox="1"/>
          <p:nvPr/>
        </p:nvSpPr>
        <p:spPr>
          <a:xfrm>
            <a:off x="274320" y="1517904"/>
            <a:ext cx="8595360" cy="475488"/>
          </a:xfrm>
          <a:prstGeom prst="rect">
            <a:avLst/>
          </a:prstGeom>
          <a:noFill/>
        </p:spPr>
        <p:txBody>
          <a:bodyPr wrap="square">
            <a:spAutoFit/>
          </a:bodyPr>
          <a:lstStyle/>
          <a:p>
            <a:pPr algn="l"/>
            <a:r>
              <a:rPr sz="1200" b="0" i="0">
                <a:solidFill>
                  <a:srgbClr val="212121"/>
                </a:solidFill>
              </a:rPr>
              <a:t>2.  What do you do when you sit down to write and don't know how to start?</a:t>
            </a:r>
          </a:p>
        </p:txBody>
      </p:sp>
      <p:sp>
        <p:nvSpPr>
          <p:cNvPr id="8" name="TextBox 7"/>
          <p:cNvSpPr txBox="1"/>
          <p:nvPr/>
        </p:nvSpPr>
        <p:spPr>
          <a:xfrm>
            <a:off x="274320" y="2029968"/>
            <a:ext cx="8595360" cy="475488"/>
          </a:xfrm>
          <a:prstGeom prst="rect">
            <a:avLst/>
          </a:prstGeom>
          <a:noFill/>
        </p:spPr>
        <p:txBody>
          <a:bodyPr wrap="square">
            <a:spAutoFit/>
          </a:bodyPr>
          <a:lstStyle/>
          <a:p>
            <a:pPr algn="l"/>
            <a:r>
              <a:rPr sz="1200" b="0" i="0">
                <a:solidFill>
                  <a:srgbClr val="212121"/>
                </a:solidFill>
              </a:rPr>
              <a:t>3.  How do you study for a test? Walk us through your process step by step.</a:t>
            </a:r>
          </a:p>
        </p:txBody>
      </p:sp>
      <p:sp>
        <p:nvSpPr>
          <p:cNvPr id="9" name="TextBox 8"/>
          <p:cNvSpPr txBox="1"/>
          <p:nvPr/>
        </p:nvSpPr>
        <p:spPr>
          <a:xfrm>
            <a:off x="274320" y="2542032"/>
            <a:ext cx="8595360" cy="475488"/>
          </a:xfrm>
          <a:prstGeom prst="rect">
            <a:avLst/>
          </a:prstGeom>
          <a:noFill/>
        </p:spPr>
        <p:txBody>
          <a:bodyPr wrap="square">
            <a:spAutoFit/>
          </a:bodyPr>
          <a:lstStyle/>
          <a:p>
            <a:pPr algn="l"/>
            <a:r>
              <a:rPr sz="1200" b="0" i="0">
                <a:solidFill>
                  <a:srgbClr val="212121"/>
                </a:solidFill>
              </a:rPr>
              <a:t>4.  What is the longest piece of writing you have ever completed? How did you manage it?</a:t>
            </a:r>
          </a:p>
        </p:txBody>
      </p:sp>
      <p:sp>
        <p:nvSpPr>
          <p:cNvPr id="10" name="TextBox 9"/>
          <p:cNvSpPr txBox="1"/>
          <p:nvPr/>
        </p:nvSpPr>
        <p:spPr>
          <a:xfrm>
            <a:off x="274320" y="3054096"/>
            <a:ext cx="8595360" cy="475488"/>
          </a:xfrm>
          <a:prstGeom prst="rect">
            <a:avLst/>
          </a:prstGeom>
          <a:noFill/>
        </p:spPr>
        <p:txBody>
          <a:bodyPr wrap="square">
            <a:spAutoFit/>
          </a:bodyPr>
          <a:lstStyle/>
          <a:p>
            <a:pPr algn="l"/>
            <a:r>
              <a:rPr sz="1200" b="0" i="0">
                <a:solidFill>
                  <a:srgbClr val="212121"/>
                </a:solidFill>
              </a:rPr>
              <a:t>5.  What subject do you find most academically challenging and why?</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3.1  ·  5 minutes</a:t>
            </a:r>
          </a:p>
        </p:txBody>
      </p:sp>
      <p:sp>
        <p:nvSpPr>
          <p:cNvPr id="7" name="Rectangle 6"/>
          <p:cNvSpPr/>
          <p:nvPr/>
        </p:nvSpPr>
        <p:spPr>
          <a:xfrm>
            <a:off x="228600" y="868680"/>
            <a:ext cx="1463040" cy="329184"/>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LAUNCH</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Reading Habits Honest Check</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Be honest — no one is grading this:
When you read something for school that you don't find interesting, what do you actually do? Check all that apply.
[ ] Read carefully  [ ] Skim it  [ ] Read the first and last line of each paragraph  [ ] Ask someone what it says  [ ] Give up</a:t>
            </a:r>
          </a:p>
        </p:txBody>
      </p:sp>
      <p:sp>
        <p:nvSpPr>
          <p:cNvPr id="13" name="Rectangle 12"/>
          <p:cNvSpPr/>
          <p:nvPr/>
        </p:nvSpPr>
        <p:spPr>
          <a:xfrm>
            <a:off x="228600" y="4919472"/>
            <a:ext cx="8686800" cy="47548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Quick poll — hands for each option (normalize honesty, no shame)</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3.1  |  Unit 3: Academic Preparation for Rigorous Courses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Active Reading &amp; Annotation</a:t>
            </a:r>
          </a:p>
        </p:txBody>
      </p:sp>
      <p:sp>
        <p:nvSpPr>
          <p:cNvPr id="6" name="Rectangle 5"/>
          <p:cNvSpPr/>
          <p:nvPr/>
        </p:nvSpPr>
        <p:spPr>
          <a:xfrm>
            <a:off x="182880" y="1024128"/>
            <a:ext cx="8778240" cy="329184"/>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Explain the difference between passive and active reading.</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Apply a consistent annotation system to a challenging text.</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Use context clues and morphology to define unknown vocabulary.</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337F3F"/>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337F3F"/>
                </a:solidFill>
              </a:rPr>
              <a:t>Annotation</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annotare (to note down) — ad (to) + notare (to mark)</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Writing notes, questions, reactions, and connections directly on or beside a text while reading.</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911095"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837943" cy="320040"/>
          </a:xfrm>
          <a:prstGeom prst="rect">
            <a:avLst/>
          </a:prstGeom>
          <a:noFill/>
        </p:spPr>
        <p:txBody>
          <a:bodyPr wrap="square">
            <a:spAutoFit/>
          </a:bodyPr>
          <a:lstStyle/>
          <a:p>
            <a:pPr algn="ctr"/>
            <a:r>
              <a:rPr sz="1100" b="1" i="0">
                <a:solidFill>
                  <a:srgbClr val="FFFFFF"/>
                </a:solidFill>
              </a:rPr>
              <a:t>11</a:t>
            </a:r>
          </a:p>
        </p:txBody>
      </p:sp>
      <p:sp>
        <p:nvSpPr>
          <p:cNvPr id="27" name="TextBox 26"/>
          <p:cNvSpPr txBox="1"/>
          <p:nvPr/>
        </p:nvSpPr>
        <p:spPr>
          <a:xfrm>
            <a:off x="1618488" y="6163056"/>
            <a:ext cx="1911095"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529584"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60"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529584"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745736" y="5623560"/>
            <a:ext cx="1563624"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82312" y="5715000"/>
            <a:ext cx="1490472" cy="320040"/>
          </a:xfrm>
          <a:prstGeom prst="rect">
            <a:avLst/>
          </a:prstGeom>
          <a:noFill/>
        </p:spPr>
        <p:txBody>
          <a:bodyPr wrap="square">
            <a:spAutoFit/>
          </a:bodyPr>
          <a:lstStyle/>
          <a:p>
            <a:pPr algn="ctr"/>
            <a:r>
              <a:rPr sz="1100" b="1" i="0">
                <a:solidFill>
                  <a:srgbClr val="FFFFFF"/>
                </a:solidFill>
              </a:rPr>
              <a:t>9</a:t>
            </a:r>
          </a:p>
        </p:txBody>
      </p:sp>
      <p:sp>
        <p:nvSpPr>
          <p:cNvPr id="33" name="TextBox 32"/>
          <p:cNvSpPr txBox="1"/>
          <p:nvPr/>
        </p:nvSpPr>
        <p:spPr>
          <a:xfrm>
            <a:off x="4745736" y="6163056"/>
            <a:ext cx="1563624"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309359" y="5623560"/>
            <a:ext cx="173736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715000"/>
            <a:ext cx="1664208" cy="320040"/>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6309359" y="6163056"/>
            <a:ext cx="173736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19"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5"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19"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2 — Partial scaffold (key notes provided)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337F3F"/>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Your Brain Changes When You Read — But Only If You Do It Right</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on reading comprehension and neuroplasticity</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11 min</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Brain Changes When You Read — But Only If You Do It Right  (p. 1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Neuroplasticity is the brain's ability to reorganize itself by forming new neural
connections throughout life. Unlike a computer, which has fixed hardware, the human
brain can actually change its physical structure in response to learning and experience.
When you practice a skill repeatedly — including reading — the neural pathways
associated with that skill become stronger and more efficient. This means that reading
difficult texts regularly is literally reshaping your brain to think more deeply.</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But not all reading is equal. Research by cognitive psychologist David Dunning (famous
for the Dunning-Kruger effect) found that people consistently overestimate their
comprehension when they read passively. You can move your eyes across an entire page and
retain almost nothing, especially when your mind wanders. Passive reading — where you
simply move your eyes across text without engaging — triggers almost no deep processing
in the brain. Active reading, by contrast, forces your brain into the hard work of
connecting, questioning, and interpreting.</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Brain Changes When You Read — But Only If You Do It Right  (p. 2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Active reading means interacting with the text as you read. You notice when you are
confused and mark it. You ask questions in the margins. You underline key ideas and
write their significance in your own words. You make connections to what you already
know. You challenge claims that seem incomplete or overstated. When you write in the
margins of a text — a practice called annotation — you are not just marking it up. You
are having a conversation with the author, and that conversation is the learning.</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Active reading also builds vocabulary more effectively than any flashcard. When you
encounter an unknown word in context, your brain works to infer its meaning from
surrounding sentences, word roots, and prior knowledge. This process — called contextual
vocabulary acquisition — creates a much richer, more durable memory for the word than
memorizing a definition in isolation. In college-level and Advanced Placement courses,
you will encounter complex vocabulary constantly. Building the habit of active reading
now means you will be equipped to handle it.</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'Your Brain Changes When You Read — But Only If You Do It Right'</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337F3F"/>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neuroplasticity? How does the reading connect neuroplasticity to reading?</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337F3F"/>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is the difference between passive reading and active reading? Give a specific example of
each.</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337F3F"/>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is annotation and why does the reading say it is 'having a conversation with the author'?</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337F3F"/>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What is 'contextual vocabulary acquisition'? Why is it more effective than memorizing
definitions?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337F3F"/>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Using the annotation system from class (*, ?, !, →, circle, underline), annotate THIS reading
passage. Then write a 2-sentence summary of the most important idea.</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3.1</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How to Read Faster — Active Reading Strategies</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Thomas Frank  ·  approx. 8 min</a:t>
            </a:r>
          </a:p>
        </p:txBody>
      </p:sp>
      <p:sp>
        <p:nvSpPr>
          <p:cNvPr id="9" name="Rectangle 8"/>
          <p:cNvSpPr/>
          <p:nvPr/>
        </p:nvSpPr>
        <p:spPr>
          <a:xfrm>
            <a:off x="365760" y="2377440"/>
            <a:ext cx="8412480" cy="2743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337F3F"/>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is the one annotation habit he says makes the biggest difference?</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"Your Brain on Reading — Neuroplasticity"  |  SciShow</a:t>
            </a:r>
          </a:p>
        </p:txBody>
      </p:sp>
      <p:sp>
        <p:nvSpPr>
          <p:cNvPr id="16" name="Rectangle 15">
            <a:hlinkClick r:id="rId3"/>
          </p:cNvPr>
          <p:cNvSpPr/>
          <p:nvPr/>
        </p:nvSpPr>
        <p:spPr>
          <a:xfrm>
            <a:off x="2743200" y="4480560"/>
            <a:ext cx="3657600" cy="7498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"Margin Notes"  —  Lesson 3.1</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00" b="0" i="0">
                <a:solidFill>
                  <a:srgbClr val="212121"/>
                </a:solidFill>
              </a:rPr>
              <a:t>They were in the library with a science article that was nine paragraphs long and
significantly less interesting than nine paragraphs should be allowed to be.</a:t>
            </a:r>
          </a:p>
        </p:txBody>
      </p:sp>
      <p:sp>
        <p:nvSpPr>
          <p:cNvPr id="7" name="TextBox 6"/>
          <p:cNvSpPr txBox="1"/>
          <p:nvPr/>
        </p:nvSpPr>
        <p:spPr>
          <a:xfrm>
            <a:off x="228600" y="1335024"/>
            <a:ext cx="8686800" cy="448056"/>
          </a:xfrm>
          <a:prstGeom prst="rect">
            <a:avLst/>
          </a:prstGeom>
          <a:noFill/>
        </p:spPr>
        <p:txBody>
          <a:bodyPr wrap="square">
            <a:spAutoFit/>
          </a:bodyPr>
          <a:lstStyle/>
          <a:p>
            <a:pPr algn="l">
              <a:lnSpc>
                <a:spcPts val="1500"/>
              </a:lnSpc>
            </a:pPr>
            <a:r>
              <a:rPr sz="1000" b="0" i="0">
                <a:solidFill>
                  <a:srgbClr val="212121"/>
                </a:solidFill>
              </a:rPr>
              <a:t>Jordan read paragraph one. He had no memory of it by paragraph two. He read paragraph two. He
had no memory of paragraph one or two by paragraph three.</a:t>
            </a:r>
          </a:p>
        </p:txBody>
      </p:sp>
      <p:sp>
        <p:nvSpPr>
          <p:cNvPr id="8" name="TextBox 7"/>
          <p:cNvSpPr txBox="1"/>
          <p:nvPr/>
        </p:nvSpPr>
        <p:spPr>
          <a:xfrm>
            <a:off x="228600" y="1792224"/>
            <a:ext cx="8686800" cy="246888"/>
          </a:xfrm>
          <a:prstGeom prst="rect">
            <a:avLst/>
          </a:prstGeom>
          <a:noFill/>
        </p:spPr>
        <p:txBody>
          <a:bodyPr wrap="square">
            <a:spAutoFit/>
          </a:bodyPr>
          <a:lstStyle/>
          <a:p>
            <a:pPr algn="l">
              <a:lnSpc>
                <a:spcPts val="1500"/>
              </a:lnSpc>
            </a:pPr>
            <a:r>
              <a:rPr sz="1050" b="0" i="1">
                <a:solidFill>
                  <a:srgbClr val="1A1A6E"/>
                </a:solidFill>
              </a:rPr>
              <a:t>"How are you reading that fast," he said to Priya.</a:t>
            </a:r>
          </a:p>
        </p:txBody>
      </p:sp>
      <p:sp>
        <p:nvSpPr>
          <p:cNvPr id="9" name="TextBox 8"/>
          <p:cNvSpPr txBox="1"/>
          <p:nvPr/>
        </p:nvSpPr>
        <p:spPr>
          <a:xfrm>
            <a:off x="228600" y="2048256"/>
            <a:ext cx="8686800" cy="246888"/>
          </a:xfrm>
          <a:prstGeom prst="rect">
            <a:avLst/>
          </a:prstGeom>
          <a:noFill/>
        </p:spPr>
        <p:txBody>
          <a:bodyPr wrap="square">
            <a:spAutoFit/>
          </a:bodyPr>
          <a:lstStyle/>
          <a:p>
            <a:pPr algn="l">
              <a:lnSpc>
                <a:spcPts val="1500"/>
              </a:lnSpc>
            </a:pPr>
            <a:r>
              <a:rPr sz="1050" b="0" i="1">
                <a:solidFill>
                  <a:srgbClr val="1A1A6E"/>
                </a:solidFill>
              </a:rPr>
              <a:t>She looked up. "What?"</a:t>
            </a:r>
          </a:p>
        </p:txBody>
      </p:sp>
      <p:sp>
        <p:nvSpPr>
          <p:cNvPr id="10" name="TextBox 9"/>
          <p:cNvSpPr txBox="1"/>
          <p:nvPr/>
        </p:nvSpPr>
        <p:spPr>
          <a:xfrm>
            <a:off x="228600" y="2304288"/>
            <a:ext cx="8686800" cy="246888"/>
          </a:xfrm>
          <a:prstGeom prst="rect">
            <a:avLst/>
          </a:prstGeom>
          <a:noFill/>
        </p:spPr>
        <p:txBody>
          <a:bodyPr wrap="square">
            <a:spAutoFit/>
          </a:bodyPr>
          <a:lstStyle/>
          <a:p>
            <a:pPr algn="l">
              <a:lnSpc>
                <a:spcPts val="1500"/>
              </a:lnSpc>
            </a:pPr>
            <a:r>
              <a:rPr sz="1050" b="0" i="1">
                <a:solidFill>
                  <a:srgbClr val="1A1A6E"/>
                </a:solidFill>
              </a:rPr>
              <a:t>"You're on paragraph six. I'm on paragraph two. For the second time."</a:t>
            </a:r>
          </a:p>
        </p:txBody>
      </p:sp>
      <p:sp>
        <p:nvSpPr>
          <p:cNvPr id="11" name="TextBox 10"/>
          <p:cNvSpPr txBox="1"/>
          <p:nvPr/>
        </p:nvSpPr>
        <p:spPr>
          <a:xfrm>
            <a:off x="228600" y="2560320"/>
            <a:ext cx="8686800" cy="246888"/>
          </a:xfrm>
          <a:prstGeom prst="rect">
            <a:avLst/>
          </a:prstGeom>
          <a:noFill/>
        </p:spPr>
        <p:txBody>
          <a:bodyPr wrap="square">
            <a:spAutoFit/>
          </a:bodyPr>
          <a:lstStyle/>
          <a:p>
            <a:pPr algn="l">
              <a:lnSpc>
                <a:spcPts val="1500"/>
              </a:lnSpc>
            </a:pPr>
            <a:r>
              <a:rPr sz="1050" b="0" i="1">
                <a:solidFill>
                  <a:srgbClr val="1A1A6E"/>
                </a:solidFill>
              </a:rPr>
              <a:t>"I'm annotating."</a:t>
            </a:r>
          </a:p>
        </p:txBody>
      </p:sp>
      <p:sp>
        <p:nvSpPr>
          <p:cNvPr id="12" name="TextBox 11"/>
          <p:cNvSpPr txBox="1"/>
          <p:nvPr/>
        </p:nvSpPr>
        <p:spPr>
          <a:xfrm>
            <a:off x="228600" y="2816352"/>
            <a:ext cx="8686800" cy="246888"/>
          </a:xfrm>
          <a:prstGeom prst="rect">
            <a:avLst/>
          </a:prstGeom>
          <a:noFill/>
        </p:spPr>
        <p:txBody>
          <a:bodyPr wrap="square">
            <a:spAutoFit/>
          </a:bodyPr>
          <a:lstStyle/>
          <a:p>
            <a:pPr algn="l">
              <a:lnSpc>
                <a:spcPts val="1500"/>
              </a:lnSpc>
            </a:pPr>
            <a:r>
              <a:rPr sz="1050" b="0" i="1">
                <a:solidFill>
                  <a:srgbClr val="1A1A6E"/>
                </a:solidFill>
              </a:rPr>
              <a:t>"What does that do."</a:t>
            </a:r>
          </a:p>
        </p:txBody>
      </p:sp>
      <p:sp>
        <p:nvSpPr>
          <p:cNvPr id="13" name="TextBox 12"/>
          <p:cNvSpPr txBox="1"/>
          <p:nvPr/>
        </p:nvSpPr>
        <p:spPr>
          <a:xfrm>
            <a:off x="228600" y="3072384"/>
            <a:ext cx="8686800" cy="850392"/>
          </a:xfrm>
          <a:prstGeom prst="rect">
            <a:avLst/>
          </a:prstGeom>
          <a:noFill/>
        </p:spPr>
        <p:txBody>
          <a:bodyPr wrap="square">
            <a:spAutoFit/>
          </a:bodyPr>
          <a:lstStyle/>
          <a:p>
            <a:pPr algn="l">
              <a:lnSpc>
                <a:spcPts val="1500"/>
              </a:lnSpc>
            </a:pPr>
            <a:r>
              <a:rPr sz="1000" b="0" i="0">
                <a:solidFill>
                  <a:srgbClr val="212121"/>
                </a:solidFill>
              </a:rPr>
              <a:t>She turned her paper toward him. The margins were covered — not neatly, more like a
conversation she was having with the page. An asterisk next to something that surprised her. A
question mark next to a claim she wasn't sure about. Two words connected by an arrow. The word
WHY? in a circle.</a:t>
            </a:r>
          </a:p>
        </p:txBody>
      </p:sp>
      <p:sp>
        <p:nvSpPr>
          <p:cNvPr id="14" name="TextBox 13"/>
          <p:cNvSpPr txBox="1"/>
          <p:nvPr/>
        </p:nvSpPr>
        <p:spPr>
          <a:xfrm>
            <a:off x="228600" y="3931920"/>
            <a:ext cx="8686800" cy="246888"/>
          </a:xfrm>
          <a:prstGeom prst="rect">
            <a:avLst/>
          </a:prstGeom>
          <a:noFill/>
        </p:spPr>
        <p:txBody>
          <a:bodyPr wrap="square">
            <a:spAutoFit/>
          </a:bodyPr>
          <a:lstStyle/>
          <a:p>
            <a:pPr algn="l">
              <a:lnSpc>
                <a:spcPts val="1500"/>
              </a:lnSpc>
            </a:pPr>
            <a:r>
              <a:rPr sz="1050" b="0" i="1">
                <a:solidFill>
                  <a:srgbClr val="1A1A6E"/>
                </a:solidFill>
              </a:rPr>
              <a:t>"I thought that was just for English," Jordan said.</a:t>
            </a:r>
          </a:p>
        </p:txBody>
      </p:sp>
      <p:sp>
        <p:nvSpPr>
          <p:cNvPr id="15" name="TextBox 14"/>
          <p:cNvSpPr txBox="1"/>
          <p:nvPr/>
        </p:nvSpPr>
        <p:spPr>
          <a:xfrm>
            <a:off x="228600" y="4187952"/>
            <a:ext cx="8686800" cy="246888"/>
          </a:xfrm>
          <a:prstGeom prst="rect">
            <a:avLst/>
          </a:prstGeom>
          <a:noFill/>
        </p:spPr>
        <p:txBody>
          <a:bodyPr wrap="square">
            <a:spAutoFit/>
          </a:bodyPr>
          <a:lstStyle/>
          <a:p>
            <a:pPr algn="l">
              <a:lnSpc>
                <a:spcPts val="1500"/>
              </a:lnSpc>
            </a:pPr>
            <a:r>
              <a:rPr sz="1050" b="0" i="1">
                <a:solidFill>
                  <a:srgbClr val="1A1A6E"/>
                </a:solidFill>
              </a:rPr>
              <a:t>"It's for anything you actually want to remember."</a:t>
            </a:r>
          </a:p>
        </p:txBody>
      </p:sp>
      <p:sp>
        <p:nvSpPr>
          <p:cNvPr id="16" name="TextBox 15"/>
          <p:cNvSpPr txBox="1"/>
          <p:nvPr/>
        </p:nvSpPr>
        <p:spPr>
          <a:xfrm>
            <a:off x="228600" y="4443984"/>
            <a:ext cx="8686800" cy="246888"/>
          </a:xfrm>
          <a:prstGeom prst="rect">
            <a:avLst/>
          </a:prstGeom>
          <a:noFill/>
        </p:spPr>
        <p:txBody>
          <a:bodyPr wrap="square">
            <a:spAutoFit/>
          </a:bodyPr>
          <a:lstStyle/>
          <a:p>
            <a:pPr algn="l">
              <a:lnSpc>
                <a:spcPts val="1500"/>
              </a:lnSpc>
            </a:pPr>
            <a:r>
              <a:rPr sz="1050" b="0" i="1">
                <a:solidFill>
                  <a:srgbClr val="1A1A6E"/>
                </a:solidFill>
              </a:rPr>
              <a:t>He looked at his clean, unmarked page. "I feel like writing on it is messing it up."</a:t>
            </a:r>
          </a:p>
        </p:txBody>
      </p:sp>
      <p:sp>
        <p:nvSpPr>
          <p:cNvPr id="17" name="TextBox 16"/>
          <p:cNvSpPr txBox="1"/>
          <p:nvPr/>
        </p:nvSpPr>
        <p:spPr>
          <a:xfrm>
            <a:off x="228600" y="4700016"/>
            <a:ext cx="8686800" cy="246888"/>
          </a:xfrm>
          <a:prstGeom prst="rect">
            <a:avLst/>
          </a:prstGeom>
          <a:noFill/>
        </p:spPr>
        <p:txBody>
          <a:bodyPr wrap="square">
            <a:spAutoFit/>
          </a:bodyPr>
          <a:lstStyle/>
          <a:p>
            <a:pPr algn="l">
              <a:lnSpc>
                <a:spcPts val="1500"/>
              </a:lnSpc>
            </a:pPr>
            <a:r>
              <a:rPr sz="1050" b="0" i="1">
                <a:solidFill>
                  <a:srgbClr val="1A1A6E"/>
                </a:solidFill>
              </a:rPr>
              <a:t>"It's a photocopy."</a:t>
            </a:r>
          </a:p>
        </p:txBody>
      </p:sp>
      <p:sp>
        <p:nvSpPr>
          <p:cNvPr id="18" name="TextBox 17"/>
          <p:cNvSpPr txBox="1"/>
          <p:nvPr/>
        </p:nvSpPr>
        <p:spPr>
          <a:xfrm>
            <a:off x="228600" y="4956048"/>
            <a:ext cx="8686800" cy="246888"/>
          </a:xfrm>
          <a:prstGeom prst="rect">
            <a:avLst/>
          </a:prstGeom>
          <a:noFill/>
        </p:spPr>
        <p:txBody>
          <a:bodyPr wrap="square">
            <a:spAutoFit/>
          </a:bodyPr>
          <a:lstStyle/>
          <a:p>
            <a:pPr algn="l">
              <a:lnSpc>
                <a:spcPts val="1500"/>
              </a:lnSpc>
            </a:pPr>
            <a:r>
              <a:rPr sz="1050" b="0" i="1">
                <a:solidFill>
                  <a:srgbClr val="1A1A6E"/>
                </a:solidFill>
              </a:rPr>
              <a:t>"Still."</a:t>
            </a:r>
          </a:p>
        </p:txBody>
      </p:sp>
      <p:sp>
        <p:nvSpPr>
          <p:cNvPr id="19" name="TextBox 18"/>
          <p:cNvSpPr txBox="1"/>
          <p:nvPr/>
        </p:nvSpPr>
        <p:spPr>
          <a:xfrm>
            <a:off x="228600" y="5212080"/>
            <a:ext cx="8686800" cy="448056"/>
          </a:xfrm>
          <a:prstGeom prst="rect">
            <a:avLst/>
          </a:prstGeom>
          <a:noFill/>
        </p:spPr>
        <p:txBody>
          <a:bodyPr wrap="square">
            <a:spAutoFit/>
          </a:bodyPr>
          <a:lstStyle/>
          <a:p>
            <a:pPr algn="l">
              <a:lnSpc>
                <a:spcPts val="1500"/>
              </a:lnSpc>
            </a:pPr>
            <a:r>
              <a:rPr sz="1050" b="0" i="1">
                <a:solidFill>
                  <a:srgbClr val="1A1A6E"/>
                </a:solidFill>
              </a:rPr>
              <a:t>"Jordan. Reading without doing anything is just your eyes moving. You have to make your brain
talk back."</a:t>
            </a:r>
          </a:p>
        </p:txBody>
      </p:sp>
      <p:sp>
        <p:nvSpPr>
          <p:cNvPr id="20" name="TextBox 19"/>
          <p:cNvSpPr txBox="1"/>
          <p:nvPr/>
        </p:nvSpPr>
        <p:spPr>
          <a:xfrm>
            <a:off x="228600" y="5669280"/>
            <a:ext cx="8686800" cy="649224"/>
          </a:xfrm>
          <a:prstGeom prst="rect">
            <a:avLst/>
          </a:prstGeom>
          <a:noFill/>
        </p:spPr>
        <p:txBody>
          <a:bodyPr wrap="square">
            <a:spAutoFit/>
          </a:bodyPr>
          <a:lstStyle/>
          <a:p>
            <a:pPr algn="l">
              <a:lnSpc>
                <a:spcPts val="1500"/>
              </a:lnSpc>
            </a:pPr>
            <a:r>
              <a:rPr sz="1000" b="0" i="0">
                <a:solidFill>
                  <a:srgbClr val="212121"/>
                </a:solidFill>
              </a:rPr>
              <a:t>He looked at paragraph two again. He picked up his pen. He wrote a question mark next to a
sentence he didn't believe. Then an asterisk next to a fact that was actually kind of
interesting.</a:t>
            </a:r>
          </a:p>
        </p:txBody>
      </p:sp>
      <p:sp>
        <p:nvSpPr>
          <p:cNvPr id="21" name="TextBox 20"/>
          <p:cNvSpPr txBox="1"/>
          <p:nvPr/>
        </p:nvSpPr>
        <p:spPr>
          <a:xfrm>
            <a:off x="228600" y="6327648"/>
            <a:ext cx="8686800" cy="246888"/>
          </a:xfrm>
          <a:prstGeom prst="rect">
            <a:avLst/>
          </a:prstGeom>
          <a:noFill/>
        </p:spPr>
        <p:txBody>
          <a:bodyPr wrap="square">
            <a:spAutoFit/>
          </a:bodyPr>
          <a:lstStyle/>
          <a:p>
            <a:pPr algn="l">
              <a:lnSpc>
                <a:spcPts val="1500"/>
              </a:lnSpc>
            </a:pPr>
            <a:r>
              <a:rPr sz="1000" b="0" i="0">
                <a:solidFill>
                  <a:srgbClr val="212121"/>
                </a:solidFill>
              </a:rPr>
              <a:t>He read paragraph three. He remembered paragraphs one and two.</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"Margin Notes"</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Jordan's eyes move across the text but nothing sticks. Priya says 'you have to make your
brain talk back.' What does that actually mean?</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Jordan resists annotating because it feels like 'messing up' the paper. What other habits or
beliefs do students have that accidentally get in the way of learning?</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Once Jordan tries one annotation, he remembers more. Why do you think the physical act of
marking the page changes what his brain does with the information?</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What's your honest default when reading something hard for school? What would you have to
change to read the way Priya reads?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Why Highlighting Doesn't Work</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Studies show that students who highlight passages retain barely more information than
students who don't. Why? Because highlighting is a passive activity — your hand moves
but your brain doesn't do anything. Annotation forces you to think: 'What does this
mean? Why does it matter? How does it connect to what I already know?' That thinking IS
learning.</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When was the last time you read something difficult and actually remembered it? What made the difference?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Practice: Annotate This Passage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Read the passage below. Use the annotation system from your notes. After reading, write
a 2-sentence summary in the margin.  "Neuroplasticity is the brain's ability to
reorganize itself by forming new neural connections throughout life. Unlike a computer,
which has fixed hardware, the human brain can actually change its physical structure in
response to learning and experience. When you practice a skill repeatedly, the neural
pathways associated with that skill become stronger and more efficient — a process
sometimes described as 'neurons that fire together, wire together.' This means that the
mental skills you practice in school — reading, analyzing, writing, problem-solving —
are literally reshaping your brain. Every time you push through a difficult text or work
through a challenging math problem, you are making yourself smarter."</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337F3F"/>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Annotation is not decoration — it is evidence that your brain is actively processing the text.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Annotate the Passage  —  Lesson 3.1</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10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Apply your annotation symbols to the passage. Aim for 4+ marks per paragraph. Then write your 2-sentence summary WITHOUT looking back at the passage.</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Apply your annotation symbols to the passage. Aim for 4+ marks per paragraph. Then write your 2-sentence summary WITHOUT looking back at the passage.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3.1: Active Reading &amp; Annotation</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3-2-1 Reflection</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384048"/>
          </a:xfrm>
          <a:prstGeom prst="rect">
            <a:avLst/>
          </a:prstGeom>
          <a:noFill/>
        </p:spPr>
        <p:txBody>
          <a:bodyPr wrap="square">
            <a:spAutoFit/>
          </a:bodyPr>
          <a:lstStyle/>
          <a:p>
            <a:pPr algn="l"/>
            <a:r>
              <a:rPr sz="1100" b="0" i="1">
                <a:solidFill>
                  <a:srgbClr val="212121"/>
                </a:solidFill>
              </a:rPr>
              <a:t>3 annotation symbols I will use and what they mean:</a:t>
            </a:r>
          </a:p>
        </p:txBody>
      </p:sp>
      <p:sp>
        <p:nvSpPr>
          <p:cNvPr id="9" name="Rectangle 8"/>
          <p:cNvSpPr/>
          <p:nvPr/>
        </p:nvSpPr>
        <p:spPr>
          <a:xfrm>
            <a:off x="228600" y="155448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609344"/>
            <a:ext cx="8412480" cy="384048"/>
          </a:xfrm>
          <a:prstGeom prst="rect">
            <a:avLst/>
          </a:prstGeom>
          <a:noFill/>
        </p:spPr>
        <p:txBody>
          <a:bodyPr wrap="square">
            <a:spAutoFit/>
          </a:bodyPr>
          <a:lstStyle/>
          <a:p>
            <a:pPr algn="l"/>
            <a:r>
              <a:rPr sz="1100" b="0" i="1">
                <a:solidFill>
                  <a:srgbClr val="212121"/>
                </a:solidFill>
              </a:rPr>
              <a:t>2 ways active reading is different from passive reading:</a:t>
            </a:r>
          </a:p>
        </p:txBody>
      </p:sp>
      <p:sp>
        <p:nvSpPr>
          <p:cNvPr id="11" name="Rectangle 10"/>
          <p:cNvSpPr/>
          <p:nvPr/>
        </p:nvSpPr>
        <p:spPr>
          <a:xfrm>
            <a:off x="228600" y="210312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157984"/>
            <a:ext cx="8412480" cy="384048"/>
          </a:xfrm>
          <a:prstGeom prst="rect">
            <a:avLst/>
          </a:prstGeom>
          <a:noFill/>
        </p:spPr>
        <p:txBody>
          <a:bodyPr wrap="square">
            <a:spAutoFit/>
          </a:bodyPr>
          <a:lstStyle/>
          <a:p>
            <a:pPr algn="l"/>
            <a:r>
              <a:rPr sz="1100" b="0" i="1">
                <a:solidFill>
                  <a:srgbClr val="212121"/>
                </a:solidFill>
              </a:rPr>
              <a:t>1 word from today's passage I looked up or figured out from context:</a:t>
            </a:r>
          </a:p>
        </p:txBody>
      </p:sp>
      <p:sp>
        <p:nvSpPr>
          <p:cNvPr id="13" name="Rectangle 12"/>
          <p:cNvSpPr/>
          <p:nvPr/>
        </p:nvSpPr>
        <p:spPr>
          <a:xfrm>
            <a:off x="228600" y="27432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31546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3.2  ·  5 minutes</a:t>
            </a:r>
          </a:p>
        </p:txBody>
      </p:sp>
      <p:sp>
        <p:nvSpPr>
          <p:cNvPr id="7" name="Rectangle 6"/>
          <p:cNvSpPr/>
          <p:nvPr/>
        </p:nvSpPr>
        <p:spPr>
          <a:xfrm>
            <a:off x="228600" y="868680"/>
            <a:ext cx="1463040" cy="329184"/>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Annotation Symbol Quick-Apply</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Look at this sentence. Annotate it using your symbols from last class:
'The students who scored highest on the final exam were the ones who had annotated their textbooks most heavily — not the ones who had read the most pages.'
Explain what you marked and why.</a:t>
            </a:r>
          </a:p>
        </p:txBody>
      </p:sp>
      <p:sp>
        <p:nvSpPr>
          <p:cNvPr id="13" name="Rectangle 12"/>
          <p:cNvSpPr/>
          <p:nvPr/>
        </p:nvSpPr>
        <p:spPr>
          <a:xfrm>
            <a:off x="228600" y="4919472"/>
            <a:ext cx="8686800" cy="47548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Show your annotations to a partner — did you use the same symbols? Did you mark the same parts?</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3.2  |  Unit 3: Academic Preparation for Rigorous Courses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Writing Stamina &amp; Clarity</a:t>
            </a:r>
          </a:p>
        </p:txBody>
      </p:sp>
      <p:sp>
        <p:nvSpPr>
          <p:cNvPr id="6" name="Rectangle 5"/>
          <p:cNvSpPr/>
          <p:nvPr/>
        </p:nvSpPr>
        <p:spPr>
          <a:xfrm>
            <a:off x="182880" y="1024128"/>
            <a:ext cx="8778240" cy="329184"/>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Define writing stamina and explain why it is a learnable skill.</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Apply a structured process (plan → draft → revise) to a short writing task.</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Use precise vocabulary and varied sentence structure to improve clarity.</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337F3F"/>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337F3F"/>
                </a:solidFill>
              </a:rPr>
              <a:t>Stamina</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stamina (threads of life, staying power) — from stamen (the warp thread of cloth)</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The ability to sustain effort without quitting; in writing, the capacity to write productively for extended periods.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042415"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969263" cy="320040"/>
          </a:xfrm>
          <a:prstGeom prst="rect">
            <a:avLst/>
          </a:prstGeom>
          <a:noFill/>
        </p:spPr>
        <p:txBody>
          <a:bodyPr wrap="square">
            <a:spAutoFit/>
          </a:bodyPr>
          <a:lstStyle/>
          <a:p>
            <a:pPr algn="ctr"/>
            <a:r>
              <a:rPr sz="1100" b="1" i="0">
                <a:solidFill>
                  <a:srgbClr val="FFFFFF"/>
                </a:solidFill>
              </a:rPr>
              <a:t>6</a:t>
            </a:r>
          </a:p>
        </p:txBody>
      </p:sp>
      <p:sp>
        <p:nvSpPr>
          <p:cNvPr id="30" name="TextBox 29"/>
          <p:cNvSpPr txBox="1"/>
          <p:nvPr/>
        </p:nvSpPr>
        <p:spPr>
          <a:xfrm>
            <a:off x="3355848" y="6163056"/>
            <a:ext cx="1042415"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398264"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398264"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788152" y="5623560"/>
            <a:ext cx="2258568"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24728" y="5715000"/>
            <a:ext cx="2185416" cy="320040"/>
          </a:xfrm>
          <a:prstGeom prst="rect">
            <a:avLst/>
          </a:prstGeom>
          <a:noFill/>
        </p:spPr>
        <p:txBody>
          <a:bodyPr wrap="square">
            <a:spAutoFit/>
          </a:bodyPr>
          <a:lstStyle/>
          <a:p>
            <a:pPr algn="ctr"/>
            <a:r>
              <a:rPr sz="1100" b="1" i="0">
                <a:solidFill>
                  <a:srgbClr val="FFFFFF"/>
                </a:solidFill>
              </a:rPr>
              <a:t>13</a:t>
            </a:r>
          </a:p>
        </p:txBody>
      </p:sp>
      <p:sp>
        <p:nvSpPr>
          <p:cNvPr id="36" name="TextBox 35"/>
          <p:cNvSpPr txBox="1"/>
          <p:nvPr/>
        </p:nvSpPr>
        <p:spPr>
          <a:xfrm>
            <a:off x="5788152" y="6163056"/>
            <a:ext cx="2258568"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3 — Light scaffold (guiding questions only)</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337F3F"/>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The Write Stuff: Building Stamina and Clarity in Your Writing</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on academic writing development and the writing process</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Write Stuff: Building Stamina and Clarity in Your Writing  (p. 1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In 9th grade and beyond, you will write more than you have ever written in your life.
Research papers. In-class essays. Short-answer responses. Lab reports. Personal
statements. And unlike the writing assignments you have done in middle school, high
school writing — especially in Advanced Placement and college-level courses — is graded
on complexity, evidence, and how precisely you use language. Writing, like running,
requires stamina: the ability to keep going when your brain wants to stop.</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biggest mistake most student writers make is trying to write perfectly on the first
try. When you edit as you draft — stopping to fix every sentence before moving to the
next — you interrupt your thinking, lose your train of thought, and produce a fragmented
draft that took twice as long as it should have. Professional writers have known for
centuries that the first draft's only job is to exist. It does not need to be good. It
needs to be done. You fix it in revision.</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Write Stuff: Building Stamina and Clarity in Your Writing  (p. 2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Clarity in writing comes from precision. Vague language — 'things,' 'stuff,' 'it was
good,' 'bad' — is the enemy of clear writing. Precise writers choose specific nouns and
strong verbs. Instead of 'The character felt bad,' they write 'The character felt
betrayed.' Instead of 'The study showed interesting things,' they write 'The study
revealed that sleep deprivation reduces working memory capacity by up to 40 percent.'
Every word choice is a decision, and the best writers make those decisions deliberately.</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Sentence structure also affects clarity. Short sentences create emphasis and punch.
Longer sentences, when constructed carefully with subordinate clauses and specific
modifiers, can carry complex ideas with precision and nuance. The best writers vary
their sentence length intentionally, using short sentences after long ones to let the
reader pause and absorb. They also know when to cut: if a sentence does not add new
information or sharpen the argument, it should be deleted. Strong writing is not about
using more words. It is about choosing the right ones.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'The Write Stuff: Building Stamina and Clarity in Your Writing'</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6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337F3F"/>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does the reading mean by 'writing stamina'? Why will it matter more in high school than in
middle school?</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337F3F"/>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is the biggest mistake most student writers make, according to the reading? Why does this
mistake hurt the final product?</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337F3F"/>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Find ONE example of vague language in the reading's examples and rewrite it with precision.
Then write your own example of a vague sentence and a precise revision.</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337F3F"/>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discusses sentence structure and variety. Find a sentence in the reading that is
short and punchy, and one that is long and complex. Explain how each one works.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337F3F"/>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The reading says 'strong writing is not about using more words — it's about choosing the right
ones.' Do you agree? Write 3-4 sentences responding to this idea using specific examples from
your own writing experience.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3.2</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How to Write a Great First Draft (Without Getting Stuck)</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Thomas Frank  ·  approx. 7 min</a:t>
            </a:r>
          </a:p>
        </p:txBody>
      </p:sp>
      <p:sp>
        <p:nvSpPr>
          <p:cNvPr id="9" name="Rectangle 8"/>
          <p:cNvSpPr/>
          <p:nvPr/>
        </p:nvSpPr>
        <p:spPr>
          <a:xfrm>
            <a:off x="365760" y="2377440"/>
            <a:ext cx="8412480" cy="2743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337F3F"/>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does he say is the #1 mistake writers make? Is that a mistake you make?</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"The Writing Process — Crash Course"  |  Crash Course English</a:t>
            </a:r>
          </a:p>
        </p:txBody>
      </p:sp>
      <p:sp>
        <p:nvSpPr>
          <p:cNvPr id="16" name="Rectangle 15">
            <a:hlinkClick r:id="rId3"/>
          </p:cNvPr>
          <p:cNvSpPr/>
          <p:nvPr/>
        </p:nvSpPr>
        <p:spPr>
          <a:xfrm>
            <a:off x="2743200" y="4480560"/>
            <a:ext cx="3657600" cy="7498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Second Draft"  —  Lesson 3.2</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00" b="0" i="0">
                <a:solidFill>
                  <a:srgbClr val="212121"/>
                </a:solidFill>
              </a:rPr>
              <a:t>Maya had written four drafts of the intro paragraph. Jordan had written zero drafts of
anything. They were supposed to turn in a first draft the next day.</a:t>
            </a:r>
          </a:p>
        </p:txBody>
      </p:sp>
      <p:sp>
        <p:nvSpPr>
          <p:cNvPr id="7" name="TextBox 6"/>
          <p:cNvSpPr txBox="1"/>
          <p:nvPr/>
        </p:nvSpPr>
        <p:spPr>
          <a:xfrm>
            <a:off x="228600" y="1335024"/>
            <a:ext cx="8686800" cy="246888"/>
          </a:xfrm>
          <a:prstGeom prst="rect">
            <a:avLst/>
          </a:prstGeom>
          <a:noFill/>
        </p:spPr>
        <p:txBody>
          <a:bodyPr wrap="square">
            <a:spAutoFit/>
          </a:bodyPr>
          <a:lstStyle/>
          <a:p>
            <a:pPr algn="l">
              <a:lnSpc>
                <a:spcPts val="1500"/>
              </a:lnSpc>
            </a:pPr>
            <a:r>
              <a:rPr sz="1050" b="0" i="1">
                <a:solidFill>
                  <a:srgbClr val="1A1A6E"/>
                </a:solidFill>
              </a:rPr>
              <a:t>"How do you write four intros," Jordan said.</a:t>
            </a:r>
          </a:p>
        </p:txBody>
      </p:sp>
      <p:sp>
        <p:nvSpPr>
          <p:cNvPr id="8" name="TextBox 7"/>
          <p:cNvSpPr txBox="1"/>
          <p:nvPr/>
        </p:nvSpPr>
        <p:spPr>
          <a:xfrm>
            <a:off x="228600" y="1591056"/>
            <a:ext cx="8686800" cy="246888"/>
          </a:xfrm>
          <a:prstGeom prst="rect">
            <a:avLst/>
          </a:prstGeom>
          <a:noFill/>
        </p:spPr>
        <p:txBody>
          <a:bodyPr wrap="square">
            <a:spAutoFit/>
          </a:bodyPr>
          <a:lstStyle/>
          <a:p>
            <a:pPr algn="l">
              <a:lnSpc>
                <a:spcPts val="1500"/>
              </a:lnSpc>
            </a:pPr>
            <a:r>
              <a:rPr sz="1050" b="0" i="1">
                <a:solidFill>
                  <a:srgbClr val="1A1A6E"/>
                </a:solidFill>
              </a:rPr>
              <a:t>"The first three were bad."</a:t>
            </a:r>
          </a:p>
        </p:txBody>
      </p:sp>
      <p:sp>
        <p:nvSpPr>
          <p:cNvPr id="9" name="TextBox 8"/>
          <p:cNvSpPr txBox="1"/>
          <p:nvPr/>
        </p:nvSpPr>
        <p:spPr>
          <a:xfrm>
            <a:off x="228600" y="1847088"/>
            <a:ext cx="8686800" cy="246888"/>
          </a:xfrm>
          <a:prstGeom prst="rect">
            <a:avLst/>
          </a:prstGeom>
          <a:noFill/>
        </p:spPr>
        <p:txBody>
          <a:bodyPr wrap="square">
            <a:spAutoFit/>
          </a:bodyPr>
          <a:lstStyle/>
          <a:p>
            <a:pPr algn="l">
              <a:lnSpc>
                <a:spcPts val="1500"/>
              </a:lnSpc>
            </a:pPr>
            <a:r>
              <a:rPr sz="1050" b="0" i="1">
                <a:solidFill>
                  <a:srgbClr val="1A1A6E"/>
                </a:solidFill>
              </a:rPr>
              <a:t>"What was wrong with them?"</a:t>
            </a:r>
          </a:p>
        </p:txBody>
      </p:sp>
      <p:sp>
        <p:nvSpPr>
          <p:cNvPr id="10" name="TextBox 9"/>
          <p:cNvSpPr txBox="1"/>
          <p:nvPr/>
        </p:nvSpPr>
        <p:spPr>
          <a:xfrm>
            <a:off x="228600" y="2103120"/>
            <a:ext cx="8686800" cy="246888"/>
          </a:xfrm>
          <a:prstGeom prst="rect">
            <a:avLst/>
          </a:prstGeom>
          <a:noFill/>
        </p:spPr>
        <p:txBody>
          <a:bodyPr wrap="square">
            <a:spAutoFit/>
          </a:bodyPr>
          <a:lstStyle/>
          <a:p>
            <a:pPr algn="l">
              <a:lnSpc>
                <a:spcPts val="1500"/>
              </a:lnSpc>
            </a:pPr>
            <a:r>
              <a:rPr sz="1000" b="0" i="0">
                <a:solidFill>
                  <a:srgbClr val="212121"/>
                </a:solidFill>
              </a:rPr>
              <a:t>She pulled them out. He read the first one. It sounded fine to him. He said so.</a:t>
            </a:r>
          </a:p>
        </p:txBody>
      </p:sp>
      <p:sp>
        <p:nvSpPr>
          <p:cNvPr id="11" name="TextBox 10"/>
          <p:cNvSpPr txBox="1"/>
          <p:nvPr/>
        </p:nvSpPr>
        <p:spPr>
          <a:xfrm>
            <a:off x="228600" y="2359152"/>
            <a:ext cx="8686800" cy="246888"/>
          </a:xfrm>
          <a:prstGeom prst="rect">
            <a:avLst/>
          </a:prstGeom>
          <a:noFill/>
        </p:spPr>
        <p:txBody>
          <a:bodyPr wrap="square">
            <a:spAutoFit/>
          </a:bodyPr>
          <a:lstStyle/>
          <a:p>
            <a:pPr algn="l">
              <a:lnSpc>
                <a:spcPts val="1500"/>
              </a:lnSpc>
            </a:pPr>
            <a:r>
              <a:rPr sz="1050" b="0" i="1">
                <a:solidFill>
                  <a:srgbClr val="1A1A6E"/>
                </a:solidFill>
              </a:rPr>
              <a:t>"It starts with 'In today's world.' That's not allowed."</a:t>
            </a:r>
          </a:p>
        </p:txBody>
      </p:sp>
      <p:sp>
        <p:nvSpPr>
          <p:cNvPr id="12" name="TextBox 11"/>
          <p:cNvSpPr txBox="1"/>
          <p:nvPr/>
        </p:nvSpPr>
        <p:spPr>
          <a:xfrm>
            <a:off x="228600" y="2615184"/>
            <a:ext cx="8686800" cy="246888"/>
          </a:xfrm>
          <a:prstGeom prst="rect">
            <a:avLst/>
          </a:prstGeom>
          <a:noFill/>
        </p:spPr>
        <p:txBody>
          <a:bodyPr wrap="square">
            <a:spAutoFit/>
          </a:bodyPr>
          <a:lstStyle/>
          <a:p>
            <a:pPr algn="l">
              <a:lnSpc>
                <a:spcPts val="1500"/>
              </a:lnSpc>
            </a:pPr>
            <a:r>
              <a:rPr sz="1050" b="0" i="1">
                <a:solidFill>
                  <a:srgbClr val="1A1A6E"/>
                </a:solidFill>
              </a:rPr>
              <a:t>"By who?"</a:t>
            </a:r>
          </a:p>
        </p:txBody>
      </p:sp>
      <p:sp>
        <p:nvSpPr>
          <p:cNvPr id="13" name="TextBox 12"/>
          <p:cNvSpPr txBox="1"/>
          <p:nvPr/>
        </p:nvSpPr>
        <p:spPr>
          <a:xfrm>
            <a:off x="228600" y="2871216"/>
            <a:ext cx="8686800" cy="246888"/>
          </a:xfrm>
          <a:prstGeom prst="rect">
            <a:avLst/>
          </a:prstGeom>
          <a:noFill/>
        </p:spPr>
        <p:txBody>
          <a:bodyPr wrap="square">
            <a:spAutoFit/>
          </a:bodyPr>
          <a:lstStyle/>
          <a:p>
            <a:pPr algn="l">
              <a:lnSpc>
                <a:spcPts val="1500"/>
              </a:lnSpc>
            </a:pPr>
            <a:r>
              <a:rPr sz="1050" b="0" i="1">
                <a:solidFill>
                  <a:srgbClr val="1A1A6E"/>
                </a:solidFill>
              </a:rPr>
              <a:t>"By anyone who's serious."</a:t>
            </a:r>
          </a:p>
        </p:txBody>
      </p:sp>
      <p:sp>
        <p:nvSpPr>
          <p:cNvPr id="14" name="TextBox 13"/>
          <p:cNvSpPr txBox="1"/>
          <p:nvPr/>
        </p:nvSpPr>
        <p:spPr>
          <a:xfrm>
            <a:off x="228600" y="3127248"/>
            <a:ext cx="8686800" cy="246888"/>
          </a:xfrm>
          <a:prstGeom prst="rect">
            <a:avLst/>
          </a:prstGeom>
          <a:noFill/>
        </p:spPr>
        <p:txBody>
          <a:bodyPr wrap="square">
            <a:spAutoFit/>
          </a:bodyPr>
          <a:lstStyle/>
          <a:p>
            <a:pPr algn="l">
              <a:lnSpc>
                <a:spcPts val="1500"/>
              </a:lnSpc>
            </a:pPr>
            <a:r>
              <a:rPr sz="1050" b="0" i="1">
                <a:solidFill>
                  <a:srgbClr val="1A1A6E"/>
                </a:solidFill>
              </a:rPr>
              <a:t>He read the second one. "This one's good."</a:t>
            </a:r>
          </a:p>
        </p:txBody>
      </p:sp>
      <p:sp>
        <p:nvSpPr>
          <p:cNvPr id="15" name="TextBox 14"/>
          <p:cNvSpPr txBox="1"/>
          <p:nvPr/>
        </p:nvSpPr>
        <p:spPr>
          <a:xfrm>
            <a:off x="228600" y="3383280"/>
            <a:ext cx="8686800" cy="246888"/>
          </a:xfrm>
          <a:prstGeom prst="rect">
            <a:avLst/>
          </a:prstGeom>
          <a:noFill/>
        </p:spPr>
        <p:txBody>
          <a:bodyPr wrap="square">
            <a:spAutoFit/>
          </a:bodyPr>
          <a:lstStyle/>
          <a:p>
            <a:pPr algn="l">
              <a:lnSpc>
                <a:spcPts val="1500"/>
              </a:lnSpc>
            </a:pPr>
            <a:r>
              <a:rPr sz="1050" b="0" i="1">
                <a:solidFill>
                  <a:srgbClr val="1A1A6E"/>
                </a:solidFill>
              </a:rPr>
              <a:t>"It's too safe. I'm not actually saying anything."</a:t>
            </a:r>
          </a:p>
        </p:txBody>
      </p:sp>
      <p:sp>
        <p:nvSpPr>
          <p:cNvPr id="16" name="TextBox 15"/>
          <p:cNvSpPr txBox="1"/>
          <p:nvPr/>
        </p:nvSpPr>
        <p:spPr>
          <a:xfrm>
            <a:off x="228600" y="3639312"/>
            <a:ext cx="8686800" cy="246888"/>
          </a:xfrm>
          <a:prstGeom prst="rect">
            <a:avLst/>
          </a:prstGeom>
          <a:noFill/>
        </p:spPr>
        <p:txBody>
          <a:bodyPr wrap="square">
            <a:spAutoFit/>
          </a:bodyPr>
          <a:lstStyle/>
          <a:p>
            <a:pPr algn="l">
              <a:lnSpc>
                <a:spcPts val="1500"/>
              </a:lnSpc>
            </a:pPr>
            <a:r>
              <a:rPr sz="1000" b="0" i="0">
                <a:solidFill>
                  <a:srgbClr val="212121"/>
                </a:solidFill>
              </a:rPr>
              <a:t>The third one was shorter. Punchier. Jordan liked it.</a:t>
            </a:r>
          </a:p>
        </p:txBody>
      </p:sp>
      <p:sp>
        <p:nvSpPr>
          <p:cNvPr id="17" name="TextBox 16"/>
          <p:cNvSpPr txBox="1"/>
          <p:nvPr/>
        </p:nvSpPr>
        <p:spPr>
          <a:xfrm>
            <a:off x="228600" y="3895344"/>
            <a:ext cx="8686800" cy="246888"/>
          </a:xfrm>
          <a:prstGeom prst="rect">
            <a:avLst/>
          </a:prstGeom>
          <a:noFill/>
        </p:spPr>
        <p:txBody>
          <a:bodyPr wrap="square">
            <a:spAutoFit/>
          </a:bodyPr>
          <a:lstStyle/>
          <a:p>
            <a:pPr algn="l">
              <a:lnSpc>
                <a:spcPts val="1500"/>
              </a:lnSpc>
            </a:pPr>
            <a:r>
              <a:rPr sz="1050" b="0" i="1">
                <a:solidFill>
                  <a:srgbClr val="1A1A6E"/>
                </a:solidFill>
              </a:rPr>
              <a:t>"Why didn't you use this one?"</a:t>
            </a:r>
          </a:p>
        </p:txBody>
      </p:sp>
      <p:sp>
        <p:nvSpPr>
          <p:cNvPr id="18" name="TextBox 17"/>
          <p:cNvSpPr txBox="1"/>
          <p:nvPr/>
        </p:nvSpPr>
        <p:spPr>
          <a:xfrm>
            <a:off x="228600" y="4151376"/>
            <a:ext cx="8686800" cy="246888"/>
          </a:xfrm>
          <a:prstGeom prst="rect">
            <a:avLst/>
          </a:prstGeom>
          <a:noFill/>
        </p:spPr>
        <p:txBody>
          <a:bodyPr wrap="square">
            <a:spAutoFit/>
          </a:bodyPr>
          <a:lstStyle/>
          <a:p>
            <a:pPr algn="l">
              <a:lnSpc>
                <a:spcPts val="1500"/>
              </a:lnSpc>
            </a:pPr>
            <a:r>
              <a:rPr sz="1050" b="0" i="1">
                <a:solidFill>
                  <a:srgbClr val="1A1A6E"/>
                </a:solidFill>
              </a:rPr>
              <a:t>"I thought I could do better."</a:t>
            </a:r>
          </a:p>
        </p:txBody>
      </p:sp>
      <p:sp>
        <p:nvSpPr>
          <p:cNvPr id="19" name="TextBox 18"/>
          <p:cNvSpPr txBox="1"/>
          <p:nvPr/>
        </p:nvSpPr>
        <p:spPr>
          <a:xfrm>
            <a:off x="228600" y="4407408"/>
            <a:ext cx="8686800" cy="246888"/>
          </a:xfrm>
          <a:prstGeom prst="rect">
            <a:avLst/>
          </a:prstGeom>
          <a:noFill/>
        </p:spPr>
        <p:txBody>
          <a:bodyPr wrap="square">
            <a:spAutoFit/>
          </a:bodyPr>
          <a:lstStyle/>
          <a:p>
            <a:pPr algn="l">
              <a:lnSpc>
                <a:spcPts val="1500"/>
              </a:lnSpc>
            </a:pPr>
            <a:r>
              <a:rPr sz="1050" b="0" i="1">
                <a:solidFill>
                  <a:srgbClr val="1A1A6E"/>
                </a:solidFill>
              </a:rPr>
              <a:t>"Maya. That's a good intro."</a:t>
            </a:r>
          </a:p>
        </p:txBody>
      </p:sp>
      <p:sp>
        <p:nvSpPr>
          <p:cNvPr id="20" name="TextBox 19"/>
          <p:cNvSpPr txBox="1"/>
          <p:nvPr/>
        </p:nvSpPr>
        <p:spPr>
          <a:xfrm>
            <a:off x="228600" y="4663440"/>
            <a:ext cx="8686800" cy="246888"/>
          </a:xfrm>
          <a:prstGeom prst="rect">
            <a:avLst/>
          </a:prstGeom>
          <a:noFill/>
        </p:spPr>
        <p:txBody>
          <a:bodyPr wrap="square">
            <a:spAutoFit/>
          </a:bodyPr>
          <a:lstStyle/>
          <a:p>
            <a:pPr algn="l">
              <a:lnSpc>
                <a:spcPts val="1500"/>
              </a:lnSpc>
            </a:pPr>
            <a:r>
              <a:rPr sz="1050" b="0" i="1">
                <a:solidFill>
                  <a:srgbClr val="1A1A6E"/>
                </a:solidFill>
              </a:rPr>
              <a:t>"Fourth one is better."</a:t>
            </a:r>
          </a:p>
        </p:txBody>
      </p:sp>
      <p:sp>
        <p:nvSpPr>
          <p:cNvPr id="21" name="TextBox 20"/>
          <p:cNvSpPr txBox="1"/>
          <p:nvPr/>
        </p:nvSpPr>
        <p:spPr>
          <a:xfrm>
            <a:off x="228600" y="4919472"/>
            <a:ext cx="8686800" cy="448056"/>
          </a:xfrm>
          <a:prstGeom prst="rect">
            <a:avLst/>
          </a:prstGeom>
          <a:noFill/>
        </p:spPr>
        <p:txBody>
          <a:bodyPr wrap="square">
            <a:spAutoFit/>
          </a:bodyPr>
          <a:lstStyle/>
          <a:p>
            <a:pPr algn="l">
              <a:lnSpc>
                <a:spcPts val="1500"/>
              </a:lnSpc>
            </a:pPr>
            <a:r>
              <a:rPr sz="1000" b="0" i="0">
                <a:solidFill>
                  <a:srgbClr val="212121"/>
                </a:solidFill>
              </a:rPr>
              <a:t>He read the fourth one. It was good. But it had taken her two hours to get there, and she
hadn't written any of the actual essay yet, and he didn't want to say that.</a:t>
            </a:r>
          </a:p>
        </p:txBody>
      </p:sp>
      <p:sp>
        <p:nvSpPr>
          <p:cNvPr id="22" name="TextBox 21"/>
          <p:cNvSpPr txBox="1"/>
          <p:nvPr/>
        </p:nvSpPr>
        <p:spPr>
          <a:xfrm>
            <a:off x="228600" y="5376672"/>
            <a:ext cx="8686800" cy="246888"/>
          </a:xfrm>
          <a:prstGeom prst="rect">
            <a:avLst/>
          </a:prstGeom>
          <a:noFill/>
        </p:spPr>
        <p:txBody>
          <a:bodyPr wrap="square">
            <a:spAutoFit/>
          </a:bodyPr>
          <a:lstStyle/>
          <a:p>
            <a:pPr algn="l">
              <a:lnSpc>
                <a:spcPts val="1500"/>
              </a:lnSpc>
            </a:pPr>
            <a:r>
              <a:rPr sz="1050" b="0" i="1">
                <a:solidFill>
                  <a:srgbClr val="1A1A6E"/>
                </a:solidFill>
              </a:rPr>
              <a:t>"I have nothing written," he said.</a:t>
            </a:r>
          </a:p>
        </p:txBody>
      </p:sp>
      <p:sp>
        <p:nvSpPr>
          <p:cNvPr id="23" name="TextBox 22"/>
          <p:cNvSpPr txBox="1"/>
          <p:nvPr/>
        </p:nvSpPr>
        <p:spPr>
          <a:xfrm>
            <a:off x="228600" y="5632704"/>
            <a:ext cx="8686800" cy="246888"/>
          </a:xfrm>
          <a:prstGeom prst="rect">
            <a:avLst/>
          </a:prstGeom>
          <a:noFill/>
        </p:spPr>
        <p:txBody>
          <a:bodyPr wrap="square">
            <a:spAutoFit/>
          </a:bodyPr>
          <a:lstStyle/>
          <a:p>
            <a:pPr algn="l">
              <a:lnSpc>
                <a:spcPts val="1500"/>
              </a:lnSpc>
            </a:pPr>
            <a:r>
              <a:rPr sz="1050" b="0" i="1">
                <a:solidFill>
                  <a:srgbClr val="1A1A6E"/>
                </a:solidFill>
              </a:rPr>
              <a:t>"I know."</a:t>
            </a:r>
          </a:p>
        </p:txBody>
      </p:sp>
      <p:sp>
        <p:nvSpPr>
          <p:cNvPr id="24" name="TextBox 23"/>
          <p:cNvSpPr txBox="1"/>
          <p:nvPr/>
        </p:nvSpPr>
        <p:spPr>
          <a:xfrm>
            <a:off x="228600" y="5888736"/>
            <a:ext cx="8686800" cy="246888"/>
          </a:xfrm>
          <a:prstGeom prst="rect">
            <a:avLst/>
          </a:prstGeom>
          <a:noFill/>
        </p:spPr>
        <p:txBody>
          <a:bodyPr wrap="square">
            <a:spAutoFit/>
          </a:bodyPr>
          <a:lstStyle/>
          <a:p>
            <a:pPr algn="l">
              <a:lnSpc>
                <a:spcPts val="1500"/>
              </a:lnSpc>
            </a:pPr>
            <a:r>
              <a:rPr sz="1050" b="0" i="1">
                <a:solidFill>
                  <a:srgbClr val="1A1A6E"/>
                </a:solidFill>
              </a:rPr>
              <a:t>"What do I do."</a:t>
            </a:r>
          </a:p>
        </p:txBody>
      </p:sp>
      <p:sp>
        <p:nvSpPr>
          <p:cNvPr id="25" name="TextBox 24"/>
          <p:cNvSpPr txBox="1"/>
          <p:nvPr/>
        </p:nvSpPr>
        <p:spPr>
          <a:xfrm>
            <a:off x="228600" y="6144768"/>
            <a:ext cx="8686800" cy="448056"/>
          </a:xfrm>
          <a:prstGeom prst="rect">
            <a:avLst/>
          </a:prstGeom>
          <a:noFill/>
        </p:spPr>
        <p:txBody>
          <a:bodyPr wrap="square">
            <a:spAutoFit/>
          </a:bodyPr>
          <a:lstStyle/>
          <a:p>
            <a:pPr algn="l">
              <a:lnSpc>
                <a:spcPts val="1500"/>
              </a:lnSpc>
            </a:pPr>
            <a:r>
              <a:rPr sz="1050" b="0" i="1">
                <a:solidFill>
                  <a:srgbClr val="1A1A6E"/>
                </a:solidFill>
              </a:rPr>
              <a:t>She thought about it. "Write a bad intro. On purpose. Worst possible first sentence. Just to
start."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Second Draft"</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Maya writes four intros and still hasn't written the essay. Jordan writes nothing. Who is
struggling more — and why?</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tells Jordan to 'write a bad intro on purpose.' Why would starting badly be better than
not starting at all?</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What's the difference between editing as you write and drafting without stopping? Which is
harder for you — and why?</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Jordan's terrible first sentence is still a beginning. What does this story suggest about
what it takes to build writing stamina?</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The Plan-Draft-Revise Cycle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Strong writers don't just sit down and write perfectly the first time. They use a
process. PLAN: spend 2–5 minutes before writing. Jot down your main idea, 2–3 supporting
points, and any key evidence. DRAFT: write without stopping — don't edit as you go; just
get your thinking down. REVISE: read your draft and ask, 'Is this clear? Is every
sentence necessary? Did I use precise words?' In rigorous high school courses, you will
be expected to write under time pressure (timed essays, in-class writes). Building
writing stamina now means that pressure won't stop you.</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Think of the best piece of writing you've done. What made it good? Did you revise it?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Timed Write: Building Your Stamina</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You have 12 minutes to respond to this prompt. Use the Plan-Draft-Revise process. Do NOT
stop writing once you begin your draft.  PROMPT: What is the most important skill a
student needs to succeed in high school? Use specific evidence from your own experience
or from what you have learned in this course to support your answer.</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337F3F"/>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The first draft's only job is to exist. Clarity comes in revision, not in drafting.</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Timed Write  —  Lesson 3.2</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13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STEP 1: Plan for 2 minutes only. STEP 2: Draft for 10 minutes — do NOT stop, do NOT edit. STEP 3: Exchange with a partner for the revision checklist.</a:t>
            </a:r>
          </a:p>
        </p:txBody>
      </p:sp>
      <p:sp>
        <p:nvSpPr>
          <p:cNvPr id="7" name="Rectangle 6"/>
          <p:cNvSpPr/>
          <p:nvPr/>
        </p:nvSpPr>
        <p:spPr>
          <a:xfrm>
            <a:off x="182880" y="1783080"/>
            <a:ext cx="8778240" cy="64008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37943"/>
            <a:ext cx="8503920" cy="530352"/>
          </a:xfrm>
          <a:prstGeom prst="rect">
            <a:avLst/>
          </a:prstGeom>
          <a:noFill/>
        </p:spPr>
        <p:txBody>
          <a:bodyPr wrap="square">
            <a:spAutoFit/>
          </a:bodyPr>
          <a:lstStyle/>
          <a:p>
            <a:pPr algn="ctr"/>
            <a:r>
              <a:rPr sz="2200" b="1" i="0">
                <a:solidFill>
                  <a:srgbClr val="FFFFFF"/>
                </a:solidFill>
              </a:rPr>
              <a:t>⏱ TIMED WRITE — 12 MINUTES</a:t>
            </a:r>
          </a:p>
        </p:txBody>
      </p:sp>
      <p:sp>
        <p:nvSpPr>
          <p:cNvPr id="9" name="Rectangle 8"/>
          <p:cNvSpPr/>
          <p:nvPr/>
        </p:nvSpPr>
        <p:spPr>
          <a:xfrm>
            <a:off x="182880" y="2514600"/>
            <a:ext cx="8778240" cy="5486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87752"/>
            <a:ext cx="8503920" cy="457200"/>
          </a:xfrm>
          <a:prstGeom prst="rect">
            <a:avLst/>
          </a:prstGeom>
          <a:noFill/>
        </p:spPr>
        <p:txBody>
          <a:bodyPr wrap="square">
            <a:spAutoFit/>
          </a:bodyPr>
          <a:lstStyle/>
          <a:p>
            <a:pPr algn="l"/>
            <a:r>
              <a:rPr sz="1200" b="0" i="0">
                <a:solidFill>
                  <a:srgbClr val="212121"/>
                </a:solidFill>
              </a:rPr>
              <a:t>PROMPT: What is the most important skill a student needs to succeed in high school? Use specific evidence from your own experience or this course.</a:t>
            </a:r>
          </a:p>
        </p:txBody>
      </p:sp>
      <p:sp>
        <p:nvSpPr>
          <p:cNvPr id="11" name="TextBox 10"/>
          <p:cNvSpPr txBox="1"/>
          <p:nvPr/>
        </p:nvSpPr>
        <p:spPr>
          <a:xfrm>
            <a:off x="228600" y="3200400"/>
            <a:ext cx="8229600" cy="347472"/>
          </a:xfrm>
          <a:prstGeom prst="rect">
            <a:avLst/>
          </a:prstGeom>
          <a:noFill/>
        </p:spPr>
        <p:txBody>
          <a:bodyPr wrap="square">
            <a:spAutoFit/>
          </a:bodyPr>
          <a:lstStyle/>
          <a:p>
            <a:pPr algn="l"/>
            <a:r>
              <a:rPr sz="1100" b="1" i="0">
                <a:solidFill>
                  <a:srgbClr val="212121"/>
                </a:solidFill>
              </a:rPr>
              <a:t>STEP 1: Plan (2 min) — jot your main idea and 2-3 points below:</a:t>
            </a:r>
          </a:p>
        </p:txBody>
      </p:sp>
      <p:sp>
        <p:nvSpPr>
          <p:cNvPr id="12" name="Rectangle 11"/>
          <p:cNvSpPr/>
          <p:nvPr/>
        </p:nvSpPr>
        <p:spPr>
          <a:xfrm>
            <a:off x="228600" y="36118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402336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4526280"/>
            <a:ext cx="8229600" cy="347472"/>
          </a:xfrm>
          <a:prstGeom prst="rect">
            <a:avLst/>
          </a:prstGeom>
          <a:noFill/>
        </p:spPr>
        <p:txBody>
          <a:bodyPr wrap="square">
            <a:spAutoFit/>
          </a:bodyPr>
          <a:lstStyle/>
          <a:p>
            <a:pPr algn="l"/>
            <a:r>
              <a:rPr sz="1100" b="1" i="0">
                <a:solidFill>
                  <a:srgbClr val="212121"/>
                </a:solidFill>
              </a:rPr>
              <a:t>STEP 2: DRAFT — write without stopping. Don't edit. Just go.</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Revision: Making It Clearer</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Exchange your draft with a partner. Use the checklist below to give feedback. Then
revise your own draft based on the feedback you receive.</a:t>
            </a:r>
          </a:p>
        </p:txBody>
      </p:sp>
      <p:sp>
        <p:nvSpPr>
          <p:cNvPr id="5" name="Rectangle 4"/>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Revision Checklist  —  Lesson 3.2</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13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Exchange drafts with a partner. Use the checklist to give SPECIFIC feedback — not just 'good' or 'needs work.' Mark each item yes or no and explain.</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Exchange drafts with a partner. Use the checklist to give SPECIFIC feedback — not just 'good' or 'needs work.' Mark each item yes or no and explain.</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3.2: Writing Stamina &amp; Clarity</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Quick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What is ONE thing you did in today's timed write that you are proud of? What is ONE thing you will work on next time? Be specific.</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3.3  ·  5 minutes</a:t>
            </a:r>
          </a:p>
        </p:txBody>
      </p:sp>
      <p:sp>
        <p:nvSpPr>
          <p:cNvPr id="7" name="Rectangle 6"/>
          <p:cNvSpPr/>
          <p:nvPr/>
        </p:nvSpPr>
        <p:spPr>
          <a:xfrm>
            <a:off x="228600" y="868680"/>
            <a:ext cx="1463040"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ANTICIPATION</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How Do YOU Study?</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Before you look at any notes — describe your exact study method for a big test:
Step 1: ___________________________________________
Step 2: ___________________________________________
Step 3: ___________________________________________
Do you think it works? How would you know?</a:t>
            </a:r>
          </a:p>
        </p:txBody>
      </p:sp>
      <p:sp>
        <p:nvSpPr>
          <p:cNvPr id="13" name="Rectangle 12"/>
          <p:cNvSpPr/>
          <p:nvPr/>
        </p:nvSpPr>
        <p:spPr>
          <a:xfrm>
            <a:off x="228600" y="4919472"/>
            <a:ext cx="8686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Partner share — compare methods. Are they similar?</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3.3  |  Unit 3: Academic Preparation for Rigorous Courses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Study Strategies &amp; Spaced Practice</a:t>
            </a:r>
          </a:p>
        </p:txBody>
      </p:sp>
      <p:sp>
        <p:nvSpPr>
          <p:cNvPr id="6" name="Rectangle 5"/>
          <p:cNvSpPr/>
          <p:nvPr/>
        </p:nvSpPr>
        <p:spPr>
          <a:xfrm>
            <a:off x="182880" y="1024128"/>
            <a:ext cx="8778240" cy="329184"/>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Distinguish between effective and ineffective study strategies using research evidence.</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Apply spaced practice and retrieval practice to a real upcoming test or assignment.</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Build a personal study schedule using their planner.</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337F3F"/>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337F3F"/>
                </a:solidFill>
              </a:rPr>
              <a:t>Spaced Practice</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spatium (space, interval) + Latin practicare (to practice, perform)</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Spreading studying across multiple sessions over time, rather than cramming everything into one session.</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737360"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664208" cy="320040"/>
          </a:xfrm>
          <a:prstGeom prst="rect">
            <a:avLst/>
          </a:prstGeom>
          <a:noFill/>
        </p:spPr>
        <p:txBody>
          <a:bodyPr wrap="square">
            <a:spAutoFit/>
          </a:bodyPr>
          <a:lstStyle/>
          <a:p>
            <a:pPr algn="ctr"/>
            <a:r>
              <a:rPr sz="1100" b="1" i="0">
                <a:solidFill>
                  <a:srgbClr val="FFFFFF"/>
                </a:solidFill>
              </a:rPr>
              <a:t>10</a:t>
            </a:r>
          </a:p>
        </p:txBody>
      </p:sp>
      <p:sp>
        <p:nvSpPr>
          <p:cNvPr id="33" name="TextBox 32"/>
          <p:cNvSpPr txBox="1"/>
          <p:nvPr/>
        </p:nvSpPr>
        <p:spPr>
          <a:xfrm>
            <a:off x="4572000" y="6163056"/>
            <a:ext cx="1737360"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309360" y="5623560"/>
            <a:ext cx="173736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715000"/>
            <a:ext cx="1664208" cy="320040"/>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6309360" y="6163056"/>
            <a:ext cx="173736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3 — Light scaffold (guiding questions only)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337F3F"/>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Study Smarter, Not Harder: The Science of How We Actually Learn</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by Roediger &amp; Butler (2011), Bjork (2015), and the Learning Scientists</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Study Smarter, Not Harder: The Science of How We Actually Learn  (p. 1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Most students study the way they feel comfortable, not the way the science says works
best. Re-reading notes. Highlighting passages. Re-watching lecture videos. These
strategies feel productive — your eyes are moving across material, you recognize it, you
feel like you know it. But research by cognitive scientist Henry Roediger and others
shows that recognition is not the same as retrieval. You can recognize something when
you see it and still be completely unable to recall it on a test.</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most powerful study strategy — supported by decades of research — is retrieval
practice: the act of pulling information out of your memory without looking at your
notes. Flashcards are one form of retrieval practice. Practice problems are another.
Writing everything you remember on a blank page before looking at your notes (called a
'brain dump') is another. Every time you successfully retrieve a piece of information,
you strengthen the neural pathway that stores it. Every time you fail to retrieve it and
then look it up, you learn it more durably than if you had just re-read it. Struggle is
not a sign of failure — it is the engine of learning.</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Study Smarter, Not Harder: The Science of How We Actually Learn  (p. 2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The second most powerful strategy is spaced practice. Instead of studying for three
hours the night before an exam, you study for one hour three days before, 45 minutes two
days before, and 30 minutes the night before. The total time is actually less, but the
distributed spacing creates what psychologists call the 'spacing effect' — information
studied in spaced intervals is remembered significantly better and for longer than
information crammed into one session. This is because sleep between study sessions
allows the brain to consolidate memories.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A third strategy — interleaving — means mixing different types of problems or topics
within a single study session rather than blocking (doing all of one type first, then
all of another). Research by Bjork and colleagues found that interleaving feels harder
in the moment but produces dramatically better performance on tests. When your studying
feels easy, you are probably not learning much. When it feels a little difficult — when
you have to think to retrieve the answer — that difficulty is exactly what is building
durable knowledge.</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'Study Smarter, Not Harder: The Science of How We Actually Learn'</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337F3F"/>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retrieval practice and how is it different from re-reading your notes?</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337F3F"/>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Explain the 'spacing effect' in your own words. Why does spacing study sessions improve
learning?</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337F3F"/>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is interleaving? Give an example of how a student could use interleaving when studying for
a math test.</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337F3F"/>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'struggle is not a sign of failure — it is the engine of learning.' What does
this mean? How does it connect to the Growth Mindset ideas you may have heard before?</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337F3F"/>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Design a study plan for your MOST challenging subject right now. Use at least two strategies
from this reading (retrieval practice, spaced practice, or interleaving). Be specific about
what you will do and when.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3.3</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How to Study Effectively — The Science of Learning</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Sprouts  ·  approx. 6 min</a:t>
            </a:r>
          </a:p>
        </p:txBody>
      </p:sp>
      <p:sp>
        <p:nvSpPr>
          <p:cNvPr id="9" name="Rectangle 8"/>
          <p:cNvSpPr/>
          <p:nvPr/>
        </p:nvSpPr>
        <p:spPr>
          <a:xfrm>
            <a:off x="365760" y="2377440"/>
            <a:ext cx="8412480" cy="2743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337F3F"/>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Which of the three strategies (retrieval, spacing, interleaving) do you already use?</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"The Feynman Technique — Learn Anything Faster"  |  Thomas Frank</a:t>
            </a:r>
          </a:p>
        </p:txBody>
      </p:sp>
      <p:sp>
        <p:nvSpPr>
          <p:cNvPr id="16" name="Rectangle 15">
            <a:hlinkClick r:id="rId3"/>
          </p:cNvPr>
          <p:cNvSpPr/>
          <p:nvPr/>
        </p:nvSpPr>
        <p:spPr>
          <a:xfrm>
            <a:off x="2743200" y="4480560"/>
            <a:ext cx="3657600" cy="7498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Night Before"  —  Lesson 3.3</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It was the night before the unit test. In the group chat:</a:t>
            </a:r>
          </a:p>
        </p:txBody>
      </p:sp>
      <p:sp>
        <p:nvSpPr>
          <p:cNvPr id="7" name="TextBox 6"/>
          <p:cNvSpPr txBox="1"/>
          <p:nvPr/>
        </p:nvSpPr>
        <p:spPr>
          <a:xfrm>
            <a:off x="228600" y="1133856"/>
            <a:ext cx="8686800" cy="246888"/>
          </a:xfrm>
          <a:prstGeom prst="rect">
            <a:avLst/>
          </a:prstGeom>
          <a:noFill/>
        </p:spPr>
        <p:txBody>
          <a:bodyPr wrap="square">
            <a:spAutoFit/>
          </a:bodyPr>
          <a:lstStyle/>
          <a:p>
            <a:pPr algn="l">
              <a:lnSpc>
                <a:spcPts val="1500"/>
              </a:lnSpc>
            </a:pPr>
            <a:r>
              <a:rPr sz="1050" b="0" i="1">
                <a:solidFill>
                  <a:srgbClr val="1A1A6E"/>
                </a:solidFill>
              </a:rPr>
              <a:t>Jordan: how are you guys studying</a:t>
            </a:r>
          </a:p>
        </p:txBody>
      </p:sp>
      <p:sp>
        <p:nvSpPr>
          <p:cNvPr id="8" name="TextBox 7"/>
          <p:cNvSpPr txBox="1"/>
          <p:nvPr/>
        </p:nvSpPr>
        <p:spPr>
          <a:xfrm>
            <a:off x="228600" y="1389888"/>
            <a:ext cx="8686800" cy="246888"/>
          </a:xfrm>
          <a:prstGeom prst="rect">
            <a:avLst/>
          </a:prstGeom>
          <a:noFill/>
        </p:spPr>
        <p:txBody>
          <a:bodyPr wrap="square">
            <a:spAutoFit/>
          </a:bodyPr>
          <a:lstStyle/>
          <a:p>
            <a:pPr algn="l">
              <a:lnSpc>
                <a:spcPts val="1500"/>
              </a:lnSpc>
            </a:pPr>
            <a:r>
              <a:rPr sz="1050" b="0" i="1">
                <a:solidFill>
                  <a:srgbClr val="1A1A6E"/>
                </a:solidFill>
              </a:rPr>
              <a:t>Eli: rereading my notes rn. probably do that for like an hour</a:t>
            </a:r>
          </a:p>
        </p:txBody>
      </p:sp>
      <p:sp>
        <p:nvSpPr>
          <p:cNvPr id="9" name="TextBox 8"/>
          <p:cNvSpPr txBox="1"/>
          <p:nvPr/>
        </p:nvSpPr>
        <p:spPr>
          <a:xfrm>
            <a:off x="228600" y="1645920"/>
            <a:ext cx="8686800" cy="448056"/>
          </a:xfrm>
          <a:prstGeom prst="rect">
            <a:avLst/>
          </a:prstGeom>
          <a:noFill/>
        </p:spPr>
        <p:txBody>
          <a:bodyPr wrap="square">
            <a:spAutoFit/>
          </a:bodyPr>
          <a:lstStyle/>
          <a:p>
            <a:pPr algn="l">
              <a:lnSpc>
                <a:spcPts val="1500"/>
              </a:lnSpc>
            </a:pPr>
            <a:r>
              <a:rPr sz="1050" b="0" i="1">
                <a:solidFill>
                  <a:srgbClr val="1A1A6E"/>
                </a:solidFill>
              </a:rPr>
              <a:t>Maya: I did practice problems tuesday. then yesterday I covered my notes and tried to write
everything from memory. tonight I'm doing it again but just the parts I got wrong</a:t>
            </a:r>
          </a:p>
        </p:txBody>
      </p:sp>
      <p:sp>
        <p:nvSpPr>
          <p:cNvPr id="10" name="TextBox 9"/>
          <p:cNvSpPr txBox="1"/>
          <p:nvPr/>
        </p:nvSpPr>
        <p:spPr>
          <a:xfrm>
            <a:off x="228600" y="2103120"/>
            <a:ext cx="8686800" cy="246888"/>
          </a:xfrm>
          <a:prstGeom prst="rect">
            <a:avLst/>
          </a:prstGeom>
          <a:noFill/>
        </p:spPr>
        <p:txBody>
          <a:bodyPr wrap="square">
            <a:spAutoFit/>
          </a:bodyPr>
          <a:lstStyle/>
          <a:p>
            <a:pPr algn="l">
              <a:lnSpc>
                <a:spcPts val="1500"/>
              </a:lnSpc>
            </a:pPr>
            <a:r>
              <a:rPr sz="1050" b="0" i="1">
                <a:solidFill>
                  <a:srgbClr val="1A1A6E"/>
                </a:solidFill>
              </a:rPr>
              <a:t>Jordan: tuesday?? you started tuesday?</a:t>
            </a:r>
          </a:p>
        </p:txBody>
      </p:sp>
      <p:sp>
        <p:nvSpPr>
          <p:cNvPr id="11" name="TextBox 10"/>
          <p:cNvSpPr txBox="1"/>
          <p:nvPr/>
        </p:nvSpPr>
        <p:spPr>
          <a:xfrm>
            <a:off x="228600" y="2359152"/>
            <a:ext cx="8686800" cy="246888"/>
          </a:xfrm>
          <a:prstGeom prst="rect">
            <a:avLst/>
          </a:prstGeom>
          <a:noFill/>
        </p:spPr>
        <p:txBody>
          <a:bodyPr wrap="square">
            <a:spAutoFit/>
          </a:bodyPr>
          <a:lstStyle/>
          <a:p>
            <a:pPr algn="l">
              <a:lnSpc>
                <a:spcPts val="1500"/>
              </a:lnSpc>
            </a:pPr>
            <a:r>
              <a:rPr sz="1050" b="0" i="1">
                <a:solidFill>
                  <a:srgbClr val="1A1A6E"/>
                </a:solidFill>
              </a:rPr>
              <a:t>Maya: test was announced tuesday</a:t>
            </a:r>
          </a:p>
        </p:txBody>
      </p:sp>
      <p:sp>
        <p:nvSpPr>
          <p:cNvPr id="12" name="TextBox 11"/>
          <p:cNvSpPr txBox="1"/>
          <p:nvPr/>
        </p:nvSpPr>
        <p:spPr>
          <a:xfrm>
            <a:off x="228600" y="2615184"/>
            <a:ext cx="8686800" cy="246888"/>
          </a:xfrm>
          <a:prstGeom prst="rect">
            <a:avLst/>
          </a:prstGeom>
          <a:noFill/>
        </p:spPr>
        <p:txBody>
          <a:bodyPr wrap="square">
            <a:spAutoFit/>
          </a:bodyPr>
          <a:lstStyle/>
          <a:p>
            <a:pPr algn="l">
              <a:lnSpc>
                <a:spcPts val="1500"/>
              </a:lnSpc>
            </a:pPr>
            <a:r>
              <a:rPr sz="1050" b="0" i="1">
                <a:solidFill>
                  <a:srgbClr val="1A1A6E"/>
                </a:solidFill>
              </a:rPr>
              <a:t>Jordan: i thought it was announced wednesday</a:t>
            </a:r>
          </a:p>
        </p:txBody>
      </p:sp>
      <p:sp>
        <p:nvSpPr>
          <p:cNvPr id="13" name="TextBox 12"/>
          <p:cNvSpPr txBox="1"/>
          <p:nvPr/>
        </p:nvSpPr>
        <p:spPr>
          <a:xfrm>
            <a:off x="228600" y="2871216"/>
            <a:ext cx="8686800" cy="246888"/>
          </a:xfrm>
          <a:prstGeom prst="rect">
            <a:avLst/>
          </a:prstGeom>
          <a:noFill/>
        </p:spPr>
        <p:txBody>
          <a:bodyPr wrap="square">
            <a:spAutoFit/>
          </a:bodyPr>
          <a:lstStyle/>
          <a:p>
            <a:pPr algn="l">
              <a:lnSpc>
                <a:spcPts val="1500"/>
              </a:lnSpc>
            </a:pPr>
            <a:r>
              <a:rPr sz="1050" b="0" i="1">
                <a:solidFill>
                  <a:srgbClr val="1A1A6E"/>
                </a:solidFill>
              </a:rPr>
              <a:t>Maya: it was announced tuesday jordan</a:t>
            </a:r>
          </a:p>
        </p:txBody>
      </p:sp>
      <p:sp>
        <p:nvSpPr>
          <p:cNvPr id="14" name="TextBox 13"/>
          <p:cNvSpPr txBox="1"/>
          <p:nvPr/>
        </p:nvSpPr>
        <p:spPr>
          <a:xfrm>
            <a:off x="228600" y="3127248"/>
            <a:ext cx="8686800" cy="246888"/>
          </a:xfrm>
          <a:prstGeom prst="rect">
            <a:avLst/>
          </a:prstGeom>
          <a:noFill/>
        </p:spPr>
        <p:txBody>
          <a:bodyPr wrap="square">
            <a:spAutoFit/>
          </a:bodyPr>
          <a:lstStyle/>
          <a:p>
            <a:pPr algn="l">
              <a:lnSpc>
                <a:spcPts val="1500"/>
              </a:lnSpc>
            </a:pPr>
            <a:r>
              <a:rPr sz="1050" b="0" i="1">
                <a:solidFill>
                  <a:srgbClr val="1A1A6E"/>
                </a:solidFill>
              </a:rPr>
              <a:t>Jordan: ok</a:t>
            </a:r>
          </a:p>
        </p:txBody>
      </p:sp>
      <p:sp>
        <p:nvSpPr>
          <p:cNvPr id="15" name="TextBox 14"/>
          <p:cNvSpPr txBox="1"/>
          <p:nvPr/>
        </p:nvSpPr>
        <p:spPr>
          <a:xfrm>
            <a:off x="228600" y="3383280"/>
            <a:ext cx="8686800" cy="246888"/>
          </a:xfrm>
          <a:prstGeom prst="rect">
            <a:avLst/>
          </a:prstGeom>
          <a:noFill/>
        </p:spPr>
        <p:txBody>
          <a:bodyPr wrap="square">
            <a:spAutoFit/>
          </a:bodyPr>
          <a:lstStyle/>
          <a:p>
            <a:pPr algn="l">
              <a:lnSpc>
                <a:spcPts val="1500"/>
              </a:lnSpc>
            </a:pPr>
            <a:r>
              <a:rPr sz="1050" b="0" i="1">
                <a:solidFill>
                  <a:srgbClr val="1A1A6E"/>
                </a:solidFill>
              </a:rPr>
              <a:t>Jordan: ok so how bad is rereading actually</a:t>
            </a:r>
          </a:p>
        </p:txBody>
      </p:sp>
      <p:sp>
        <p:nvSpPr>
          <p:cNvPr id="16" name="TextBox 15"/>
          <p:cNvSpPr txBox="1"/>
          <p:nvPr/>
        </p:nvSpPr>
        <p:spPr>
          <a:xfrm>
            <a:off x="228600" y="3639312"/>
            <a:ext cx="8686800" cy="246888"/>
          </a:xfrm>
          <a:prstGeom prst="rect">
            <a:avLst/>
          </a:prstGeom>
          <a:noFill/>
        </p:spPr>
        <p:txBody>
          <a:bodyPr wrap="square">
            <a:spAutoFit/>
          </a:bodyPr>
          <a:lstStyle/>
          <a:p>
            <a:pPr algn="l">
              <a:lnSpc>
                <a:spcPts val="1500"/>
              </a:lnSpc>
            </a:pPr>
            <a:r>
              <a:rPr sz="1000" b="0" i="0">
                <a:solidFill>
                  <a:srgbClr val="212121"/>
                </a:solidFill>
              </a:rPr>
              <a:t>A pause.</a:t>
            </a:r>
          </a:p>
        </p:txBody>
      </p:sp>
      <p:sp>
        <p:nvSpPr>
          <p:cNvPr id="17" name="TextBox 16"/>
          <p:cNvSpPr txBox="1"/>
          <p:nvPr/>
        </p:nvSpPr>
        <p:spPr>
          <a:xfrm>
            <a:off x="228600" y="3895344"/>
            <a:ext cx="8686800" cy="246888"/>
          </a:xfrm>
          <a:prstGeom prst="rect">
            <a:avLst/>
          </a:prstGeom>
          <a:noFill/>
        </p:spPr>
        <p:txBody>
          <a:bodyPr wrap="square">
            <a:spAutoFit/>
          </a:bodyPr>
          <a:lstStyle/>
          <a:p>
            <a:pPr algn="l">
              <a:lnSpc>
                <a:spcPts val="1500"/>
              </a:lnSpc>
            </a:pPr>
            <a:r>
              <a:rPr sz="1050" b="0" i="1">
                <a:solidFill>
                  <a:srgbClr val="1A1A6E"/>
                </a:solidFill>
              </a:rPr>
              <a:t>Eli: what do you mean how bad</a:t>
            </a:r>
          </a:p>
        </p:txBody>
      </p:sp>
      <p:sp>
        <p:nvSpPr>
          <p:cNvPr id="18" name="TextBox 17"/>
          <p:cNvSpPr txBox="1"/>
          <p:nvPr/>
        </p:nvSpPr>
        <p:spPr>
          <a:xfrm>
            <a:off x="228600" y="4151376"/>
            <a:ext cx="8686800" cy="246888"/>
          </a:xfrm>
          <a:prstGeom prst="rect">
            <a:avLst/>
          </a:prstGeom>
          <a:noFill/>
        </p:spPr>
        <p:txBody>
          <a:bodyPr wrap="square">
            <a:spAutoFit/>
          </a:bodyPr>
          <a:lstStyle/>
          <a:p>
            <a:pPr algn="l">
              <a:lnSpc>
                <a:spcPts val="1500"/>
              </a:lnSpc>
            </a:pPr>
            <a:r>
              <a:rPr sz="1050" b="0" i="1">
                <a:solidFill>
                  <a:srgbClr val="1A1A6E"/>
                </a:solidFill>
              </a:rPr>
              <a:t>Jordan: like if I reread is that doing nothing or is it something</a:t>
            </a:r>
          </a:p>
        </p:txBody>
      </p:sp>
      <p:sp>
        <p:nvSpPr>
          <p:cNvPr id="19" name="TextBox 18"/>
          <p:cNvSpPr txBox="1"/>
          <p:nvPr/>
        </p:nvSpPr>
        <p:spPr>
          <a:xfrm>
            <a:off x="228600" y="4407408"/>
            <a:ext cx="8686800" cy="246888"/>
          </a:xfrm>
          <a:prstGeom prst="rect">
            <a:avLst/>
          </a:prstGeom>
          <a:noFill/>
        </p:spPr>
        <p:txBody>
          <a:bodyPr wrap="square">
            <a:spAutoFit/>
          </a:bodyPr>
          <a:lstStyle/>
          <a:p>
            <a:pPr algn="l">
              <a:lnSpc>
                <a:spcPts val="1500"/>
              </a:lnSpc>
            </a:pPr>
            <a:r>
              <a:rPr sz="1050" b="0" i="1">
                <a:solidFill>
                  <a:srgbClr val="1A1A6E"/>
                </a:solidFill>
              </a:rPr>
              <a:t>Maya: it depends on if you're thinking while you read or just reading</a:t>
            </a:r>
          </a:p>
        </p:txBody>
      </p:sp>
      <p:sp>
        <p:nvSpPr>
          <p:cNvPr id="20" name="TextBox 19"/>
          <p:cNvSpPr txBox="1"/>
          <p:nvPr/>
        </p:nvSpPr>
        <p:spPr>
          <a:xfrm>
            <a:off x="228600" y="4663440"/>
            <a:ext cx="8686800" cy="246888"/>
          </a:xfrm>
          <a:prstGeom prst="rect">
            <a:avLst/>
          </a:prstGeom>
          <a:noFill/>
        </p:spPr>
        <p:txBody>
          <a:bodyPr wrap="square">
            <a:spAutoFit/>
          </a:bodyPr>
          <a:lstStyle/>
          <a:p>
            <a:pPr algn="l">
              <a:lnSpc>
                <a:spcPts val="1500"/>
              </a:lnSpc>
            </a:pPr>
            <a:r>
              <a:rPr sz="1050" b="0" i="1">
                <a:solidFill>
                  <a:srgbClr val="1A1A6E"/>
                </a:solidFill>
              </a:rPr>
              <a:t>Jordan: define thinking while reading</a:t>
            </a:r>
          </a:p>
        </p:txBody>
      </p:sp>
      <p:sp>
        <p:nvSpPr>
          <p:cNvPr id="21" name="TextBox 20"/>
          <p:cNvSpPr txBox="1"/>
          <p:nvPr/>
        </p:nvSpPr>
        <p:spPr>
          <a:xfrm>
            <a:off x="228600" y="4919472"/>
            <a:ext cx="8686800" cy="448056"/>
          </a:xfrm>
          <a:prstGeom prst="rect">
            <a:avLst/>
          </a:prstGeom>
          <a:noFill/>
        </p:spPr>
        <p:txBody>
          <a:bodyPr wrap="square">
            <a:spAutoFit/>
          </a:bodyPr>
          <a:lstStyle/>
          <a:p>
            <a:pPr algn="l">
              <a:lnSpc>
                <a:spcPts val="1500"/>
              </a:lnSpc>
            </a:pPr>
            <a:r>
              <a:rPr sz="1050" b="0" i="1">
                <a:solidFill>
                  <a:srgbClr val="1A1A6E"/>
                </a:solidFill>
              </a:rPr>
              <a:t>Maya: like stopping every section and asking yourself what the main point was. without
looking.</a:t>
            </a:r>
          </a:p>
        </p:txBody>
      </p:sp>
      <p:sp>
        <p:nvSpPr>
          <p:cNvPr id="22" name="TextBox 21"/>
          <p:cNvSpPr txBox="1"/>
          <p:nvPr/>
        </p:nvSpPr>
        <p:spPr>
          <a:xfrm>
            <a:off x="228600" y="5376672"/>
            <a:ext cx="8686800" cy="448056"/>
          </a:xfrm>
          <a:prstGeom prst="rect">
            <a:avLst/>
          </a:prstGeom>
          <a:noFill/>
        </p:spPr>
        <p:txBody>
          <a:bodyPr wrap="square">
            <a:spAutoFit/>
          </a:bodyPr>
          <a:lstStyle/>
          <a:p>
            <a:pPr algn="l">
              <a:lnSpc>
                <a:spcPts val="1500"/>
              </a:lnSpc>
            </a:pPr>
            <a:r>
              <a:rPr sz="1000" b="0" i="0">
                <a:solidFill>
                  <a:srgbClr val="212121"/>
                </a:solidFill>
              </a:rPr>
              <a:t>Jordan tried it. He reread the first section of his notes. He looked away. He tried to say the
main point out loud, to himself, in his room. He couldn't. He thought he could. He could not.</a:t>
            </a:r>
          </a:p>
        </p:txBody>
      </p:sp>
      <p:sp>
        <p:nvSpPr>
          <p:cNvPr id="23" name="TextBox 22"/>
          <p:cNvSpPr txBox="1"/>
          <p:nvPr/>
        </p:nvSpPr>
        <p:spPr>
          <a:xfrm>
            <a:off x="228600" y="5833872"/>
            <a:ext cx="8686800" cy="246888"/>
          </a:xfrm>
          <a:prstGeom prst="rect">
            <a:avLst/>
          </a:prstGeom>
          <a:noFill/>
        </p:spPr>
        <p:txBody>
          <a:bodyPr wrap="square">
            <a:spAutoFit/>
          </a:bodyPr>
          <a:lstStyle/>
          <a:p>
            <a:pPr algn="l">
              <a:lnSpc>
                <a:spcPts val="1500"/>
              </a:lnSpc>
            </a:pPr>
            <a:r>
              <a:rPr sz="1000" b="0" i="0">
                <a:solidFill>
                  <a:srgbClr val="212121"/>
                </a:solidFill>
              </a:rPr>
              <a:t>He went back. He reread. He looked away again. He got about half of it.</a:t>
            </a:r>
          </a:p>
        </p:txBody>
      </p:sp>
      <p:sp>
        <p:nvSpPr>
          <p:cNvPr id="24" name="TextBox 23"/>
          <p:cNvSpPr txBox="1"/>
          <p:nvPr/>
        </p:nvSpPr>
        <p:spPr>
          <a:xfrm>
            <a:off x="228600" y="6089904"/>
            <a:ext cx="8686800" cy="246888"/>
          </a:xfrm>
          <a:prstGeom prst="rect">
            <a:avLst/>
          </a:prstGeom>
          <a:noFill/>
        </p:spPr>
        <p:txBody>
          <a:bodyPr wrap="square">
            <a:spAutoFit/>
          </a:bodyPr>
          <a:lstStyle/>
          <a:p>
            <a:pPr algn="l">
              <a:lnSpc>
                <a:spcPts val="1500"/>
              </a:lnSpc>
            </a:pPr>
            <a:r>
              <a:rPr sz="1050" b="0" i="1">
                <a:solidFill>
                  <a:srgbClr val="1A1A6E"/>
                </a:solidFill>
              </a:rPr>
              <a:t>Maya: how's it going</a:t>
            </a:r>
          </a:p>
        </p:txBody>
      </p:sp>
      <p:sp>
        <p:nvSpPr>
          <p:cNvPr id="25" name="TextBox 24"/>
          <p:cNvSpPr txBox="1"/>
          <p:nvPr/>
        </p:nvSpPr>
        <p:spPr>
          <a:xfrm>
            <a:off x="228600" y="6345936"/>
            <a:ext cx="8686800" cy="246888"/>
          </a:xfrm>
          <a:prstGeom prst="rect">
            <a:avLst/>
          </a:prstGeom>
          <a:noFill/>
        </p:spPr>
        <p:txBody>
          <a:bodyPr wrap="square">
            <a:spAutoFit/>
          </a:bodyPr>
          <a:lstStyle/>
          <a:p>
            <a:pPr algn="l">
              <a:lnSpc>
                <a:spcPts val="1500"/>
              </a:lnSpc>
            </a:pPr>
            <a:r>
              <a:rPr sz="1050" b="0" i="1">
                <a:solidFill>
                  <a:srgbClr val="1A1A6E"/>
                </a:solidFill>
              </a:rPr>
              <a:t>Jordan: it's going. it's going terribly.</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Night Before"</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Why does Maya say 'that means it's working' when Jordan says the studying feels terrible?
What does struggle during practice actually indicate?</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Eli is rereading his notes. Maya says it 'depends on if you're thinking while you read.'
What's the difference between those two kinds of rereading?</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Jordan discovers he can't recall the section he just read. Most students would feel
frustrated and stop. Why is that moment actually the most valuable part of studying?</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How do you typically study the night before a test? After today's lesson, what would you
change?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What the Research Says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Decades of cognitive science research have identified a clear hierarchy of study
strategies. At the bottom: re-reading notes and highlighting (low effectiveness). Near
the top: RETRIEVAL PRACTICE (testing yourself — flashcards, practice problems, writing
from memory) and SPACED PRACTICE (spreading study sessions over days and weeks). The
spacing effect is one of the most replicated findings in all of psychology: you remember
far more when you study in short, spaced sessions than in one long cram session — even
if the total study time is the same. In AP and advanced courses at TRHS, the amount of
material is too large to cram. Spacing and retrieval aren't just better — they're
necessary.</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Honestly: how do you usually study before a big test? Does it work? How do you know?</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Build a Study Plan</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Identify ONE upcoming test or major assignment in any of your current classes. Use your
planner and the template below to build a spaced study plan for it.</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337F3F"/>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Struggle during retrieval practice is not a sign of failure — it is the engine of durable learning.</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Build a Study Plan  —  Lesson 3.3</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10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Identify a real upcoming test or major assignment. Build a spaced study plan with at least 3 sessions. Be specific: what will you DO in each session?</a:t>
            </a:r>
          </a:p>
        </p:txBody>
      </p:sp>
      <p:sp>
        <p:nvSpPr>
          <p:cNvPr id="7" name="Rectangle 6"/>
          <p:cNvSpPr/>
          <p:nvPr/>
        </p:nvSpPr>
        <p:spPr>
          <a:xfrm>
            <a:off x="182880" y="1783080"/>
            <a:ext cx="8778240" cy="54864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74519"/>
            <a:ext cx="8503920" cy="384048"/>
          </a:xfrm>
          <a:prstGeom prst="rect">
            <a:avLst/>
          </a:prstGeom>
          <a:noFill/>
        </p:spPr>
        <p:txBody>
          <a:bodyPr wrap="square">
            <a:spAutoFit/>
          </a:bodyPr>
          <a:lstStyle/>
          <a:p>
            <a:pPr algn="l"/>
            <a:r>
              <a:rPr sz="1100" b="1" i="0">
                <a:solidFill>
                  <a:srgbClr val="337F3F"/>
                </a:solidFill>
              </a:rPr>
              <a:t>Subject / Assignment:</a:t>
            </a:r>
          </a:p>
        </p:txBody>
      </p:sp>
      <p:sp>
        <p:nvSpPr>
          <p:cNvPr id="9" name="Rectangle 8"/>
          <p:cNvSpPr/>
          <p:nvPr/>
        </p:nvSpPr>
        <p:spPr>
          <a:xfrm>
            <a:off x="182880" y="2377440"/>
            <a:ext cx="87782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468880"/>
            <a:ext cx="8503920" cy="384048"/>
          </a:xfrm>
          <a:prstGeom prst="rect">
            <a:avLst/>
          </a:prstGeom>
          <a:noFill/>
        </p:spPr>
        <p:txBody>
          <a:bodyPr wrap="square">
            <a:spAutoFit/>
          </a:bodyPr>
          <a:lstStyle/>
          <a:p>
            <a:pPr algn="l"/>
            <a:r>
              <a:rPr sz="1100" b="1" i="0">
                <a:solidFill>
                  <a:srgbClr val="337F3F"/>
                </a:solidFill>
              </a:rPr>
              <a:t>Due date / Test date:</a:t>
            </a:r>
          </a:p>
        </p:txBody>
      </p:sp>
      <p:sp>
        <p:nvSpPr>
          <p:cNvPr id="11" name="Rectangle 10"/>
          <p:cNvSpPr/>
          <p:nvPr/>
        </p:nvSpPr>
        <p:spPr>
          <a:xfrm>
            <a:off x="182880" y="2971800"/>
            <a:ext cx="8778240" cy="54864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063240"/>
            <a:ext cx="8503920" cy="384048"/>
          </a:xfrm>
          <a:prstGeom prst="rect">
            <a:avLst/>
          </a:prstGeom>
          <a:noFill/>
        </p:spPr>
        <p:txBody>
          <a:bodyPr wrap="square">
            <a:spAutoFit/>
          </a:bodyPr>
          <a:lstStyle/>
          <a:p>
            <a:pPr algn="l"/>
            <a:r>
              <a:rPr sz="1100" b="1" i="0">
                <a:solidFill>
                  <a:srgbClr val="337F3F"/>
                </a:solidFill>
              </a:rPr>
              <a:t>Study Session 1 (date &amp; what I will do):</a:t>
            </a:r>
          </a:p>
        </p:txBody>
      </p:sp>
      <p:sp>
        <p:nvSpPr>
          <p:cNvPr id="13" name="Rectangle 12"/>
          <p:cNvSpPr/>
          <p:nvPr/>
        </p:nvSpPr>
        <p:spPr>
          <a:xfrm>
            <a:off x="182880" y="3566160"/>
            <a:ext cx="87782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657600"/>
            <a:ext cx="8503920" cy="384048"/>
          </a:xfrm>
          <a:prstGeom prst="rect">
            <a:avLst/>
          </a:prstGeom>
          <a:noFill/>
        </p:spPr>
        <p:txBody>
          <a:bodyPr wrap="square">
            <a:spAutoFit/>
          </a:bodyPr>
          <a:lstStyle/>
          <a:p>
            <a:pPr algn="l"/>
            <a:r>
              <a:rPr sz="1100" b="1" i="0">
                <a:solidFill>
                  <a:srgbClr val="337F3F"/>
                </a:solidFill>
              </a:rPr>
              <a:t>Study Session 2 (date &amp; what I will do):</a:t>
            </a:r>
          </a:p>
        </p:txBody>
      </p:sp>
      <p:sp>
        <p:nvSpPr>
          <p:cNvPr id="15" name="Rectangle 14"/>
          <p:cNvSpPr/>
          <p:nvPr/>
        </p:nvSpPr>
        <p:spPr>
          <a:xfrm>
            <a:off x="182880" y="4160520"/>
            <a:ext cx="8778240" cy="54864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251959"/>
            <a:ext cx="8503920" cy="384048"/>
          </a:xfrm>
          <a:prstGeom prst="rect">
            <a:avLst/>
          </a:prstGeom>
          <a:noFill/>
        </p:spPr>
        <p:txBody>
          <a:bodyPr wrap="square">
            <a:spAutoFit/>
          </a:bodyPr>
          <a:lstStyle/>
          <a:p>
            <a:pPr algn="l"/>
            <a:r>
              <a:rPr sz="1100" b="1" i="0">
                <a:solidFill>
                  <a:srgbClr val="337F3F"/>
                </a:solidFill>
              </a:rPr>
              <a:t>Study Session 3 (date &amp; what I will do):</a:t>
            </a:r>
          </a:p>
        </p:txBody>
      </p:sp>
      <p:sp>
        <p:nvSpPr>
          <p:cNvPr id="17" name="Rectangle 16"/>
          <p:cNvSpPr/>
          <p:nvPr/>
        </p:nvSpPr>
        <p:spPr>
          <a:xfrm>
            <a:off x="182880" y="4754880"/>
            <a:ext cx="87782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4846320"/>
            <a:ext cx="8503920" cy="384048"/>
          </a:xfrm>
          <a:prstGeom prst="rect">
            <a:avLst/>
          </a:prstGeom>
          <a:noFill/>
        </p:spPr>
        <p:txBody>
          <a:bodyPr wrap="square">
            <a:spAutoFit/>
          </a:bodyPr>
          <a:lstStyle/>
          <a:p>
            <a:pPr algn="l"/>
            <a:r>
              <a:rPr sz="1100" b="1" i="0">
                <a:solidFill>
                  <a:srgbClr val="337F3F"/>
                </a:solidFill>
              </a:rPr>
              <a:t>How I will test myself (retrieval practice method):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3.3: Study Strategies &amp; Spaced Practice</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Rating Scale + Reflection</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914400"/>
          </a:xfrm>
          <a:prstGeom prst="rect">
            <a:avLst/>
          </a:prstGeom>
          <a:noFill/>
        </p:spPr>
        <p:txBody>
          <a:bodyPr wrap="square">
            <a:spAutoFit/>
          </a:bodyPr>
          <a:lstStyle/>
          <a:p>
            <a:pPr algn="l"/>
            <a:r>
              <a:rPr sz="1100" b="0" i="0">
                <a:solidFill>
                  <a:srgbClr val="212121"/>
                </a:solidFill>
              </a:rPr>
              <a:t>How different is this study approach from what you normally do? (1 = same as always, 5 = completely different). Explain the most important change you will make and when you will start.</a:t>
            </a:r>
          </a:p>
        </p:txBody>
      </p:sp>
      <p:sp>
        <p:nvSpPr>
          <p:cNvPr id="9" name="Rectangle 8"/>
          <p:cNvSpPr/>
          <p:nvPr/>
        </p:nvSpPr>
        <p:spPr>
          <a:xfrm>
            <a:off x="22860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176272"/>
            <a:ext cx="1554480" cy="365760"/>
          </a:xfrm>
          <a:prstGeom prst="rect">
            <a:avLst/>
          </a:prstGeom>
          <a:noFill/>
        </p:spPr>
        <p:txBody>
          <a:bodyPr wrap="square">
            <a:spAutoFit/>
          </a:bodyPr>
          <a:lstStyle/>
          <a:p>
            <a:pPr algn="ctr"/>
            <a:r>
              <a:rPr sz="1100" b="0" i="0">
                <a:solidFill>
                  <a:srgbClr val="212121"/>
                </a:solidFill>
              </a:rPr>
              <a:t>1 — Not at all</a:t>
            </a:r>
          </a:p>
        </p:txBody>
      </p:sp>
      <p:sp>
        <p:nvSpPr>
          <p:cNvPr id="11" name="Rectangle 10"/>
          <p:cNvSpPr/>
          <p:nvPr/>
        </p:nvSpPr>
        <p:spPr>
          <a:xfrm>
            <a:off x="192024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2176272"/>
            <a:ext cx="1554480" cy="365760"/>
          </a:xfrm>
          <a:prstGeom prst="rect">
            <a:avLst/>
          </a:prstGeom>
          <a:noFill/>
        </p:spPr>
        <p:txBody>
          <a:bodyPr wrap="square">
            <a:spAutoFit/>
          </a:bodyPr>
          <a:lstStyle/>
          <a:p>
            <a:pPr algn="ctr"/>
            <a:r>
              <a:rPr sz="1100" b="0" i="0">
                <a:solidFill>
                  <a:srgbClr val="212121"/>
                </a:solidFill>
              </a:rPr>
              <a:t>2</a:t>
            </a:r>
          </a:p>
        </p:txBody>
      </p:sp>
      <p:sp>
        <p:nvSpPr>
          <p:cNvPr id="13" name="Rectangle 12"/>
          <p:cNvSpPr/>
          <p:nvPr/>
        </p:nvSpPr>
        <p:spPr>
          <a:xfrm>
            <a:off x="361188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176272"/>
            <a:ext cx="1554480" cy="365760"/>
          </a:xfrm>
          <a:prstGeom prst="rect">
            <a:avLst/>
          </a:prstGeom>
          <a:noFill/>
        </p:spPr>
        <p:txBody>
          <a:bodyPr wrap="square">
            <a:spAutoFit/>
          </a:bodyPr>
          <a:lstStyle/>
          <a:p>
            <a:pPr algn="ctr"/>
            <a:r>
              <a:rPr sz="1100" b="0" i="0">
                <a:solidFill>
                  <a:srgbClr val="212121"/>
                </a:solidFill>
              </a:rPr>
              <a:t>3 — Somewhat</a:t>
            </a:r>
          </a:p>
        </p:txBody>
      </p:sp>
      <p:sp>
        <p:nvSpPr>
          <p:cNvPr id="15" name="Rectangle 14"/>
          <p:cNvSpPr/>
          <p:nvPr/>
        </p:nvSpPr>
        <p:spPr>
          <a:xfrm>
            <a:off x="530352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2176272"/>
            <a:ext cx="1554480" cy="365760"/>
          </a:xfrm>
          <a:prstGeom prst="rect">
            <a:avLst/>
          </a:prstGeom>
          <a:noFill/>
        </p:spPr>
        <p:txBody>
          <a:bodyPr wrap="square">
            <a:spAutoFit/>
          </a:bodyPr>
          <a:lstStyle/>
          <a:p>
            <a:pPr algn="ctr"/>
            <a:r>
              <a:rPr sz="1100" b="0" i="0">
                <a:solidFill>
                  <a:srgbClr val="212121"/>
                </a:solidFill>
              </a:rPr>
              <a:t>4</a:t>
            </a:r>
          </a:p>
        </p:txBody>
      </p:sp>
      <p:sp>
        <p:nvSpPr>
          <p:cNvPr id="17" name="Rectangle 16"/>
          <p:cNvSpPr/>
          <p:nvPr/>
        </p:nvSpPr>
        <p:spPr>
          <a:xfrm>
            <a:off x="699516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176272"/>
            <a:ext cx="1554480" cy="365760"/>
          </a:xfrm>
          <a:prstGeom prst="rect">
            <a:avLst/>
          </a:prstGeom>
          <a:noFill/>
        </p:spPr>
        <p:txBody>
          <a:bodyPr wrap="square">
            <a:spAutoFit/>
          </a:bodyPr>
          <a:lstStyle/>
          <a:p>
            <a:pPr algn="ctr"/>
            <a:r>
              <a:rPr sz="1100" b="0" i="0">
                <a:solidFill>
                  <a:srgbClr val="212121"/>
                </a:solidFill>
              </a:rPr>
              <a:t>5 — Yes!</a:t>
            </a:r>
          </a:p>
        </p:txBody>
      </p:sp>
      <p:sp>
        <p:nvSpPr>
          <p:cNvPr id="19" name="Rectangle 18"/>
          <p:cNvSpPr/>
          <p:nvPr/>
        </p:nvSpPr>
        <p:spPr>
          <a:xfrm>
            <a:off x="228600" y="283463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65759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3.4  ·  5 minutes</a:t>
            </a:r>
          </a:p>
        </p:txBody>
      </p:sp>
      <p:sp>
        <p:nvSpPr>
          <p:cNvPr id="7" name="Rectangle 6"/>
          <p:cNvSpPr/>
          <p:nvPr/>
        </p:nvSpPr>
        <p:spPr>
          <a:xfrm>
            <a:off x="228600" y="868680"/>
            <a:ext cx="1463040" cy="329184"/>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Study Strategy Ranking</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From last class: put these strategies in order from MOST effective (1) to LEAST effective (5) according to the research:
___ Re-reading
___ Highlighting
___ Retrieval practice
___ Spaced repetition
___ Interleaving</a:t>
            </a:r>
          </a:p>
        </p:txBody>
      </p:sp>
      <p:sp>
        <p:nvSpPr>
          <p:cNvPr id="13" name="Rectangle 12"/>
          <p:cNvSpPr/>
          <p:nvPr/>
        </p:nvSpPr>
        <p:spPr>
          <a:xfrm>
            <a:off x="228600" y="4919472"/>
            <a:ext cx="8686800" cy="47548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Compare rankings with a partner → class consensus</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3.4  |  Unit 3: Academic Preparation for Rigorous Courses</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Managing Long-Term Projects &amp; Self-Advocacy</a:t>
            </a:r>
          </a:p>
        </p:txBody>
      </p:sp>
      <p:sp>
        <p:nvSpPr>
          <p:cNvPr id="6" name="Rectangle 5"/>
          <p:cNvSpPr/>
          <p:nvPr/>
        </p:nvSpPr>
        <p:spPr>
          <a:xfrm>
            <a:off x="182880" y="1024128"/>
            <a:ext cx="8778240" cy="329184"/>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Break a long-term project into a backward-planned sequence of steps.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Demonstrate self-advocacy skills through role-play (asking a teacher for help).</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Apply synthesis skills by connecting learning from Units 1–3.</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337F3F"/>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337F3F"/>
                </a:solidFill>
              </a:rPr>
              <a:t>Synthesis</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Greek synthesis (putting together) — syn (together) + tithenai (to place)</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Combining multiple pieces of information or ideas to build a new, deeper understanding — going beyond summary.</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563624"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490472" cy="320040"/>
          </a:xfrm>
          <a:prstGeom prst="rect">
            <a:avLst/>
          </a:prstGeom>
          <a:noFill/>
        </p:spPr>
        <p:txBody>
          <a:bodyPr wrap="square">
            <a:spAutoFit/>
          </a:bodyPr>
          <a:lstStyle/>
          <a:p>
            <a:pPr algn="ctr"/>
            <a:r>
              <a:rPr sz="1100" b="1" i="0">
                <a:solidFill>
                  <a:srgbClr val="FFFFFF"/>
                </a:solidFill>
              </a:rPr>
              <a:t>9</a:t>
            </a:r>
          </a:p>
        </p:txBody>
      </p:sp>
      <p:sp>
        <p:nvSpPr>
          <p:cNvPr id="33" name="TextBox 32"/>
          <p:cNvSpPr txBox="1"/>
          <p:nvPr/>
        </p:nvSpPr>
        <p:spPr>
          <a:xfrm>
            <a:off x="4572000" y="6163056"/>
            <a:ext cx="1563624"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135624" y="5623560"/>
            <a:ext cx="1911095"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200" y="5715000"/>
            <a:ext cx="1837943" cy="320040"/>
          </a:xfrm>
          <a:prstGeom prst="rect">
            <a:avLst/>
          </a:prstGeom>
          <a:noFill/>
        </p:spPr>
        <p:txBody>
          <a:bodyPr wrap="square">
            <a:spAutoFit/>
          </a:bodyPr>
          <a:lstStyle/>
          <a:p>
            <a:pPr algn="ctr"/>
            <a:r>
              <a:rPr sz="1100" b="1" i="0">
                <a:solidFill>
                  <a:srgbClr val="FFFFFF"/>
                </a:solidFill>
              </a:rPr>
              <a:t>11</a:t>
            </a:r>
          </a:p>
        </p:txBody>
      </p:sp>
      <p:sp>
        <p:nvSpPr>
          <p:cNvPr id="36" name="TextBox 35"/>
          <p:cNvSpPr txBox="1"/>
          <p:nvPr/>
        </p:nvSpPr>
        <p:spPr>
          <a:xfrm>
            <a:off x="6135624" y="6163056"/>
            <a:ext cx="1911095"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337F3F"/>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Doing Hard Things: Self-Advocacy, Long-Term Projects, and Academic Resilience</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on academic self-advocacy and project management</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Doing Hard Things: Self-Advocacy, Long-Term Projects, and Academic Resilience  (p. 1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Every student, at some point in high school, will hit a wall. A project that feels
overwhelming. A concept they cannot figure out. A grade that does not reflect the effort
they put in. A class they registered for that is harder than they expected. How a
student responds in that moment — whether they give up, ask for help, or find a strategy
— is one of the strongest predictors of their long-term academic success.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Self-advocacy is the ability to understand your own needs and communicate them clearly
to the people who can help. In an elementary school, a teacher often notices when
students are struggling and steps in to help. In high school — and certainly in college
— students who wait to be noticed often wait too long. Research consistently shows that
students who ask for help early, when they first notice confusion, learn significantly
more than students who either never ask or ask only in crisis.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Doing Hard Things: Self-Advocacy, Long-Term Projects, and Academic Resilience  (p. 2 of 2)</a:t>
            </a:r>
          </a:p>
        </p:txBody>
      </p:sp>
      <p:sp>
        <p:nvSpPr>
          <p:cNvPr id="4" name="Rectangle 3"/>
          <p:cNvSpPr/>
          <p:nvPr/>
        </p:nvSpPr>
        <p:spPr>
          <a:xfrm>
            <a:off x="182880" y="6217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Asking for help is a skill, and like all skills, it improves with practice. The most
effective way to ask a teacher for help is to be specific. 'I don't understand the
homework' gets a very different response than 'I was working on problem 7, and I
understand how to set up the equation, but I got confused at the point where you have to
factor. Can you show me that step?' The second version tells the teacher exactly where
your thinking broke down. It also signals that you actually tried — which teachers
notice and respect.</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Long-term projects are where many students first discover they need better systems. The
key to managing any large project is backward planning: starting at the deadline and
mapping tasks backward through the calendar until you reach today. A student who
receives a three-week research paper assignment on a Monday and immediately backward
plans — 'I need to submit by Friday the 21st, so my draft should be done by Tuesday the
18th, my research by Friday the 14th, my outline by Wednesday the 12th, my topic by
tomorrow' — will always outperform the student who starts on the Thursday before the
Friday deadline. Backward planning makes the invisible visible: you can see exactly
where you are and exactly what you need to do next.</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'Doing Hard Things: Self-Advocacy, Long-Term Projects, and Academic Resilience'</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337F3F"/>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self-advocacy? Why does the reading say it matters more in high school than in
elementary school?</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337F3F"/>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Compare these two help-seeking statements: 'I don't get it' vs. 'I understand how to set up the
equation but I got confused at the factoring step.' What makes the second one more effective?</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337F3F"/>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is backward planning and how does it work? Create a backward plan for a hypothetical
project: 'A 10-slide presentation due in 2 weeks.'</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337F3F"/>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'how a student responds when they hit a wall is one of the strongest
predictors of long-term academic success.' Do you agree? Why or why not?</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337F3F"/>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Think about a time when you struggled academically and either asked for help or didn't. What
happened? What would you do differently now, using ideas from this reading?</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3.4</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How to Ask for Help (Without It Being Awkward)</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The Art of Improvement  ·  approx. 5 min</a:t>
            </a:r>
          </a:p>
        </p:txBody>
      </p:sp>
      <p:sp>
        <p:nvSpPr>
          <p:cNvPr id="9" name="Rectangle 8"/>
          <p:cNvSpPr/>
          <p:nvPr/>
        </p:nvSpPr>
        <p:spPr>
          <a:xfrm>
            <a:off x="365760" y="2377440"/>
            <a:ext cx="8412480" cy="2743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337F3F"/>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makes a 'good ask' different from a 'bad ask'? Take notes on his examples.</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"Backward Planning — How to Never Miss a Deadline"  |  Mike and Matty</a:t>
            </a:r>
          </a:p>
        </p:txBody>
      </p:sp>
      <p:sp>
        <p:nvSpPr>
          <p:cNvPr id="16" name="Rectangle 15">
            <a:hlinkClick r:id="rId3"/>
          </p:cNvPr>
          <p:cNvSpPr/>
          <p:nvPr/>
        </p:nvSpPr>
        <p:spPr>
          <a:xfrm>
            <a:off x="2743200" y="4480560"/>
            <a:ext cx="3657600" cy="74980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Ask"  —  Lesson 3.4</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Eli had been failing the unit quietly for three weeks.</a:t>
            </a:r>
          </a:p>
        </p:txBody>
      </p:sp>
      <p:sp>
        <p:nvSpPr>
          <p:cNvPr id="7" name="TextBox 6"/>
          <p:cNvSpPr txBox="1"/>
          <p:nvPr/>
        </p:nvSpPr>
        <p:spPr>
          <a:xfrm>
            <a:off x="228600" y="1133856"/>
            <a:ext cx="8686800" cy="649224"/>
          </a:xfrm>
          <a:prstGeom prst="rect">
            <a:avLst/>
          </a:prstGeom>
          <a:noFill/>
        </p:spPr>
        <p:txBody>
          <a:bodyPr wrap="square">
            <a:spAutoFit/>
          </a:bodyPr>
          <a:lstStyle/>
          <a:p>
            <a:pPr algn="l">
              <a:lnSpc>
                <a:spcPts val="1500"/>
              </a:lnSpc>
            </a:pPr>
            <a:r>
              <a:rPr sz="1000" b="0" i="0">
                <a:solidFill>
                  <a:srgbClr val="212121"/>
                </a:solidFill>
              </a:rPr>
              <a:t>Not failing failing — more like a slow slide. A 72 that became a 68, a homework score that
didn't get entered because he hadn't turned it in. He checked the grade portal when he was
feeling brave, which was not often.</a:t>
            </a:r>
          </a:p>
        </p:txBody>
      </p:sp>
      <p:sp>
        <p:nvSpPr>
          <p:cNvPr id="8" name="TextBox 7"/>
          <p:cNvSpPr txBox="1"/>
          <p:nvPr/>
        </p:nvSpPr>
        <p:spPr>
          <a:xfrm>
            <a:off x="228600" y="1792224"/>
            <a:ext cx="8686800" cy="448056"/>
          </a:xfrm>
          <a:prstGeom prst="rect">
            <a:avLst/>
          </a:prstGeom>
          <a:noFill/>
        </p:spPr>
        <p:txBody>
          <a:bodyPr wrap="square">
            <a:spAutoFit/>
          </a:bodyPr>
          <a:lstStyle/>
          <a:p>
            <a:pPr algn="l">
              <a:lnSpc>
                <a:spcPts val="1500"/>
              </a:lnSpc>
            </a:pPr>
            <a:r>
              <a:rPr sz="1000" b="0" i="0">
                <a:solidFill>
                  <a:srgbClr val="212121"/>
                </a:solidFill>
              </a:rPr>
              <a:t>Priya found out by accident, when he left the portal open on the library computer and she sat
down before she realized whose screen it was.</a:t>
            </a:r>
          </a:p>
        </p:txBody>
      </p:sp>
      <p:sp>
        <p:nvSpPr>
          <p:cNvPr id="9" name="TextBox 8"/>
          <p:cNvSpPr txBox="1"/>
          <p:nvPr/>
        </p:nvSpPr>
        <p:spPr>
          <a:xfrm>
            <a:off x="228600" y="2249424"/>
            <a:ext cx="8686800" cy="246888"/>
          </a:xfrm>
          <a:prstGeom prst="rect">
            <a:avLst/>
          </a:prstGeom>
          <a:noFill/>
        </p:spPr>
        <p:txBody>
          <a:bodyPr wrap="square">
            <a:spAutoFit/>
          </a:bodyPr>
          <a:lstStyle/>
          <a:p>
            <a:pPr algn="l">
              <a:lnSpc>
                <a:spcPts val="1500"/>
              </a:lnSpc>
            </a:pPr>
            <a:r>
              <a:rPr sz="1000" b="0" i="0">
                <a:solidFill>
                  <a:srgbClr val="212121"/>
                </a:solidFill>
              </a:rPr>
              <a:t>She didn't say anything for a moment.</a:t>
            </a:r>
          </a:p>
        </p:txBody>
      </p:sp>
      <p:sp>
        <p:nvSpPr>
          <p:cNvPr id="10" name="TextBox 9"/>
          <p:cNvSpPr txBox="1"/>
          <p:nvPr/>
        </p:nvSpPr>
        <p:spPr>
          <a:xfrm>
            <a:off x="228600" y="2505456"/>
            <a:ext cx="8686800" cy="246888"/>
          </a:xfrm>
          <a:prstGeom prst="rect">
            <a:avLst/>
          </a:prstGeom>
          <a:noFill/>
        </p:spPr>
        <p:txBody>
          <a:bodyPr wrap="square">
            <a:spAutoFit/>
          </a:bodyPr>
          <a:lstStyle/>
          <a:p>
            <a:pPr algn="l">
              <a:lnSpc>
                <a:spcPts val="1500"/>
              </a:lnSpc>
            </a:pPr>
            <a:r>
              <a:rPr sz="1050" b="0" i="1">
                <a:solidFill>
                  <a:srgbClr val="1A1A6E"/>
                </a:solidFill>
              </a:rPr>
              <a:t>"Is that your history grade?"</a:t>
            </a:r>
          </a:p>
        </p:txBody>
      </p:sp>
      <p:sp>
        <p:nvSpPr>
          <p:cNvPr id="11" name="TextBox 10"/>
          <p:cNvSpPr txBox="1"/>
          <p:nvPr/>
        </p:nvSpPr>
        <p:spPr>
          <a:xfrm>
            <a:off x="228600" y="2761488"/>
            <a:ext cx="8686800" cy="246888"/>
          </a:xfrm>
          <a:prstGeom prst="rect">
            <a:avLst/>
          </a:prstGeom>
          <a:noFill/>
        </p:spPr>
        <p:txBody>
          <a:bodyPr wrap="square">
            <a:spAutoFit/>
          </a:bodyPr>
          <a:lstStyle/>
          <a:p>
            <a:pPr algn="l">
              <a:lnSpc>
                <a:spcPts val="1500"/>
              </a:lnSpc>
            </a:pPr>
            <a:r>
              <a:rPr sz="1050" b="0" i="1">
                <a:solidFill>
                  <a:srgbClr val="1A1A6E"/>
                </a:solidFill>
              </a:rPr>
              <a:t>He closed the window. "Yeah."</a:t>
            </a:r>
          </a:p>
        </p:txBody>
      </p:sp>
      <p:sp>
        <p:nvSpPr>
          <p:cNvPr id="12" name="TextBox 11"/>
          <p:cNvSpPr txBox="1"/>
          <p:nvPr/>
        </p:nvSpPr>
        <p:spPr>
          <a:xfrm>
            <a:off x="228600" y="3017520"/>
            <a:ext cx="8686800" cy="246888"/>
          </a:xfrm>
          <a:prstGeom prst="rect">
            <a:avLst/>
          </a:prstGeom>
          <a:noFill/>
        </p:spPr>
        <p:txBody>
          <a:bodyPr wrap="square">
            <a:spAutoFit/>
          </a:bodyPr>
          <a:lstStyle/>
          <a:p>
            <a:pPr algn="l">
              <a:lnSpc>
                <a:spcPts val="1500"/>
              </a:lnSpc>
            </a:pPr>
            <a:r>
              <a:rPr sz="1050" b="0" i="1">
                <a:solidFill>
                  <a:srgbClr val="1A1A6E"/>
                </a:solidFill>
              </a:rPr>
              <a:t>"Eli."</a:t>
            </a:r>
          </a:p>
        </p:txBody>
      </p:sp>
      <p:sp>
        <p:nvSpPr>
          <p:cNvPr id="13" name="TextBox 12"/>
          <p:cNvSpPr txBox="1"/>
          <p:nvPr/>
        </p:nvSpPr>
        <p:spPr>
          <a:xfrm>
            <a:off x="228600" y="3273552"/>
            <a:ext cx="8686800" cy="246888"/>
          </a:xfrm>
          <a:prstGeom prst="rect">
            <a:avLst/>
          </a:prstGeom>
          <a:noFill/>
        </p:spPr>
        <p:txBody>
          <a:bodyPr wrap="square">
            <a:spAutoFit/>
          </a:bodyPr>
          <a:lstStyle/>
          <a:p>
            <a:pPr algn="l">
              <a:lnSpc>
                <a:spcPts val="1500"/>
              </a:lnSpc>
            </a:pPr>
            <a:r>
              <a:rPr sz="1050" b="0" i="1">
                <a:solidFill>
                  <a:srgbClr val="1A1A6E"/>
                </a:solidFill>
              </a:rPr>
              <a:t>"I know."</a:t>
            </a:r>
          </a:p>
        </p:txBody>
      </p:sp>
      <p:sp>
        <p:nvSpPr>
          <p:cNvPr id="14" name="TextBox 13"/>
          <p:cNvSpPr txBox="1"/>
          <p:nvPr/>
        </p:nvSpPr>
        <p:spPr>
          <a:xfrm>
            <a:off x="228600" y="3529584"/>
            <a:ext cx="8686800" cy="246888"/>
          </a:xfrm>
          <a:prstGeom prst="rect">
            <a:avLst/>
          </a:prstGeom>
          <a:noFill/>
        </p:spPr>
        <p:txBody>
          <a:bodyPr wrap="square">
            <a:spAutoFit/>
          </a:bodyPr>
          <a:lstStyle/>
          <a:p>
            <a:pPr algn="l">
              <a:lnSpc>
                <a:spcPts val="1500"/>
              </a:lnSpc>
            </a:pPr>
            <a:r>
              <a:rPr sz="1050" b="0" i="1">
                <a:solidFill>
                  <a:srgbClr val="1A1A6E"/>
                </a:solidFill>
              </a:rPr>
              <a:t>"Have you talked to Mr. Abara?"</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50" b="0" i="1">
                <a:solidFill>
                  <a:srgbClr val="1A1A6E"/>
                </a:solidFill>
              </a:rPr>
              <a:t>"No."</a:t>
            </a:r>
          </a:p>
        </p:txBody>
      </p:sp>
      <p:sp>
        <p:nvSpPr>
          <p:cNvPr id="16" name="TextBox 15"/>
          <p:cNvSpPr txBox="1"/>
          <p:nvPr/>
        </p:nvSpPr>
        <p:spPr>
          <a:xfrm>
            <a:off x="228600" y="4041648"/>
            <a:ext cx="8686800" cy="246888"/>
          </a:xfrm>
          <a:prstGeom prst="rect">
            <a:avLst/>
          </a:prstGeom>
          <a:noFill/>
        </p:spPr>
        <p:txBody>
          <a:bodyPr wrap="square">
            <a:spAutoFit/>
          </a:bodyPr>
          <a:lstStyle/>
          <a:p>
            <a:pPr algn="l">
              <a:lnSpc>
                <a:spcPts val="1500"/>
              </a:lnSpc>
            </a:pPr>
            <a:r>
              <a:rPr sz="1050" b="0" i="1">
                <a:solidFill>
                  <a:srgbClr val="1A1A6E"/>
                </a:solidFill>
              </a:rPr>
              <a:t>"Why not?"</a:t>
            </a:r>
          </a:p>
        </p:txBody>
      </p:sp>
      <p:sp>
        <p:nvSpPr>
          <p:cNvPr id="17" name="TextBox 16"/>
          <p:cNvSpPr txBox="1"/>
          <p:nvPr/>
        </p:nvSpPr>
        <p:spPr>
          <a:xfrm>
            <a:off x="228600" y="4297680"/>
            <a:ext cx="8686800" cy="850392"/>
          </a:xfrm>
          <a:prstGeom prst="rect">
            <a:avLst/>
          </a:prstGeom>
          <a:noFill/>
        </p:spPr>
        <p:txBody>
          <a:bodyPr wrap="square">
            <a:spAutoFit/>
          </a:bodyPr>
          <a:lstStyle/>
          <a:p>
            <a:pPr algn="l">
              <a:lnSpc>
                <a:spcPts val="1500"/>
              </a:lnSpc>
            </a:pPr>
            <a:r>
              <a:rPr sz="1000" b="0" i="0">
                <a:solidFill>
                  <a:srgbClr val="212121"/>
                </a:solidFill>
              </a:rPr>
              <a:t>He didn't answer right away. The real reason was embarrassing: he liked Mr. Abara, and he
didn't want Mr. Abara to think less of him. Asking for help felt like admitting he wasn't
keeping up, and admitting he wasn't keeping up felt like giving up something he couldn't get
back.</a:t>
            </a:r>
          </a:p>
        </p:txBody>
      </p:sp>
      <p:sp>
        <p:nvSpPr>
          <p:cNvPr id="18" name="TextBox 17"/>
          <p:cNvSpPr txBox="1"/>
          <p:nvPr/>
        </p:nvSpPr>
        <p:spPr>
          <a:xfrm>
            <a:off x="228600" y="5157216"/>
            <a:ext cx="8686800" cy="246888"/>
          </a:xfrm>
          <a:prstGeom prst="rect">
            <a:avLst/>
          </a:prstGeom>
          <a:noFill/>
        </p:spPr>
        <p:txBody>
          <a:bodyPr wrap="square">
            <a:spAutoFit/>
          </a:bodyPr>
          <a:lstStyle/>
          <a:p>
            <a:pPr algn="l">
              <a:lnSpc>
                <a:spcPts val="1500"/>
              </a:lnSpc>
            </a:pPr>
            <a:r>
              <a:rPr sz="1050" b="0" i="1">
                <a:solidFill>
                  <a:srgbClr val="1A1A6E"/>
                </a:solidFill>
              </a:rPr>
              <a:t>"It's complicated," he said.</a:t>
            </a:r>
          </a:p>
        </p:txBody>
      </p:sp>
      <p:sp>
        <p:nvSpPr>
          <p:cNvPr id="19" name="TextBox 18"/>
          <p:cNvSpPr txBox="1"/>
          <p:nvPr/>
        </p:nvSpPr>
        <p:spPr>
          <a:xfrm>
            <a:off x="228600" y="5413248"/>
            <a:ext cx="8686800" cy="246888"/>
          </a:xfrm>
          <a:prstGeom prst="rect">
            <a:avLst/>
          </a:prstGeom>
          <a:noFill/>
        </p:spPr>
        <p:txBody>
          <a:bodyPr wrap="square">
            <a:spAutoFit/>
          </a:bodyPr>
          <a:lstStyle/>
          <a:p>
            <a:pPr algn="l">
              <a:lnSpc>
                <a:spcPts val="1500"/>
              </a:lnSpc>
            </a:pPr>
            <a:r>
              <a:rPr sz="1050" b="0" i="1">
                <a:solidFill>
                  <a:srgbClr val="1A1A6E"/>
                </a:solidFill>
              </a:rPr>
              <a:t>"It's a conversation."</a:t>
            </a:r>
          </a:p>
        </p:txBody>
      </p:sp>
      <p:sp>
        <p:nvSpPr>
          <p:cNvPr id="20" name="TextBox 19"/>
          <p:cNvSpPr txBox="1"/>
          <p:nvPr/>
        </p:nvSpPr>
        <p:spPr>
          <a:xfrm>
            <a:off x="228600" y="5669280"/>
            <a:ext cx="8686800" cy="246888"/>
          </a:xfrm>
          <a:prstGeom prst="rect">
            <a:avLst/>
          </a:prstGeom>
          <a:noFill/>
        </p:spPr>
        <p:txBody>
          <a:bodyPr wrap="square">
            <a:spAutoFit/>
          </a:bodyPr>
          <a:lstStyle/>
          <a:p>
            <a:pPr algn="l">
              <a:lnSpc>
                <a:spcPts val="1500"/>
              </a:lnSpc>
            </a:pPr>
            <a:r>
              <a:rPr sz="1050" b="0" i="1">
                <a:solidFill>
                  <a:srgbClr val="1A1A6E"/>
                </a:solidFill>
              </a:rPr>
              <a:t>"It's more than that."</a:t>
            </a:r>
          </a:p>
        </p:txBody>
      </p:sp>
      <p:sp>
        <p:nvSpPr>
          <p:cNvPr id="21" name="TextBox 20"/>
          <p:cNvSpPr txBox="1"/>
          <p:nvPr/>
        </p:nvSpPr>
        <p:spPr>
          <a:xfrm>
            <a:off x="228600" y="5925312"/>
            <a:ext cx="8686800" cy="649224"/>
          </a:xfrm>
          <a:prstGeom prst="rect">
            <a:avLst/>
          </a:prstGeom>
          <a:noFill/>
        </p:spPr>
        <p:txBody>
          <a:bodyPr wrap="square">
            <a:spAutoFit/>
          </a:bodyPr>
          <a:lstStyle/>
          <a:p>
            <a:pPr algn="l">
              <a:lnSpc>
                <a:spcPts val="1500"/>
              </a:lnSpc>
            </a:pPr>
            <a:r>
              <a:rPr sz="1000" b="0" i="0">
                <a:solidFill>
                  <a:srgbClr val="212121"/>
                </a:solidFill>
              </a:rPr>
              <a:t>Priya thought about this. She'd had her own version of it — with math, in sixth grade, when
she was new and didn't want to look slow in front of people who'd been in the district
forever.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Ask"</a:t>
            </a:r>
          </a:p>
        </p:txBody>
      </p:sp>
      <p:sp>
        <p:nvSpPr>
          <p:cNvPr id="4" name="Rectangle 3"/>
          <p:cNvSpPr/>
          <p:nvPr/>
        </p:nvSpPr>
        <p:spPr>
          <a:xfrm>
            <a:off x="182880" y="594360"/>
            <a:ext cx="8778240" cy="320040"/>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Eli says his reason for not asking is 'complicated.' Priya reduces it to one sentence. Who is
right — and what does Eli's hesitation actually come from?</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Priya shares her own experience with not asking for help. Why does that moment matter? What
does it do to the conversation?</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What's the difference between being unable to do something and being unwilling to ask for
help with it?</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If you were Eli, what would make it easier to walk through Mr. Abara's door? What specific
words would you use?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Backward Planning a Long-Term Project</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When you receive a long-term assignment, high-performing students start at the END and
work backward. Step 1: Write down the final deadline. Step 2: Identify all the tasks
that must be done before the final product is ready. Step 3: Assign each task its own
deadline, working backward from the final due date. Step 4: Enter each task in your
planner. This makes a project that felt overwhelming feel manageable — because each day
you know exactly what you need to do.</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Think of a time you hit a wall academically. What did you do? What would you do differently now?</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Backward Plan a Project</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Use the timeline below to backward-plan either a real upcoming project or this scenario:
'You have 3 weeks to write a 5-page research paper on a historical event.'</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337F3F"/>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Self-advocacy is a skill, and like all skills, it improves with deliberate practice.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Backward Plan a Project  —  Lesson 3.4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11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Start at your FINAL deadline. Work backward: what needs to be done each week? Give each task its own mini-deadline. Enter these in your planner.</a:t>
            </a:r>
          </a:p>
        </p:txBody>
      </p:sp>
      <p:sp>
        <p:nvSpPr>
          <p:cNvPr id="7" name="Rectangle 6"/>
          <p:cNvSpPr/>
          <p:nvPr/>
        </p:nvSpPr>
        <p:spPr>
          <a:xfrm>
            <a:off x="182880" y="1783080"/>
            <a:ext cx="8778240" cy="34747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1828800"/>
            <a:ext cx="1828800" cy="256032"/>
          </a:xfrm>
          <a:prstGeom prst="rect">
            <a:avLst/>
          </a:prstGeom>
          <a:noFill/>
        </p:spPr>
        <p:txBody>
          <a:bodyPr wrap="square">
            <a:spAutoFit/>
          </a:bodyPr>
          <a:lstStyle/>
          <a:p>
            <a:pPr algn="l"/>
            <a:r>
              <a:rPr sz="1000" b="1" i="0">
                <a:solidFill>
                  <a:srgbClr val="FFFFFF"/>
                </a:solidFill>
              </a:rPr>
              <a:t>Week</a:t>
            </a:r>
          </a:p>
        </p:txBody>
      </p:sp>
      <p:sp>
        <p:nvSpPr>
          <p:cNvPr id="9" name="TextBox 8"/>
          <p:cNvSpPr txBox="1"/>
          <p:nvPr/>
        </p:nvSpPr>
        <p:spPr>
          <a:xfrm>
            <a:off x="1078992" y="1828800"/>
            <a:ext cx="1828800" cy="256032"/>
          </a:xfrm>
          <a:prstGeom prst="rect">
            <a:avLst/>
          </a:prstGeom>
          <a:noFill/>
        </p:spPr>
        <p:txBody>
          <a:bodyPr wrap="square">
            <a:spAutoFit/>
          </a:bodyPr>
          <a:lstStyle/>
          <a:p>
            <a:pPr algn="l"/>
            <a:r>
              <a:rPr sz="1000" b="1" i="0">
                <a:solidFill>
                  <a:srgbClr val="FFFFFF"/>
                </a:solidFill>
              </a:rPr>
              <a:t>Tasks to Complete by This Date</a:t>
            </a:r>
          </a:p>
        </p:txBody>
      </p:sp>
      <p:sp>
        <p:nvSpPr>
          <p:cNvPr id="10" name="TextBox 9"/>
          <p:cNvSpPr txBox="1"/>
          <p:nvPr/>
        </p:nvSpPr>
        <p:spPr>
          <a:xfrm>
            <a:off x="6812280" y="1828800"/>
            <a:ext cx="1828800" cy="256032"/>
          </a:xfrm>
          <a:prstGeom prst="rect">
            <a:avLst/>
          </a:prstGeom>
          <a:noFill/>
        </p:spPr>
        <p:txBody>
          <a:bodyPr wrap="square">
            <a:spAutoFit/>
          </a:bodyPr>
          <a:lstStyle/>
          <a:p>
            <a:pPr algn="l"/>
            <a:r>
              <a:rPr sz="1000" b="1" i="0">
                <a:solidFill>
                  <a:srgbClr val="FFFFFF"/>
                </a:solidFill>
              </a:rPr>
              <a:t>Mini-Deadline</a:t>
            </a:r>
          </a:p>
        </p:txBody>
      </p:sp>
      <p:sp>
        <p:nvSpPr>
          <p:cNvPr id="11" name="Rectangle 10"/>
          <p:cNvSpPr/>
          <p:nvPr/>
        </p:nvSpPr>
        <p:spPr>
          <a:xfrm>
            <a:off x="182880" y="2167128"/>
            <a:ext cx="87782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167128"/>
            <a:ext cx="804672" cy="5669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 y="2276856"/>
            <a:ext cx="713232" cy="347472"/>
          </a:xfrm>
          <a:prstGeom prst="rect">
            <a:avLst/>
          </a:prstGeom>
          <a:noFill/>
        </p:spPr>
        <p:txBody>
          <a:bodyPr wrap="square">
            <a:spAutoFit/>
          </a:bodyPr>
          <a:lstStyle/>
          <a:p>
            <a:pPr algn="ctr"/>
            <a:r>
              <a:rPr sz="1100" b="1" i="0">
                <a:solidFill>
                  <a:srgbClr val="FFFFFF"/>
                </a:solidFill>
              </a:rPr>
              <a:t>Wk 3</a:t>
            </a:r>
          </a:p>
        </p:txBody>
      </p:sp>
      <p:sp>
        <p:nvSpPr>
          <p:cNvPr id="14" name="Rectangle 13"/>
          <p:cNvSpPr/>
          <p:nvPr/>
        </p:nvSpPr>
        <p:spPr>
          <a:xfrm>
            <a:off x="228600" y="2569464"/>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 y="2752344"/>
            <a:ext cx="8778240" cy="56692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752344"/>
            <a:ext cx="804672" cy="5669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 y="2862072"/>
            <a:ext cx="713232" cy="347472"/>
          </a:xfrm>
          <a:prstGeom prst="rect">
            <a:avLst/>
          </a:prstGeom>
          <a:noFill/>
        </p:spPr>
        <p:txBody>
          <a:bodyPr wrap="square">
            <a:spAutoFit/>
          </a:bodyPr>
          <a:lstStyle/>
          <a:p>
            <a:pPr algn="ctr"/>
            <a:r>
              <a:rPr sz="1100" b="1" i="0">
                <a:solidFill>
                  <a:srgbClr val="FFFFFF"/>
                </a:solidFill>
              </a:rPr>
              <a:t>Wk 2</a:t>
            </a:r>
          </a:p>
        </p:txBody>
      </p:sp>
      <p:sp>
        <p:nvSpPr>
          <p:cNvPr id="18" name="Rectangle 17"/>
          <p:cNvSpPr/>
          <p:nvPr/>
        </p:nvSpPr>
        <p:spPr>
          <a:xfrm>
            <a:off x="228600" y="31546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2880" y="3337560"/>
            <a:ext cx="87782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337560"/>
            <a:ext cx="804672" cy="566928"/>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456" y="3447288"/>
            <a:ext cx="713232" cy="347472"/>
          </a:xfrm>
          <a:prstGeom prst="rect">
            <a:avLst/>
          </a:prstGeom>
          <a:noFill/>
        </p:spPr>
        <p:txBody>
          <a:bodyPr wrap="square">
            <a:spAutoFit/>
          </a:bodyPr>
          <a:lstStyle/>
          <a:p>
            <a:pPr algn="ctr"/>
            <a:r>
              <a:rPr sz="1100" b="1" i="0">
                <a:solidFill>
                  <a:srgbClr val="FFFFFF"/>
                </a:solidFill>
              </a:rPr>
              <a:t>Wk 1</a:t>
            </a:r>
          </a:p>
        </p:txBody>
      </p:sp>
      <p:sp>
        <p:nvSpPr>
          <p:cNvPr id="22" name="Rectangle 21"/>
          <p:cNvSpPr/>
          <p:nvPr/>
        </p:nvSpPr>
        <p:spPr>
          <a:xfrm>
            <a:off x="228600" y="3739896"/>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Self-Advocacy: Asking for Help</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One of the most important skills in rigorous courses is knowing when and how to ask for
help. Research shows that students who ask questions and seek help learn more — but many
students avoid asking out of embarrassment or not knowing how. With a partner, practice
this script:  'Hi [Teacher's name], I was working on [assignment] and I'm having trouble
with [specific part]. I've already tried [what I attempted]. Could you help me
understand [specific question]?'  Notice: be specific. Saying 'I don't get it' gets a
different response than explaining exactly what you tried and where you got stuck.</a:t>
            </a:r>
          </a:p>
        </p:txBody>
      </p:sp>
      <p:sp>
        <p:nvSpPr>
          <p:cNvPr id="5" name="Rectangle 4"/>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Self-Advocacy Role Play  —  Lesson 3.4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11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Practice the self-advocacy script with a partner. Switch roles for each scenario. Listener: give feedback — was the request specific? Did they explain what they tried?</a:t>
            </a:r>
          </a:p>
        </p:txBody>
      </p:sp>
      <p:sp>
        <p:nvSpPr>
          <p:cNvPr id="7" name="TextBox 6"/>
          <p:cNvSpPr txBox="1"/>
          <p:nvPr/>
        </p:nvSpPr>
        <p:spPr>
          <a:xfrm>
            <a:off x="228600" y="1783080"/>
            <a:ext cx="8229600" cy="347472"/>
          </a:xfrm>
          <a:prstGeom prst="rect">
            <a:avLst/>
          </a:prstGeom>
          <a:noFill/>
        </p:spPr>
        <p:txBody>
          <a:bodyPr wrap="square">
            <a:spAutoFit/>
          </a:bodyPr>
          <a:lstStyle/>
          <a:p>
            <a:pPr algn="l"/>
            <a:r>
              <a:rPr sz="1200" b="1" i="0">
                <a:solidFill>
                  <a:srgbClr val="337F3F"/>
                </a:solidFill>
              </a:rPr>
              <a:t>Self-Advocacy Script:</a:t>
            </a:r>
          </a:p>
        </p:txBody>
      </p:sp>
      <p:sp>
        <p:nvSpPr>
          <p:cNvPr id="8" name="Rectangle 7"/>
          <p:cNvSpPr/>
          <p:nvPr/>
        </p:nvSpPr>
        <p:spPr>
          <a:xfrm>
            <a:off x="228600" y="21945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286000"/>
            <a:ext cx="8412480" cy="822960"/>
          </a:xfrm>
          <a:prstGeom prst="rect">
            <a:avLst/>
          </a:prstGeom>
          <a:noFill/>
        </p:spPr>
        <p:txBody>
          <a:bodyPr wrap="square">
            <a:spAutoFit/>
          </a:bodyPr>
          <a:lstStyle/>
          <a:p>
            <a:pPr algn="l"/>
            <a:r>
              <a:rPr sz="1300" b="0" i="1">
                <a:solidFill>
                  <a:srgbClr val="212121"/>
                </a:solidFill>
              </a:rPr>
              <a:t>"Hi [teacher's name], I was working on [assignment] and I'm struggling with [specific part]. I already tried [what I did]. Could you help me understand [question]?"</a:t>
            </a:r>
          </a:p>
        </p:txBody>
      </p:sp>
      <p:sp>
        <p:nvSpPr>
          <p:cNvPr id="10" name="Rectangle 9"/>
          <p:cNvSpPr/>
          <p:nvPr/>
        </p:nvSpPr>
        <p:spPr>
          <a:xfrm>
            <a:off x="228600" y="3337560"/>
            <a:ext cx="8686800" cy="50292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3392424"/>
            <a:ext cx="1371600" cy="347472"/>
          </a:xfrm>
          <a:prstGeom prst="rect">
            <a:avLst/>
          </a:prstGeom>
          <a:noFill/>
        </p:spPr>
        <p:txBody>
          <a:bodyPr wrap="square">
            <a:spAutoFit/>
          </a:bodyPr>
          <a:lstStyle/>
          <a:p>
            <a:pPr algn="l"/>
            <a:r>
              <a:rPr sz="1000" b="1" i="0">
                <a:solidFill>
                  <a:srgbClr val="337F3F"/>
                </a:solidFill>
              </a:rPr>
              <a:t>Scenario 1:</a:t>
            </a:r>
          </a:p>
        </p:txBody>
      </p:sp>
      <p:sp>
        <p:nvSpPr>
          <p:cNvPr id="12" name="TextBox 11"/>
          <p:cNvSpPr txBox="1"/>
          <p:nvPr/>
        </p:nvSpPr>
        <p:spPr>
          <a:xfrm>
            <a:off x="1737360" y="3429000"/>
            <a:ext cx="7040880" cy="347472"/>
          </a:xfrm>
          <a:prstGeom prst="rect">
            <a:avLst/>
          </a:prstGeom>
          <a:noFill/>
        </p:spPr>
        <p:txBody>
          <a:bodyPr wrap="square">
            <a:spAutoFit/>
          </a:bodyPr>
          <a:lstStyle/>
          <a:p>
            <a:pPr algn="l"/>
            <a:r>
              <a:rPr sz="1050" b="0" i="0">
                <a:solidFill>
                  <a:srgbClr val="212121"/>
                </a:solidFill>
              </a:rPr>
              <a:t>You bombed a quiz and want to understand what went wrong.</a:t>
            </a:r>
          </a:p>
        </p:txBody>
      </p:sp>
      <p:sp>
        <p:nvSpPr>
          <p:cNvPr id="13" name="Rectangle 12"/>
          <p:cNvSpPr/>
          <p:nvPr/>
        </p:nvSpPr>
        <p:spPr>
          <a:xfrm>
            <a:off x="228600" y="3886200"/>
            <a:ext cx="8686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3941063"/>
            <a:ext cx="1371600" cy="347472"/>
          </a:xfrm>
          <a:prstGeom prst="rect">
            <a:avLst/>
          </a:prstGeom>
          <a:noFill/>
        </p:spPr>
        <p:txBody>
          <a:bodyPr wrap="square">
            <a:spAutoFit/>
          </a:bodyPr>
          <a:lstStyle/>
          <a:p>
            <a:pPr algn="l"/>
            <a:r>
              <a:rPr sz="1000" b="1" i="0">
                <a:solidFill>
                  <a:srgbClr val="337F3F"/>
                </a:solidFill>
              </a:rPr>
              <a:t>Scenario 2:</a:t>
            </a:r>
          </a:p>
        </p:txBody>
      </p:sp>
      <p:sp>
        <p:nvSpPr>
          <p:cNvPr id="15" name="TextBox 14"/>
          <p:cNvSpPr txBox="1"/>
          <p:nvPr/>
        </p:nvSpPr>
        <p:spPr>
          <a:xfrm>
            <a:off x="1737360" y="3977639"/>
            <a:ext cx="7040880" cy="347472"/>
          </a:xfrm>
          <a:prstGeom prst="rect">
            <a:avLst/>
          </a:prstGeom>
          <a:noFill/>
        </p:spPr>
        <p:txBody>
          <a:bodyPr wrap="square">
            <a:spAutoFit/>
          </a:bodyPr>
          <a:lstStyle/>
          <a:p>
            <a:pPr algn="l"/>
            <a:r>
              <a:rPr sz="1050" b="0" i="0">
                <a:solidFill>
                  <a:srgbClr val="212121"/>
                </a:solidFill>
              </a:rPr>
              <a:t>You have a project due in 2 weeks and don't understand the requirements.</a:t>
            </a:r>
          </a:p>
        </p:txBody>
      </p:sp>
      <p:sp>
        <p:nvSpPr>
          <p:cNvPr id="16" name="Rectangle 15"/>
          <p:cNvSpPr/>
          <p:nvPr/>
        </p:nvSpPr>
        <p:spPr>
          <a:xfrm>
            <a:off x="228600" y="4434840"/>
            <a:ext cx="8686800" cy="50292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489703"/>
            <a:ext cx="1371600" cy="347472"/>
          </a:xfrm>
          <a:prstGeom prst="rect">
            <a:avLst/>
          </a:prstGeom>
          <a:noFill/>
        </p:spPr>
        <p:txBody>
          <a:bodyPr wrap="square">
            <a:spAutoFit/>
          </a:bodyPr>
          <a:lstStyle/>
          <a:p>
            <a:pPr algn="l"/>
            <a:r>
              <a:rPr sz="1000" b="1" i="0">
                <a:solidFill>
                  <a:srgbClr val="337F3F"/>
                </a:solidFill>
              </a:rPr>
              <a:t>Scenario 3:</a:t>
            </a:r>
          </a:p>
        </p:txBody>
      </p:sp>
      <p:sp>
        <p:nvSpPr>
          <p:cNvPr id="18" name="TextBox 17"/>
          <p:cNvSpPr txBox="1"/>
          <p:nvPr/>
        </p:nvSpPr>
        <p:spPr>
          <a:xfrm>
            <a:off x="1737360" y="4526279"/>
            <a:ext cx="7040880" cy="347472"/>
          </a:xfrm>
          <a:prstGeom prst="rect">
            <a:avLst/>
          </a:prstGeom>
          <a:noFill/>
        </p:spPr>
        <p:txBody>
          <a:bodyPr wrap="square">
            <a:spAutoFit/>
          </a:bodyPr>
          <a:lstStyle/>
          <a:p>
            <a:pPr algn="l"/>
            <a:r>
              <a:rPr sz="1050" b="0" i="0">
                <a:solidFill>
                  <a:srgbClr val="212121"/>
                </a:solidFill>
              </a:rPr>
              <a:t>You missed class and need to catch up on notes.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3.4: Managing Long-Term Projects &amp; Self-Advocacy</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Synthesis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Look back at Units 1, 2, and 3. Choose ONE skill from EACH unit that you think will be most important for your success in 9th grade. Write a paragraph (5–7 sentences) explaining your three choices and how they connect to each other.</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337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3 Post-Test  —  How Far Have You Come?</a:t>
            </a:r>
          </a:p>
        </p:txBody>
      </p:sp>
      <p:sp>
        <p:nvSpPr>
          <p:cNvPr id="4" name="TextBox 3"/>
          <p:cNvSpPr txBox="1"/>
          <p:nvPr/>
        </p:nvSpPr>
        <p:spPr>
          <a:xfrm>
            <a:off x="274320" y="640080"/>
            <a:ext cx="8595360" cy="2286000"/>
          </a:xfrm>
          <a:prstGeom prst="rect">
            <a:avLst/>
          </a:prstGeom>
          <a:noFill/>
        </p:spPr>
        <p:txBody>
          <a:bodyPr wrap="square">
            <a:spAutoFit/>
          </a:bodyPr>
          <a:lstStyle/>
          <a:p>
            <a:pPr algn="l"/>
            <a:r>
              <a:rPr sz="1250" b="0" i="0">
                <a:solidFill>
                  <a:srgbClr val="212121"/>
                </a:solidFill>
              </a:rPr>
              <a:t>Revisit your pre-test responses. Rewrite your answer to Question 3 (how you study for a test) using at least three strategies from this unit. Then write a paragraph describing how your approach to reading or writing has changed as a result of this unit.</a:t>
            </a:r>
          </a:p>
        </p:txBody>
      </p:sp>
      <p:sp>
        <p:nvSpPr>
          <p:cNvPr id="5" name="Rectangle 4"/>
          <p:cNvSpPr/>
          <p:nvPr/>
        </p:nvSpPr>
        <p:spPr>
          <a:xfrm>
            <a:off x="228600" y="3063240"/>
            <a:ext cx="8686800" cy="65836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3145536"/>
            <a:ext cx="8412480" cy="502920"/>
          </a:xfrm>
          <a:prstGeom prst="rect">
            <a:avLst/>
          </a:prstGeom>
          <a:noFill/>
        </p:spPr>
        <p:txBody>
          <a:bodyPr wrap="square">
            <a:spAutoFit/>
          </a:bodyPr>
          <a:lstStyle/>
          <a:p>
            <a:pPr algn="l"/>
            <a:r>
              <a:rPr sz="1100" b="0" i="1">
                <a:solidFill>
                  <a:srgbClr val="212121"/>
                </a:solidFill>
              </a:rPr>
              <a:t>TIP: Your Cornell Notes are your best resource. Use the vocabulary, the key ideas from the readings, and the activities from this unit to write a thorough, specific response.</a:t>
            </a:r>
          </a:p>
        </p:txBody>
      </p:sp>
      <p:sp>
        <p:nvSpPr>
          <p:cNvPr id="7" name="Rectangle 6"/>
          <p:cNvSpPr/>
          <p:nvPr/>
        </p:nvSpPr>
        <p:spPr>
          <a:xfrm>
            <a:off x="228600" y="3886200"/>
            <a:ext cx="8686800" cy="5029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950208"/>
            <a:ext cx="8412480" cy="384048"/>
          </a:xfrm>
          <a:prstGeom prst="rect">
            <a:avLst/>
          </a:prstGeom>
          <a:noFill/>
        </p:spPr>
        <p:txBody>
          <a:bodyPr wrap="square">
            <a:spAutoFit/>
          </a:bodyPr>
          <a:lstStyle/>
          <a:p>
            <a:pPr algn="l"/>
            <a:r>
              <a:rPr sz="1100" b="1" i="0">
                <a:solidFill>
                  <a:srgbClr val="212121"/>
                </a:solidFill>
              </a:rPr>
              <a:t>Growth Check: Compare your post-test to your pre-test. Circle 3 specific things you know now that you did not know at the start of this unit.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7F3F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8229600" cy="502920"/>
          </a:xfrm>
          <a:prstGeom prst="rect">
            <a:avLst/>
          </a:prstGeom>
          <a:noFill/>
        </p:spPr>
        <p:txBody>
          <a:bodyPr wrap="square">
            <a:spAutoFit/>
          </a:bodyPr>
          <a:lstStyle/>
          <a:p>
            <a:pPr algn="l"/>
            <a:r>
              <a:rPr sz="2000" b="0" i="0">
                <a:solidFill>
                  <a:srgbClr val="F5E0B2"/>
                </a:solidFill>
              </a:rPr>
              <a:t>UNIT 4</a:t>
            </a:r>
          </a:p>
        </p:txBody>
      </p:sp>
      <p:sp>
        <p:nvSpPr>
          <p:cNvPr id="5" name="TextBox 4"/>
          <p:cNvSpPr txBox="1"/>
          <p:nvPr/>
        </p:nvSpPr>
        <p:spPr>
          <a:xfrm>
            <a:off x="457200" y="1234440"/>
            <a:ext cx="8229600" cy="1188720"/>
          </a:xfrm>
          <a:prstGeom prst="rect">
            <a:avLst/>
          </a:prstGeom>
          <a:noFill/>
        </p:spPr>
        <p:txBody>
          <a:bodyPr wrap="square">
            <a:spAutoFit/>
          </a:bodyPr>
          <a:lstStyle/>
          <a:p>
            <a:pPr algn="l"/>
            <a:r>
              <a:rPr sz="3800" b="1" i="0">
                <a:solidFill>
                  <a:srgbClr val="FFFFFF"/>
                </a:solidFill>
              </a:rPr>
              <a:t>My 9th Grade Year Plan</a:t>
            </a:r>
          </a:p>
        </p:txBody>
      </p:sp>
      <p:sp>
        <p:nvSpPr>
          <p:cNvPr id="6" name="Rectangle 5"/>
          <p:cNvSpPr/>
          <p:nvPr/>
        </p:nvSpPr>
        <p:spPr>
          <a:xfrm>
            <a:off x="457200" y="2514600"/>
            <a:ext cx="4114800" cy="457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697480"/>
            <a:ext cx="8229600" cy="1828800"/>
          </a:xfrm>
          <a:prstGeom prst="rect">
            <a:avLst/>
          </a:prstGeom>
          <a:noFill/>
        </p:spPr>
        <p:txBody>
          <a:bodyPr wrap="square">
            <a:spAutoFit/>
          </a:bodyPr>
          <a:lstStyle/>
          <a:p>
            <a:pPr algn="l"/>
            <a:r>
              <a:rPr sz="1400" b="0" i="0">
                <a:solidFill>
                  <a:srgbClr val="FFFFFF"/>
                </a:solidFill>
              </a:rPr>
              <a:t>In this unit you will use the Two Rivers Academic Planning Guide to build a realistic, personalized plan for your 9th grade year. You will draft a course schedule, map out your time outside of school, explore activities and athletics, and create a daily time management plan that reflects who you are and what you want to accomplish.</a:t>
            </a:r>
          </a:p>
        </p:txBody>
      </p:sp>
      <p:sp>
        <p:nvSpPr>
          <p:cNvPr id="8" name="TextBox 7"/>
          <p:cNvSpPr txBox="1"/>
          <p:nvPr/>
        </p:nvSpPr>
        <p:spPr>
          <a:xfrm>
            <a:off x="457200" y="4663440"/>
            <a:ext cx="8229600" cy="347472"/>
          </a:xfrm>
          <a:prstGeom prst="rect">
            <a:avLst/>
          </a:prstGeom>
          <a:noFill/>
        </p:spPr>
        <p:txBody>
          <a:bodyPr wrap="square">
            <a:spAutoFit/>
          </a:bodyPr>
          <a:lstStyle/>
          <a:p>
            <a:pPr algn="l"/>
            <a:r>
              <a:rPr sz="1300" b="1" i="0">
                <a:solidFill>
                  <a:srgbClr val="F5E0B2"/>
                </a:solidFill>
              </a:rPr>
              <a:t>Unit Vocabulary</a:t>
            </a:r>
          </a:p>
        </p:txBody>
      </p:sp>
      <p:sp>
        <p:nvSpPr>
          <p:cNvPr id="9" name="TextBox 8"/>
          <p:cNvSpPr txBox="1"/>
          <p:nvPr/>
        </p:nvSpPr>
        <p:spPr>
          <a:xfrm>
            <a:off x="457200" y="5074920"/>
            <a:ext cx="8503920" cy="384048"/>
          </a:xfrm>
          <a:prstGeom prst="rect">
            <a:avLst/>
          </a:prstGeom>
          <a:noFill/>
        </p:spPr>
        <p:txBody>
          <a:bodyPr wrap="square">
            <a:spAutoFit/>
          </a:bodyPr>
          <a:lstStyle/>
          <a:p>
            <a:pPr algn="l"/>
            <a:r>
              <a:rPr sz="950" b="0" i="0">
                <a:solidFill>
                  <a:srgbClr val="FFFFFF"/>
                </a:solidFill>
              </a:rPr>
              <a:t>• Prerequisite  —  A course or requirement that must be completed before a student can enroll in a more advanced course.</a:t>
            </a:r>
          </a:p>
        </p:txBody>
      </p:sp>
      <p:sp>
        <p:nvSpPr>
          <p:cNvPr id="10" name="TextBox 9"/>
          <p:cNvSpPr txBox="1"/>
          <p:nvPr/>
        </p:nvSpPr>
        <p:spPr>
          <a:xfrm>
            <a:off x="457200" y="5477256"/>
            <a:ext cx="8503920" cy="384048"/>
          </a:xfrm>
          <a:prstGeom prst="rect">
            <a:avLst/>
          </a:prstGeom>
          <a:noFill/>
        </p:spPr>
        <p:txBody>
          <a:bodyPr wrap="square">
            <a:spAutoFit/>
          </a:bodyPr>
          <a:lstStyle/>
          <a:p>
            <a:pPr algn="l"/>
            <a:r>
              <a:rPr sz="950" b="0" i="0">
                <a:solidFill>
                  <a:srgbClr val="FFFFFF"/>
                </a:solidFill>
              </a:rPr>
              <a:t>• Credit  —  A unit of academic achievement; at TRHS, a semester-long course typically earns 0.5 credits, and a full-year course earns 1 credit.</a:t>
            </a:r>
          </a:p>
        </p:txBody>
      </p:sp>
      <p:sp>
        <p:nvSpPr>
          <p:cNvPr id="11" name="TextBox 10"/>
          <p:cNvSpPr txBox="1"/>
          <p:nvPr/>
        </p:nvSpPr>
        <p:spPr>
          <a:xfrm>
            <a:off x="457200" y="5879592"/>
            <a:ext cx="8503920" cy="384048"/>
          </a:xfrm>
          <a:prstGeom prst="rect">
            <a:avLst/>
          </a:prstGeom>
          <a:noFill/>
        </p:spPr>
        <p:txBody>
          <a:bodyPr wrap="square">
            <a:spAutoFit/>
          </a:bodyPr>
          <a:lstStyle/>
          <a:p>
            <a:pPr algn="l"/>
            <a:r>
              <a:rPr sz="950" b="0" i="0">
                <a:solidFill>
                  <a:srgbClr val="FFFFFF"/>
                </a:solidFill>
              </a:rPr>
              <a:t>• GPA (Grade Point Average)  —  A number (on a 4.0 scale at TRHS) that represents your average grade across all courses. Weighted courses can earn up to 4.8.</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4 Vocabulary — Etymology &amp; Meaning</a:t>
            </a:r>
          </a:p>
        </p:txBody>
      </p:sp>
      <p:sp>
        <p:nvSpPr>
          <p:cNvPr id="4" name="Rectangle 3"/>
          <p:cNvSpPr/>
          <p:nvPr/>
        </p:nvSpPr>
        <p:spPr>
          <a:xfrm>
            <a:off x="228600" y="59436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30936"/>
            <a:ext cx="2743200" cy="347472"/>
          </a:xfrm>
          <a:prstGeom prst="rect">
            <a:avLst/>
          </a:prstGeom>
          <a:noFill/>
        </p:spPr>
        <p:txBody>
          <a:bodyPr wrap="square">
            <a:spAutoFit/>
          </a:bodyPr>
          <a:lstStyle/>
          <a:p>
            <a:pPr algn="l"/>
            <a:r>
              <a:rPr sz="1300" b="1" i="0">
                <a:solidFill>
                  <a:srgbClr val="7F3F99"/>
                </a:solidFill>
              </a:rPr>
              <a:t>Prerequisite</a:t>
            </a:r>
          </a:p>
        </p:txBody>
      </p:sp>
      <p:sp>
        <p:nvSpPr>
          <p:cNvPr id="6" name="TextBox 5"/>
          <p:cNvSpPr txBox="1"/>
          <p:nvPr/>
        </p:nvSpPr>
        <p:spPr>
          <a:xfrm>
            <a:off x="320040" y="1005840"/>
            <a:ext cx="4114800" cy="320040"/>
          </a:xfrm>
          <a:prstGeom prst="rect">
            <a:avLst/>
          </a:prstGeom>
          <a:noFill/>
        </p:spPr>
        <p:txBody>
          <a:bodyPr wrap="square">
            <a:spAutoFit/>
          </a:bodyPr>
          <a:lstStyle/>
          <a:p>
            <a:pPr algn="l"/>
            <a:r>
              <a:rPr sz="900" b="0" i="1">
                <a:solidFill>
                  <a:srgbClr val="888888"/>
                </a:solidFill>
              </a:rPr>
              <a:t>⬅ Latin prae (before) + requirere (to need, to seek) — something required before you can proceed</a:t>
            </a:r>
          </a:p>
        </p:txBody>
      </p:sp>
      <p:sp>
        <p:nvSpPr>
          <p:cNvPr id="7" name="TextBox 6"/>
          <p:cNvSpPr txBox="1"/>
          <p:nvPr/>
        </p:nvSpPr>
        <p:spPr>
          <a:xfrm>
            <a:off x="3200400" y="685800"/>
            <a:ext cx="5577840" cy="594360"/>
          </a:xfrm>
          <a:prstGeom prst="rect">
            <a:avLst/>
          </a:prstGeom>
          <a:noFill/>
        </p:spPr>
        <p:txBody>
          <a:bodyPr wrap="square">
            <a:spAutoFit/>
          </a:bodyPr>
          <a:lstStyle/>
          <a:p>
            <a:pPr algn="l"/>
            <a:r>
              <a:rPr sz="1100" b="0" i="0">
                <a:solidFill>
                  <a:srgbClr val="212121"/>
                </a:solidFill>
              </a:rPr>
              <a:t>A course or requirement that must be completed before a student can enroll in a more advanced course.</a:t>
            </a:r>
          </a:p>
        </p:txBody>
      </p:sp>
      <p:sp>
        <p:nvSpPr>
          <p:cNvPr id="8" name="Rectangle 7"/>
          <p:cNvSpPr/>
          <p:nvPr/>
        </p:nvSpPr>
        <p:spPr>
          <a:xfrm>
            <a:off x="228600" y="146304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9616"/>
            <a:ext cx="2743200" cy="347472"/>
          </a:xfrm>
          <a:prstGeom prst="rect">
            <a:avLst/>
          </a:prstGeom>
          <a:noFill/>
        </p:spPr>
        <p:txBody>
          <a:bodyPr wrap="square">
            <a:spAutoFit/>
          </a:bodyPr>
          <a:lstStyle/>
          <a:p>
            <a:pPr algn="l"/>
            <a:r>
              <a:rPr sz="1300" b="1" i="0">
                <a:solidFill>
                  <a:srgbClr val="7F3F99"/>
                </a:solidFill>
              </a:rPr>
              <a:t>Credit</a:t>
            </a:r>
          </a:p>
        </p:txBody>
      </p:sp>
      <p:sp>
        <p:nvSpPr>
          <p:cNvPr id="10" name="TextBox 9"/>
          <p:cNvSpPr txBox="1"/>
          <p:nvPr/>
        </p:nvSpPr>
        <p:spPr>
          <a:xfrm>
            <a:off x="320040" y="1874520"/>
            <a:ext cx="4114800" cy="320040"/>
          </a:xfrm>
          <a:prstGeom prst="rect">
            <a:avLst/>
          </a:prstGeom>
          <a:noFill/>
        </p:spPr>
        <p:txBody>
          <a:bodyPr wrap="square">
            <a:spAutoFit/>
          </a:bodyPr>
          <a:lstStyle/>
          <a:p>
            <a:pPr algn="l"/>
            <a:r>
              <a:rPr sz="900" b="0" i="1">
                <a:solidFill>
                  <a:srgbClr val="888888"/>
                </a:solidFill>
              </a:rPr>
              <a:t>⬅ Latin creditum (something entrusted) — from credere (to believe, to trust)</a:t>
            </a:r>
          </a:p>
        </p:txBody>
      </p:sp>
      <p:sp>
        <p:nvSpPr>
          <p:cNvPr id="11" name="TextBox 10"/>
          <p:cNvSpPr txBox="1"/>
          <p:nvPr/>
        </p:nvSpPr>
        <p:spPr>
          <a:xfrm>
            <a:off x="3200400" y="1554480"/>
            <a:ext cx="5577840" cy="594360"/>
          </a:xfrm>
          <a:prstGeom prst="rect">
            <a:avLst/>
          </a:prstGeom>
          <a:noFill/>
        </p:spPr>
        <p:txBody>
          <a:bodyPr wrap="square">
            <a:spAutoFit/>
          </a:bodyPr>
          <a:lstStyle/>
          <a:p>
            <a:pPr algn="l"/>
            <a:r>
              <a:rPr sz="1100" b="0" i="0">
                <a:solidFill>
                  <a:srgbClr val="212121"/>
                </a:solidFill>
              </a:rPr>
              <a:t>A unit of academic achievement; at TRHS, a semester-long course typically earns 0.5 credits, and a full-year course earns 1 credit.</a:t>
            </a:r>
          </a:p>
        </p:txBody>
      </p:sp>
      <p:sp>
        <p:nvSpPr>
          <p:cNvPr id="12" name="Rectangle 11"/>
          <p:cNvSpPr/>
          <p:nvPr/>
        </p:nvSpPr>
        <p:spPr>
          <a:xfrm>
            <a:off x="228600" y="233172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368296"/>
            <a:ext cx="2743200" cy="347472"/>
          </a:xfrm>
          <a:prstGeom prst="rect">
            <a:avLst/>
          </a:prstGeom>
          <a:noFill/>
        </p:spPr>
        <p:txBody>
          <a:bodyPr wrap="square">
            <a:spAutoFit/>
          </a:bodyPr>
          <a:lstStyle/>
          <a:p>
            <a:pPr algn="l"/>
            <a:r>
              <a:rPr sz="1300" b="1" i="0">
                <a:solidFill>
                  <a:srgbClr val="7F3F99"/>
                </a:solidFill>
              </a:rPr>
              <a:t>GPA (Grade Point Average)</a:t>
            </a:r>
          </a:p>
        </p:txBody>
      </p:sp>
      <p:sp>
        <p:nvSpPr>
          <p:cNvPr id="14" name="TextBox 13"/>
          <p:cNvSpPr txBox="1"/>
          <p:nvPr/>
        </p:nvSpPr>
        <p:spPr>
          <a:xfrm>
            <a:off x="320040" y="2743200"/>
            <a:ext cx="4114800" cy="320040"/>
          </a:xfrm>
          <a:prstGeom prst="rect">
            <a:avLst/>
          </a:prstGeom>
          <a:noFill/>
        </p:spPr>
        <p:txBody>
          <a:bodyPr wrap="square">
            <a:spAutoFit/>
          </a:bodyPr>
          <a:lstStyle/>
          <a:p>
            <a:pPr algn="l"/>
            <a:r>
              <a:rPr sz="900" b="0" i="1">
                <a:solidFill>
                  <a:srgbClr val="888888"/>
                </a:solidFill>
              </a:rPr>
              <a:t>⬅ Latin gradus (step, rank) + Medieval Latin punctum (point) — an average of your academic performance</a:t>
            </a:r>
          </a:p>
        </p:txBody>
      </p:sp>
      <p:sp>
        <p:nvSpPr>
          <p:cNvPr id="15" name="TextBox 14"/>
          <p:cNvSpPr txBox="1"/>
          <p:nvPr/>
        </p:nvSpPr>
        <p:spPr>
          <a:xfrm>
            <a:off x="3200400" y="2423160"/>
            <a:ext cx="5577840" cy="594360"/>
          </a:xfrm>
          <a:prstGeom prst="rect">
            <a:avLst/>
          </a:prstGeom>
          <a:noFill/>
        </p:spPr>
        <p:txBody>
          <a:bodyPr wrap="square">
            <a:spAutoFit/>
          </a:bodyPr>
          <a:lstStyle/>
          <a:p>
            <a:pPr algn="l"/>
            <a:r>
              <a:rPr sz="1100" b="0" i="0">
                <a:solidFill>
                  <a:srgbClr val="212121"/>
                </a:solidFill>
              </a:rPr>
              <a:t>A number (on a 4.0 scale at TRHS) that represents your average grade across all courses. Weighted courses can earn up to 4.8.</a:t>
            </a:r>
          </a:p>
        </p:txBody>
      </p:sp>
      <p:sp>
        <p:nvSpPr>
          <p:cNvPr id="16" name="Rectangle 15"/>
          <p:cNvSpPr/>
          <p:nvPr/>
        </p:nvSpPr>
        <p:spPr>
          <a:xfrm>
            <a:off x="228600" y="320040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236976"/>
            <a:ext cx="2743200" cy="347472"/>
          </a:xfrm>
          <a:prstGeom prst="rect">
            <a:avLst/>
          </a:prstGeom>
          <a:noFill/>
        </p:spPr>
        <p:txBody>
          <a:bodyPr wrap="square">
            <a:spAutoFit/>
          </a:bodyPr>
          <a:lstStyle/>
          <a:p>
            <a:pPr algn="l"/>
            <a:r>
              <a:rPr sz="1300" b="1" i="0">
                <a:solidFill>
                  <a:srgbClr val="7F3F99"/>
                </a:solidFill>
              </a:rPr>
              <a:t>Elective</a:t>
            </a:r>
          </a:p>
        </p:txBody>
      </p:sp>
      <p:sp>
        <p:nvSpPr>
          <p:cNvPr id="18" name="TextBox 17"/>
          <p:cNvSpPr txBox="1"/>
          <p:nvPr/>
        </p:nvSpPr>
        <p:spPr>
          <a:xfrm>
            <a:off x="320040" y="3611880"/>
            <a:ext cx="4114800" cy="320040"/>
          </a:xfrm>
          <a:prstGeom prst="rect">
            <a:avLst/>
          </a:prstGeom>
          <a:noFill/>
        </p:spPr>
        <p:txBody>
          <a:bodyPr wrap="square">
            <a:spAutoFit/>
          </a:bodyPr>
          <a:lstStyle/>
          <a:p>
            <a:pPr algn="l"/>
            <a:r>
              <a:rPr sz="900" b="0" i="1">
                <a:solidFill>
                  <a:srgbClr val="888888"/>
                </a:solidFill>
              </a:rPr>
              <a:t>⬅ Latin electus (chosen, selected) — from eligere (to choose, to pick out)</a:t>
            </a:r>
          </a:p>
        </p:txBody>
      </p:sp>
      <p:sp>
        <p:nvSpPr>
          <p:cNvPr id="19" name="TextBox 18"/>
          <p:cNvSpPr txBox="1"/>
          <p:nvPr/>
        </p:nvSpPr>
        <p:spPr>
          <a:xfrm>
            <a:off x="3200400" y="3291840"/>
            <a:ext cx="5577840" cy="594360"/>
          </a:xfrm>
          <a:prstGeom prst="rect">
            <a:avLst/>
          </a:prstGeom>
          <a:noFill/>
        </p:spPr>
        <p:txBody>
          <a:bodyPr wrap="square">
            <a:spAutoFit/>
          </a:bodyPr>
          <a:lstStyle/>
          <a:p>
            <a:pPr algn="l"/>
            <a:r>
              <a:rPr sz="1100" b="0" i="0">
                <a:solidFill>
                  <a:srgbClr val="212121"/>
                </a:solidFill>
              </a:rPr>
              <a:t>A course that a student chooses based on personal interest; not required for graduation but counts toward total credits.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4 Pre-Test  —  What Do You Already Know?</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each question honestly in your workbook. This is NOT graded for correctness.</a:t>
            </a:r>
          </a:p>
        </p:txBody>
      </p:sp>
      <p:sp>
        <p:nvSpPr>
          <p:cNvPr id="6" name="TextBox 5"/>
          <p:cNvSpPr txBox="1"/>
          <p:nvPr/>
        </p:nvSpPr>
        <p:spPr>
          <a:xfrm>
            <a:off x="274320" y="1005840"/>
            <a:ext cx="8595360" cy="475488"/>
          </a:xfrm>
          <a:prstGeom prst="rect">
            <a:avLst/>
          </a:prstGeom>
          <a:noFill/>
        </p:spPr>
        <p:txBody>
          <a:bodyPr wrap="square">
            <a:spAutoFit/>
          </a:bodyPr>
          <a:lstStyle/>
          <a:p>
            <a:pPr algn="l"/>
            <a:r>
              <a:rPr sz="1200" b="0" i="0">
                <a:solidFill>
                  <a:srgbClr val="212121"/>
                </a:solidFill>
              </a:rPr>
              <a:t>1.  Name THREE courses you know you will be required to take in 9th grade at TRHS.</a:t>
            </a:r>
          </a:p>
        </p:txBody>
      </p:sp>
      <p:sp>
        <p:nvSpPr>
          <p:cNvPr id="7" name="TextBox 6"/>
          <p:cNvSpPr txBox="1"/>
          <p:nvPr/>
        </p:nvSpPr>
        <p:spPr>
          <a:xfrm>
            <a:off x="274320" y="1517904"/>
            <a:ext cx="8595360" cy="475488"/>
          </a:xfrm>
          <a:prstGeom prst="rect">
            <a:avLst/>
          </a:prstGeom>
          <a:noFill/>
        </p:spPr>
        <p:txBody>
          <a:bodyPr wrap="square">
            <a:spAutoFit/>
          </a:bodyPr>
          <a:lstStyle/>
          <a:p>
            <a:pPr algn="l"/>
            <a:r>
              <a:rPr sz="1200" b="0" i="0">
                <a:solidFill>
                  <a:srgbClr val="212121"/>
                </a:solidFill>
              </a:rPr>
              <a:t>2.  What is a GPA and how is it calculated?</a:t>
            </a:r>
          </a:p>
        </p:txBody>
      </p:sp>
      <p:sp>
        <p:nvSpPr>
          <p:cNvPr id="8" name="TextBox 7"/>
          <p:cNvSpPr txBox="1"/>
          <p:nvPr/>
        </p:nvSpPr>
        <p:spPr>
          <a:xfrm>
            <a:off x="274320" y="2029968"/>
            <a:ext cx="8595360" cy="475488"/>
          </a:xfrm>
          <a:prstGeom prst="rect">
            <a:avLst/>
          </a:prstGeom>
          <a:noFill/>
        </p:spPr>
        <p:txBody>
          <a:bodyPr wrap="square">
            <a:spAutoFit/>
          </a:bodyPr>
          <a:lstStyle/>
          <a:p>
            <a:pPr algn="l"/>
            <a:r>
              <a:rPr sz="1200" b="0" i="0">
                <a:solidFill>
                  <a:srgbClr val="212121"/>
                </a:solidFill>
              </a:rPr>
              <a:t>3.  List any activities, clubs, or sports you are considering joining in high school.</a:t>
            </a:r>
          </a:p>
        </p:txBody>
      </p:sp>
      <p:sp>
        <p:nvSpPr>
          <p:cNvPr id="9" name="TextBox 8"/>
          <p:cNvSpPr txBox="1"/>
          <p:nvPr/>
        </p:nvSpPr>
        <p:spPr>
          <a:xfrm>
            <a:off x="274320" y="2542032"/>
            <a:ext cx="8595360" cy="475488"/>
          </a:xfrm>
          <a:prstGeom prst="rect">
            <a:avLst/>
          </a:prstGeom>
          <a:noFill/>
        </p:spPr>
        <p:txBody>
          <a:bodyPr wrap="square">
            <a:spAutoFit/>
          </a:bodyPr>
          <a:lstStyle/>
          <a:p>
            <a:pPr algn="l"/>
            <a:r>
              <a:rPr sz="1200" b="0" i="0">
                <a:solidFill>
                  <a:srgbClr val="212121"/>
                </a:solidFill>
              </a:rPr>
              <a:t>4.  How many hours per night do you currently spend on homework? How many do you think you will need in high school?</a:t>
            </a:r>
          </a:p>
        </p:txBody>
      </p:sp>
      <p:sp>
        <p:nvSpPr>
          <p:cNvPr id="10" name="TextBox 9"/>
          <p:cNvSpPr txBox="1"/>
          <p:nvPr/>
        </p:nvSpPr>
        <p:spPr>
          <a:xfrm>
            <a:off x="274320" y="3054096"/>
            <a:ext cx="8595360" cy="475488"/>
          </a:xfrm>
          <a:prstGeom prst="rect">
            <a:avLst/>
          </a:prstGeom>
          <a:noFill/>
        </p:spPr>
        <p:txBody>
          <a:bodyPr wrap="square">
            <a:spAutoFit/>
          </a:bodyPr>
          <a:lstStyle/>
          <a:p>
            <a:pPr algn="l"/>
            <a:r>
              <a:rPr sz="1200" b="0" i="0">
                <a:solidFill>
                  <a:srgbClr val="212121"/>
                </a:solidFill>
              </a:rPr>
              <a:t>5.  What does it mean to 'plan your time'? What strategies do you currently use?</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4.1  ·  5 minutes</a:t>
            </a:r>
          </a:p>
        </p:txBody>
      </p:sp>
      <p:sp>
        <p:nvSpPr>
          <p:cNvPr id="7" name="Rectangle 6"/>
          <p:cNvSpPr/>
          <p:nvPr/>
        </p:nvSpPr>
        <p:spPr>
          <a:xfrm>
            <a:off x="228600" y="868680"/>
            <a:ext cx="1463040" cy="329184"/>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LAUNCH</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What Do You Actually Know About Graduation?</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Without looking anything up — answer as specifically as you can:
1. How many total credits do you need to graduate from Two Rivers? ___
2. Name one course that is REQUIRED for every student: ___________________
3. What is the difference between required courses and electives?</a:t>
            </a:r>
          </a:p>
        </p:txBody>
      </p:sp>
      <p:sp>
        <p:nvSpPr>
          <p:cNvPr id="13" name="Rectangle 12"/>
          <p:cNvSpPr/>
          <p:nvPr/>
        </p:nvSpPr>
        <p:spPr>
          <a:xfrm>
            <a:off x="228600" y="4919472"/>
            <a:ext cx="8686800" cy="47548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Table share → answers revealed after everyone commits</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4.1  |  Unit 4: My 9th Grade Year Plan</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Reading the Academic Planning Guide</a:t>
            </a:r>
          </a:p>
        </p:txBody>
      </p:sp>
      <p:sp>
        <p:nvSpPr>
          <p:cNvPr id="6" name="Rectangle 5"/>
          <p:cNvSpPr/>
          <p:nvPr/>
        </p:nvSpPr>
        <p:spPr>
          <a:xfrm>
            <a:off x="182880" y="1024128"/>
            <a:ext cx="8778240" cy="329184"/>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Locate and summarize graduation requirements for the Class of 2029 and beyond.</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Explain the difference between required courses, electives, and CAPS experiences.</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Identify which 9th grade courses are required and which are student-choice.</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7F3F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7F3F99"/>
                </a:solidFill>
              </a:rPr>
              <a:t>Prerequisite</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prae (before) + requirere (to need, to seek)</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course that must be completed before enrolling in a more advanced one — your entry ticket to the next level.</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572000"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961888" y="5623560"/>
            <a:ext cx="2084831"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715000"/>
            <a:ext cx="2011679" cy="320040"/>
          </a:xfrm>
          <a:prstGeom prst="rect">
            <a:avLst/>
          </a:prstGeom>
          <a:noFill/>
        </p:spPr>
        <p:txBody>
          <a:bodyPr wrap="square">
            <a:spAutoFit/>
          </a:bodyPr>
          <a:lstStyle/>
          <a:p>
            <a:pPr algn="ctr"/>
            <a:r>
              <a:rPr sz="1100" b="1" i="0">
                <a:solidFill>
                  <a:srgbClr val="FFFFFF"/>
                </a:solidFill>
              </a:rPr>
              <a:t>12</a:t>
            </a:r>
          </a:p>
        </p:txBody>
      </p:sp>
      <p:sp>
        <p:nvSpPr>
          <p:cNvPr id="36" name="TextBox 35"/>
          <p:cNvSpPr txBox="1"/>
          <p:nvPr/>
        </p:nvSpPr>
        <p:spPr>
          <a:xfrm>
            <a:off x="5961888" y="6163056"/>
            <a:ext cx="2084831"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19"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5"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19"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3 — Light scaffold (guiding questions only)</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7F3F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Reading the Map: Understanding Graduation Requirements and Course Pathways</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the TRHS 2026-27 Academic Planning Guide and college readiness research</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Reading the Map: Understanding Graduation Requirements and Course Pathways  (p. 1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At Two Rivers High School, graduating is not just about showing up for four years. It
requires earning 23 specific credits, including credits in Language Arts, Social
Studies, Mathematics (through Algebra II at minimum), Science (Earth &amp; Space Science,
Biology, and Chemistry or Physics), Physical Education and Health, the Arts, Personal
Finance, and Warrior Seminar. This sounds like a lot — because it is. But it is also
carefully designed to give every student a broad foundation before they specialize.</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graduation plan is organized around 7 class periods per day. In 9th grade, students
entering in the Class of 2029 or later will take: Language Arts 9 (or Advanced Language
Arts 9), Human Geography &amp; Ethnic Studies (or AP Human Geography), Math (wherever they
are in the math sequence), Earth &amp; Space Science (or AP Environmental Science), and
Warrior Seminar. That accounts for 5 required courses. That leaves 2 slots per semester
for student-choice electives — and those elective slots are where your 9th grade year
becomes personal.</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Reading the Map: Understanding Graduation Requirements and Course Pathways  (p. 2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Before selecting electives, students must understand two important concepts. First,
prerequisites: many courses can only be taken after completing an earlier course. You
cannot take AP Biology before Biology, or Woodworking II before Woodworking I. This
means 9th grade choices have real consequences for 10th grade options. If you want to
take CADD in 10th grade, you need to start in 9th. If you want to pursue the music
pathway, starting in 9th grade ensures you can reach the advanced ensembles before
graduation.</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Second, students must understand the difference between general, advanced, and honors
pathways. Two Rivers offers most required courses at two or three levels. Language Arts
9 is the general track; Advanced Language Arts 9 is the enriched track; AP courses are
college-level. Choosing a higher-level course is not just about difficulty — it is about
being challenged in a way that prepares you for what comes next. Research consistently
shows that students who take rigorous courses in high school are better prepared for
college, even if their grades in those courses are not perfect.</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'Reading the Map: Understanding Graduation Requirements and Course Pathways'</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7F3F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are the subject areas required for graduation from Two Rivers? List them all and note how
many credits each requires.</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7F3F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In 9th grade (Class of 2029+), which courses are required? How many elective slots does a 9th
grader have?</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7F3F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is a prerequisite and why does it matter when you are planning your 9th grade schedule?</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7F3F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'students who take rigorous courses in high school are better prepared for
college, even if their grades are not perfect.' What does this imply about how you should
choose your courses?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7F3F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Using the Academic Planning Guide, list three electives you could realistically take in 9th
grade that connect to your career interests from Unit 2. Check their prerequisites.</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4.1</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High School 101 — What You Need to Know Before 9th Grade</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College Board  ·  approx. 5 min</a:t>
            </a:r>
          </a:p>
        </p:txBody>
      </p:sp>
      <p:sp>
        <p:nvSpPr>
          <p:cNvPr id="9" name="Rectangle 8"/>
          <p:cNvSpPr/>
          <p:nvPr/>
        </p:nvSpPr>
        <p:spPr>
          <a:xfrm>
            <a:off x="365760" y="2377440"/>
            <a:ext cx="8412480" cy="2743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7F3F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Write down TWO things they mention that you hadn't thought about yet.</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"How GPA Works — Explained for Students"  |  WhatsUpDude</a:t>
            </a:r>
          </a:p>
        </p:txBody>
      </p:sp>
      <p:sp>
        <p:nvSpPr>
          <p:cNvPr id="16" name="Rectangle 15">
            <a:hlinkClick r:id="rId3"/>
          </p:cNvPr>
          <p:cNvSpPr/>
          <p:nvPr/>
        </p:nvSpPr>
        <p:spPr>
          <a:xfrm>
            <a:off x="2743200" y="4480560"/>
            <a:ext cx="3657600" cy="7498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"Twenty-Two Credits"  —  Lesson 4.1</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The counselor had them add up their graduation credits.</a:t>
            </a:r>
          </a:p>
        </p:txBody>
      </p:sp>
      <p:sp>
        <p:nvSpPr>
          <p:cNvPr id="7" name="TextBox 6"/>
          <p:cNvSpPr txBox="1"/>
          <p:nvPr/>
        </p:nvSpPr>
        <p:spPr>
          <a:xfrm>
            <a:off x="228600" y="1133856"/>
            <a:ext cx="8686800" cy="649224"/>
          </a:xfrm>
          <a:prstGeom prst="rect">
            <a:avLst/>
          </a:prstGeom>
          <a:noFill/>
        </p:spPr>
        <p:txBody>
          <a:bodyPr wrap="square">
            <a:spAutoFit/>
          </a:bodyPr>
          <a:lstStyle/>
          <a:p>
            <a:pPr algn="l">
              <a:lnSpc>
                <a:spcPts val="1500"/>
              </a:lnSpc>
            </a:pPr>
            <a:r>
              <a:rPr sz="1000" b="0" i="0">
                <a:solidFill>
                  <a:srgbClr val="212121"/>
                </a:solidFill>
              </a:rPr>
              <a:t>Maya had already done it. She'd done it in October, then again in November with updated course
interest, then once more when she heard the requirements might change (they hadn't). She had a
spreadsheet.</a:t>
            </a:r>
          </a:p>
        </p:txBody>
      </p:sp>
      <p:sp>
        <p:nvSpPr>
          <p:cNvPr id="8" name="TextBox 7"/>
          <p:cNvSpPr txBox="1"/>
          <p:nvPr/>
        </p:nvSpPr>
        <p:spPr>
          <a:xfrm>
            <a:off x="228600" y="1792224"/>
            <a:ext cx="8686800" cy="448056"/>
          </a:xfrm>
          <a:prstGeom prst="rect">
            <a:avLst/>
          </a:prstGeom>
          <a:noFill/>
        </p:spPr>
        <p:txBody>
          <a:bodyPr wrap="square">
            <a:spAutoFit/>
          </a:bodyPr>
          <a:lstStyle/>
          <a:p>
            <a:pPr algn="l">
              <a:lnSpc>
                <a:spcPts val="1500"/>
              </a:lnSpc>
            </a:pPr>
            <a:r>
              <a:rPr sz="1000" b="0" i="0">
                <a:solidFill>
                  <a:srgbClr val="212121"/>
                </a:solidFill>
              </a:rPr>
              <a:t>Jordan had not done it. He started now, using the chart in the planning guide. He added up the
required credits. Then he added up the electives. Then he looked at the total.</a:t>
            </a:r>
          </a:p>
        </p:txBody>
      </p:sp>
      <p:sp>
        <p:nvSpPr>
          <p:cNvPr id="9" name="TextBox 8"/>
          <p:cNvSpPr txBox="1"/>
          <p:nvPr/>
        </p:nvSpPr>
        <p:spPr>
          <a:xfrm>
            <a:off x="228600" y="2249424"/>
            <a:ext cx="8686800" cy="246888"/>
          </a:xfrm>
          <a:prstGeom prst="rect">
            <a:avLst/>
          </a:prstGeom>
          <a:noFill/>
        </p:spPr>
        <p:txBody>
          <a:bodyPr wrap="square">
            <a:spAutoFit/>
          </a:bodyPr>
          <a:lstStyle/>
          <a:p>
            <a:pPr algn="l">
              <a:lnSpc>
                <a:spcPts val="1500"/>
              </a:lnSpc>
            </a:pPr>
            <a:r>
              <a:rPr sz="1050" b="0" i="1">
                <a:solidFill>
                  <a:srgbClr val="1A1A6E"/>
                </a:solidFill>
              </a:rPr>
              <a:t>"Twenty-two," he said.</a:t>
            </a:r>
          </a:p>
        </p:txBody>
      </p:sp>
      <p:sp>
        <p:nvSpPr>
          <p:cNvPr id="10" name="TextBox 9"/>
          <p:cNvSpPr txBox="1"/>
          <p:nvPr/>
        </p:nvSpPr>
        <p:spPr>
          <a:xfrm>
            <a:off x="228600" y="2505456"/>
            <a:ext cx="8686800" cy="246888"/>
          </a:xfrm>
          <a:prstGeom prst="rect">
            <a:avLst/>
          </a:prstGeom>
          <a:noFill/>
        </p:spPr>
        <p:txBody>
          <a:bodyPr wrap="square">
            <a:spAutoFit/>
          </a:bodyPr>
          <a:lstStyle/>
          <a:p>
            <a:pPr algn="l">
              <a:lnSpc>
                <a:spcPts val="1500"/>
              </a:lnSpc>
            </a:pPr>
            <a:r>
              <a:rPr sz="1050" b="0" i="1">
                <a:solidFill>
                  <a:srgbClr val="1A1A6E"/>
                </a:solidFill>
              </a:rPr>
              <a:t>"Credits," Maya confirmed, without looking up.</a:t>
            </a:r>
          </a:p>
        </p:txBody>
      </p:sp>
      <p:sp>
        <p:nvSpPr>
          <p:cNvPr id="11" name="TextBox 10"/>
          <p:cNvSpPr txBox="1"/>
          <p:nvPr/>
        </p:nvSpPr>
        <p:spPr>
          <a:xfrm>
            <a:off x="228600" y="2761488"/>
            <a:ext cx="8686800" cy="246888"/>
          </a:xfrm>
          <a:prstGeom prst="rect">
            <a:avLst/>
          </a:prstGeom>
          <a:noFill/>
        </p:spPr>
        <p:txBody>
          <a:bodyPr wrap="square">
            <a:spAutoFit/>
          </a:bodyPr>
          <a:lstStyle/>
          <a:p>
            <a:pPr algn="l">
              <a:lnSpc>
                <a:spcPts val="1500"/>
              </a:lnSpc>
            </a:pPr>
            <a:r>
              <a:rPr sz="1050" b="0" i="1">
                <a:solidFill>
                  <a:srgbClr val="1A1A6E"/>
                </a:solidFill>
              </a:rPr>
              <a:t>"Over four years."</a:t>
            </a:r>
          </a:p>
        </p:txBody>
      </p:sp>
      <p:sp>
        <p:nvSpPr>
          <p:cNvPr id="12" name="TextBox 11"/>
          <p:cNvSpPr txBox="1"/>
          <p:nvPr/>
        </p:nvSpPr>
        <p:spPr>
          <a:xfrm>
            <a:off x="228600" y="3017520"/>
            <a:ext cx="8686800" cy="246888"/>
          </a:xfrm>
          <a:prstGeom prst="rect">
            <a:avLst/>
          </a:prstGeom>
          <a:noFill/>
        </p:spPr>
        <p:txBody>
          <a:bodyPr wrap="square">
            <a:spAutoFit/>
          </a:bodyPr>
          <a:lstStyle/>
          <a:p>
            <a:pPr algn="l">
              <a:lnSpc>
                <a:spcPts val="1500"/>
              </a:lnSpc>
            </a:pPr>
            <a:r>
              <a:rPr sz="1050" b="0" i="1">
                <a:solidFill>
                  <a:srgbClr val="1A1A6E"/>
                </a:solidFill>
              </a:rPr>
              <a:t>"Yes."</a:t>
            </a:r>
          </a:p>
        </p:txBody>
      </p:sp>
      <p:sp>
        <p:nvSpPr>
          <p:cNvPr id="13" name="TextBox 12"/>
          <p:cNvSpPr txBox="1"/>
          <p:nvPr/>
        </p:nvSpPr>
        <p:spPr>
          <a:xfrm>
            <a:off x="228600" y="3273552"/>
            <a:ext cx="8686800" cy="246888"/>
          </a:xfrm>
          <a:prstGeom prst="rect">
            <a:avLst/>
          </a:prstGeom>
          <a:noFill/>
        </p:spPr>
        <p:txBody>
          <a:bodyPr wrap="square">
            <a:spAutoFit/>
          </a:bodyPr>
          <a:lstStyle/>
          <a:p>
            <a:pPr algn="l">
              <a:lnSpc>
                <a:spcPts val="1500"/>
              </a:lnSpc>
            </a:pPr>
            <a:r>
              <a:rPr sz="1050" b="0" i="1">
                <a:solidFill>
                  <a:srgbClr val="1A1A6E"/>
                </a:solidFill>
              </a:rPr>
              <a:t>"That's... not that many."</a:t>
            </a:r>
          </a:p>
        </p:txBody>
      </p:sp>
      <p:sp>
        <p:nvSpPr>
          <p:cNvPr id="14" name="TextBox 13"/>
          <p:cNvSpPr txBox="1"/>
          <p:nvPr/>
        </p:nvSpPr>
        <p:spPr>
          <a:xfrm>
            <a:off x="228600" y="3529584"/>
            <a:ext cx="8686800" cy="246888"/>
          </a:xfrm>
          <a:prstGeom prst="rect">
            <a:avLst/>
          </a:prstGeom>
          <a:noFill/>
        </p:spPr>
        <p:txBody>
          <a:bodyPr wrap="square">
            <a:spAutoFit/>
          </a:bodyPr>
          <a:lstStyle/>
          <a:p>
            <a:pPr algn="l">
              <a:lnSpc>
                <a:spcPts val="1500"/>
              </a:lnSpc>
            </a:pPr>
            <a:r>
              <a:rPr sz="1050" b="0" i="1">
                <a:solidFill>
                  <a:srgbClr val="1A1A6E"/>
                </a:solidFill>
              </a:rPr>
              <a:t>She looked up now. "What do you mean?"</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50" b="0" i="1">
                <a:solidFill>
                  <a:srgbClr val="1A1A6E"/>
                </a:solidFill>
              </a:rPr>
              <a:t>"Like, per year that's like five or six courses. I take six now."</a:t>
            </a:r>
          </a:p>
        </p:txBody>
      </p:sp>
      <p:sp>
        <p:nvSpPr>
          <p:cNvPr id="16" name="TextBox 15"/>
          <p:cNvSpPr txBox="1"/>
          <p:nvPr/>
        </p:nvSpPr>
        <p:spPr>
          <a:xfrm>
            <a:off x="228600" y="4041648"/>
            <a:ext cx="8686800" cy="246888"/>
          </a:xfrm>
          <a:prstGeom prst="rect">
            <a:avLst/>
          </a:prstGeom>
          <a:noFill/>
        </p:spPr>
        <p:txBody>
          <a:bodyPr wrap="square">
            <a:spAutoFit/>
          </a:bodyPr>
          <a:lstStyle/>
          <a:p>
            <a:pPr algn="l">
              <a:lnSpc>
                <a:spcPts val="1500"/>
              </a:lnSpc>
            </a:pPr>
            <a:r>
              <a:rPr sz="1050" b="0" i="1">
                <a:solidFill>
                  <a:srgbClr val="1A1A6E"/>
                </a:solidFill>
              </a:rPr>
              <a:t>"You have to take specific ones though."</a:t>
            </a:r>
          </a:p>
        </p:txBody>
      </p:sp>
      <p:sp>
        <p:nvSpPr>
          <p:cNvPr id="17" name="TextBox 16"/>
          <p:cNvSpPr txBox="1"/>
          <p:nvPr/>
        </p:nvSpPr>
        <p:spPr>
          <a:xfrm>
            <a:off x="228600" y="4297680"/>
            <a:ext cx="8686800" cy="246888"/>
          </a:xfrm>
          <a:prstGeom prst="rect">
            <a:avLst/>
          </a:prstGeom>
          <a:noFill/>
        </p:spPr>
        <p:txBody>
          <a:bodyPr wrap="square">
            <a:spAutoFit/>
          </a:bodyPr>
          <a:lstStyle/>
          <a:p>
            <a:pPr algn="l">
              <a:lnSpc>
                <a:spcPts val="1500"/>
              </a:lnSpc>
            </a:pPr>
            <a:r>
              <a:rPr sz="1050" b="0" i="1">
                <a:solidFill>
                  <a:srgbClr val="1A1A6E"/>
                </a:solidFill>
              </a:rPr>
              <a:t>"Yeah but still. I thought it would be more."</a:t>
            </a:r>
          </a:p>
        </p:txBody>
      </p:sp>
      <p:sp>
        <p:nvSpPr>
          <p:cNvPr id="18" name="TextBox 17"/>
          <p:cNvSpPr txBox="1"/>
          <p:nvPr/>
        </p:nvSpPr>
        <p:spPr>
          <a:xfrm>
            <a:off x="228600" y="4553712"/>
            <a:ext cx="8686800" cy="448056"/>
          </a:xfrm>
          <a:prstGeom prst="rect">
            <a:avLst/>
          </a:prstGeom>
          <a:noFill/>
        </p:spPr>
        <p:txBody>
          <a:bodyPr wrap="square">
            <a:spAutoFit/>
          </a:bodyPr>
          <a:lstStyle/>
          <a:p>
            <a:pPr algn="l">
              <a:lnSpc>
                <a:spcPts val="1500"/>
              </a:lnSpc>
            </a:pPr>
            <a:r>
              <a:rPr sz="1050" b="0" i="1">
                <a:solidFill>
                  <a:srgbClr val="1A1A6E"/>
                </a:solidFill>
              </a:rPr>
              <a:t>Priya was counting quietly. "It's more specific than it looks. Four years of English. Three of
math. You have to actually plan it or you run out of space."</a:t>
            </a:r>
          </a:p>
        </p:txBody>
      </p:sp>
      <p:sp>
        <p:nvSpPr>
          <p:cNvPr id="19" name="TextBox 18"/>
          <p:cNvSpPr txBox="1"/>
          <p:nvPr/>
        </p:nvSpPr>
        <p:spPr>
          <a:xfrm>
            <a:off x="228600" y="5010912"/>
            <a:ext cx="8686800" cy="246888"/>
          </a:xfrm>
          <a:prstGeom prst="rect">
            <a:avLst/>
          </a:prstGeom>
          <a:noFill/>
        </p:spPr>
        <p:txBody>
          <a:bodyPr wrap="square">
            <a:spAutoFit/>
          </a:bodyPr>
          <a:lstStyle/>
          <a:p>
            <a:pPr algn="l">
              <a:lnSpc>
                <a:spcPts val="1500"/>
              </a:lnSpc>
            </a:pPr>
            <a:r>
              <a:rPr sz="1050" b="0" i="1">
                <a:solidFill>
                  <a:srgbClr val="1A1A6E"/>
                </a:solidFill>
              </a:rPr>
              <a:t>"Run out of space for what?"</a:t>
            </a:r>
          </a:p>
        </p:txBody>
      </p:sp>
      <p:sp>
        <p:nvSpPr>
          <p:cNvPr id="20" name="TextBox 19"/>
          <p:cNvSpPr txBox="1"/>
          <p:nvPr/>
        </p:nvSpPr>
        <p:spPr>
          <a:xfrm>
            <a:off x="228600" y="5266944"/>
            <a:ext cx="8686800" cy="448056"/>
          </a:xfrm>
          <a:prstGeom prst="rect">
            <a:avLst/>
          </a:prstGeom>
          <a:noFill/>
        </p:spPr>
        <p:txBody>
          <a:bodyPr wrap="square">
            <a:spAutoFit/>
          </a:bodyPr>
          <a:lstStyle/>
          <a:p>
            <a:pPr algn="l">
              <a:lnSpc>
                <a:spcPts val="1500"/>
              </a:lnSpc>
            </a:pPr>
            <a:r>
              <a:rPr sz="1050" b="0" i="1">
                <a:solidFill>
                  <a:srgbClr val="1A1A6E"/>
                </a:solidFill>
              </a:rPr>
              <a:t>"Electives. If you keep taking required courses later than you should, you don't have room for
the CAPS program or whatever you actually want."</a:t>
            </a:r>
          </a:p>
        </p:txBody>
      </p:sp>
      <p:sp>
        <p:nvSpPr>
          <p:cNvPr id="21" name="TextBox 20"/>
          <p:cNvSpPr txBox="1"/>
          <p:nvPr/>
        </p:nvSpPr>
        <p:spPr>
          <a:xfrm>
            <a:off x="228600" y="5724144"/>
            <a:ext cx="8686800" cy="850392"/>
          </a:xfrm>
          <a:prstGeom prst="rect">
            <a:avLst/>
          </a:prstGeom>
          <a:noFill/>
        </p:spPr>
        <p:txBody>
          <a:bodyPr wrap="square">
            <a:spAutoFit/>
          </a:bodyPr>
          <a:lstStyle/>
          <a:p>
            <a:pPr algn="l">
              <a:lnSpc>
                <a:spcPts val="1500"/>
              </a:lnSpc>
            </a:pPr>
            <a:r>
              <a:rPr sz="1000" b="0" i="0">
                <a:solidFill>
                  <a:srgbClr val="212121"/>
                </a:solidFill>
              </a:rPr>
              <a:t>Jordan looked at his chart. He hadn't thought about it as a space problem. He'd thought of it
as a list of things to get through. But Priya was right — there was a sequence, and the
sequence mattered, and if you didn't look at it now, you'd figure that out sophomore year when
it was too late to undo.</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"Twenty-Two Credits"</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Eli says he needed to know this in seventh grade. Is that frustration fair — or is this
exactly the right time to be planning? Explain your thinking.</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Priya reframes the graduation requirements as a 'space problem.' How does that reframe change
how you should think about course selection?</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Jordan thought of graduation requirements as a list to get through. How is that different
from seeing them as a pathway to something specific?</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Looking at your own four-year plan: are there courses you want to take that have
prerequisites you haven't met yet? What does that mean for 9th grade?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Graduation Requirements for Class of 2029 and Beyond</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To graduate from Two Rivers, students must earn a minimum of 23 credits. Required areas
include: Language Arts (4 credits), Social Studies (4 credits), Mathematics (3 credits —
through Algebra II minimum), Science (3 credits — Earth &amp; Space Science, Biology, plus
Chemistry or Physics), Physical Education &amp; Health (1.5 credits), Warrior Seminar (0.5
credits), Arts (1 credit), Personal Finance (0.5 credits), and Electives (5.5 credits).
This means more than half of your credits are REQUIRED — but nearly a third are yours to
choose.</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Did you know Two Rivers had these many graduation requirements? What surprises you?</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Required vs. Choice — 9th Grade Edition</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Based on the Warrior Graduation Plan (Class of 2029+) and the Academic Planning Guide,
fill in the chart below for your 9th grade year.</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7F3F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Prerequisite chains matter: choices you make in 9th grade determine which courses are available to you in 10th, 11th, and 12th.</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9th Grade Schedule Preview  —  Lesson 4.1</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12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Use the graduation plan (pages 12-13 of your Academic Planning Guide) to fill in required 9th grade courses. Then choose electives for your open periods.</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Use the graduation plan (pages 12-13 of your Academic Planning Guide) to fill in required 9th grade courses. Then choose electives for your open periods.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4.1: Reading the Academic Planning Guide</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Sentence Stems</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8412480" cy="347472"/>
          </a:xfrm>
          <a:prstGeom prst="rect">
            <a:avLst/>
          </a:prstGeom>
          <a:noFill/>
        </p:spPr>
        <p:txBody>
          <a:bodyPr wrap="square">
            <a:spAutoFit/>
          </a:bodyPr>
          <a:lstStyle/>
          <a:p>
            <a:pPr algn="l"/>
            <a:r>
              <a:rPr sz="1100" b="0" i="1">
                <a:solidFill>
                  <a:srgbClr val="212121"/>
                </a:solidFill>
              </a:rPr>
              <a:t>One thing I did NOT know about TRHS graduation requirements before today is…</a:t>
            </a:r>
          </a:p>
        </p:txBody>
      </p:sp>
      <p:sp>
        <p:nvSpPr>
          <p:cNvPr id="9" name="Rectangle 8"/>
          <p:cNvSpPr/>
          <p:nvPr/>
        </p:nvSpPr>
        <p:spPr>
          <a:xfrm>
            <a:off x="228600" y="150876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9202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96596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011680"/>
            <a:ext cx="8412480" cy="347472"/>
          </a:xfrm>
          <a:prstGeom prst="rect">
            <a:avLst/>
          </a:prstGeom>
          <a:noFill/>
        </p:spPr>
        <p:txBody>
          <a:bodyPr wrap="square">
            <a:spAutoFit/>
          </a:bodyPr>
          <a:lstStyle/>
          <a:p>
            <a:pPr algn="l"/>
            <a:r>
              <a:rPr sz="1100" b="0" i="1">
                <a:solidFill>
                  <a:srgbClr val="212121"/>
                </a:solidFill>
              </a:rPr>
              <a:t>A required 9th grade course I am looking forward to is _____ because…</a:t>
            </a:r>
          </a:p>
        </p:txBody>
      </p:sp>
      <p:sp>
        <p:nvSpPr>
          <p:cNvPr id="13" name="Rectangle 12"/>
          <p:cNvSpPr/>
          <p:nvPr/>
        </p:nvSpPr>
        <p:spPr>
          <a:xfrm>
            <a:off x="228600" y="24688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288036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92608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2971800"/>
            <a:ext cx="8412480" cy="347472"/>
          </a:xfrm>
          <a:prstGeom prst="rect">
            <a:avLst/>
          </a:prstGeom>
          <a:noFill/>
        </p:spPr>
        <p:txBody>
          <a:bodyPr wrap="square">
            <a:spAutoFit/>
          </a:bodyPr>
          <a:lstStyle/>
          <a:p>
            <a:pPr algn="l"/>
            <a:r>
              <a:rPr sz="1100" b="0" i="1">
                <a:solidFill>
                  <a:srgbClr val="212121"/>
                </a:solidFill>
              </a:rPr>
              <a:t>A question I still have about building my schedule is…</a:t>
            </a:r>
          </a:p>
        </p:txBody>
      </p:sp>
      <p:sp>
        <p:nvSpPr>
          <p:cNvPr id="17" name="Rectangle 16"/>
          <p:cNvSpPr/>
          <p:nvPr/>
        </p:nvSpPr>
        <p:spPr>
          <a:xfrm>
            <a:off x="228600" y="34290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 y="38404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4.2  ·  5 minutes</a:t>
            </a:r>
          </a:p>
        </p:txBody>
      </p:sp>
      <p:sp>
        <p:nvSpPr>
          <p:cNvPr id="7" name="Rectangle 6"/>
          <p:cNvSpPr/>
          <p:nvPr/>
        </p:nvSpPr>
        <p:spPr>
          <a:xfrm>
            <a:off x="228600" y="868680"/>
            <a:ext cx="1463040" cy="329184"/>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Graduation Requirement Recall</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From last class — fill in from memory:
Required English credits (9-12): ___   Required math: ___   Required science: ___
Open elective credits available: ___
Warrior Seminar is worth ___ credits and is taken in grade ___</a:t>
            </a:r>
          </a:p>
        </p:txBody>
      </p:sp>
      <p:sp>
        <p:nvSpPr>
          <p:cNvPr id="13" name="Rectangle 12"/>
          <p:cNvSpPr/>
          <p:nvPr/>
        </p:nvSpPr>
        <p:spPr>
          <a:xfrm>
            <a:off x="228600" y="4919472"/>
            <a:ext cx="8686800" cy="47548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Check with your Academic Planning Guide — how close were you?</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4.2  |  Unit 4: My 9th Grade Year Plan</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My Mock 9th Grade Schedule</a:t>
            </a:r>
          </a:p>
        </p:txBody>
      </p:sp>
      <p:sp>
        <p:nvSpPr>
          <p:cNvPr id="6" name="Rectangle 5"/>
          <p:cNvSpPr/>
          <p:nvPr/>
        </p:nvSpPr>
        <p:spPr>
          <a:xfrm>
            <a:off x="182880" y="1024128"/>
            <a:ext cx="8778240" cy="329184"/>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Create a complete, realistic mock 9th grade course schedule using the Academic Planning Guide.</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Select elective courses that align with personal interests and/or career pathway goals.</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Verify that their schedule meets all 9th grade requirements.</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7F3F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7F3F99"/>
                </a:solidFill>
              </a:rPr>
              <a:t>Elective</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electus (chosen, selected) — from eligere (to choose, to pick out)</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course chosen by the student that goes beyond required coursework — your opportunity to follow your interests.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563624"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490472" cy="320040"/>
          </a:xfrm>
          <a:prstGeom prst="rect">
            <a:avLst/>
          </a:prstGeom>
          <a:noFill/>
        </p:spPr>
        <p:txBody>
          <a:bodyPr wrap="square">
            <a:spAutoFit/>
          </a:bodyPr>
          <a:lstStyle/>
          <a:p>
            <a:pPr algn="ctr"/>
            <a:r>
              <a:rPr sz="1100" b="1" i="0">
                <a:solidFill>
                  <a:srgbClr val="FFFFFF"/>
                </a:solidFill>
              </a:rPr>
              <a:t>9</a:t>
            </a:r>
          </a:p>
        </p:txBody>
      </p:sp>
      <p:sp>
        <p:nvSpPr>
          <p:cNvPr id="27" name="TextBox 26"/>
          <p:cNvSpPr txBox="1"/>
          <p:nvPr/>
        </p:nvSpPr>
        <p:spPr>
          <a:xfrm>
            <a:off x="1618488" y="6163056"/>
            <a:ext cx="1563624"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182112" y="5623560"/>
            <a:ext cx="1042415"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18688" y="5715000"/>
            <a:ext cx="969263" cy="320040"/>
          </a:xfrm>
          <a:prstGeom prst="rect">
            <a:avLst/>
          </a:prstGeom>
          <a:noFill/>
        </p:spPr>
        <p:txBody>
          <a:bodyPr wrap="square">
            <a:spAutoFit/>
          </a:bodyPr>
          <a:lstStyle/>
          <a:p>
            <a:pPr algn="ctr"/>
            <a:r>
              <a:rPr sz="1100" b="1" i="0">
                <a:solidFill>
                  <a:srgbClr val="FFFFFF"/>
                </a:solidFill>
              </a:rPr>
              <a:t>6</a:t>
            </a:r>
          </a:p>
        </p:txBody>
      </p:sp>
      <p:sp>
        <p:nvSpPr>
          <p:cNvPr id="30" name="TextBox 29"/>
          <p:cNvSpPr txBox="1"/>
          <p:nvPr/>
        </p:nvSpPr>
        <p:spPr>
          <a:xfrm>
            <a:off x="3182112" y="6163056"/>
            <a:ext cx="1042415"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224528" y="5623560"/>
            <a:ext cx="1216152"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61104" y="5715000"/>
            <a:ext cx="1143000" cy="320040"/>
          </a:xfrm>
          <a:prstGeom prst="rect">
            <a:avLst/>
          </a:prstGeom>
          <a:noFill/>
        </p:spPr>
        <p:txBody>
          <a:bodyPr wrap="square">
            <a:spAutoFit/>
          </a:bodyPr>
          <a:lstStyle/>
          <a:p>
            <a:pPr algn="ctr"/>
            <a:r>
              <a:rPr sz="1100" b="1" i="0">
                <a:solidFill>
                  <a:srgbClr val="FFFFFF"/>
                </a:solidFill>
              </a:rPr>
              <a:t>7</a:t>
            </a:r>
          </a:p>
        </p:txBody>
      </p:sp>
      <p:sp>
        <p:nvSpPr>
          <p:cNvPr id="33" name="TextBox 32"/>
          <p:cNvSpPr txBox="1"/>
          <p:nvPr/>
        </p:nvSpPr>
        <p:spPr>
          <a:xfrm>
            <a:off x="4224528" y="6163056"/>
            <a:ext cx="1216152"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440680" y="5623560"/>
            <a:ext cx="260604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77256" y="5715000"/>
            <a:ext cx="2532888" cy="320040"/>
          </a:xfrm>
          <a:prstGeom prst="rect">
            <a:avLst/>
          </a:prstGeom>
          <a:noFill/>
        </p:spPr>
        <p:txBody>
          <a:bodyPr wrap="square">
            <a:spAutoFit/>
          </a:bodyPr>
          <a:lstStyle/>
          <a:p>
            <a:pPr algn="ctr"/>
            <a:r>
              <a:rPr sz="1100" b="1" i="0">
                <a:solidFill>
                  <a:srgbClr val="FFFFFF"/>
                </a:solidFill>
              </a:rPr>
              <a:t>15</a:t>
            </a:r>
          </a:p>
        </p:txBody>
      </p:sp>
      <p:sp>
        <p:nvSpPr>
          <p:cNvPr id="36" name="TextBox 35"/>
          <p:cNvSpPr txBox="1"/>
          <p:nvPr/>
        </p:nvSpPr>
        <p:spPr>
          <a:xfrm>
            <a:off x="5440680" y="6163056"/>
            <a:ext cx="260604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7F3F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Your Schedule, Your Foundation: Building a 9th Grade Course Plan</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TRHS 2026-27 Academic Planning Guide and school counselor guidance</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9 min</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Schedule, Your Foundation: Building a 9th Grade Course Plan  (p. 1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Warrior Seminar is not just another class — it is Two Rivers' investment in your
transition. Every 9th grader takes it (unless they are in AVID or AP Human Geography
Enrichment), and its purpose is to give you the time, structure, and support to learn
how to be a high school student. In Warrior Seminar, you will develop time management
and note-taking skills, meet with professional mentors four times during the year, hear
from guest speakers in various career fields, and begin building your post-secondary
portfolio. Everything you are learning in Warrior Prep connects directly to what you
will do in Warrior Seminar — this course is preparing you for that one.</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Building your 9th grade schedule is one of the most consequential decisions you will
make this year. The Academic Planning Guide lays out the full picture of what is
available — but it is up to you to read it carefully, ask questions, and make
intentional choices. A few guiding principles from students who have done this well: Do
not take all your most challenging courses in the same semester. Balance academic rigor
with courses you genuinely enjoy. Choose at least one elective that connects to a career
interest, even if you are not sure yet. And never skip Warrior Seminar unless you have a
compelling reason and counselor approval.</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Schedule, Your Foundation: Building a 9th Grade Course Plan  (p. 2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Your math placement deserves special attention. Math is the course where prerequisite
chains are longest and most consequential. Students on the 'double acceleration' path
may be taking high school math courses already in 8th grade (like Pre-AP Geometry or
Algebra II). Students on the standard path enter 9th grade in Geometry or Algebra II
depending on their 8th grade math. Students on the single acceleration path may enter in
Pre-AP Geometry. Know where you are in this sequence — it determines how far you can go
in math by graduation, and whether options like AP Calculus or AP Statistics will be
available to you.</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Finally, remember that your schedule is registered in December of 8th grade and is
considered final at Two Rivers. Changes are not accommodated after submission. This is
not bureaucratic inflexibility — it is because enrollment numbers, class sizes, and
teacher assignments are all determined by student registrations. The pressure this
creates is real, which is exactly why taking this planning work seriously right now
matters.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'Your Schedule, Your Foundation: Building a 9th Grade Course Plan'</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6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7F3F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Warrior Seminar and what does it include? How does it connect to Warrior Prep?</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7F3F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List the three 'guiding principles' the reading offers for building a 9th grade schedule. Do
you agree with all three? Are there any you would add?</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7F3F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Why does the reading say math placement 'deserves special attention'? Where are you currently
in the math sequence?</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7F3F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Why are 9th grade course registrations considered final at Two Rivers? What does this tell you
about how seriously you should take this planning?</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7F3F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Using the Academic Planning Guide and your reading notes, create a draft of your 7-period 9th
grade schedule. For each elective slot, write a one-sentence rationale.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4.2</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How to Build a High School Schedule You Won't Regret</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School Counseling Videos  ·  approx. 6 min</a:t>
            </a:r>
          </a:p>
        </p:txBody>
      </p:sp>
      <p:sp>
        <p:nvSpPr>
          <p:cNvPr id="9" name="Rectangle 8"/>
          <p:cNvSpPr/>
          <p:nvPr/>
        </p:nvSpPr>
        <p:spPr>
          <a:xfrm>
            <a:off x="365760" y="2377440"/>
            <a:ext cx="8412480" cy="2743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7F3F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advice do they give about balancing challenging courses and free time?</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"Warrior Seminar — What Is It?"  |  ISD 197 / Two Rivers</a:t>
            </a:r>
          </a:p>
        </p:txBody>
      </p:sp>
      <p:sp>
        <p:nvSpPr>
          <p:cNvPr id="16" name="Rectangle 15">
            <a:hlinkClick r:id="rId3"/>
          </p:cNvPr>
          <p:cNvSpPr/>
          <p:nvPr/>
        </p:nvSpPr>
        <p:spPr>
          <a:xfrm>
            <a:off x="2743200" y="4480560"/>
            <a:ext cx="3657600" cy="7498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"Period Seven"  —  Lesson 4.2</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649224"/>
          </a:xfrm>
          <a:prstGeom prst="rect">
            <a:avLst/>
          </a:prstGeom>
          <a:noFill/>
        </p:spPr>
        <p:txBody>
          <a:bodyPr wrap="square">
            <a:spAutoFit/>
          </a:bodyPr>
          <a:lstStyle/>
          <a:p>
            <a:pPr algn="l">
              <a:lnSpc>
                <a:spcPts val="1500"/>
              </a:lnSpc>
            </a:pPr>
            <a:r>
              <a:rPr sz="1000" b="0" i="0">
                <a:solidFill>
                  <a:srgbClr val="212121"/>
                </a:solidFill>
              </a:rPr>
              <a:t>Jordan's mock schedule had a problem. He'd filled in periods one through six just fine — he
had requirements to take and he took them. But period seven was a blank, and he'd been staring
at it for ten minutes.</a:t>
            </a:r>
          </a:p>
        </p:txBody>
      </p:sp>
      <p:sp>
        <p:nvSpPr>
          <p:cNvPr id="7" name="TextBox 6"/>
          <p:cNvSpPr txBox="1"/>
          <p:nvPr/>
        </p:nvSpPr>
        <p:spPr>
          <a:xfrm>
            <a:off x="228600" y="1536192"/>
            <a:ext cx="8686800" cy="246888"/>
          </a:xfrm>
          <a:prstGeom prst="rect">
            <a:avLst/>
          </a:prstGeom>
          <a:noFill/>
        </p:spPr>
        <p:txBody>
          <a:bodyPr wrap="square">
            <a:spAutoFit/>
          </a:bodyPr>
          <a:lstStyle/>
          <a:p>
            <a:pPr algn="l">
              <a:lnSpc>
                <a:spcPts val="1500"/>
              </a:lnSpc>
            </a:pPr>
            <a:r>
              <a:rPr sz="1050" b="0" i="1">
                <a:solidFill>
                  <a:srgbClr val="1A1A6E"/>
                </a:solidFill>
              </a:rPr>
              <a:t>"What do you have for seven?" he asked Maya.</a:t>
            </a:r>
          </a:p>
        </p:txBody>
      </p:sp>
      <p:sp>
        <p:nvSpPr>
          <p:cNvPr id="8" name="TextBox 7"/>
          <p:cNvSpPr txBox="1"/>
          <p:nvPr/>
        </p:nvSpPr>
        <p:spPr>
          <a:xfrm>
            <a:off x="228600" y="1792224"/>
            <a:ext cx="8686800" cy="246888"/>
          </a:xfrm>
          <a:prstGeom prst="rect">
            <a:avLst/>
          </a:prstGeom>
          <a:noFill/>
        </p:spPr>
        <p:txBody>
          <a:bodyPr wrap="square">
            <a:spAutoFit/>
          </a:bodyPr>
          <a:lstStyle/>
          <a:p>
            <a:pPr algn="l">
              <a:lnSpc>
                <a:spcPts val="1500"/>
              </a:lnSpc>
            </a:pPr>
            <a:r>
              <a:rPr sz="1050" b="0" i="1">
                <a:solidFill>
                  <a:srgbClr val="1A1A6E"/>
                </a:solidFill>
              </a:rPr>
              <a:t>"Digital Media Design."</a:t>
            </a:r>
          </a:p>
        </p:txBody>
      </p:sp>
      <p:sp>
        <p:nvSpPr>
          <p:cNvPr id="9" name="TextBox 8"/>
          <p:cNvSpPr txBox="1"/>
          <p:nvPr/>
        </p:nvSpPr>
        <p:spPr>
          <a:xfrm>
            <a:off x="228600" y="2048256"/>
            <a:ext cx="8686800" cy="246888"/>
          </a:xfrm>
          <a:prstGeom prst="rect">
            <a:avLst/>
          </a:prstGeom>
          <a:noFill/>
        </p:spPr>
        <p:txBody>
          <a:bodyPr wrap="square">
            <a:spAutoFit/>
          </a:bodyPr>
          <a:lstStyle/>
          <a:p>
            <a:pPr algn="l">
              <a:lnSpc>
                <a:spcPts val="1500"/>
              </a:lnSpc>
            </a:pPr>
            <a:r>
              <a:rPr sz="1050" b="0" i="1">
                <a:solidFill>
                  <a:srgbClr val="1A1A6E"/>
                </a:solidFill>
              </a:rPr>
              <a:t>"Is that good?"</a:t>
            </a:r>
          </a:p>
        </p:txBody>
      </p:sp>
      <p:sp>
        <p:nvSpPr>
          <p:cNvPr id="10" name="TextBox 9"/>
          <p:cNvSpPr txBox="1"/>
          <p:nvPr/>
        </p:nvSpPr>
        <p:spPr>
          <a:xfrm>
            <a:off x="228600" y="2304288"/>
            <a:ext cx="8686800" cy="448056"/>
          </a:xfrm>
          <a:prstGeom prst="rect">
            <a:avLst/>
          </a:prstGeom>
          <a:noFill/>
        </p:spPr>
        <p:txBody>
          <a:bodyPr wrap="square">
            <a:spAutoFit/>
          </a:bodyPr>
          <a:lstStyle/>
          <a:p>
            <a:pPr algn="l">
              <a:lnSpc>
                <a:spcPts val="1500"/>
              </a:lnSpc>
            </a:pPr>
            <a:r>
              <a:rPr sz="1050" b="0" i="1">
                <a:solidFill>
                  <a:srgbClr val="1A1A6E"/>
                </a:solidFill>
              </a:rPr>
              <a:t>"I looked up the syllabus. You design actual things. Print layouts, websites, graphics. And it
connects to the ACI career field."</a:t>
            </a:r>
          </a:p>
        </p:txBody>
      </p:sp>
      <p:sp>
        <p:nvSpPr>
          <p:cNvPr id="11" name="TextBox 10"/>
          <p:cNvSpPr txBox="1"/>
          <p:nvPr/>
        </p:nvSpPr>
        <p:spPr>
          <a:xfrm>
            <a:off x="228600" y="2761488"/>
            <a:ext cx="8686800" cy="246888"/>
          </a:xfrm>
          <a:prstGeom prst="rect">
            <a:avLst/>
          </a:prstGeom>
          <a:noFill/>
        </p:spPr>
        <p:txBody>
          <a:bodyPr wrap="square">
            <a:spAutoFit/>
          </a:bodyPr>
          <a:lstStyle/>
          <a:p>
            <a:pPr algn="l">
              <a:lnSpc>
                <a:spcPts val="1500"/>
              </a:lnSpc>
            </a:pPr>
            <a:r>
              <a:rPr sz="1050" b="0" i="1">
                <a:solidFill>
                  <a:srgbClr val="1A1A6E"/>
                </a:solidFill>
              </a:rPr>
              <a:t>Jordan looked at the elective list. "There's a cooking class."</a:t>
            </a:r>
          </a:p>
        </p:txBody>
      </p:sp>
      <p:sp>
        <p:nvSpPr>
          <p:cNvPr id="12" name="TextBox 11"/>
          <p:cNvSpPr txBox="1"/>
          <p:nvPr/>
        </p:nvSpPr>
        <p:spPr>
          <a:xfrm>
            <a:off x="228600" y="3017520"/>
            <a:ext cx="8686800" cy="246888"/>
          </a:xfrm>
          <a:prstGeom prst="rect">
            <a:avLst/>
          </a:prstGeom>
          <a:noFill/>
        </p:spPr>
        <p:txBody>
          <a:bodyPr wrap="square">
            <a:spAutoFit/>
          </a:bodyPr>
          <a:lstStyle/>
          <a:p>
            <a:pPr algn="l">
              <a:lnSpc>
                <a:spcPts val="1500"/>
              </a:lnSpc>
            </a:pPr>
            <a:r>
              <a:rPr sz="1050" b="0" i="1">
                <a:solidFill>
                  <a:srgbClr val="1A1A6E"/>
                </a:solidFill>
              </a:rPr>
              <a:t>"Culinary Arts," Maya said. "That connects to the Food and Natural Resources field, actually."</a:t>
            </a:r>
          </a:p>
        </p:txBody>
      </p:sp>
      <p:sp>
        <p:nvSpPr>
          <p:cNvPr id="13" name="TextBox 12"/>
          <p:cNvSpPr txBox="1"/>
          <p:nvPr/>
        </p:nvSpPr>
        <p:spPr>
          <a:xfrm>
            <a:off x="228600" y="3273552"/>
            <a:ext cx="8686800" cy="246888"/>
          </a:xfrm>
          <a:prstGeom prst="rect">
            <a:avLst/>
          </a:prstGeom>
          <a:noFill/>
        </p:spPr>
        <p:txBody>
          <a:bodyPr wrap="square">
            <a:spAutoFit/>
          </a:bodyPr>
          <a:lstStyle/>
          <a:p>
            <a:pPr algn="l">
              <a:lnSpc>
                <a:spcPts val="1500"/>
              </a:lnSpc>
            </a:pPr>
            <a:r>
              <a:rPr sz="1050" b="0" i="1">
                <a:solidFill>
                  <a:srgbClr val="1A1A6E"/>
                </a:solidFill>
              </a:rPr>
              <a:t>"I just want to cook."</a:t>
            </a:r>
          </a:p>
        </p:txBody>
      </p:sp>
      <p:sp>
        <p:nvSpPr>
          <p:cNvPr id="14" name="TextBox 13"/>
          <p:cNvSpPr txBox="1"/>
          <p:nvPr/>
        </p:nvSpPr>
        <p:spPr>
          <a:xfrm>
            <a:off x="228600" y="3529584"/>
            <a:ext cx="8686800" cy="246888"/>
          </a:xfrm>
          <a:prstGeom prst="rect">
            <a:avLst/>
          </a:prstGeom>
          <a:noFill/>
        </p:spPr>
        <p:txBody>
          <a:bodyPr wrap="square">
            <a:spAutoFit/>
          </a:bodyPr>
          <a:lstStyle/>
          <a:p>
            <a:pPr algn="l">
              <a:lnSpc>
                <a:spcPts val="1500"/>
              </a:lnSpc>
            </a:pPr>
            <a:r>
              <a:rPr sz="1050" b="0" i="1">
                <a:solidFill>
                  <a:srgbClr val="1A1A6E"/>
                </a:solidFill>
              </a:rPr>
              <a:t>"That's allowed."</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00" b="0" i="0">
                <a:solidFill>
                  <a:srgbClr val="212121"/>
                </a:solidFill>
              </a:rPr>
              <a:t>He wrote it in. Then looked at it. Then erased it.</a:t>
            </a:r>
          </a:p>
        </p:txBody>
      </p:sp>
      <p:sp>
        <p:nvSpPr>
          <p:cNvPr id="16" name="TextBox 15"/>
          <p:cNvSpPr txBox="1"/>
          <p:nvPr/>
        </p:nvSpPr>
        <p:spPr>
          <a:xfrm>
            <a:off x="228600" y="4041648"/>
            <a:ext cx="8686800" cy="246888"/>
          </a:xfrm>
          <a:prstGeom prst="rect">
            <a:avLst/>
          </a:prstGeom>
          <a:noFill/>
        </p:spPr>
        <p:txBody>
          <a:bodyPr wrap="square">
            <a:spAutoFit/>
          </a:bodyPr>
          <a:lstStyle/>
          <a:p>
            <a:pPr algn="l">
              <a:lnSpc>
                <a:spcPts val="1500"/>
              </a:lnSpc>
            </a:pPr>
            <a:r>
              <a:rPr sz="1050" b="0" i="1">
                <a:solidFill>
                  <a:srgbClr val="1A1A6E"/>
                </a:solidFill>
              </a:rPr>
              <a:t>"What?" Maya said.</a:t>
            </a:r>
          </a:p>
        </p:txBody>
      </p:sp>
      <p:sp>
        <p:nvSpPr>
          <p:cNvPr id="17" name="TextBox 16"/>
          <p:cNvSpPr txBox="1"/>
          <p:nvPr/>
        </p:nvSpPr>
        <p:spPr>
          <a:xfrm>
            <a:off x="228600" y="4297680"/>
            <a:ext cx="8686800" cy="246888"/>
          </a:xfrm>
          <a:prstGeom prst="rect">
            <a:avLst/>
          </a:prstGeom>
          <a:noFill/>
        </p:spPr>
        <p:txBody>
          <a:bodyPr wrap="square">
            <a:spAutoFit/>
          </a:bodyPr>
          <a:lstStyle/>
          <a:p>
            <a:pPr algn="l">
              <a:lnSpc>
                <a:spcPts val="1500"/>
              </a:lnSpc>
            </a:pPr>
            <a:r>
              <a:rPr sz="1050" b="0" i="1">
                <a:solidFill>
                  <a:srgbClr val="1A1A6E"/>
                </a:solidFill>
              </a:rPr>
              <a:t>"It sounds like I'm not taking school seriously."</a:t>
            </a:r>
          </a:p>
        </p:txBody>
      </p:sp>
      <p:sp>
        <p:nvSpPr>
          <p:cNvPr id="18" name="TextBox 17"/>
          <p:cNvSpPr txBox="1"/>
          <p:nvPr/>
        </p:nvSpPr>
        <p:spPr>
          <a:xfrm>
            <a:off x="228600" y="4553712"/>
            <a:ext cx="8686800" cy="246888"/>
          </a:xfrm>
          <a:prstGeom prst="rect">
            <a:avLst/>
          </a:prstGeom>
          <a:noFill/>
        </p:spPr>
        <p:txBody>
          <a:bodyPr wrap="square">
            <a:spAutoFit/>
          </a:bodyPr>
          <a:lstStyle/>
          <a:p>
            <a:pPr algn="l">
              <a:lnSpc>
                <a:spcPts val="1500"/>
              </a:lnSpc>
            </a:pPr>
            <a:r>
              <a:rPr sz="1050" b="0" i="1">
                <a:solidFill>
                  <a:srgbClr val="1A1A6E"/>
                </a:solidFill>
              </a:rPr>
              <a:t>"Why would culinary arts be less serious than digital media design?"</a:t>
            </a:r>
          </a:p>
        </p:txBody>
      </p:sp>
      <p:sp>
        <p:nvSpPr>
          <p:cNvPr id="19" name="TextBox 18"/>
          <p:cNvSpPr txBox="1"/>
          <p:nvPr/>
        </p:nvSpPr>
        <p:spPr>
          <a:xfrm>
            <a:off x="228600" y="4809744"/>
            <a:ext cx="8686800" cy="850392"/>
          </a:xfrm>
          <a:prstGeom prst="rect">
            <a:avLst/>
          </a:prstGeom>
          <a:noFill/>
        </p:spPr>
        <p:txBody>
          <a:bodyPr wrap="square">
            <a:spAutoFit/>
          </a:bodyPr>
          <a:lstStyle/>
          <a:p>
            <a:pPr algn="l">
              <a:lnSpc>
                <a:spcPts val="1500"/>
              </a:lnSpc>
            </a:pPr>
            <a:r>
              <a:rPr sz="1000" b="0" i="0">
                <a:solidFill>
                  <a:srgbClr val="212121"/>
                </a:solidFill>
              </a:rPr>
              <a:t>He thought about it. It wasn't a clear answer. It was more like a feeling — that real courses
were hard and academic-sounding, and fun courses were ones you slid into when you didn't care.
But the planning guide had Culinary Arts listed with a career field and a credit weight and a
pathway description.</a:t>
            </a:r>
          </a:p>
        </p:txBody>
      </p:sp>
      <p:sp>
        <p:nvSpPr>
          <p:cNvPr id="20" name="TextBox 19"/>
          <p:cNvSpPr txBox="1"/>
          <p:nvPr/>
        </p:nvSpPr>
        <p:spPr>
          <a:xfrm>
            <a:off x="228600" y="5669280"/>
            <a:ext cx="8686800" cy="246888"/>
          </a:xfrm>
          <a:prstGeom prst="rect">
            <a:avLst/>
          </a:prstGeom>
          <a:noFill/>
        </p:spPr>
        <p:txBody>
          <a:bodyPr wrap="square">
            <a:spAutoFit/>
          </a:bodyPr>
          <a:lstStyle/>
          <a:p>
            <a:pPr algn="l">
              <a:lnSpc>
                <a:spcPts val="1500"/>
              </a:lnSpc>
            </a:pPr>
            <a:r>
              <a:rPr sz="1050" b="0" i="1">
                <a:solidFill>
                  <a:srgbClr val="1A1A6E"/>
                </a:solidFill>
              </a:rPr>
              <a:t>"What if I'm wasting the spot?" he said.</a:t>
            </a:r>
          </a:p>
        </p:txBody>
      </p:sp>
      <p:sp>
        <p:nvSpPr>
          <p:cNvPr id="21" name="TextBox 20"/>
          <p:cNvSpPr txBox="1"/>
          <p:nvPr/>
        </p:nvSpPr>
        <p:spPr>
          <a:xfrm>
            <a:off x="228600" y="5925312"/>
            <a:ext cx="8686800" cy="246888"/>
          </a:xfrm>
          <a:prstGeom prst="rect">
            <a:avLst/>
          </a:prstGeom>
          <a:noFill/>
        </p:spPr>
        <p:txBody>
          <a:bodyPr wrap="square">
            <a:spAutoFit/>
          </a:bodyPr>
          <a:lstStyle/>
          <a:p>
            <a:pPr algn="l">
              <a:lnSpc>
                <a:spcPts val="1500"/>
              </a:lnSpc>
            </a:pPr>
            <a:r>
              <a:rPr sz="1050" b="0" i="1">
                <a:solidFill>
                  <a:srgbClr val="1A1A6E"/>
                </a:solidFill>
              </a:rPr>
              <a:t>"On something you're actually interested in?"</a:t>
            </a:r>
          </a:p>
        </p:txBody>
      </p:sp>
      <p:sp>
        <p:nvSpPr>
          <p:cNvPr id="22" name="TextBox 21"/>
          <p:cNvSpPr txBox="1"/>
          <p:nvPr/>
        </p:nvSpPr>
        <p:spPr>
          <a:xfrm>
            <a:off x="228600" y="6181344"/>
            <a:ext cx="8686800" cy="246888"/>
          </a:xfrm>
          <a:prstGeom prst="rect">
            <a:avLst/>
          </a:prstGeom>
          <a:noFill/>
        </p:spPr>
        <p:txBody>
          <a:bodyPr wrap="square">
            <a:spAutoFit/>
          </a:bodyPr>
          <a:lstStyle/>
          <a:p>
            <a:pPr algn="l">
              <a:lnSpc>
                <a:spcPts val="1500"/>
              </a:lnSpc>
            </a:pPr>
            <a:r>
              <a:rPr sz="1050" b="0" i="1">
                <a:solidFill>
                  <a:srgbClr val="1A1A6E"/>
                </a:solidFill>
              </a:rPr>
              <a:t>"On something that doesn't... matter."</a:t>
            </a:r>
          </a:p>
        </p:txBody>
      </p:sp>
      <p:sp>
        <p:nvSpPr>
          <p:cNvPr id="23" name="TextBox 22"/>
          <p:cNvSpPr txBox="1"/>
          <p:nvPr/>
        </p:nvSpPr>
        <p:spPr>
          <a:xfrm>
            <a:off x="228600" y="6437376"/>
            <a:ext cx="8686800" cy="246888"/>
          </a:xfrm>
          <a:prstGeom prst="rect">
            <a:avLst/>
          </a:prstGeom>
          <a:noFill/>
        </p:spPr>
        <p:txBody>
          <a:bodyPr wrap="square">
            <a:spAutoFit/>
          </a:bodyPr>
          <a:lstStyle/>
          <a:p>
            <a:pPr algn="l">
              <a:lnSpc>
                <a:spcPts val="1500"/>
              </a:lnSpc>
            </a:pPr>
            <a:r>
              <a:rPr sz="1050" b="0" i="1">
                <a:solidFill>
                  <a:srgbClr val="1A1A6E"/>
                </a:solidFill>
              </a:rPr>
              <a:t>Maya put her pencil down. "Jordan. Why does it not matter that you want to learn how to cook?"</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"Period Seven"</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Jordan erases his choice because it 'sounds like he's not taking school seriously.' Where
does that belief come from — and is it accurate?</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asks why cooking 'doesn't matter.' How would you answer that question honestly?</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What's the difference between choosing an elective you enjoy and choosing one that looks
impressive? Does that difference matter for 9th grade?</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If period seven were yours to fill in today, what would you choose — and why? Would you feel
confident saying that choice out loud?</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Warrior Seminar — Your Built-In Support</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Every 9th grader takes Warrior Seminar (unless in AVID or AP Human Geo Enrichment). This
course is designed specifically to help you transition to high school — it covers time
management, note-taking strategies, career awareness, and builds your post-secondary
portfolio. You'll meet with a professional mentor four times during the year. This
course is DIRECTLY connected to Warrior Prep — everything you learn here will help you
succeed there.</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What 9th grade course are you most looking forward to? Most nervous about?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Build Your Mock Schedule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Use the Academic Planning Guide to build your complete 9th grade mock schedule below.
Fill in ALL 7 periods for both semesters. Be sure to: include all required courses,
choose electives that connect to your career interests from Unit 2, check prerequisites,
and verify you are on the right math track.</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7F3F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Your 9th grade registration is final at Two Rivers. The time to plan carefully is now, not in December.</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Build Your Mock Schedule  —  Lesson 4.2</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15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Build your complete 7-period mock schedule for BOTH semesters. Check prerequisites for every elective. Connect electives to your Unit 2 career interests.</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Build your complete 7-period mock schedule for BOTH semesters. Check prerequisites for every elective. Connect electives to your Unit 2 career interests.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4.2: My Mock 9th Grade Schedule</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Quick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Look at your completed mock schedule. Which course are you most excited about and why? Which course concerns you most and why? What can you do NOW to prepare for that course?</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4.3  ·  5 minutes</a:t>
            </a:r>
          </a:p>
        </p:txBody>
      </p:sp>
      <p:sp>
        <p:nvSpPr>
          <p:cNvPr id="7" name="Rectangle 6"/>
          <p:cNvSpPr/>
          <p:nvPr/>
        </p:nvSpPr>
        <p:spPr>
          <a:xfrm>
            <a:off x="228600" y="868680"/>
            <a:ext cx="1463040"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ANTICIPATION</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Activity Assumption Check</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Agree, Disagree, or It Depends — write a reason for each:
1. 'Students who do extracurriculars have lower GPAs because they have less study time.'
A / D / ID:  Reason: ________________________________
2. 'It's better to try one activity deeply than three activities lightly.'
A / D / ID:  Reason: ________________________________
3. 'You should decide your activities before 9th grade starts.'
A / D / ID:  Reason: ________________________________</a:t>
            </a:r>
          </a:p>
        </p:txBody>
      </p:sp>
      <p:sp>
        <p:nvSpPr>
          <p:cNvPr id="13" name="Rectangle 12"/>
          <p:cNvSpPr/>
          <p:nvPr/>
        </p:nvSpPr>
        <p:spPr>
          <a:xfrm>
            <a:off x="228600" y="4919472"/>
            <a:ext cx="8686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Pair debate (1 min) — who changed their mind after hearing a partner?</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4.3  |  Unit 4: My 9th Grade Year Plan</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Activities, Clubs &amp; Sports at TRHS</a:t>
            </a:r>
          </a:p>
        </p:txBody>
      </p:sp>
      <p:sp>
        <p:nvSpPr>
          <p:cNvPr id="6" name="Rectangle 5"/>
          <p:cNvSpPr/>
          <p:nvPr/>
        </p:nvSpPr>
        <p:spPr>
          <a:xfrm>
            <a:off x="182880" y="1024128"/>
            <a:ext cx="8778240" cy="329184"/>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Identify at least 5 activities, clubs, or sports available at TRHS.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Evaluate how involvement in extracurriculars connects to skills, relationships, and college readiness.</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Create a personal list of activities they want to try in 9th grade.</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7F3F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7F3F99"/>
                </a:solidFill>
              </a:rPr>
              <a:t>Credit</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creditum (something entrusted) — from credere (to believe, trust)</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In school, a unit of earned academic achievement. In life, earned trust and recognition for your work and involvement.</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572000"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961888" y="5623560"/>
            <a:ext cx="2084831"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715000"/>
            <a:ext cx="2011679" cy="320040"/>
          </a:xfrm>
          <a:prstGeom prst="rect">
            <a:avLst/>
          </a:prstGeom>
          <a:noFill/>
        </p:spPr>
        <p:txBody>
          <a:bodyPr wrap="square">
            <a:spAutoFit/>
          </a:bodyPr>
          <a:lstStyle/>
          <a:p>
            <a:pPr algn="ctr"/>
            <a:r>
              <a:rPr sz="1100" b="1" i="0">
                <a:solidFill>
                  <a:srgbClr val="FFFFFF"/>
                </a:solidFill>
              </a:rPr>
              <a:t>12</a:t>
            </a:r>
          </a:p>
        </p:txBody>
      </p:sp>
      <p:sp>
        <p:nvSpPr>
          <p:cNvPr id="36" name="TextBox 35"/>
          <p:cNvSpPr txBox="1"/>
          <p:nvPr/>
        </p:nvSpPr>
        <p:spPr>
          <a:xfrm>
            <a:off x="5961888" y="6163056"/>
            <a:ext cx="2084831"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19"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5"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19"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7F3F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More Than a Club: The Case for Getting Involved in High School</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on extracurricular involvement and adolescent development</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More Than a Club: The Case for Getting Involved in High School  (p. 1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Here is a finding that consistently surprises students: research shows that high school
students who participate in extracurricular activities have higher GPAs, better
attendance, lower dropout rates, and stronger social-emotional well-being than students
who do not. This is not because athletes or musicians are smarter than other students.
It is because structured activities create accountability, belonging, and purpose —
three conditions that are powerful drivers of academic motivation.</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Belonging is especially important during the transition to high school. The 9th grade
year is consistently identified by researchers as the most pivotal in a student's
educational trajectory. Students who feel connected to their school in 9th grade — who
have relationships with peers and adults outside of a single classroom — are
significantly more likely to graduate and go on to post-secondary education.
Extracurricular activities are the most reliable pathway to that connection.</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More Than a Club: The Case for Getting Involved in High School  (p. 2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Two Rivers offers an extraordinary range of options: more than 20 clubs, a full spectrum
of seasonal sports for boys and girls, performance groups in music and theater, service
organizations like Key Club and LINK Crew, academic competitions like Speech and Science
Olympiad, and student governance through Student Council. The variety matters: there is
something here for every student, whether your strength is leadership, creativity,
competition, service, or simply finding people who share your interests.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The students who struggle most with extracurricular involvement usually cite one of two
concerns: time and fear. Time is a real challenge — athletics especially can demand
10-15 hours per week during a season. But research actually shows that students involved
in activities manage their time better, not worse — the constraint of a packed schedule
forces the discipline that students without those constraints often lack. Fear of trying
something new is real too. But the research is clear: students who join at least one new
activity in 9th grade consistently report that it was one of the best decisions they
made in high school.</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'More Than a Club: The Case for Getting Involved in High School'</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7F3F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does the research say about the relationship between extracurricular involvement and
academic performance? Why does this relationship exist?</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7F3F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Why is belonging especially important during the 9th grade year, according to the reading?</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7F3F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The reading mentions students cite 'time' and 'fear' as barriers to involvement. How does the
reading respond to each concern?</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7F3F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Two Rivers offers more than 20 clubs and many sports and activities. Which THREE interest you
most? For each, explain why and what you would hope to get out of it.</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7F3F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The reading says 'students who join at least one new activity in 9th grade consistently report
it was one of the best decisions they made in high school.' What is ONE activity you have never
tried before that you are willing to commit to trying? What makes it a stretch for you?</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4.3</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Why Join a Club or Sport in High School? The Research Says...</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College Prep Academy  ·  approx. 5 min</a:t>
            </a:r>
          </a:p>
        </p:txBody>
      </p:sp>
      <p:sp>
        <p:nvSpPr>
          <p:cNvPr id="9" name="Rectangle 8"/>
          <p:cNvSpPr/>
          <p:nvPr/>
        </p:nvSpPr>
        <p:spPr>
          <a:xfrm>
            <a:off x="365760" y="2377440"/>
            <a:ext cx="8412480" cy="2743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7F3F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is the research finding that surprises students the most?</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"Student Athletes — How Do They Manage Time?"  |  TED-Ed</a:t>
            </a:r>
          </a:p>
        </p:txBody>
      </p:sp>
      <p:sp>
        <p:nvSpPr>
          <p:cNvPr id="16" name="Rectangle 15">
            <a:hlinkClick r:id="rId3"/>
          </p:cNvPr>
          <p:cNvSpPr/>
          <p:nvPr/>
        </p:nvSpPr>
        <p:spPr>
          <a:xfrm>
            <a:off x="2743200" y="4480560"/>
            <a:ext cx="3657600" cy="7498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Sign-Up"  —  Lesson 4.3</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The activities fair was in the gym. Tables for every club, sport, and program.</a:t>
            </a:r>
          </a:p>
        </p:txBody>
      </p:sp>
      <p:sp>
        <p:nvSpPr>
          <p:cNvPr id="7" name="TextBox 6"/>
          <p:cNvSpPr txBox="1"/>
          <p:nvPr/>
        </p:nvSpPr>
        <p:spPr>
          <a:xfrm>
            <a:off x="228600" y="1133856"/>
            <a:ext cx="8686800" cy="448056"/>
          </a:xfrm>
          <a:prstGeom prst="rect">
            <a:avLst/>
          </a:prstGeom>
          <a:noFill/>
        </p:spPr>
        <p:txBody>
          <a:bodyPr wrap="square">
            <a:spAutoFit/>
          </a:bodyPr>
          <a:lstStyle/>
          <a:p>
            <a:pPr algn="l">
              <a:lnSpc>
                <a:spcPts val="1500"/>
              </a:lnSpc>
            </a:pPr>
            <a:r>
              <a:rPr sz="1000" b="0" i="0">
                <a:solidFill>
                  <a:srgbClr val="212121"/>
                </a:solidFill>
              </a:rPr>
              <a:t>Eli went straight to the lacrosse table. He'd played since fifth grade. That wasn't a
decision; it was just what he did.</a:t>
            </a:r>
          </a:p>
        </p:txBody>
      </p:sp>
      <p:sp>
        <p:nvSpPr>
          <p:cNvPr id="8" name="TextBox 7"/>
          <p:cNvSpPr txBox="1"/>
          <p:nvPr/>
        </p:nvSpPr>
        <p:spPr>
          <a:xfrm>
            <a:off x="228600" y="1591056"/>
            <a:ext cx="8686800" cy="649224"/>
          </a:xfrm>
          <a:prstGeom prst="rect">
            <a:avLst/>
          </a:prstGeom>
          <a:noFill/>
        </p:spPr>
        <p:txBody>
          <a:bodyPr wrap="square">
            <a:spAutoFit/>
          </a:bodyPr>
          <a:lstStyle/>
          <a:p>
            <a:pPr algn="l">
              <a:lnSpc>
                <a:spcPts val="1500"/>
              </a:lnSpc>
            </a:pPr>
            <a:r>
              <a:rPr sz="1000" b="0" i="0">
                <a:solidFill>
                  <a:srgbClr val="212121"/>
                </a:solidFill>
              </a:rPr>
              <a:t>Jordan went to the photography club table because his friend was going, then to the robotics
table because the poster was cool, then to get a water from the concession stand. He held
three sign-up sheets and hadn't committed to any of them.</a:t>
            </a:r>
          </a:p>
        </p:txBody>
      </p:sp>
      <p:sp>
        <p:nvSpPr>
          <p:cNvPr id="9" name="TextBox 8"/>
          <p:cNvSpPr txBox="1"/>
          <p:nvPr/>
        </p:nvSpPr>
        <p:spPr>
          <a:xfrm>
            <a:off x="228600" y="2249424"/>
            <a:ext cx="8686800" cy="246888"/>
          </a:xfrm>
          <a:prstGeom prst="rect">
            <a:avLst/>
          </a:prstGeom>
          <a:noFill/>
        </p:spPr>
        <p:txBody>
          <a:bodyPr wrap="square">
            <a:spAutoFit/>
          </a:bodyPr>
          <a:lstStyle/>
          <a:p>
            <a:pPr algn="l">
              <a:lnSpc>
                <a:spcPts val="1500"/>
              </a:lnSpc>
            </a:pPr>
            <a:r>
              <a:rPr sz="1000" b="0" i="0">
                <a:solidFill>
                  <a:srgbClr val="212121"/>
                </a:solidFill>
              </a:rPr>
              <a:t>Priya stood near the entrance for four minutes without moving.</a:t>
            </a:r>
          </a:p>
        </p:txBody>
      </p:sp>
      <p:sp>
        <p:nvSpPr>
          <p:cNvPr id="10" name="TextBox 9"/>
          <p:cNvSpPr txBox="1"/>
          <p:nvPr/>
        </p:nvSpPr>
        <p:spPr>
          <a:xfrm>
            <a:off x="228600" y="2505456"/>
            <a:ext cx="8686800" cy="448056"/>
          </a:xfrm>
          <a:prstGeom prst="rect">
            <a:avLst/>
          </a:prstGeom>
          <a:noFill/>
        </p:spPr>
        <p:txBody>
          <a:bodyPr wrap="square">
            <a:spAutoFit/>
          </a:bodyPr>
          <a:lstStyle/>
          <a:p>
            <a:pPr algn="l">
              <a:lnSpc>
                <a:spcPts val="1500"/>
              </a:lnSpc>
            </a:pPr>
            <a:r>
              <a:rPr sz="1000" b="0" i="0">
                <a:solidFill>
                  <a:srgbClr val="212121"/>
                </a:solidFill>
              </a:rPr>
              <a:t>There was a Literary Magazine table on the left. She wrote. Not for anyone, not for any class
— she just wrote, in notebooks she kept in her desk drawer at home. She'd never told anyone.</a:t>
            </a:r>
          </a:p>
        </p:txBody>
      </p:sp>
      <p:sp>
        <p:nvSpPr>
          <p:cNvPr id="11" name="TextBox 10"/>
          <p:cNvSpPr txBox="1"/>
          <p:nvPr/>
        </p:nvSpPr>
        <p:spPr>
          <a:xfrm>
            <a:off x="228600" y="2962656"/>
            <a:ext cx="8686800" cy="448056"/>
          </a:xfrm>
          <a:prstGeom prst="rect">
            <a:avLst/>
          </a:prstGeom>
          <a:noFill/>
        </p:spPr>
        <p:txBody>
          <a:bodyPr wrap="square">
            <a:spAutoFit/>
          </a:bodyPr>
          <a:lstStyle/>
          <a:p>
            <a:pPr algn="l">
              <a:lnSpc>
                <a:spcPts val="1500"/>
              </a:lnSpc>
            </a:pPr>
            <a:r>
              <a:rPr sz="1000" b="0" i="0">
                <a:solidFill>
                  <a:srgbClr val="212121"/>
                </a:solidFill>
              </a:rPr>
              <a:t>She walked toward it. Stopped. Walked toward the Computer Science club table instead — more
practical, she told herself, better for applications.</a:t>
            </a:r>
          </a:p>
        </p:txBody>
      </p:sp>
      <p:sp>
        <p:nvSpPr>
          <p:cNvPr id="12" name="TextBox 11"/>
          <p:cNvSpPr txBox="1"/>
          <p:nvPr/>
        </p:nvSpPr>
        <p:spPr>
          <a:xfrm>
            <a:off x="228600" y="3419856"/>
            <a:ext cx="8686800" cy="246888"/>
          </a:xfrm>
          <a:prstGeom prst="rect">
            <a:avLst/>
          </a:prstGeom>
          <a:noFill/>
        </p:spPr>
        <p:txBody>
          <a:bodyPr wrap="square">
            <a:spAutoFit/>
          </a:bodyPr>
          <a:lstStyle/>
          <a:p>
            <a:pPr algn="l">
              <a:lnSpc>
                <a:spcPts val="1500"/>
              </a:lnSpc>
            </a:pPr>
            <a:r>
              <a:rPr sz="1050" b="0" i="1">
                <a:solidFill>
                  <a:srgbClr val="1A1A6E"/>
                </a:solidFill>
              </a:rPr>
              <a:t>Eli found her at the CS table. "You doing CS club?"</a:t>
            </a:r>
          </a:p>
        </p:txBody>
      </p:sp>
      <p:sp>
        <p:nvSpPr>
          <p:cNvPr id="13" name="TextBox 12"/>
          <p:cNvSpPr txBox="1"/>
          <p:nvPr/>
        </p:nvSpPr>
        <p:spPr>
          <a:xfrm>
            <a:off x="228600" y="3675888"/>
            <a:ext cx="8686800" cy="246888"/>
          </a:xfrm>
          <a:prstGeom prst="rect">
            <a:avLst/>
          </a:prstGeom>
          <a:noFill/>
        </p:spPr>
        <p:txBody>
          <a:bodyPr wrap="square">
            <a:spAutoFit/>
          </a:bodyPr>
          <a:lstStyle/>
          <a:p>
            <a:pPr algn="l">
              <a:lnSpc>
                <a:spcPts val="1500"/>
              </a:lnSpc>
            </a:pPr>
            <a:r>
              <a:rPr sz="1050" b="0" i="1">
                <a:solidFill>
                  <a:srgbClr val="1A1A6E"/>
                </a:solidFill>
              </a:rPr>
              <a:t>"Maybe."</a:t>
            </a:r>
          </a:p>
        </p:txBody>
      </p:sp>
      <p:sp>
        <p:nvSpPr>
          <p:cNvPr id="14" name="TextBox 13"/>
          <p:cNvSpPr txBox="1"/>
          <p:nvPr/>
        </p:nvSpPr>
        <p:spPr>
          <a:xfrm>
            <a:off x="228600" y="3931920"/>
            <a:ext cx="8686800" cy="246888"/>
          </a:xfrm>
          <a:prstGeom prst="rect">
            <a:avLst/>
          </a:prstGeom>
          <a:noFill/>
        </p:spPr>
        <p:txBody>
          <a:bodyPr wrap="square">
            <a:spAutoFit/>
          </a:bodyPr>
          <a:lstStyle/>
          <a:p>
            <a:pPr algn="l">
              <a:lnSpc>
                <a:spcPts val="1500"/>
              </a:lnSpc>
            </a:pPr>
            <a:r>
              <a:rPr sz="1050" b="0" i="1">
                <a:solidFill>
                  <a:srgbClr val="1A1A6E"/>
                </a:solidFill>
              </a:rPr>
              <a:t>"Cool." He paused. "You looked at the other one though. The writing one."</a:t>
            </a:r>
          </a:p>
        </p:txBody>
      </p:sp>
      <p:sp>
        <p:nvSpPr>
          <p:cNvPr id="15" name="TextBox 14"/>
          <p:cNvSpPr txBox="1"/>
          <p:nvPr/>
        </p:nvSpPr>
        <p:spPr>
          <a:xfrm>
            <a:off x="228600" y="4187952"/>
            <a:ext cx="8686800" cy="246888"/>
          </a:xfrm>
          <a:prstGeom prst="rect">
            <a:avLst/>
          </a:prstGeom>
          <a:noFill/>
        </p:spPr>
        <p:txBody>
          <a:bodyPr wrap="square">
            <a:spAutoFit/>
          </a:bodyPr>
          <a:lstStyle/>
          <a:p>
            <a:pPr algn="l">
              <a:lnSpc>
                <a:spcPts val="1500"/>
              </a:lnSpc>
            </a:pPr>
            <a:r>
              <a:rPr sz="1050" b="0" i="1">
                <a:solidFill>
                  <a:srgbClr val="1A1A6E"/>
                </a:solidFill>
              </a:rPr>
              <a:t>"I write sometimes."</a:t>
            </a:r>
          </a:p>
        </p:txBody>
      </p:sp>
      <p:sp>
        <p:nvSpPr>
          <p:cNvPr id="16" name="TextBox 15"/>
          <p:cNvSpPr txBox="1"/>
          <p:nvPr/>
        </p:nvSpPr>
        <p:spPr>
          <a:xfrm>
            <a:off x="228600" y="4443984"/>
            <a:ext cx="8686800" cy="246888"/>
          </a:xfrm>
          <a:prstGeom prst="rect">
            <a:avLst/>
          </a:prstGeom>
          <a:noFill/>
        </p:spPr>
        <p:txBody>
          <a:bodyPr wrap="square">
            <a:spAutoFit/>
          </a:bodyPr>
          <a:lstStyle/>
          <a:p>
            <a:pPr algn="l">
              <a:lnSpc>
                <a:spcPts val="1500"/>
              </a:lnSpc>
            </a:pPr>
            <a:r>
              <a:rPr sz="1050" b="0" i="1">
                <a:solidFill>
                  <a:srgbClr val="1A1A6E"/>
                </a:solidFill>
              </a:rPr>
              <a:t>"Like, for fun?"</a:t>
            </a:r>
          </a:p>
        </p:txBody>
      </p:sp>
      <p:sp>
        <p:nvSpPr>
          <p:cNvPr id="17" name="TextBox 16"/>
          <p:cNvSpPr txBox="1"/>
          <p:nvPr/>
        </p:nvSpPr>
        <p:spPr>
          <a:xfrm>
            <a:off x="228600" y="4700016"/>
            <a:ext cx="8686800" cy="246888"/>
          </a:xfrm>
          <a:prstGeom prst="rect">
            <a:avLst/>
          </a:prstGeom>
          <a:noFill/>
        </p:spPr>
        <p:txBody>
          <a:bodyPr wrap="square">
            <a:spAutoFit/>
          </a:bodyPr>
          <a:lstStyle/>
          <a:p>
            <a:pPr algn="l">
              <a:lnSpc>
                <a:spcPts val="1500"/>
              </a:lnSpc>
            </a:pPr>
            <a:r>
              <a:rPr sz="1000" b="0" i="0">
                <a:solidFill>
                  <a:srgbClr val="212121"/>
                </a:solidFill>
              </a:rPr>
              <a:t>She didn't answer. For fun was hard to say out loud, like it was a confession.</a:t>
            </a:r>
          </a:p>
        </p:txBody>
      </p:sp>
      <p:sp>
        <p:nvSpPr>
          <p:cNvPr id="18" name="TextBox 17"/>
          <p:cNvSpPr txBox="1"/>
          <p:nvPr/>
        </p:nvSpPr>
        <p:spPr>
          <a:xfrm>
            <a:off x="228600" y="4956048"/>
            <a:ext cx="8686800" cy="246888"/>
          </a:xfrm>
          <a:prstGeom prst="rect">
            <a:avLst/>
          </a:prstGeom>
          <a:noFill/>
        </p:spPr>
        <p:txBody>
          <a:bodyPr wrap="square">
            <a:spAutoFit/>
          </a:bodyPr>
          <a:lstStyle/>
          <a:p>
            <a:pPr algn="l">
              <a:lnSpc>
                <a:spcPts val="1500"/>
              </a:lnSpc>
            </a:pPr>
            <a:r>
              <a:rPr sz="1050" b="0" i="1">
                <a:solidFill>
                  <a:srgbClr val="1A1A6E"/>
                </a:solidFill>
              </a:rPr>
              <a:t>"Priya," Eli said, "you should do the thing you actually want to do."</a:t>
            </a:r>
          </a:p>
        </p:txBody>
      </p:sp>
      <p:sp>
        <p:nvSpPr>
          <p:cNvPr id="19" name="TextBox 18"/>
          <p:cNvSpPr txBox="1"/>
          <p:nvPr/>
        </p:nvSpPr>
        <p:spPr>
          <a:xfrm>
            <a:off x="228600" y="5212080"/>
            <a:ext cx="8686800" cy="246888"/>
          </a:xfrm>
          <a:prstGeom prst="rect">
            <a:avLst/>
          </a:prstGeom>
          <a:noFill/>
        </p:spPr>
        <p:txBody>
          <a:bodyPr wrap="square">
            <a:spAutoFit/>
          </a:bodyPr>
          <a:lstStyle/>
          <a:p>
            <a:pPr algn="l">
              <a:lnSpc>
                <a:spcPts val="1500"/>
              </a:lnSpc>
            </a:pPr>
            <a:r>
              <a:rPr sz="1050" b="0" i="1">
                <a:solidFill>
                  <a:srgbClr val="1A1A6E"/>
                </a:solidFill>
              </a:rPr>
              <a:t>"CS is more useful."</a:t>
            </a:r>
          </a:p>
        </p:txBody>
      </p:sp>
      <p:sp>
        <p:nvSpPr>
          <p:cNvPr id="20" name="TextBox 19"/>
          <p:cNvSpPr txBox="1"/>
          <p:nvPr/>
        </p:nvSpPr>
        <p:spPr>
          <a:xfrm>
            <a:off x="228600" y="5468112"/>
            <a:ext cx="8686800" cy="246888"/>
          </a:xfrm>
          <a:prstGeom prst="rect">
            <a:avLst/>
          </a:prstGeom>
          <a:noFill/>
        </p:spPr>
        <p:txBody>
          <a:bodyPr wrap="square">
            <a:spAutoFit/>
          </a:bodyPr>
          <a:lstStyle/>
          <a:p>
            <a:pPr algn="l">
              <a:lnSpc>
                <a:spcPts val="1500"/>
              </a:lnSpc>
            </a:pPr>
            <a:r>
              <a:rPr sz="1050" b="0" i="1">
                <a:solidFill>
                  <a:srgbClr val="1A1A6E"/>
                </a:solidFill>
              </a:rPr>
              <a:t>"Useful for what?"</a:t>
            </a:r>
          </a:p>
        </p:txBody>
      </p:sp>
      <p:sp>
        <p:nvSpPr>
          <p:cNvPr id="21" name="TextBox 20"/>
          <p:cNvSpPr txBox="1"/>
          <p:nvPr/>
        </p:nvSpPr>
        <p:spPr>
          <a:xfrm>
            <a:off x="228600" y="5724144"/>
            <a:ext cx="8686800" cy="649224"/>
          </a:xfrm>
          <a:prstGeom prst="rect">
            <a:avLst/>
          </a:prstGeom>
          <a:noFill/>
        </p:spPr>
        <p:txBody>
          <a:bodyPr wrap="square">
            <a:spAutoFit/>
          </a:bodyPr>
          <a:lstStyle/>
          <a:p>
            <a:pPr algn="l">
              <a:lnSpc>
                <a:spcPts val="1500"/>
              </a:lnSpc>
            </a:pPr>
            <a:r>
              <a:rPr sz="1000" b="0" i="0">
                <a:solidFill>
                  <a:srgbClr val="212121"/>
                </a:solidFill>
              </a:rPr>
              <a:t>She looked at the Literary Magazine table. A student was talking about a piece they'd had
published in a regional anthology. Priya had never told anyone she wanted to do something like
that.</a:t>
            </a:r>
          </a:p>
        </p:txBody>
      </p:sp>
      <p:sp>
        <p:nvSpPr>
          <p:cNvPr id="22" name="TextBox 21"/>
          <p:cNvSpPr txBox="1"/>
          <p:nvPr/>
        </p:nvSpPr>
        <p:spPr>
          <a:xfrm>
            <a:off x="228600" y="6382512"/>
            <a:ext cx="8686800" cy="246888"/>
          </a:xfrm>
          <a:prstGeom prst="rect">
            <a:avLst/>
          </a:prstGeom>
          <a:noFill/>
        </p:spPr>
        <p:txBody>
          <a:bodyPr wrap="square">
            <a:spAutoFit/>
          </a:bodyPr>
          <a:lstStyle/>
          <a:p>
            <a:pPr algn="l">
              <a:lnSpc>
                <a:spcPts val="1500"/>
              </a:lnSpc>
            </a:pPr>
            <a:r>
              <a:rPr sz="1000" b="0" i="0">
                <a:solidFill>
                  <a:srgbClr val="212121"/>
                </a:solidFill>
              </a:rPr>
              <a:t>She picked up the sign-up sheet.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Sign-Up"</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Priya puts the sign-up sheet back down. What is she afraid of — and is that fear logical?</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Eli chooses lacrosse without thinking because it's familiar. Is that a good enough reason?
What are the benefits and costs of choosing what's comfortable?</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Jordan holds three sign-up sheets without committing. What does he need to make an actual
choice — and what's stopping him?</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Is there an activity or interest you've kept private the way Priya keeps her writing private?
What would it take to put it on a sign-up sheet?</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Why Get Involved?</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Research consistently shows that students who are involved in extracurricular activities
have higher GPAs, better attendance, and stronger social connections than students who
are not. Activities build skills you can't get in a classroom: leadership, teamwork,
time management under pressure, commitment, and resilience. They also appear on your
college applications and résumé. Perhaps most importantly, finding something you love at
TRHS makes school a place you WANT to be.</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What has stopped you from trying something new in the past? Is that still a good reason?</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TRHS Activities, Clubs &amp; Sports Directory</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Below is a partial list of activities available at Two Rivers. Circle anything that
interests you. Put a star next to your top 3.</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7F3F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Students with extracurricular involvement have higher GPAs — not because they are smarter, but because structured activities create discipline.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TRHS Activity Exploration  —  Lesson 4.3</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12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Circle every activity that interests you — even a little. Put a star next to your TOP THREE. Be honest, not impressive.</a:t>
            </a:r>
          </a:p>
        </p:txBody>
      </p:sp>
      <p:sp>
        <p:nvSpPr>
          <p:cNvPr id="7" name="Rectangle 6"/>
          <p:cNvSpPr/>
          <p:nvPr/>
        </p:nvSpPr>
        <p:spPr>
          <a:xfrm>
            <a:off x="182880" y="178308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28800"/>
            <a:ext cx="8503920" cy="228600"/>
          </a:xfrm>
          <a:prstGeom prst="rect">
            <a:avLst/>
          </a:prstGeom>
          <a:noFill/>
        </p:spPr>
        <p:txBody>
          <a:bodyPr wrap="square">
            <a:spAutoFit/>
          </a:bodyPr>
          <a:lstStyle/>
          <a:p>
            <a:pPr algn="l"/>
            <a:r>
              <a:rPr sz="1100" b="1" i="0">
                <a:solidFill>
                  <a:srgbClr val="FFFFFF"/>
                </a:solidFill>
              </a:rPr>
              <a:t>Clubs</a:t>
            </a:r>
          </a:p>
        </p:txBody>
      </p:sp>
      <p:sp>
        <p:nvSpPr>
          <p:cNvPr id="9" name="Rectangle 8"/>
          <p:cNvSpPr/>
          <p:nvPr/>
        </p:nvSpPr>
        <p:spPr>
          <a:xfrm>
            <a:off x="182880" y="2130552"/>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185416"/>
            <a:ext cx="2697480" cy="274320"/>
          </a:xfrm>
          <a:prstGeom prst="rect">
            <a:avLst/>
          </a:prstGeom>
          <a:noFill/>
        </p:spPr>
        <p:txBody>
          <a:bodyPr wrap="square">
            <a:spAutoFit/>
          </a:bodyPr>
          <a:lstStyle/>
          <a:p>
            <a:pPr algn="l"/>
            <a:r>
              <a:rPr sz="1000" b="0" i="0">
                <a:solidFill>
                  <a:srgbClr val="212121"/>
                </a:solidFill>
              </a:rPr>
              <a:t>☐  Art Club</a:t>
            </a:r>
          </a:p>
        </p:txBody>
      </p:sp>
      <p:sp>
        <p:nvSpPr>
          <p:cNvPr id="11" name="Rectangle 10"/>
          <p:cNvSpPr/>
          <p:nvPr/>
        </p:nvSpPr>
        <p:spPr>
          <a:xfrm>
            <a:off x="3108960" y="2130552"/>
            <a:ext cx="28346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0" y="2185416"/>
            <a:ext cx="2697480" cy="274320"/>
          </a:xfrm>
          <a:prstGeom prst="rect">
            <a:avLst/>
          </a:prstGeom>
          <a:noFill/>
        </p:spPr>
        <p:txBody>
          <a:bodyPr wrap="square">
            <a:spAutoFit/>
          </a:bodyPr>
          <a:lstStyle/>
          <a:p>
            <a:pPr algn="l"/>
            <a:r>
              <a:rPr sz="1000" b="0" i="0">
                <a:solidFill>
                  <a:srgbClr val="212121"/>
                </a:solidFill>
              </a:rPr>
              <a:t>☐  Asian &amp; Pacific Islander Club</a:t>
            </a:r>
          </a:p>
        </p:txBody>
      </p:sp>
      <p:sp>
        <p:nvSpPr>
          <p:cNvPr id="13" name="Rectangle 12"/>
          <p:cNvSpPr/>
          <p:nvPr/>
        </p:nvSpPr>
        <p:spPr>
          <a:xfrm>
            <a:off x="6035040" y="2130552"/>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2185416"/>
            <a:ext cx="2697480" cy="274320"/>
          </a:xfrm>
          <a:prstGeom prst="rect">
            <a:avLst/>
          </a:prstGeom>
          <a:noFill/>
        </p:spPr>
        <p:txBody>
          <a:bodyPr wrap="square">
            <a:spAutoFit/>
          </a:bodyPr>
          <a:lstStyle/>
          <a:p>
            <a:pPr algn="l"/>
            <a:r>
              <a:rPr sz="1000" b="0" i="0">
                <a:solidFill>
                  <a:srgbClr val="212121"/>
                </a:solidFill>
              </a:rPr>
              <a:t>☐  Bass Fishing</a:t>
            </a:r>
          </a:p>
        </p:txBody>
      </p:sp>
      <p:sp>
        <p:nvSpPr>
          <p:cNvPr id="15" name="Rectangle 14"/>
          <p:cNvSpPr/>
          <p:nvPr/>
        </p:nvSpPr>
        <p:spPr>
          <a:xfrm>
            <a:off x="182880" y="2523744"/>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578608"/>
            <a:ext cx="2697480" cy="274320"/>
          </a:xfrm>
          <a:prstGeom prst="rect">
            <a:avLst/>
          </a:prstGeom>
          <a:noFill/>
        </p:spPr>
        <p:txBody>
          <a:bodyPr wrap="square">
            <a:spAutoFit/>
          </a:bodyPr>
          <a:lstStyle/>
          <a:p>
            <a:pPr algn="l"/>
            <a:r>
              <a:rPr sz="1000" b="0" i="0">
                <a:solidFill>
                  <a:srgbClr val="212121"/>
                </a:solidFill>
              </a:rPr>
              <a:t>☐  Bowling</a:t>
            </a:r>
          </a:p>
        </p:txBody>
      </p:sp>
      <p:sp>
        <p:nvSpPr>
          <p:cNvPr id="17" name="Rectangle 16"/>
          <p:cNvSpPr/>
          <p:nvPr/>
        </p:nvSpPr>
        <p:spPr>
          <a:xfrm>
            <a:off x="3108960" y="2523744"/>
            <a:ext cx="28346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0" y="2578608"/>
            <a:ext cx="2697480" cy="274320"/>
          </a:xfrm>
          <a:prstGeom prst="rect">
            <a:avLst/>
          </a:prstGeom>
          <a:noFill/>
        </p:spPr>
        <p:txBody>
          <a:bodyPr wrap="square">
            <a:spAutoFit/>
          </a:bodyPr>
          <a:lstStyle/>
          <a:p>
            <a:pPr algn="l"/>
            <a:r>
              <a:rPr sz="1000" b="0" i="0">
                <a:solidFill>
                  <a:srgbClr val="212121"/>
                </a:solidFill>
              </a:rPr>
              <a:t>☐  Digital Wellbeing</a:t>
            </a:r>
          </a:p>
        </p:txBody>
      </p:sp>
      <p:sp>
        <p:nvSpPr>
          <p:cNvPr id="19" name="Rectangle 18"/>
          <p:cNvSpPr/>
          <p:nvPr/>
        </p:nvSpPr>
        <p:spPr>
          <a:xfrm>
            <a:off x="6035040" y="2523744"/>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578608"/>
            <a:ext cx="2697480" cy="274320"/>
          </a:xfrm>
          <a:prstGeom prst="rect">
            <a:avLst/>
          </a:prstGeom>
          <a:noFill/>
        </p:spPr>
        <p:txBody>
          <a:bodyPr wrap="square">
            <a:spAutoFit/>
          </a:bodyPr>
          <a:lstStyle/>
          <a:p>
            <a:pPr algn="l"/>
            <a:r>
              <a:rPr sz="1000" b="0" i="0">
                <a:solidFill>
                  <a:srgbClr val="212121"/>
                </a:solidFill>
              </a:rPr>
              <a:t>☐  Dungeons &amp; Dragons</a:t>
            </a:r>
          </a:p>
        </p:txBody>
      </p:sp>
      <p:sp>
        <p:nvSpPr>
          <p:cNvPr id="21" name="Rectangle 20"/>
          <p:cNvSpPr/>
          <p:nvPr/>
        </p:nvSpPr>
        <p:spPr>
          <a:xfrm>
            <a:off x="182880" y="2916936"/>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2962656"/>
            <a:ext cx="8503920" cy="228600"/>
          </a:xfrm>
          <a:prstGeom prst="rect">
            <a:avLst/>
          </a:prstGeom>
          <a:noFill/>
        </p:spPr>
        <p:txBody>
          <a:bodyPr wrap="square">
            <a:spAutoFit/>
          </a:bodyPr>
          <a:lstStyle/>
          <a:p>
            <a:pPr algn="l"/>
            <a:r>
              <a:rPr sz="1100" b="1" i="0">
                <a:solidFill>
                  <a:srgbClr val="FFFFFF"/>
                </a:solidFill>
              </a:rPr>
              <a:t>Activities</a:t>
            </a:r>
          </a:p>
        </p:txBody>
      </p:sp>
      <p:sp>
        <p:nvSpPr>
          <p:cNvPr id="23" name="Rectangle 22"/>
          <p:cNvSpPr/>
          <p:nvPr/>
        </p:nvSpPr>
        <p:spPr>
          <a:xfrm>
            <a:off x="182880" y="3264408"/>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3319272"/>
            <a:ext cx="2697480" cy="274320"/>
          </a:xfrm>
          <a:prstGeom prst="rect">
            <a:avLst/>
          </a:prstGeom>
          <a:noFill/>
        </p:spPr>
        <p:txBody>
          <a:bodyPr wrap="square">
            <a:spAutoFit/>
          </a:bodyPr>
          <a:lstStyle/>
          <a:p>
            <a:pPr algn="l"/>
            <a:r>
              <a:rPr sz="1000" b="0" i="0">
                <a:solidFill>
                  <a:srgbClr val="212121"/>
                </a:solidFill>
              </a:rPr>
              <a:t>☐  Debate</a:t>
            </a:r>
          </a:p>
        </p:txBody>
      </p:sp>
      <p:sp>
        <p:nvSpPr>
          <p:cNvPr id="25" name="Rectangle 24"/>
          <p:cNvSpPr/>
          <p:nvPr/>
        </p:nvSpPr>
        <p:spPr>
          <a:xfrm>
            <a:off x="3108960" y="3264408"/>
            <a:ext cx="28346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3319272"/>
            <a:ext cx="2697480" cy="274320"/>
          </a:xfrm>
          <a:prstGeom prst="rect">
            <a:avLst/>
          </a:prstGeom>
          <a:noFill/>
        </p:spPr>
        <p:txBody>
          <a:bodyPr wrap="square">
            <a:spAutoFit/>
          </a:bodyPr>
          <a:lstStyle/>
          <a:p>
            <a:pPr algn="l"/>
            <a:r>
              <a:rPr sz="1000" b="0" i="0">
                <a:solidFill>
                  <a:srgbClr val="212121"/>
                </a:solidFill>
              </a:rPr>
              <a:t>☐  Fall Play</a:t>
            </a:r>
          </a:p>
        </p:txBody>
      </p:sp>
      <p:sp>
        <p:nvSpPr>
          <p:cNvPr id="27" name="Rectangle 26"/>
          <p:cNvSpPr/>
          <p:nvPr/>
        </p:nvSpPr>
        <p:spPr>
          <a:xfrm>
            <a:off x="6035040" y="3264408"/>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3319272"/>
            <a:ext cx="2697480" cy="274320"/>
          </a:xfrm>
          <a:prstGeom prst="rect">
            <a:avLst/>
          </a:prstGeom>
          <a:noFill/>
        </p:spPr>
        <p:txBody>
          <a:bodyPr wrap="square">
            <a:spAutoFit/>
          </a:bodyPr>
          <a:lstStyle/>
          <a:p>
            <a:pPr algn="l"/>
            <a:r>
              <a:rPr sz="1000" b="0" i="0">
                <a:solidFill>
                  <a:srgbClr val="212121"/>
                </a:solidFill>
              </a:rPr>
              <a:t>☐  Jazz Band</a:t>
            </a:r>
          </a:p>
        </p:txBody>
      </p:sp>
      <p:sp>
        <p:nvSpPr>
          <p:cNvPr id="29" name="Rectangle 28"/>
          <p:cNvSpPr/>
          <p:nvPr/>
        </p:nvSpPr>
        <p:spPr>
          <a:xfrm>
            <a:off x="182880" y="3657600"/>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3712463"/>
            <a:ext cx="2697480" cy="274320"/>
          </a:xfrm>
          <a:prstGeom prst="rect">
            <a:avLst/>
          </a:prstGeom>
          <a:noFill/>
        </p:spPr>
        <p:txBody>
          <a:bodyPr wrap="square">
            <a:spAutoFit/>
          </a:bodyPr>
          <a:lstStyle/>
          <a:p>
            <a:pPr algn="l"/>
            <a:r>
              <a:rPr sz="1000" b="0" i="0">
                <a:solidFill>
                  <a:srgbClr val="212121"/>
                </a:solidFill>
              </a:rPr>
              <a:t>☐  Marching Band</a:t>
            </a:r>
          </a:p>
        </p:txBody>
      </p:sp>
      <p:sp>
        <p:nvSpPr>
          <p:cNvPr id="31" name="Rectangle 30"/>
          <p:cNvSpPr/>
          <p:nvPr/>
        </p:nvSpPr>
        <p:spPr>
          <a:xfrm>
            <a:off x="3108960" y="3657600"/>
            <a:ext cx="28346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0" y="3712463"/>
            <a:ext cx="2697480" cy="274320"/>
          </a:xfrm>
          <a:prstGeom prst="rect">
            <a:avLst/>
          </a:prstGeom>
          <a:noFill/>
        </p:spPr>
        <p:txBody>
          <a:bodyPr wrap="square">
            <a:spAutoFit/>
          </a:bodyPr>
          <a:lstStyle/>
          <a:p>
            <a:pPr algn="l"/>
            <a:r>
              <a:rPr sz="1000" b="0" i="0">
                <a:solidFill>
                  <a:srgbClr val="212121"/>
                </a:solidFill>
              </a:rPr>
              <a:t>☐  Musical</a:t>
            </a:r>
          </a:p>
        </p:txBody>
      </p:sp>
      <p:sp>
        <p:nvSpPr>
          <p:cNvPr id="33" name="Rectangle 32"/>
          <p:cNvSpPr/>
          <p:nvPr/>
        </p:nvSpPr>
        <p:spPr>
          <a:xfrm>
            <a:off x="6035040" y="3657600"/>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3712463"/>
            <a:ext cx="2697480" cy="274320"/>
          </a:xfrm>
          <a:prstGeom prst="rect">
            <a:avLst/>
          </a:prstGeom>
          <a:noFill/>
        </p:spPr>
        <p:txBody>
          <a:bodyPr wrap="square">
            <a:spAutoFit/>
          </a:bodyPr>
          <a:lstStyle/>
          <a:p>
            <a:pPr algn="l"/>
            <a:r>
              <a:rPr sz="1000" b="0" i="0">
                <a:solidFill>
                  <a:srgbClr val="212121"/>
                </a:solidFill>
              </a:rPr>
              <a:t>☐  One Act Play</a:t>
            </a:r>
          </a:p>
        </p:txBody>
      </p:sp>
      <p:sp>
        <p:nvSpPr>
          <p:cNvPr id="35" name="Rectangle 34"/>
          <p:cNvSpPr/>
          <p:nvPr/>
        </p:nvSpPr>
        <p:spPr>
          <a:xfrm>
            <a:off x="182880" y="4050791"/>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4096511"/>
            <a:ext cx="8503920" cy="228600"/>
          </a:xfrm>
          <a:prstGeom prst="rect">
            <a:avLst/>
          </a:prstGeom>
          <a:noFill/>
        </p:spPr>
        <p:txBody>
          <a:bodyPr wrap="square">
            <a:spAutoFit/>
          </a:bodyPr>
          <a:lstStyle/>
          <a:p>
            <a:pPr algn="l"/>
            <a:r>
              <a:rPr sz="1100" b="1" i="0">
                <a:solidFill>
                  <a:srgbClr val="FFFFFF"/>
                </a:solidFill>
              </a:rPr>
              <a:t>Service Groups</a:t>
            </a:r>
          </a:p>
        </p:txBody>
      </p:sp>
      <p:sp>
        <p:nvSpPr>
          <p:cNvPr id="37" name="Rectangle 36"/>
          <p:cNvSpPr/>
          <p:nvPr/>
        </p:nvSpPr>
        <p:spPr>
          <a:xfrm>
            <a:off x="182880" y="4398264"/>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4453127"/>
            <a:ext cx="2697480" cy="274320"/>
          </a:xfrm>
          <a:prstGeom prst="rect">
            <a:avLst/>
          </a:prstGeom>
          <a:noFill/>
        </p:spPr>
        <p:txBody>
          <a:bodyPr wrap="square">
            <a:spAutoFit/>
          </a:bodyPr>
          <a:lstStyle/>
          <a:p>
            <a:pPr algn="l"/>
            <a:r>
              <a:rPr sz="1000" b="0" i="0">
                <a:solidFill>
                  <a:srgbClr val="212121"/>
                </a:solidFill>
              </a:rPr>
              <a:t>☐  ALMAS</a:t>
            </a:r>
          </a:p>
        </p:txBody>
      </p:sp>
      <p:sp>
        <p:nvSpPr>
          <p:cNvPr id="39" name="Rectangle 38"/>
          <p:cNvSpPr/>
          <p:nvPr/>
        </p:nvSpPr>
        <p:spPr>
          <a:xfrm>
            <a:off x="3108960" y="4398264"/>
            <a:ext cx="28346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0" y="4453127"/>
            <a:ext cx="2697480" cy="274320"/>
          </a:xfrm>
          <a:prstGeom prst="rect">
            <a:avLst/>
          </a:prstGeom>
          <a:noFill/>
        </p:spPr>
        <p:txBody>
          <a:bodyPr wrap="square">
            <a:spAutoFit/>
          </a:bodyPr>
          <a:lstStyle/>
          <a:p>
            <a:pPr algn="l"/>
            <a:r>
              <a:rPr sz="1000" b="0" i="0">
                <a:solidFill>
                  <a:srgbClr val="212121"/>
                </a:solidFill>
              </a:rPr>
              <a:t>☐  Key Club</a:t>
            </a:r>
          </a:p>
        </p:txBody>
      </p:sp>
      <p:sp>
        <p:nvSpPr>
          <p:cNvPr id="41" name="Rectangle 40"/>
          <p:cNvSpPr/>
          <p:nvPr/>
        </p:nvSpPr>
        <p:spPr>
          <a:xfrm>
            <a:off x="6035040" y="4398264"/>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26480" y="4453127"/>
            <a:ext cx="2697480" cy="274320"/>
          </a:xfrm>
          <a:prstGeom prst="rect">
            <a:avLst/>
          </a:prstGeom>
          <a:noFill/>
        </p:spPr>
        <p:txBody>
          <a:bodyPr wrap="square">
            <a:spAutoFit/>
          </a:bodyPr>
          <a:lstStyle/>
          <a:p>
            <a:pPr algn="l"/>
            <a:r>
              <a:rPr sz="1000" b="0" i="0">
                <a:solidFill>
                  <a:srgbClr val="212121"/>
                </a:solidFill>
              </a:rPr>
              <a:t>☐  LINK Crew</a:t>
            </a:r>
          </a:p>
        </p:txBody>
      </p:sp>
      <p:sp>
        <p:nvSpPr>
          <p:cNvPr id="43" name="Rectangle 42"/>
          <p:cNvSpPr/>
          <p:nvPr/>
        </p:nvSpPr>
        <p:spPr>
          <a:xfrm>
            <a:off x="182880" y="4791455"/>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4846319"/>
            <a:ext cx="2697480" cy="274320"/>
          </a:xfrm>
          <a:prstGeom prst="rect">
            <a:avLst/>
          </a:prstGeom>
          <a:noFill/>
        </p:spPr>
        <p:txBody>
          <a:bodyPr wrap="square">
            <a:spAutoFit/>
          </a:bodyPr>
          <a:lstStyle/>
          <a:p>
            <a:pPr algn="l"/>
            <a:r>
              <a:rPr sz="1000" b="0" i="0">
                <a:solidFill>
                  <a:srgbClr val="212121"/>
                </a:solidFill>
              </a:rPr>
              <a:t>☐  National Honor Society</a:t>
            </a:r>
          </a:p>
        </p:txBody>
      </p:sp>
      <p:sp>
        <p:nvSpPr>
          <p:cNvPr id="45" name="Rectangle 44"/>
          <p:cNvSpPr/>
          <p:nvPr/>
        </p:nvSpPr>
        <p:spPr>
          <a:xfrm>
            <a:off x="3108960" y="4791455"/>
            <a:ext cx="28346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00400" y="4846319"/>
            <a:ext cx="2697480" cy="274320"/>
          </a:xfrm>
          <a:prstGeom prst="rect">
            <a:avLst/>
          </a:prstGeom>
          <a:noFill/>
        </p:spPr>
        <p:txBody>
          <a:bodyPr wrap="square">
            <a:spAutoFit/>
          </a:bodyPr>
          <a:lstStyle/>
          <a:p>
            <a:pPr algn="l"/>
            <a:r>
              <a:rPr sz="1000" b="0" i="0">
                <a:solidFill>
                  <a:srgbClr val="212121"/>
                </a:solidFill>
              </a:rPr>
              <a:t>☐  Student Council</a:t>
            </a:r>
          </a:p>
        </p:txBody>
      </p:sp>
      <p:sp>
        <p:nvSpPr>
          <p:cNvPr id="47" name="Rectangle 46"/>
          <p:cNvSpPr/>
          <p:nvPr/>
        </p:nvSpPr>
        <p:spPr>
          <a:xfrm>
            <a:off x="6035040" y="4791455"/>
            <a:ext cx="2834640" cy="365760"/>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26480" y="4846319"/>
            <a:ext cx="2697480" cy="274320"/>
          </a:xfrm>
          <a:prstGeom prst="rect">
            <a:avLst/>
          </a:prstGeom>
          <a:noFill/>
        </p:spPr>
        <p:txBody>
          <a:bodyPr wrap="square">
            <a:spAutoFit/>
          </a:bodyPr>
          <a:lstStyle/>
          <a:p>
            <a:pPr algn="l"/>
            <a:r>
              <a:rPr sz="1000" b="0" i="0">
                <a:solidFill>
                  <a:srgbClr val="212121"/>
                </a:solidFill>
              </a:rPr>
              <a:t>☐  Tech Warriors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4.3: Activities, Clubs &amp; Sports at TRHS</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Planning Response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8412480" cy="347472"/>
          </a:xfrm>
          <a:prstGeom prst="rect">
            <a:avLst/>
          </a:prstGeom>
          <a:noFill/>
        </p:spPr>
        <p:txBody>
          <a:bodyPr wrap="square">
            <a:spAutoFit/>
          </a:bodyPr>
          <a:lstStyle/>
          <a:p>
            <a:pPr algn="l"/>
            <a:r>
              <a:rPr sz="1100" b="0" i="1">
                <a:solidFill>
                  <a:srgbClr val="212121"/>
                </a:solidFill>
              </a:rPr>
              <a:t>My top 3 activities/clubs/sports I want to try in 9th grade:</a:t>
            </a:r>
          </a:p>
        </p:txBody>
      </p:sp>
      <p:sp>
        <p:nvSpPr>
          <p:cNvPr id="9" name="Rectangle 8"/>
          <p:cNvSpPr/>
          <p:nvPr/>
        </p:nvSpPr>
        <p:spPr>
          <a:xfrm>
            <a:off x="228600" y="155448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600200"/>
            <a:ext cx="8412480" cy="347472"/>
          </a:xfrm>
          <a:prstGeom prst="rect">
            <a:avLst/>
          </a:prstGeom>
          <a:noFill/>
        </p:spPr>
        <p:txBody>
          <a:bodyPr wrap="square">
            <a:spAutoFit/>
          </a:bodyPr>
          <a:lstStyle/>
          <a:p>
            <a:pPr algn="l"/>
            <a:r>
              <a:rPr sz="1100" b="0" i="1">
                <a:solidFill>
                  <a:srgbClr val="212121"/>
                </a:solidFill>
              </a:rPr>
              <a:t>One reason I chose each one:</a:t>
            </a:r>
          </a:p>
        </p:txBody>
      </p:sp>
      <p:sp>
        <p:nvSpPr>
          <p:cNvPr id="11" name="Rectangle 10"/>
          <p:cNvSpPr/>
          <p:nvPr/>
        </p:nvSpPr>
        <p:spPr>
          <a:xfrm>
            <a:off x="228600" y="210312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148840"/>
            <a:ext cx="8412480" cy="347472"/>
          </a:xfrm>
          <a:prstGeom prst="rect">
            <a:avLst/>
          </a:prstGeom>
          <a:noFill/>
        </p:spPr>
        <p:txBody>
          <a:bodyPr wrap="square">
            <a:spAutoFit/>
          </a:bodyPr>
          <a:lstStyle/>
          <a:p>
            <a:pPr algn="l"/>
            <a:r>
              <a:rPr sz="1100" b="0" i="1">
                <a:solidFill>
                  <a:srgbClr val="212121"/>
                </a:solidFill>
              </a:rPr>
              <a:t>One concern I have about balancing activities with schoolwork:</a:t>
            </a:r>
          </a:p>
        </p:txBody>
      </p:sp>
      <p:sp>
        <p:nvSpPr>
          <p:cNvPr id="13" name="Rectangle 12"/>
          <p:cNvSpPr/>
          <p:nvPr/>
        </p:nvSpPr>
        <p:spPr>
          <a:xfrm>
            <a:off x="228600" y="2651760"/>
            <a:ext cx="8686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697480"/>
            <a:ext cx="8412480" cy="347472"/>
          </a:xfrm>
          <a:prstGeom prst="rect">
            <a:avLst/>
          </a:prstGeom>
          <a:noFill/>
        </p:spPr>
        <p:txBody>
          <a:bodyPr wrap="square">
            <a:spAutoFit/>
          </a:bodyPr>
          <a:lstStyle/>
          <a:p>
            <a:pPr algn="l"/>
            <a:r>
              <a:rPr sz="1100" b="0" i="1">
                <a:solidFill>
                  <a:srgbClr val="212121"/>
                </a:solidFill>
              </a:rPr>
              <a:t>One strategy I will use to manage that balance: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4.4  ·  5 minutes</a:t>
            </a:r>
          </a:p>
        </p:txBody>
      </p:sp>
      <p:sp>
        <p:nvSpPr>
          <p:cNvPr id="7" name="Rectangle 6"/>
          <p:cNvSpPr/>
          <p:nvPr/>
        </p:nvSpPr>
        <p:spPr>
          <a:xfrm>
            <a:off x="228600" y="868680"/>
            <a:ext cx="1463040" cy="329184"/>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Rapid-Fire: My 9th Grade Plan So Far</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Quick-write in 2 minutes — answer all three:
1. Name TWO courses you've decided to take in 9th grade:
   ___________________________  ___________________________
2. Name ONE activity you circled in the activities checklist: ___________________________
3. One word that describes how you feel about starting 9th grade: ___________________________</a:t>
            </a:r>
          </a:p>
        </p:txBody>
      </p:sp>
      <p:sp>
        <p:nvSpPr>
          <p:cNvPr id="13" name="Rectangle 12"/>
          <p:cNvSpPr/>
          <p:nvPr/>
        </p:nvSpPr>
        <p:spPr>
          <a:xfrm>
            <a:off x="228600" y="4919472"/>
            <a:ext cx="8686800" cy="47548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Popcorn share — one word feelings around the room</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4.4  |  Unit 4: My 9th Grade Year Plan</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My Daily Time Map</a:t>
            </a:r>
          </a:p>
        </p:txBody>
      </p:sp>
      <p:sp>
        <p:nvSpPr>
          <p:cNvPr id="6" name="Rectangle 5"/>
          <p:cNvSpPr/>
          <p:nvPr/>
        </p:nvSpPr>
        <p:spPr>
          <a:xfrm>
            <a:off x="182880" y="1024128"/>
            <a:ext cx="8778240" cy="329184"/>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Create a realistic daily schedule that accounts for school, homework, activities, and personal time.</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Identify and protect dedicated study time in their 9th grade schedule.</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Combine their mock course schedule, activity list, and time map into a coherent 9th Grade Year Plan.</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7F3F9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7F3F99"/>
                </a:solidFill>
              </a:rPr>
              <a:t>GPA (Grade Point Average)</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gradus (step, rank) + Medieval Latin punctum (point)</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numerical summary of your academic performance on a 4.0 scale; a key measure colleges and employers use to evaluate students.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563624"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490472" cy="320040"/>
          </a:xfrm>
          <a:prstGeom prst="rect">
            <a:avLst/>
          </a:prstGeom>
          <a:noFill/>
        </p:spPr>
        <p:txBody>
          <a:bodyPr wrap="square">
            <a:spAutoFit/>
          </a:bodyPr>
          <a:lstStyle/>
          <a:p>
            <a:pPr algn="ctr"/>
            <a:r>
              <a:rPr sz="1100" b="1" i="0">
                <a:solidFill>
                  <a:srgbClr val="FFFFFF"/>
                </a:solidFill>
              </a:rPr>
              <a:t>9</a:t>
            </a:r>
          </a:p>
        </p:txBody>
      </p:sp>
      <p:sp>
        <p:nvSpPr>
          <p:cNvPr id="27" name="TextBox 26"/>
          <p:cNvSpPr txBox="1"/>
          <p:nvPr/>
        </p:nvSpPr>
        <p:spPr>
          <a:xfrm>
            <a:off x="1618488" y="6163056"/>
            <a:ext cx="1563624"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182112" y="5623560"/>
            <a:ext cx="1042415"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18688" y="5715000"/>
            <a:ext cx="969263" cy="320040"/>
          </a:xfrm>
          <a:prstGeom prst="rect">
            <a:avLst/>
          </a:prstGeom>
          <a:noFill/>
        </p:spPr>
        <p:txBody>
          <a:bodyPr wrap="square">
            <a:spAutoFit/>
          </a:bodyPr>
          <a:lstStyle/>
          <a:p>
            <a:pPr algn="ctr"/>
            <a:r>
              <a:rPr sz="1100" b="1" i="0">
                <a:solidFill>
                  <a:srgbClr val="FFFFFF"/>
                </a:solidFill>
              </a:rPr>
              <a:t>6</a:t>
            </a:r>
          </a:p>
        </p:txBody>
      </p:sp>
      <p:sp>
        <p:nvSpPr>
          <p:cNvPr id="30" name="TextBox 29"/>
          <p:cNvSpPr txBox="1"/>
          <p:nvPr/>
        </p:nvSpPr>
        <p:spPr>
          <a:xfrm>
            <a:off x="3182112" y="6163056"/>
            <a:ext cx="1042415"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224528"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61104"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224528"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614416" y="5623560"/>
            <a:ext cx="2432304"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50992" y="5715000"/>
            <a:ext cx="2359152" cy="320040"/>
          </a:xfrm>
          <a:prstGeom prst="rect">
            <a:avLst/>
          </a:prstGeom>
          <a:noFill/>
        </p:spPr>
        <p:txBody>
          <a:bodyPr wrap="square">
            <a:spAutoFit/>
          </a:bodyPr>
          <a:lstStyle/>
          <a:p>
            <a:pPr algn="ctr"/>
            <a:r>
              <a:rPr sz="1100" b="1" i="0">
                <a:solidFill>
                  <a:srgbClr val="FFFFFF"/>
                </a:solidFill>
              </a:rPr>
              <a:t>14</a:t>
            </a:r>
          </a:p>
        </p:txBody>
      </p:sp>
      <p:sp>
        <p:nvSpPr>
          <p:cNvPr id="36" name="TextBox 35"/>
          <p:cNvSpPr txBox="1"/>
          <p:nvPr/>
        </p:nvSpPr>
        <p:spPr>
          <a:xfrm>
            <a:off x="5614416" y="6163056"/>
            <a:ext cx="2432304"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7F3F9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The Math of Your Day: Time, Sleep, and the Reality of 9th Grade</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on adolescent time management and sleep science</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9 min</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Math of Your Day: Time, Sleep, and the Reality of 9th Grade  (p. 1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A 9th grader's school day at Two Rivers runs from 8:25 AM to 3:05 PM — 6 hours and 40
minutes. That sounds like a lot, but once the day is over, the work is often just
beginning. Two Rivers' official homework policy states that students should expect to
spend at least 1.5 hours on homework per night in 9th grade, with advanced and AP
courses requiring more. Add sports or activities (which can run 2-3 hours on practice
days), dinner, a commute, and family time — and a 9th grader's evening can fill up very
quickly.</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Sleep is where many students unknowingly undermine their academic performance. The
American Academy of Pediatrics recommends 8-10 hours of sleep per night for adolescents.
Research from Harvard Medical School shows that sleep deprivation impairs working
memory, reduces the ability to learn new information, and significantly increases
emotional reactivity — which makes stress feel worse and coping feel harder. Students
who sleep fewer than 7 hours perform, on average, like students who have been awake for
24 hours straight. No amount of studying compensates for chronic sleep loss.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Math of Your Day: Time, Sleep, and the Reality of 9th Grade  (p. 2 of 2)</a:t>
            </a:r>
          </a:p>
        </p:txBody>
      </p:sp>
      <p:sp>
        <p:nvSpPr>
          <p:cNvPr id="4" name="Rectangle 3"/>
          <p:cNvSpPr/>
          <p:nvPr/>
        </p:nvSpPr>
        <p:spPr>
          <a:xfrm>
            <a:off x="182880" y="6217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The students who manage their time most effectively in high school share one key habit:
they protect their study time first, then schedule everything else around it. This
sounds simple, but it requires a shift in how you think about your day. Instead of
asking 'when do I have time for homework?' at the end of the day — when you are tired
and the evening is almost gone — they decide in advance: 'Homework happens from
4:30-6:30 every school day, no exceptions.' This kind of time blocking turns an
intention into a structure.</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Your daily schedule is not just about getting things done. It is also about
sustainability. A 9th grade year that burns you out by November — because you
overscheduled yourself, underslept, and never gave yourself time to breathe — does not
build the habits you need for a successful four years. Building a realistic schedule
now, while you have the chance to think carefully, is one of the most valuable things
you can do to set yourself up for success.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'The Math of Your Day: Time, Sleep, and the Reality of 9th Grade'</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6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7F3F9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Using the information in the reading, calculate how many hours a 9th grader with one sport has
available for homework, family time, and personal time on a practice day. Show your math.</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7F3F9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does research say about the effects of sleep deprivation on learning? List at least three
specific effects from the reading.</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7F3F9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time management habit do the most effective students share, according to the reading? How
is this different from how most students manage their time?</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7F3F9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warns against 'a 9th grade year that burns you out by November.' What are the signs
of over-scheduling? How do you know if your schedule is sustainable?</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7F3F9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Create a realistic time map for a typical school day in 9th grade. Include: wake time, school,
activities/sports (if any), homework time, dinner, family/personal time, and sleep. Is your
schedule sustainable? What would you change?</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4.4</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Sleep Is Your Superpower</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TED (Matt Walker)  ·  approx. 5 min</a:t>
            </a:r>
          </a:p>
        </p:txBody>
      </p:sp>
      <p:sp>
        <p:nvSpPr>
          <p:cNvPr id="9" name="Rectangle 8"/>
          <p:cNvSpPr/>
          <p:nvPr/>
        </p:nvSpPr>
        <p:spPr>
          <a:xfrm>
            <a:off x="365760" y="2377440"/>
            <a:ext cx="8412480" cy="2743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7F3F9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does Walker say happens to your memory when you sleep fewer than 7 hours?</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"How to Manage Your Time — The Eisenhower Matrix (Review)"  |  Sprouts</a:t>
            </a:r>
          </a:p>
        </p:txBody>
      </p:sp>
      <p:sp>
        <p:nvSpPr>
          <p:cNvPr id="16" name="Rectangle 15">
            <a:hlinkClick r:id="rId3"/>
          </p:cNvPr>
          <p:cNvSpPr/>
          <p:nvPr/>
        </p:nvSpPr>
        <p:spPr>
          <a:xfrm>
            <a:off x="2743200" y="4480560"/>
            <a:ext cx="3657600" cy="749808"/>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Map"  —  Lesson 4.4</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The assignment was to map out a realistic weekday in 9th grade — hour by hour.</a:t>
            </a:r>
          </a:p>
        </p:txBody>
      </p:sp>
      <p:sp>
        <p:nvSpPr>
          <p:cNvPr id="7" name="TextBox 6"/>
          <p:cNvSpPr txBox="1"/>
          <p:nvPr/>
        </p:nvSpPr>
        <p:spPr>
          <a:xfrm>
            <a:off x="228600" y="1133856"/>
            <a:ext cx="8686800" cy="649224"/>
          </a:xfrm>
          <a:prstGeom prst="rect">
            <a:avLst/>
          </a:prstGeom>
          <a:noFill/>
        </p:spPr>
        <p:txBody>
          <a:bodyPr wrap="square">
            <a:spAutoFit/>
          </a:bodyPr>
          <a:lstStyle/>
          <a:p>
            <a:pPr algn="l">
              <a:lnSpc>
                <a:spcPts val="1500"/>
              </a:lnSpc>
            </a:pPr>
            <a:r>
              <a:rPr sz="1000" b="0" i="0">
                <a:solidFill>
                  <a:srgbClr val="212121"/>
                </a:solidFill>
              </a:rPr>
              <a:t>Eli did the math honestly. Practice ended at 5:30. Dinner was around 6:30 if his mom cooked,
7:00 if she didn't. He worked at his uncle's shop on Tuesdays and Thursdays until 7:00. He
needed eight hours of sleep to not feel like the inside of a locker.</a:t>
            </a:r>
          </a:p>
        </p:txBody>
      </p:sp>
      <p:sp>
        <p:nvSpPr>
          <p:cNvPr id="8" name="TextBox 7"/>
          <p:cNvSpPr txBox="1"/>
          <p:nvPr/>
        </p:nvSpPr>
        <p:spPr>
          <a:xfrm>
            <a:off x="228600" y="1792224"/>
            <a:ext cx="8686800" cy="246888"/>
          </a:xfrm>
          <a:prstGeom prst="rect">
            <a:avLst/>
          </a:prstGeom>
          <a:noFill/>
        </p:spPr>
        <p:txBody>
          <a:bodyPr wrap="square">
            <a:spAutoFit/>
          </a:bodyPr>
          <a:lstStyle/>
          <a:p>
            <a:pPr algn="l">
              <a:lnSpc>
                <a:spcPts val="1500"/>
              </a:lnSpc>
            </a:pPr>
            <a:r>
              <a:rPr sz="1000" b="0" i="0">
                <a:solidFill>
                  <a:srgbClr val="212121"/>
                </a:solidFill>
              </a:rPr>
              <a:t>He counted backward from his 6:30 AM alarm. He needed to be in bed by 10:30 PM at the latest.</a:t>
            </a:r>
          </a:p>
        </p:txBody>
      </p:sp>
      <p:sp>
        <p:nvSpPr>
          <p:cNvPr id="9" name="TextBox 8"/>
          <p:cNvSpPr txBox="1"/>
          <p:nvPr/>
        </p:nvSpPr>
        <p:spPr>
          <a:xfrm>
            <a:off x="228600" y="2048256"/>
            <a:ext cx="8686800" cy="246888"/>
          </a:xfrm>
          <a:prstGeom prst="rect">
            <a:avLst/>
          </a:prstGeom>
          <a:noFill/>
        </p:spPr>
        <p:txBody>
          <a:bodyPr wrap="square">
            <a:spAutoFit/>
          </a:bodyPr>
          <a:lstStyle/>
          <a:p>
            <a:pPr algn="l">
              <a:lnSpc>
                <a:spcPts val="1500"/>
              </a:lnSpc>
            </a:pPr>
            <a:r>
              <a:rPr sz="1000" b="0" i="0">
                <a:solidFill>
                  <a:srgbClr val="212121"/>
                </a:solidFill>
              </a:rPr>
              <a:t>Between 7:00 PM and 10:30 PM, he had three and a half hours.</a:t>
            </a:r>
          </a:p>
        </p:txBody>
      </p:sp>
      <p:sp>
        <p:nvSpPr>
          <p:cNvPr id="10" name="TextBox 9"/>
          <p:cNvSpPr txBox="1"/>
          <p:nvPr/>
        </p:nvSpPr>
        <p:spPr>
          <a:xfrm>
            <a:off x="228600" y="2304288"/>
            <a:ext cx="8686800" cy="246888"/>
          </a:xfrm>
          <a:prstGeom prst="rect">
            <a:avLst/>
          </a:prstGeom>
          <a:noFill/>
        </p:spPr>
        <p:txBody>
          <a:bodyPr wrap="square">
            <a:spAutoFit/>
          </a:bodyPr>
          <a:lstStyle/>
          <a:p>
            <a:pPr algn="l">
              <a:lnSpc>
                <a:spcPts val="1500"/>
              </a:lnSpc>
            </a:pPr>
            <a:r>
              <a:rPr sz="1000" b="0" i="0">
                <a:solidFill>
                  <a:srgbClr val="212121"/>
                </a:solidFill>
              </a:rPr>
              <a:t>Practice. Dinner. Homework. Shop two nights a week.</a:t>
            </a:r>
          </a:p>
        </p:txBody>
      </p:sp>
      <p:sp>
        <p:nvSpPr>
          <p:cNvPr id="11" name="TextBox 10"/>
          <p:cNvSpPr txBox="1"/>
          <p:nvPr/>
        </p:nvSpPr>
        <p:spPr>
          <a:xfrm>
            <a:off x="228600" y="2560320"/>
            <a:ext cx="8686800" cy="246888"/>
          </a:xfrm>
          <a:prstGeom prst="rect">
            <a:avLst/>
          </a:prstGeom>
          <a:noFill/>
        </p:spPr>
        <p:txBody>
          <a:bodyPr wrap="square">
            <a:spAutoFit/>
          </a:bodyPr>
          <a:lstStyle/>
          <a:p>
            <a:pPr algn="l">
              <a:lnSpc>
                <a:spcPts val="1500"/>
              </a:lnSpc>
            </a:pPr>
            <a:r>
              <a:rPr sz="1000" b="0" i="0">
                <a:solidFill>
                  <a:srgbClr val="212121"/>
                </a:solidFill>
              </a:rPr>
              <a:t>He stared at it.</a:t>
            </a:r>
          </a:p>
        </p:txBody>
      </p:sp>
      <p:sp>
        <p:nvSpPr>
          <p:cNvPr id="12" name="TextBox 11"/>
          <p:cNvSpPr txBox="1"/>
          <p:nvPr/>
        </p:nvSpPr>
        <p:spPr>
          <a:xfrm>
            <a:off x="228600" y="2816352"/>
            <a:ext cx="8686800" cy="246888"/>
          </a:xfrm>
          <a:prstGeom prst="rect">
            <a:avLst/>
          </a:prstGeom>
          <a:noFill/>
        </p:spPr>
        <p:txBody>
          <a:bodyPr wrap="square">
            <a:spAutoFit/>
          </a:bodyPr>
          <a:lstStyle/>
          <a:p>
            <a:pPr algn="l">
              <a:lnSpc>
                <a:spcPts val="1500"/>
              </a:lnSpc>
            </a:pPr>
            <a:r>
              <a:rPr sz="1050" b="0" i="1">
                <a:solidFill>
                  <a:srgbClr val="1A1A6E"/>
                </a:solidFill>
              </a:rPr>
              <a:t>"What's wrong," Maya said.</a:t>
            </a:r>
          </a:p>
        </p:txBody>
      </p:sp>
      <p:sp>
        <p:nvSpPr>
          <p:cNvPr id="13" name="TextBox 12"/>
          <p:cNvSpPr txBox="1"/>
          <p:nvPr/>
        </p:nvSpPr>
        <p:spPr>
          <a:xfrm>
            <a:off x="228600" y="3072384"/>
            <a:ext cx="8686800" cy="246888"/>
          </a:xfrm>
          <a:prstGeom prst="rect">
            <a:avLst/>
          </a:prstGeom>
          <a:noFill/>
        </p:spPr>
        <p:txBody>
          <a:bodyPr wrap="square">
            <a:spAutoFit/>
          </a:bodyPr>
          <a:lstStyle/>
          <a:p>
            <a:pPr algn="l">
              <a:lnSpc>
                <a:spcPts val="1500"/>
              </a:lnSpc>
            </a:pPr>
            <a:r>
              <a:rPr sz="1050" b="0" i="1">
                <a:solidFill>
                  <a:srgbClr val="1A1A6E"/>
                </a:solidFill>
              </a:rPr>
              <a:t>"I don't have enough time."</a:t>
            </a:r>
          </a:p>
        </p:txBody>
      </p:sp>
      <p:sp>
        <p:nvSpPr>
          <p:cNvPr id="14" name="TextBox 13"/>
          <p:cNvSpPr txBox="1"/>
          <p:nvPr/>
        </p:nvSpPr>
        <p:spPr>
          <a:xfrm>
            <a:off x="228600" y="3328416"/>
            <a:ext cx="8686800" cy="246888"/>
          </a:xfrm>
          <a:prstGeom prst="rect">
            <a:avLst/>
          </a:prstGeom>
          <a:noFill/>
        </p:spPr>
        <p:txBody>
          <a:bodyPr wrap="square">
            <a:spAutoFit/>
          </a:bodyPr>
          <a:lstStyle/>
          <a:p>
            <a:pPr algn="l">
              <a:lnSpc>
                <a:spcPts val="1500"/>
              </a:lnSpc>
            </a:pPr>
            <a:r>
              <a:rPr sz="1000" b="0" i="0">
                <a:solidFill>
                  <a:srgbClr val="212121"/>
                </a:solidFill>
              </a:rPr>
              <a:t>She looked at his time map. She did not immediately tell him he was wrong.</a:t>
            </a:r>
          </a:p>
        </p:txBody>
      </p:sp>
      <p:sp>
        <p:nvSpPr>
          <p:cNvPr id="15" name="TextBox 14"/>
          <p:cNvSpPr txBox="1"/>
          <p:nvPr/>
        </p:nvSpPr>
        <p:spPr>
          <a:xfrm>
            <a:off x="228600" y="3584448"/>
            <a:ext cx="8686800" cy="246888"/>
          </a:xfrm>
          <a:prstGeom prst="rect">
            <a:avLst/>
          </a:prstGeom>
          <a:noFill/>
        </p:spPr>
        <p:txBody>
          <a:bodyPr wrap="square">
            <a:spAutoFit/>
          </a:bodyPr>
          <a:lstStyle/>
          <a:p>
            <a:pPr algn="l">
              <a:lnSpc>
                <a:spcPts val="1500"/>
              </a:lnSpc>
            </a:pPr>
            <a:r>
              <a:rPr sz="1050" b="0" i="1">
                <a:solidFill>
                  <a:srgbClr val="1A1A6E"/>
                </a:solidFill>
              </a:rPr>
              <a:t>"What's non-negotiable?" she asked.</a:t>
            </a:r>
          </a:p>
        </p:txBody>
      </p:sp>
      <p:sp>
        <p:nvSpPr>
          <p:cNvPr id="16" name="TextBox 15"/>
          <p:cNvSpPr txBox="1"/>
          <p:nvPr/>
        </p:nvSpPr>
        <p:spPr>
          <a:xfrm>
            <a:off x="228600" y="3840480"/>
            <a:ext cx="8686800" cy="246888"/>
          </a:xfrm>
          <a:prstGeom prst="rect">
            <a:avLst/>
          </a:prstGeom>
          <a:noFill/>
        </p:spPr>
        <p:txBody>
          <a:bodyPr wrap="square">
            <a:spAutoFit/>
          </a:bodyPr>
          <a:lstStyle/>
          <a:p>
            <a:pPr algn="l">
              <a:lnSpc>
                <a:spcPts val="1500"/>
              </a:lnSpc>
            </a:pPr>
            <a:r>
              <a:rPr sz="1050" b="0" i="1">
                <a:solidFill>
                  <a:srgbClr val="1A1A6E"/>
                </a:solidFill>
              </a:rPr>
              <a:t>"Practice. The job. Sleep."</a:t>
            </a:r>
          </a:p>
        </p:txBody>
      </p:sp>
      <p:sp>
        <p:nvSpPr>
          <p:cNvPr id="17" name="TextBox 16"/>
          <p:cNvSpPr txBox="1"/>
          <p:nvPr/>
        </p:nvSpPr>
        <p:spPr>
          <a:xfrm>
            <a:off x="228600" y="4096512"/>
            <a:ext cx="8686800" cy="246888"/>
          </a:xfrm>
          <a:prstGeom prst="rect">
            <a:avLst/>
          </a:prstGeom>
          <a:noFill/>
        </p:spPr>
        <p:txBody>
          <a:bodyPr wrap="square">
            <a:spAutoFit/>
          </a:bodyPr>
          <a:lstStyle/>
          <a:p>
            <a:pPr algn="l">
              <a:lnSpc>
                <a:spcPts val="1500"/>
              </a:lnSpc>
            </a:pPr>
            <a:r>
              <a:rPr sz="1050" b="0" i="1">
                <a:solidFill>
                  <a:srgbClr val="1A1A6E"/>
                </a:solidFill>
              </a:rPr>
              <a:t>"How many credits are you taking?"</a:t>
            </a:r>
          </a:p>
        </p:txBody>
      </p:sp>
      <p:sp>
        <p:nvSpPr>
          <p:cNvPr id="18" name="TextBox 17"/>
          <p:cNvSpPr txBox="1"/>
          <p:nvPr/>
        </p:nvSpPr>
        <p:spPr>
          <a:xfrm>
            <a:off x="228600" y="4352544"/>
            <a:ext cx="8686800" cy="246888"/>
          </a:xfrm>
          <a:prstGeom prst="rect">
            <a:avLst/>
          </a:prstGeom>
          <a:noFill/>
        </p:spPr>
        <p:txBody>
          <a:bodyPr wrap="square">
            <a:spAutoFit/>
          </a:bodyPr>
          <a:lstStyle/>
          <a:p>
            <a:pPr algn="l">
              <a:lnSpc>
                <a:spcPts val="1500"/>
              </a:lnSpc>
            </a:pPr>
            <a:r>
              <a:rPr sz="1050" b="0" i="1">
                <a:solidFill>
                  <a:srgbClr val="1A1A6E"/>
                </a:solidFill>
              </a:rPr>
              <a:t>"Seven."</a:t>
            </a:r>
          </a:p>
        </p:txBody>
      </p:sp>
      <p:sp>
        <p:nvSpPr>
          <p:cNvPr id="19" name="TextBox 18"/>
          <p:cNvSpPr txBox="1"/>
          <p:nvPr/>
        </p:nvSpPr>
        <p:spPr>
          <a:xfrm>
            <a:off x="228600" y="4608576"/>
            <a:ext cx="8686800" cy="246888"/>
          </a:xfrm>
          <a:prstGeom prst="rect">
            <a:avLst/>
          </a:prstGeom>
          <a:noFill/>
        </p:spPr>
        <p:txBody>
          <a:bodyPr wrap="square">
            <a:spAutoFit/>
          </a:bodyPr>
          <a:lstStyle/>
          <a:p>
            <a:pPr algn="l">
              <a:lnSpc>
                <a:spcPts val="1500"/>
              </a:lnSpc>
            </a:pPr>
            <a:r>
              <a:rPr sz="1050" b="0" i="1">
                <a:solidFill>
                  <a:srgbClr val="1A1A6E"/>
                </a:solidFill>
              </a:rPr>
              <a:t>"How much homework per class?"</a:t>
            </a:r>
          </a:p>
        </p:txBody>
      </p:sp>
      <p:sp>
        <p:nvSpPr>
          <p:cNvPr id="20" name="TextBox 19"/>
          <p:cNvSpPr txBox="1"/>
          <p:nvPr/>
        </p:nvSpPr>
        <p:spPr>
          <a:xfrm>
            <a:off x="228600" y="4864608"/>
            <a:ext cx="8686800" cy="246888"/>
          </a:xfrm>
          <a:prstGeom prst="rect">
            <a:avLst/>
          </a:prstGeom>
          <a:noFill/>
        </p:spPr>
        <p:txBody>
          <a:bodyPr wrap="square">
            <a:spAutoFit/>
          </a:bodyPr>
          <a:lstStyle/>
          <a:p>
            <a:pPr algn="l">
              <a:lnSpc>
                <a:spcPts val="1500"/>
              </a:lnSpc>
            </a:pPr>
            <a:r>
              <a:rPr sz="1050" b="0" i="1">
                <a:solidFill>
                  <a:srgbClr val="1A1A6E"/>
                </a:solidFill>
              </a:rPr>
              <a:t>"Depends. History's a lot. Science sometimes."</a:t>
            </a:r>
          </a:p>
        </p:txBody>
      </p:sp>
      <p:sp>
        <p:nvSpPr>
          <p:cNvPr id="21" name="TextBox 20"/>
          <p:cNvSpPr txBox="1"/>
          <p:nvPr/>
        </p:nvSpPr>
        <p:spPr>
          <a:xfrm>
            <a:off x="228600" y="5120640"/>
            <a:ext cx="8686800" cy="246888"/>
          </a:xfrm>
          <a:prstGeom prst="rect">
            <a:avLst/>
          </a:prstGeom>
          <a:noFill/>
        </p:spPr>
        <p:txBody>
          <a:bodyPr wrap="square">
            <a:spAutoFit/>
          </a:bodyPr>
          <a:lstStyle/>
          <a:p>
            <a:pPr algn="l">
              <a:lnSpc>
                <a:spcPts val="1500"/>
              </a:lnSpc>
            </a:pPr>
            <a:r>
              <a:rPr sz="1050" b="0" i="1">
                <a:solidFill>
                  <a:srgbClr val="1A1A6E"/>
                </a:solidFill>
              </a:rPr>
              <a:t>"Have you ever actually tracked how long homework takes you?"</a:t>
            </a:r>
          </a:p>
        </p:txBody>
      </p:sp>
      <p:sp>
        <p:nvSpPr>
          <p:cNvPr id="22" name="TextBox 21"/>
          <p:cNvSpPr txBox="1"/>
          <p:nvPr/>
        </p:nvSpPr>
        <p:spPr>
          <a:xfrm>
            <a:off x="228600" y="5376672"/>
            <a:ext cx="8686800" cy="246888"/>
          </a:xfrm>
          <a:prstGeom prst="rect">
            <a:avLst/>
          </a:prstGeom>
          <a:noFill/>
        </p:spPr>
        <p:txBody>
          <a:bodyPr wrap="square">
            <a:spAutoFit/>
          </a:bodyPr>
          <a:lstStyle/>
          <a:p>
            <a:pPr algn="l">
              <a:lnSpc>
                <a:spcPts val="1500"/>
              </a:lnSpc>
            </a:pPr>
            <a:r>
              <a:rPr sz="1000" b="0" i="0">
                <a:solidFill>
                  <a:srgbClr val="212121"/>
                </a:solidFill>
              </a:rPr>
              <a:t>He had not. He guessed.</a:t>
            </a:r>
          </a:p>
        </p:txBody>
      </p:sp>
      <p:sp>
        <p:nvSpPr>
          <p:cNvPr id="23" name="TextBox 22"/>
          <p:cNvSpPr txBox="1"/>
          <p:nvPr/>
        </p:nvSpPr>
        <p:spPr>
          <a:xfrm>
            <a:off x="228600" y="5632704"/>
            <a:ext cx="8686800" cy="448056"/>
          </a:xfrm>
          <a:prstGeom prst="rect">
            <a:avLst/>
          </a:prstGeom>
          <a:noFill/>
        </p:spPr>
        <p:txBody>
          <a:bodyPr wrap="square">
            <a:spAutoFit/>
          </a:bodyPr>
          <a:lstStyle/>
          <a:p>
            <a:pPr algn="l">
              <a:lnSpc>
                <a:spcPts val="1500"/>
              </a:lnSpc>
            </a:pPr>
            <a:r>
              <a:rPr sz="1050" b="0" i="1">
                <a:solidFill>
                  <a:srgbClr val="1A1A6E"/>
                </a:solidFill>
              </a:rPr>
              <a:t>"You might be overestimating," she said. "Or you might actually be right. But you don't know
yet."</a:t>
            </a:r>
          </a:p>
        </p:txBody>
      </p:sp>
      <p:sp>
        <p:nvSpPr>
          <p:cNvPr id="24" name="TextBox 23"/>
          <p:cNvSpPr txBox="1"/>
          <p:nvPr/>
        </p:nvSpPr>
        <p:spPr>
          <a:xfrm>
            <a:off x="228600" y="6089904"/>
            <a:ext cx="8686800" cy="246888"/>
          </a:xfrm>
          <a:prstGeom prst="rect">
            <a:avLst/>
          </a:prstGeom>
          <a:noFill/>
        </p:spPr>
        <p:txBody>
          <a:bodyPr wrap="square">
            <a:spAutoFit/>
          </a:bodyPr>
          <a:lstStyle/>
          <a:p>
            <a:pPr algn="l">
              <a:lnSpc>
                <a:spcPts val="1500"/>
              </a:lnSpc>
            </a:pPr>
            <a:r>
              <a:rPr sz="1050" b="0" i="1">
                <a:solidFill>
                  <a:srgbClr val="1A1A6E"/>
                </a:solidFill>
              </a:rPr>
              <a:t>"And if I'm right?"</a:t>
            </a:r>
          </a:p>
        </p:txBody>
      </p:sp>
      <p:sp>
        <p:nvSpPr>
          <p:cNvPr id="25" name="TextBox 24"/>
          <p:cNvSpPr txBox="1"/>
          <p:nvPr/>
        </p:nvSpPr>
        <p:spPr>
          <a:xfrm>
            <a:off x="228600" y="6345936"/>
            <a:ext cx="8686800" cy="448056"/>
          </a:xfrm>
          <a:prstGeom prst="rect">
            <a:avLst/>
          </a:prstGeom>
          <a:noFill/>
        </p:spPr>
        <p:txBody>
          <a:bodyPr wrap="square">
            <a:spAutoFit/>
          </a:bodyPr>
          <a:lstStyle/>
          <a:p>
            <a:pPr algn="l">
              <a:lnSpc>
                <a:spcPts val="1500"/>
              </a:lnSpc>
            </a:pPr>
            <a:r>
              <a:rPr sz="1050" b="0" i="1">
                <a:solidFill>
                  <a:srgbClr val="1A1A6E"/>
                </a:solidFill>
              </a:rPr>
              <a:t>She was quiet for a moment. "Then something has to change. And it's better to figure that out
now than in October when you're already behind."</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Map"</a:t>
            </a:r>
          </a:p>
        </p:txBody>
      </p:sp>
      <p:sp>
        <p:nvSpPr>
          <p:cNvPr id="4" name="Rectangle 3"/>
          <p:cNvSpPr/>
          <p:nvPr/>
        </p:nvSpPr>
        <p:spPr>
          <a:xfrm>
            <a:off x="182880" y="594360"/>
            <a:ext cx="8778240" cy="320040"/>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Eli does the math honestly and doesn't like the result. Is that better or worse than not
doing the math at all? Explain.</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asks 'what's non-negotiable?' Why is that question important — what does it force you to
identify?</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She also asks if Eli has ever tracked how long homework actually takes him. Most students
haven't. Why does guessing lead to bad time planning?</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Map your own honest weekday. What's non-negotiable? What's left over? Does the math work?</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The Math of Your Day</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School day: 8:25 AM–3:05 PM = 6 hours 40 minutes. Sleep: TRHS recommends 8–9 hours
(research shows teens need at least 8). That's 16–17 hours accounted for. You have 7–8
hours left for: homework (TRHS expects at least 1.5 hours/night for 9th grade),
activities and sports (typically 2–3 hours on practice days), eating and commute, family
time, and yes — screen time and downtime. When you map it out, the math is tight. High
performers protect their homework time first, then schedule everything else around it.</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How many hours of sleep do you typically get on a school night? How does it affect you?</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Build Your Daily Time Map</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Fill in a realistic schedule for a typical school day and a typical activity/sport day
in 9th grade. Include wake-up time, school, activities, homework, meals, and bedtime.</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7F3F9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Protect your homework time FIRST. High performers decide in advance when homework happens and treat it as non-negotiable.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Daily Time Map  —  Lesson 4.4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14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Fill in a REALISTIC schedule — not an ideal one. Include sleep, meals, and commute. Then: is this sustainable? What would you change?</a:t>
            </a:r>
          </a:p>
        </p:txBody>
      </p:sp>
      <p:sp>
        <p:nvSpPr>
          <p:cNvPr id="7" name="Rectangle 6"/>
          <p:cNvSpPr/>
          <p:nvPr/>
        </p:nvSpPr>
        <p:spPr>
          <a:xfrm>
            <a:off x="182880" y="1783080"/>
            <a:ext cx="1371600" cy="34747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1828800"/>
            <a:ext cx="1234440" cy="256032"/>
          </a:xfrm>
          <a:prstGeom prst="rect">
            <a:avLst/>
          </a:prstGeom>
          <a:noFill/>
        </p:spPr>
        <p:txBody>
          <a:bodyPr wrap="square">
            <a:spAutoFit/>
          </a:bodyPr>
          <a:lstStyle/>
          <a:p>
            <a:pPr algn="l"/>
            <a:r>
              <a:rPr sz="1000" b="1" i="0">
                <a:solidFill>
                  <a:srgbClr val="FFFFFF"/>
                </a:solidFill>
              </a:rPr>
              <a:t>Time</a:t>
            </a:r>
          </a:p>
        </p:txBody>
      </p:sp>
      <p:sp>
        <p:nvSpPr>
          <p:cNvPr id="9" name="Rectangle 8"/>
          <p:cNvSpPr/>
          <p:nvPr/>
        </p:nvSpPr>
        <p:spPr>
          <a:xfrm>
            <a:off x="1600200" y="1783080"/>
            <a:ext cx="3657600" cy="34747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27632" y="1828800"/>
            <a:ext cx="3602736" cy="256032"/>
          </a:xfrm>
          <a:prstGeom prst="rect">
            <a:avLst/>
          </a:prstGeom>
          <a:noFill/>
        </p:spPr>
        <p:txBody>
          <a:bodyPr wrap="square">
            <a:spAutoFit/>
          </a:bodyPr>
          <a:lstStyle/>
          <a:p>
            <a:pPr algn="ctr"/>
            <a:r>
              <a:rPr sz="1000" b="1" i="0">
                <a:solidFill>
                  <a:srgbClr val="FFFFFF"/>
                </a:solidFill>
              </a:rPr>
              <a:t>School Day</a:t>
            </a:r>
          </a:p>
        </p:txBody>
      </p:sp>
      <p:sp>
        <p:nvSpPr>
          <p:cNvPr id="11" name="Rectangle 10"/>
          <p:cNvSpPr/>
          <p:nvPr/>
        </p:nvSpPr>
        <p:spPr>
          <a:xfrm>
            <a:off x="5394960" y="1783080"/>
            <a:ext cx="3657600" cy="34747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22392" y="1828800"/>
            <a:ext cx="3602736" cy="256032"/>
          </a:xfrm>
          <a:prstGeom prst="rect">
            <a:avLst/>
          </a:prstGeom>
          <a:noFill/>
        </p:spPr>
        <p:txBody>
          <a:bodyPr wrap="square">
            <a:spAutoFit/>
          </a:bodyPr>
          <a:lstStyle/>
          <a:p>
            <a:pPr algn="ctr"/>
            <a:r>
              <a:rPr sz="1000" b="1" i="0">
                <a:solidFill>
                  <a:srgbClr val="FFFFFF"/>
                </a:solidFill>
              </a:rPr>
              <a:t>Activity/Sport Day</a:t>
            </a:r>
          </a:p>
        </p:txBody>
      </p:sp>
      <p:sp>
        <p:nvSpPr>
          <p:cNvPr id="13" name="Rectangle 12"/>
          <p:cNvSpPr/>
          <p:nvPr/>
        </p:nvSpPr>
        <p:spPr>
          <a:xfrm>
            <a:off x="182880" y="2167128"/>
            <a:ext cx="1371600" cy="47548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 y="2258568"/>
            <a:ext cx="1243584" cy="292608"/>
          </a:xfrm>
          <a:prstGeom prst="rect">
            <a:avLst/>
          </a:prstGeom>
          <a:noFill/>
        </p:spPr>
        <p:txBody>
          <a:bodyPr wrap="square">
            <a:spAutoFit/>
          </a:bodyPr>
          <a:lstStyle/>
          <a:p>
            <a:pPr algn="ctr"/>
            <a:r>
              <a:rPr sz="1000" b="0" i="0">
                <a:solidFill>
                  <a:srgbClr val="212121"/>
                </a:solidFill>
              </a:rPr>
              <a:t>7:00 AM</a:t>
            </a:r>
          </a:p>
        </p:txBody>
      </p:sp>
      <p:sp>
        <p:nvSpPr>
          <p:cNvPr id="15" name="Rectangle 14"/>
          <p:cNvSpPr/>
          <p:nvPr/>
        </p:nvSpPr>
        <p:spPr>
          <a:xfrm>
            <a:off x="1600200" y="2167128"/>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94960" y="2167128"/>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660904"/>
            <a:ext cx="1371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752344"/>
            <a:ext cx="1243584" cy="292608"/>
          </a:xfrm>
          <a:prstGeom prst="rect">
            <a:avLst/>
          </a:prstGeom>
          <a:noFill/>
        </p:spPr>
        <p:txBody>
          <a:bodyPr wrap="square">
            <a:spAutoFit/>
          </a:bodyPr>
          <a:lstStyle/>
          <a:p>
            <a:pPr algn="ctr"/>
            <a:r>
              <a:rPr sz="1000" b="0" i="0">
                <a:solidFill>
                  <a:srgbClr val="212121"/>
                </a:solidFill>
              </a:rPr>
              <a:t>9:00 AM</a:t>
            </a:r>
          </a:p>
        </p:txBody>
      </p:sp>
      <p:sp>
        <p:nvSpPr>
          <p:cNvPr id="19" name="Rectangle 18"/>
          <p:cNvSpPr/>
          <p:nvPr/>
        </p:nvSpPr>
        <p:spPr>
          <a:xfrm>
            <a:off x="1600200" y="2660904"/>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94960" y="2660904"/>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3154680"/>
            <a:ext cx="1371600" cy="47548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 y="3246120"/>
            <a:ext cx="1243584" cy="292608"/>
          </a:xfrm>
          <a:prstGeom prst="rect">
            <a:avLst/>
          </a:prstGeom>
          <a:noFill/>
        </p:spPr>
        <p:txBody>
          <a:bodyPr wrap="square">
            <a:spAutoFit/>
          </a:bodyPr>
          <a:lstStyle/>
          <a:p>
            <a:pPr algn="ctr"/>
            <a:r>
              <a:rPr sz="1000" b="0" i="0">
                <a:solidFill>
                  <a:srgbClr val="212121"/>
                </a:solidFill>
              </a:rPr>
              <a:t>11:00 AM</a:t>
            </a:r>
          </a:p>
        </p:txBody>
      </p:sp>
      <p:sp>
        <p:nvSpPr>
          <p:cNvPr id="23" name="Rectangle 22"/>
          <p:cNvSpPr/>
          <p:nvPr/>
        </p:nvSpPr>
        <p:spPr>
          <a:xfrm>
            <a:off x="1600200" y="3154680"/>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94960" y="3154680"/>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 y="3648456"/>
            <a:ext cx="1371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 y="3739896"/>
            <a:ext cx="1243584" cy="292608"/>
          </a:xfrm>
          <a:prstGeom prst="rect">
            <a:avLst/>
          </a:prstGeom>
          <a:noFill/>
        </p:spPr>
        <p:txBody>
          <a:bodyPr wrap="square">
            <a:spAutoFit/>
          </a:bodyPr>
          <a:lstStyle/>
          <a:p>
            <a:pPr algn="ctr"/>
            <a:r>
              <a:rPr sz="1000" b="0" i="0">
                <a:solidFill>
                  <a:srgbClr val="212121"/>
                </a:solidFill>
              </a:rPr>
              <a:t>1:00 PM</a:t>
            </a:r>
          </a:p>
        </p:txBody>
      </p:sp>
      <p:sp>
        <p:nvSpPr>
          <p:cNvPr id="27" name="Rectangle 26"/>
          <p:cNvSpPr/>
          <p:nvPr/>
        </p:nvSpPr>
        <p:spPr>
          <a:xfrm>
            <a:off x="1600200" y="3648456"/>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94960" y="3648456"/>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 y="4142232"/>
            <a:ext cx="1371600" cy="47548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4233672"/>
            <a:ext cx="1243584" cy="292608"/>
          </a:xfrm>
          <a:prstGeom prst="rect">
            <a:avLst/>
          </a:prstGeom>
          <a:noFill/>
        </p:spPr>
        <p:txBody>
          <a:bodyPr wrap="square">
            <a:spAutoFit/>
          </a:bodyPr>
          <a:lstStyle/>
          <a:p>
            <a:pPr algn="ctr"/>
            <a:r>
              <a:rPr sz="1000" b="0" i="0">
                <a:solidFill>
                  <a:srgbClr val="212121"/>
                </a:solidFill>
              </a:rPr>
              <a:t>3:00 PM</a:t>
            </a:r>
          </a:p>
        </p:txBody>
      </p:sp>
      <p:sp>
        <p:nvSpPr>
          <p:cNvPr id="31" name="Rectangle 30"/>
          <p:cNvSpPr/>
          <p:nvPr/>
        </p:nvSpPr>
        <p:spPr>
          <a:xfrm>
            <a:off x="1600200" y="4142232"/>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94960" y="4142232"/>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82880" y="4636008"/>
            <a:ext cx="1371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6032" y="4727448"/>
            <a:ext cx="1243584" cy="292608"/>
          </a:xfrm>
          <a:prstGeom prst="rect">
            <a:avLst/>
          </a:prstGeom>
          <a:noFill/>
        </p:spPr>
        <p:txBody>
          <a:bodyPr wrap="square">
            <a:spAutoFit/>
          </a:bodyPr>
          <a:lstStyle/>
          <a:p>
            <a:pPr algn="ctr"/>
            <a:r>
              <a:rPr sz="1000" b="0" i="0">
                <a:solidFill>
                  <a:srgbClr val="212121"/>
                </a:solidFill>
              </a:rPr>
              <a:t>5:00 PM</a:t>
            </a:r>
          </a:p>
        </p:txBody>
      </p:sp>
      <p:sp>
        <p:nvSpPr>
          <p:cNvPr id="35" name="Rectangle 34"/>
          <p:cNvSpPr/>
          <p:nvPr/>
        </p:nvSpPr>
        <p:spPr>
          <a:xfrm>
            <a:off x="1600200" y="4636008"/>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94960" y="4636008"/>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2880" y="5129784"/>
            <a:ext cx="1371600" cy="475488"/>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6032" y="5221224"/>
            <a:ext cx="1243584" cy="292608"/>
          </a:xfrm>
          <a:prstGeom prst="rect">
            <a:avLst/>
          </a:prstGeom>
          <a:noFill/>
        </p:spPr>
        <p:txBody>
          <a:bodyPr wrap="square">
            <a:spAutoFit/>
          </a:bodyPr>
          <a:lstStyle/>
          <a:p>
            <a:pPr algn="ctr"/>
            <a:r>
              <a:rPr sz="1000" b="0" i="0">
                <a:solidFill>
                  <a:srgbClr val="212121"/>
                </a:solidFill>
              </a:rPr>
              <a:t>7:00 PM</a:t>
            </a:r>
          </a:p>
        </p:txBody>
      </p:sp>
      <p:sp>
        <p:nvSpPr>
          <p:cNvPr id="39" name="Rectangle 38"/>
          <p:cNvSpPr/>
          <p:nvPr/>
        </p:nvSpPr>
        <p:spPr>
          <a:xfrm>
            <a:off x="1600200" y="5129784"/>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94960" y="5129784"/>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82880" y="5623560"/>
            <a:ext cx="1371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6032" y="5715000"/>
            <a:ext cx="1243584" cy="292608"/>
          </a:xfrm>
          <a:prstGeom prst="rect">
            <a:avLst/>
          </a:prstGeom>
          <a:noFill/>
        </p:spPr>
        <p:txBody>
          <a:bodyPr wrap="square">
            <a:spAutoFit/>
          </a:bodyPr>
          <a:lstStyle/>
          <a:p>
            <a:pPr algn="ctr"/>
            <a:r>
              <a:rPr sz="1000" b="0" i="0">
                <a:solidFill>
                  <a:srgbClr val="212121"/>
                </a:solidFill>
              </a:rPr>
              <a:t>9:00 PM</a:t>
            </a:r>
          </a:p>
        </p:txBody>
      </p:sp>
      <p:sp>
        <p:nvSpPr>
          <p:cNvPr id="43" name="Rectangle 42"/>
          <p:cNvSpPr/>
          <p:nvPr/>
        </p:nvSpPr>
        <p:spPr>
          <a:xfrm>
            <a:off x="1600200" y="5623560"/>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394960" y="5623560"/>
            <a:ext cx="3657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My 9th Grade Year Plan — Putting It All Together</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You now have all the pieces of your 9th Grade Year Plan. Complete the summary below,
referencing your work from Lessons 4.1–4.4.</a:t>
            </a:r>
          </a:p>
        </p:txBody>
      </p:sp>
      <p:sp>
        <p:nvSpPr>
          <p:cNvPr id="5" name="Rectangle 4"/>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My 9th Grade Year Plan  —  Lesson 4.4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14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Complete all six fields using your work from Lessons 4.1-4.4. This is the central document of your 9th Grade Year Plan.</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Complete all six fields using your work from Lessons 4.1-4.4. This is the central document of your 9th Grade Year Plan.</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4.4: My Daily Time Map</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Synthesis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Imagine it is the end of your 9th grade year and it went exactly as you hoped. Write 5–7 sentences describing what that year looked like: your grades, your activities, how you managed your time, and how you felt. Be specific — use course names, activity names, and real details from your plan.</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7F3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4 Post-Test  —  How Far Have You Come?</a:t>
            </a:r>
          </a:p>
        </p:txBody>
      </p:sp>
      <p:sp>
        <p:nvSpPr>
          <p:cNvPr id="4" name="TextBox 3"/>
          <p:cNvSpPr txBox="1"/>
          <p:nvPr/>
        </p:nvSpPr>
        <p:spPr>
          <a:xfrm>
            <a:off x="274320" y="640080"/>
            <a:ext cx="8595360" cy="2286000"/>
          </a:xfrm>
          <a:prstGeom prst="rect">
            <a:avLst/>
          </a:prstGeom>
          <a:noFill/>
        </p:spPr>
        <p:txBody>
          <a:bodyPr wrap="square">
            <a:spAutoFit/>
          </a:bodyPr>
          <a:lstStyle/>
          <a:p>
            <a:pPr algn="l"/>
            <a:r>
              <a:rPr sz="1250" b="0" i="0">
                <a:solidFill>
                  <a:srgbClr val="212121"/>
                </a:solidFill>
              </a:rPr>
              <a:t>Attach or summarize your completed 9th Grade Mock Schedule from Lesson 4.2. Then write a paragraph (5–7 sentences) describing how you plan to balance your academic work, extracurricular activities, and personal time during your 9th grade year. Use specific times, course names, and activity names.</a:t>
            </a:r>
          </a:p>
        </p:txBody>
      </p:sp>
      <p:sp>
        <p:nvSpPr>
          <p:cNvPr id="5" name="Rectangle 4"/>
          <p:cNvSpPr/>
          <p:nvPr/>
        </p:nvSpPr>
        <p:spPr>
          <a:xfrm>
            <a:off x="228600" y="3063240"/>
            <a:ext cx="8686800" cy="65836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3145536"/>
            <a:ext cx="8412480" cy="502920"/>
          </a:xfrm>
          <a:prstGeom prst="rect">
            <a:avLst/>
          </a:prstGeom>
          <a:noFill/>
        </p:spPr>
        <p:txBody>
          <a:bodyPr wrap="square">
            <a:spAutoFit/>
          </a:bodyPr>
          <a:lstStyle/>
          <a:p>
            <a:pPr algn="l"/>
            <a:r>
              <a:rPr sz="1100" b="0" i="1">
                <a:solidFill>
                  <a:srgbClr val="212121"/>
                </a:solidFill>
              </a:rPr>
              <a:t>TIP: Your Cornell Notes are your best resource. Use the vocabulary, the key ideas from the readings, and the activities from this unit to write a thorough, specific response.</a:t>
            </a:r>
          </a:p>
        </p:txBody>
      </p:sp>
      <p:sp>
        <p:nvSpPr>
          <p:cNvPr id="7" name="Rectangle 6"/>
          <p:cNvSpPr/>
          <p:nvPr/>
        </p:nvSpPr>
        <p:spPr>
          <a:xfrm>
            <a:off x="228600" y="3886200"/>
            <a:ext cx="8686800" cy="5029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950208"/>
            <a:ext cx="8412480" cy="384048"/>
          </a:xfrm>
          <a:prstGeom prst="rect">
            <a:avLst/>
          </a:prstGeom>
          <a:noFill/>
        </p:spPr>
        <p:txBody>
          <a:bodyPr wrap="square">
            <a:spAutoFit/>
          </a:bodyPr>
          <a:lstStyle/>
          <a:p>
            <a:pPr algn="l"/>
            <a:r>
              <a:rPr sz="1100" b="1" i="0">
                <a:solidFill>
                  <a:srgbClr val="212121"/>
                </a:solidFill>
              </a:rPr>
              <a:t>Growth Check: Compare your post-test to your pre-test. Circle 3 specific things you know now that you did not know at the start of this unit.</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99661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8229600" cy="502920"/>
          </a:xfrm>
          <a:prstGeom prst="rect">
            <a:avLst/>
          </a:prstGeom>
          <a:noFill/>
        </p:spPr>
        <p:txBody>
          <a:bodyPr wrap="square">
            <a:spAutoFit/>
          </a:bodyPr>
          <a:lstStyle/>
          <a:p>
            <a:pPr algn="l"/>
            <a:r>
              <a:rPr sz="2000" b="0" i="0">
                <a:solidFill>
                  <a:srgbClr val="F5E0B2"/>
                </a:solidFill>
              </a:rPr>
              <a:t>UNIT 5</a:t>
            </a:r>
          </a:p>
        </p:txBody>
      </p:sp>
      <p:sp>
        <p:nvSpPr>
          <p:cNvPr id="5" name="TextBox 4"/>
          <p:cNvSpPr txBox="1"/>
          <p:nvPr/>
        </p:nvSpPr>
        <p:spPr>
          <a:xfrm>
            <a:off x="457200" y="1234440"/>
            <a:ext cx="8229600" cy="1188720"/>
          </a:xfrm>
          <a:prstGeom prst="rect">
            <a:avLst/>
          </a:prstGeom>
          <a:noFill/>
        </p:spPr>
        <p:txBody>
          <a:bodyPr wrap="square">
            <a:spAutoFit/>
          </a:bodyPr>
          <a:lstStyle/>
          <a:p>
            <a:pPr algn="l"/>
            <a:r>
              <a:rPr sz="3800" b="1" i="0">
                <a:solidFill>
                  <a:srgbClr val="FFFFFF"/>
                </a:solidFill>
              </a:rPr>
              <a:t>Transition to High School</a:t>
            </a:r>
          </a:p>
        </p:txBody>
      </p:sp>
      <p:sp>
        <p:nvSpPr>
          <p:cNvPr id="6" name="Rectangle 5"/>
          <p:cNvSpPr/>
          <p:nvPr/>
        </p:nvSpPr>
        <p:spPr>
          <a:xfrm>
            <a:off x="457200" y="2514600"/>
            <a:ext cx="4114800" cy="457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697480"/>
            <a:ext cx="8229600" cy="1828800"/>
          </a:xfrm>
          <a:prstGeom prst="rect">
            <a:avLst/>
          </a:prstGeom>
          <a:noFill/>
        </p:spPr>
        <p:txBody>
          <a:bodyPr wrap="square">
            <a:spAutoFit/>
          </a:bodyPr>
          <a:lstStyle/>
          <a:p>
            <a:pPr algn="l"/>
            <a:r>
              <a:rPr sz="1400" b="0" i="0">
                <a:solidFill>
                  <a:srgbClr val="FFFFFF"/>
                </a:solidFill>
              </a:rPr>
              <a:t>In this final unit you will take everything you have learned and connect it directly to the experience of being a new student at Two Rivers High School. You will understand how grades and credits work, explore how to get involved, finalize your course selections, and hear directly from current TRHS students who have been in your shoes.</a:t>
            </a:r>
          </a:p>
        </p:txBody>
      </p:sp>
      <p:sp>
        <p:nvSpPr>
          <p:cNvPr id="8" name="TextBox 7"/>
          <p:cNvSpPr txBox="1"/>
          <p:nvPr/>
        </p:nvSpPr>
        <p:spPr>
          <a:xfrm>
            <a:off x="457200" y="4663440"/>
            <a:ext cx="8229600" cy="347472"/>
          </a:xfrm>
          <a:prstGeom prst="rect">
            <a:avLst/>
          </a:prstGeom>
          <a:noFill/>
        </p:spPr>
        <p:txBody>
          <a:bodyPr wrap="square">
            <a:spAutoFit/>
          </a:bodyPr>
          <a:lstStyle/>
          <a:p>
            <a:pPr algn="l"/>
            <a:r>
              <a:rPr sz="1300" b="1" i="0">
                <a:solidFill>
                  <a:srgbClr val="F5E0B2"/>
                </a:solidFill>
              </a:rPr>
              <a:t>Unit Vocabulary</a:t>
            </a:r>
          </a:p>
        </p:txBody>
      </p:sp>
      <p:sp>
        <p:nvSpPr>
          <p:cNvPr id="9" name="TextBox 8"/>
          <p:cNvSpPr txBox="1"/>
          <p:nvPr/>
        </p:nvSpPr>
        <p:spPr>
          <a:xfrm>
            <a:off x="457200" y="5074920"/>
            <a:ext cx="8503920" cy="384048"/>
          </a:xfrm>
          <a:prstGeom prst="rect">
            <a:avLst/>
          </a:prstGeom>
          <a:noFill/>
        </p:spPr>
        <p:txBody>
          <a:bodyPr wrap="square">
            <a:spAutoFit/>
          </a:bodyPr>
          <a:lstStyle/>
          <a:p>
            <a:pPr algn="l"/>
            <a:r>
              <a:rPr sz="950" b="0" i="0">
                <a:solidFill>
                  <a:srgbClr val="FFFFFF"/>
                </a:solidFill>
              </a:rPr>
              <a:t>• Weighted Grade  —  A grade that counts for more than a standard grade on the GPA scale, awarded for AP, CIS, and college-credit courses at TRHS (up to 4.8 instead of 4.0).</a:t>
            </a:r>
          </a:p>
        </p:txBody>
      </p:sp>
      <p:sp>
        <p:nvSpPr>
          <p:cNvPr id="10" name="TextBox 9"/>
          <p:cNvSpPr txBox="1"/>
          <p:nvPr/>
        </p:nvSpPr>
        <p:spPr>
          <a:xfrm>
            <a:off x="457200" y="5477256"/>
            <a:ext cx="8503920" cy="384048"/>
          </a:xfrm>
          <a:prstGeom prst="rect">
            <a:avLst/>
          </a:prstGeom>
          <a:noFill/>
        </p:spPr>
        <p:txBody>
          <a:bodyPr wrap="square">
            <a:spAutoFit/>
          </a:bodyPr>
          <a:lstStyle/>
          <a:p>
            <a:pPr algn="l"/>
            <a:r>
              <a:rPr sz="950" b="0" i="0">
                <a:solidFill>
                  <a:srgbClr val="FFFFFF"/>
                </a:solidFill>
              </a:rPr>
              <a:t>• Transcript  —  Your official academic record — a document listing all your courses, grades, and credits earned in high school.</a:t>
            </a:r>
          </a:p>
        </p:txBody>
      </p:sp>
      <p:sp>
        <p:nvSpPr>
          <p:cNvPr id="11" name="TextBox 10"/>
          <p:cNvSpPr txBox="1"/>
          <p:nvPr/>
        </p:nvSpPr>
        <p:spPr>
          <a:xfrm>
            <a:off x="457200" y="5879592"/>
            <a:ext cx="8503920" cy="384048"/>
          </a:xfrm>
          <a:prstGeom prst="rect">
            <a:avLst/>
          </a:prstGeom>
          <a:noFill/>
        </p:spPr>
        <p:txBody>
          <a:bodyPr wrap="square">
            <a:spAutoFit/>
          </a:bodyPr>
          <a:lstStyle/>
          <a:p>
            <a:pPr algn="l"/>
            <a:r>
              <a:rPr sz="950" b="0" i="0">
                <a:solidFill>
                  <a:srgbClr val="FFFFFF"/>
                </a:solidFill>
              </a:rPr>
              <a:t>• BARR (Building Assets, Reducing Risks)  —  A program at TRHS where 9th graders are placed on teams of 3-4 teachers who communicate regularly to support student success.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5 Vocabulary — Etymology &amp; Meaning</a:t>
            </a:r>
          </a:p>
        </p:txBody>
      </p:sp>
      <p:sp>
        <p:nvSpPr>
          <p:cNvPr id="4" name="Rectangle 3"/>
          <p:cNvSpPr/>
          <p:nvPr/>
        </p:nvSpPr>
        <p:spPr>
          <a:xfrm>
            <a:off x="228600" y="59436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30936"/>
            <a:ext cx="2743200" cy="347472"/>
          </a:xfrm>
          <a:prstGeom prst="rect">
            <a:avLst/>
          </a:prstGeom>
          <a:noFill/>
        </p:spPr>
        <p:txBody>
          <a:bodyPr wrap="square">
            <a:spAutoFit/>
          </a:bodyPr>
          <a:lstStyle/>
          <a:p>
            <a:pPr algn="l"/>
            <a:r>
              <a:rPr sz="1300" b="1" i="0">
                <a:solidFill>
                  <a:srgbClr val="996619"/>
                </a:solidFill>
              </a:rPr>
              <a:t>Weighted Grade</a:t>
            </a:r>
          </a:p>
        </p:txBody>
      </p:sp>
      <p:sp>
        <p:nvSpPr>
          <p:cNvPr id="6" name="TextBox 5"/>
          <p:cNvSpPr txBox="1"/>
          <p:nvPr/>
        </p:nvSpPr>
        <p:spPr>
          <a:xfrm>
            <a:off x="320040" y="1005840"/>
            <a:ext cx="4114800" cy="320040"/>
          </a:xfrm>
          <a:prstGeom prst="rect">
            <a:avLst/>
          </a:prstGeom>
          <a:noFill/>
        </p:spPr>
        <p:txBody>
          <a:bodyPr wrap="square">
            <a:spAutoFit/>
          </a:bodyPr>
          <a:lstStyle/>
          <a:p>
            <a:pPr algn="l"/>
            <a:r>
              <a:rPr sz="900" b="0" i="1">
                <a:solidFill>
                  <a:srgbClr val="888888"/>
                </a:solidFill>
              </a:rPr>
              <a:t>⬅ Old English gewiht (weight, heaviness) + Latin gradus (step, rank)</a:t>
            </a:r>
          </a:p>
        </p:txBody>
      </p:sp>
      <p:sp>
        <p:nvSpPr>
          <p:cNvPr id="7" name="TextBox 6"/>
          <p:cNvSpPr txBox="1"/>
          <p:nvPr/>
        </p:nvSpPr>
        <p:spPr>
          <a:xfrm>
            <a:off x="3200400" y="685800"/>
            <a:ext cx="5577840" cy="594360"/>
          </a:xfrm>
          <a:prstGeom prst="rect">
            <a:avLst/>
          </a:prstGeom>
          <a:noFill/>
        </p:spPr>
        <p:txBody>
          <a:bodyPr wrap="square">
            <a:spAutoFit/>
          </a:bodyPr>
          <a:lstStyle/>
          <a:p>
            <a:pPr algn="l"/>
            <a:r>
              <a:rPr sz="1100" b="0" i="0">
                <a:solidFill>
                  <a:srgbClr val="212121"/>
                </a:solidFill>
              </a:rPr>
              <a:t>A grade that counts for more than a standard grade on the GPA scale, awarded for AP, CIS, and college-credit courses at TRHS (up to 4.8 instead of 4.0).</a:t>
            </a:r>
          </a:p>
        </p:txBody>
      </p:sp>
      <p:sp>
        <p:nvSpPr>
          <p:cNvPr id="8" name="Rectangle 7"/>
          <p:cNvSpPr/>
          <p:nvPr/>
        </p:nvSpPr>
        <p:spPr>
          <a:xfrm>
            <a:off x="228600" y="146304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9616"/>
            <a:ext cx="2743200" cy="347472"/>
          </a:xfrm>
          <a:prstGeom prst="rect">
            <a:avLst/>
          </a:prstGeom>
          <a:noFill/>
        </p:spPr>
        <p:txBody>
          <a:bodyPr wrap="square">
            <a:spAutoFit/>
          </a:bodyPr>
          <a:lstStyle/>
          <a:p>
            <a:pPr algn="l"/>
            <a:r>
              <a:rPr sz="1300" b="1" i="0">
                <a:solidFill>
                  <a:srgbClr val="996619"/>
                </a:solidFill>
              </a:rPr>
              <a:t>Transcript</a:t>
            </a:r>
          </a:p>
        </p:txBody>
      </p:sp>
      <p:sp>
        <p:nvSpPr>
          <p:cNvPr id="10" name="TextBox 9"/>
          <p:cNvSpPr txBox="1"/>
          <p:nvPr/>
        </p:nvSpPr>
        <p:spPr>
          <a:xfrm>
            <a:off x="320040" y="1874520"/>
            <a:ext cx="4114800" cy="320040"/>
          </a:xfrm>
          <a:prstGeom prst="rect">
            <a:avLst/>
          </a:prstGeom>
          <a:noFill/>
        </p:spPr>
        <p:txBody>
          <a:bodyPr wrap="square">
            <a:spAutoFit/>
          </a:bodyPr>
          <a:lstStyle/>
          <a:p>
            <a:pPr algn="l"/>
            <a:r>
              <a:rPr sz="900" b="0" i="1">
                <a:solidFill>
                  <a:srgbClr val="888888"/>
                </a:solidFill>
              </a:rPr>
              <a:t>⬅ Latin transcribere (to copy over) — trans (across) + scribere (to write)</a:t>
            </a:r>
          </a:p>
        </p:txBody>
      </p:sp>
      <p:sp>
        <p:nvSpPr>
          <p:cNvPr id="11" name="TextBox 10"/>
          <p:cNvSpPr txBox="1"/>
          <p:nvPr/>
        </p:nvSpPr>
        <p:spPr>
          <a:xfrm>
            <a:off x="3200400" y="1554480"/>
            <a:ext cx="5577840" cy="594360"/>
          </a:xfrm>
          <a:prstGeom prst="rect">
            <a:avLst/>
          </a:prstGeom>
          <a:noFill/>
        </p:spPr>
        <p:txBody>
          <a:bodyPr wrap="square">
            <a:spAutoFit/>
          </a:bodyPr>
          <a:lstStyle/>
          <a:p>
            <a:pPr algn="l"/>
            <a:r>
              <a:rPr sz="1100" b="0" i="0">
                <a:solidFill>
                  <a:srgbClr val="212121"/>
                </a:solidFill>
              </a:rPr>
              <a:t>Your official academic record — a document listing all your courses, grades, and credits earned in high school.</a:t>
            </a:r>
          </a:p>
        </p:txBody>
      </p:sp>
      <p:sp>
        <p:nvSpPr>
          <p:cNvPr id="12" name="Rectangle 11"/>
          <p:cNvSpPr/>
          <p:nvPr/>
        </p:nvSpPr>
        <p:spPr>
          <a:xfrm>
            <a:off x="228600" y="233172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368296"/>
            <a:ext cx="2743200" cy="347472"/>
          </a:xfrm>
          <a:prstGeom prst="rect">
            <a:avLst/>
          </a:prstGeom>
          <a:noFill/>
        </p:spPr>
        <p:txBody>
          <a:bodyPr wrap="square">
            <a:spAutoFit/>
          </a:bodyPr>
          <a:lstStyle/>
          <a:p>
            <a:pPr algn="l"/>
            <a:r>
              <a:rPr sz="1300" b="1" i="0">
                <a:solidFill>
                  <a:srgbClr val="996619"/>
                </a:solidFill>
              </a:rPr>
              <a:t>BARR (Building Assets, Reducing Risks)</a:t>
            </a:r>
          </a:p>
        </p:txBody>
      </p:sp>
      <p:sp>
        <p:nvSpPr>
          <p:cNvPr id="14" name="TextBox 13"/>
          <p:cNvSpPr txBox="1"/>
          <p:nvPr/>
        </p:nvSpPr>
        <p:spPr>
          <a:xfrm>
            <a:off x="320040" y="2743200"/>
            <a:ext cx="4114800" cy="320040"/>
          </a:xfrm>
          <a:prstGeom prst="rect">
            <a:avLst/>
          </a:prstGeom>
          <a:noFill/>
        </p:spPr>
        <p:txBody>
          <a:bodyPr wrap="square">
            <a:spAutoFit/>
          </a:bodyPr>
          <a:lstStyle/>
          <a:p>
            <a:pPr algn="l"/>
            <a:r>
              <a:rPr sz="900" b="0" i="1">
                <a:solidFill>
                  <a:srgbClr val="888888"/>
                </a:solidFill>
              </a:rPr>
              <a:t>⬅ Acronym: Building Assets, Reducing Risks — a research-based model of student support</a:t>
            </a:r>
          </a:p>
        </p:txBody>
      </p:sp>
      <p:sp>
        <p:nvSpPr>
          <p:cNvPr id="15" name="TextBox 14"/>
          <p:cNvSpPr txBox="1"/>
          <p:nvPr/>
        </p:nvSpPr>
        <p:spPr>
          <a:xfrm>
            <a:off x="3200400" y="2423160"/>
            <a:ext cx="5577840" cy="594360"/>
          </a:xfrm>
          <a:prstGeom prst="rect">
            <a:avLst/>
          </a:prstGeom>
          <a:noFill/>
        </p:spPr>
        <p:txBody>
          <a:bodyPr wrap="square">
            <a:spAutoFit/>
          </a:bodyPr>
          <a:lstStyle/>
          <a:p>
            <a:pPr algn="l"/>
            <a:r>
              <a:rPr sz="1100" b="0" i="0">
                <a:solidFill>
                  <a:srgbClr val="212121"/>
                </a:solidFill>
              </a:rPr>
              <a:t>A program at TRHS where 9th graders are placed on teams of 3-4 teachers who communicate regularly to support student success.</a:t>
            </a:r>
          </a:p>
        </p:txBody>
      </p:sp>
      <p:sp>
        <p:nvSpPr>
          <p:cNvPr id="16" name="Rectangle 15"/>
          <p:cNvSpPr/>
          <p:nvPr/>
        </p:nvSpPr>
        <p:spPr>
          <a:xfrm>
            <a:off x="228600" y="3200400"/>
            <a:ext cx="8686800" cy="777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236976"/>
            <a:ext cx="2743200" cy="347472"/>
          </a:xfrm>
          <a:prstGeom prst="rect">
            <a:avLst/>
          </a:prstGeom>
          <a:noFill/>
        </p:spPr>
        <p:txBody>
          <a:bodyPr wrap="square">
            <a:spAutoFit/>
          </a:bodyPr>
          <a:lstStyle/>
          <a:p>
            <a:pPr algn="l"/>
            <a:r>
              <a:rPr sz="1300" b="1" i="0">
                <a:solidFill>
                  <a:srgbClr val="996619"/>
                </a:solidFill>
              </a:rPr>
              <a:t>Concurrent Enrollment (CE)</a:t>
            </a:r>
          </a:p>
        </p:txBody>
      </p:sp>
      <p:sp>
        <p:nvSpPr>
          <p:cNvPr id="18" name="TextBox 17"/>
          <p:cNvSpPr txBox="1"/>
          <p:nvPr/>
        </p:nvSpPr>
        <p:spPr>
          <a:xfrm>
            <a:off x="320040" y="3611880"/>
            <a:ext cx="4114800" cy="320040"/>
          </a:xfrm>
          <a:prstGeom prst="rect">
            <a:avLst/>
          </a:prstGeom>
          <a:noFill/>
        </p:spPr>
        <p:txBody>
          <a:bodyPr wrap="square">
            <a:spAutoFit/>
          </a:bodyPr>
          <a:lstStyle/>
          <a:p>
            <a:pPr algn="l"/>
            <a:r>
              <a:rPr sz="900" b="0" i="1">
                <a:solidFill>
                  <a:srgbClr val="888888"/>
                </a:solidFill>
              </a:rPr>
              <a:t>⬅ Latin concurrere (to run together) + Latin enrollare (to enter on a roll/list)</a:t>
            </a:r>
          </a:p>
        </p:txBody>
      </p:sp>
      <p:sp>
        <p:nvSpPr>
          <p:cNvPr id="19" name="TextBox 18"/>
          <p:cNvSpPr txBox="1"/>
          <p:nvPr/>
        </p:nvSpPr>
        <p:spPr>
          <a:xfrm>
            <a:off x="3200400" y="3291840"/>
            <a:ext cx="5577840" cy="594360"/>
          </a:xfrm>
          <a:prstGeom prst="rect">
            <a:avLst/>
          </a:prstGeom>
          <a:noFill/>
        </p:spPr>
        <p:txBody>
          <a:bodyPr wrap="square">
            <a:spAutoFit/>
          </a:bodyPr>
          <a:lstStyle/>
          <a:p>
            <a:pPr algn="l"/>
            <a:r>
              <a:rPr sz="1100" b="0" i="0">
                <a:solidFill>
                  <a:srgbClr val="212121"/>
                </a:solidFill>
              </a:rPr>
              <a:t>Taking a high school course that also earns college credit, taught by a college-approved high school teacher.</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5 Pre-Test  —  What Do You Already Know?</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each question honestly in your workbook. This is NOT graded for correctness.</a:t>
            </a:r>
          </a:p>
        </p:txBody>
      </p:sp>
      <p:sp>
        <p:nvSpPr>
          <p:cNvPr id="6" name="TextBox 5"/>
          <p:cNvSpPr txBox="1"/>
          <p:nvPr/>
        </p:nvSpPr>
        <p:spPr>
          <a:xfrm>
            <a:off x="274320" y="1005840"/>
            <a:ext cx="8595360" cy="475488"/>
          </a:xfrm>
          <a:prstGeom prst="rect">
            <a:avLst/>
          </a:prstGeom>
          <a:noFill/>
        </p:spPr>
        <p:txBody>
          <a:bodyPr wrap="square">
            <a:spAutoFit/>
          </a:bodyPr>
          <a:lstStyle/>
          <a:p>
            <a:pPr algn="l"/>
            <a:r>
              <a:rPr sz="1200" b="0" i="0">
                <a:solidFill>
                  <a:srgbClr val="212121"/>
                </a:solidFill>
              </a:rPr>
              <a:t>1.  How is a high school GPA different from a middle school grade? What do you already know?</a:t>
            </a:r>
          </a:p>
        </p:txBody>
      </p:sp>
      <p:sp>
        <p:nvSpPr>
          <p:cNvPr id="7" name="TextBox 6"/>
          <p:cNvSpPr txBox="1"/>
          <p:nvPr/>
        </p:nvSpPr>
        <p:spPr>
          <a:xfrm>
            <a:off x="274320" y="1517904"/>
            <a:ext cx="8595360" cy="475488"/>
          </a:xfrm>
          <a:prstGeom prst="rect">
            <a:avLst/>
          </a:prstGeom>
          <a:noFill/>
        </p:spPr>
        <p:txBody>
          <a:bodyPr wrap="square">
            <a:spAutoFit/>
          </a:bodyPr>
          <a:lstStyle/>
          <a:p>
            <a:pPr algn="l"/>
            <a:r>
              <a:rPr sz="1200" b="0" i="0">
                <a:solidFill>
                  <a:srgbClr val="212121"/>
                </a:solidFill>
              </a:rPr>
              <a:t>2.  What questions do you have about high school grades, credits, or graduation?</a:t>
            </a:r>
          </a:p>
        </p:txBody>
      </p:sp>
      <p:sp>
        <p:nvSpPr>
          <p:cNvPr id="8" name="TextBox 7"/>
          <p:cNvSpPr txBox="1"/>
          <p:nvPr/>
        </p:nvSpPr>
        <p:spPr>
          <a:xfrm>
            <a:off x="274320" y="2029968"/>
            <a:ext cx="8595360" cy="475488"/>
          </a:xfrm>
          <a:prstGeom prst="rect">
            <a:avLst/>
          </a:prstGeom>
          <a:noFill/>
        </p:spPr>
        <p:txBody>
          <a:bodyPr wrap="square">
            <a:spAutoFit/>
          </a:bodyPr>
          <a:lstStyle/>
          <a:p>
            <a:pPr algn="l"/>
            <a:r>
              <a:rPr sz="1200" b="0" i="0">
                <a:solidFill>
                  <a:srgbClr val="212121"/>
                </a:solidFill>
              </a:rPr>
              <a:t>3.  What is ONE thing that makes you excited about starting high school?</a:t>
            </a:r>
          </a:p>
        </p:txBody>
      </p:sp>
      <p:sp>
        <p:nvSpPr>
          <p:cNvPr id="9" name="TextBox 8"/>
          <p:cNvSpPr txBox="1"/>
          <p:nvPr/>
        </p:nvSpPr>
        <p:spPr>
          <a:xfrm>
            <a:off x="274320" y="2542032"/>
            <a:ext cx="8595360" cy="475488"/>
          </a:xfrm>
          <a:prstGeom prst="rect">
            <a:avLst/>
          </a:prstGeom>
          <a:noFill/>
        </p:spPr>
        <p:txBody>
          <a:bodyPr wrap="square">
            <a:spAutoFit/>
          </a:bodyPr>
          <a:lstStyle/>
          <a:p>
            <a:pPr algn="l"/>
            <a:r>
              <a:rPr sz="1200" b="0" i="0">
                <a:solidFill>
                  <a:srgbClr val="212121"/>
                </a:solidFill>
              </a:rPr>
              <a:t>4.  What is ONE thing that makes you nervous about starting high school?</a:t>
            </a:r>
          </a:p>
        </p:txBody>
      </p:sp>
      <p:sp>
        <p:nvSpPr>
          <p:cNvPr id="10" name="TextBox 9"/>
          <p:cNvSpPr txBox="1"/>
          <p:nvPr/>
        </p:nvSpPr>
        <p:spPr>
          <a:xfrm>
            <a:off x="274320" y="3054096"/>
            <a:ext cx="8595360" cy="475488"/>
          </a:xfrm>
          <a:prstGeom prst="rect">
            <a:avLst/>
          </a:prstGeom>
          <a:noFill/>
        </p:spPr>
        <p:txBody>
          <a:bodyPr wrap="square">
            <a:spAutoFit/>
          </a:bodyPr>
          <a:lstStyle/>
          <a:p>
            <a:pPr algn="l"/>
            <a:r>
              <a:rPr sz="1200" b="0" i="0">
                <a:solidFill>
                  <a:srgbClr val="212121"/>
                </a:solidFill>
              </a:rPr>
              <a:t>5.  What advice do you wish someone had given you before starting middle school?</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5.1  ·  5 minutes</a:t>
            </a:r>
          </a:p>
        </p:txBody>
      </p:sp>
      <p:sp>
        <p:nvSpPr>
          <p:cNvPr id="7" name="Rectangle 6"/>
          <p:cNvSpPr/>
          <p:nvPr/>
        </p:nvSpPr>
        <p:spPr>
          <a:xfrm>
            <a:off x="228600" y="868680"/>
            <a:ext cx="1463040" cy="329184"/>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LAUNCH</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Grade vs. GPA — What's the Difference?</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Without any help — explain the difference between a grade and a GPA:
______________________________________________________
If a student gets a B in every class for one semester, what is their GPA? My best guess: ___
Explain your reasoning:</a:t>
            </a:r>
          </a:p>
        </p:txBody>
      </p:sp>
      <p:sp>
        <p:nvSpPr>
          <p:cNvPr id="13" name="Rectangle 12"/>
          <p:cNvSpPr/>
          <p:nvPr/>
        </p:nvSpPr>
        <p:spPr>
          <a:xfrm>
            <a:off x="228600" y="4919472"/>
            <a:ext cx="8686800" cy="47548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Show of hands for different GPA guesses — don't confirm yet</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5.1  |  Unit 5: Transition to High School</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Grades, Credits &amp; GPA at TRHS</a:t>
            </a:r>
          </a:p>
        </p:txBody>
      </p:sp>
      <p:sp>
        <p:nvSpPr>
          <p:cNvPr id="6" name="Rectangle 5"/>
          <p:cNvSpPr/>
          <p:nvPr/>
        </p:nvSpPr>
        <p:spPr>
          <a:xfrm>
            <a:off x="182880" y="1024128"/>
            <a:ext cx="8778240" cy="329184"/>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Explain how credits, GPA, and weighted grades work at TRHS.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Calculate a sample GPA using the TRHS grading scale.</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Identify the academic habits that protect and grow a strong GPA.</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99661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996619"/>
                </a:solidFill>
              </a:rPr>
              <a:t>Weighted Grade</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Old English gewiht (weight, heaviness) + Latin gradus (step, rank)</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grade that earns more GPA points, rewarding students who take advanced courses like AP and CIS.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389888"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316736" cy="320040"/>
          </a:xfrm>
          <a:prstGeom prst="rect">
            <a:avLst/>
          </a:prstGeom>
          <a:noFill/>
        </p:spPr>
        <p:txBody>
          <a:bodyPr wrap="square">
            <a:spAutoFit/>
          </a:bodyPr>
          <a:lstStyle/>
          <a:p>
            <a:pPr algn="ctr"/>
            <a:r>
              <a:rPr sz="1100" b="1" i="0">
                <a:solidFill>
                  <a:srgbClr val="FFFFFF"/>
                </a:solidFill>
              </a:rPr>
              <a:t>8</a:t>
            </a:r>
          </a:p>
        </p:txBody>
      </p:sp>
      <p:sp>
        <p:nvSpPr>
          <p:cNvPr id="33" name="TextBox 32"/>
          <p:cNvSpPr txBox="1"/>
          <p:nvPr/>
        </p:nvSpPr>
        <p:spPr>
          <a:xfrm>
            <a:off x="4572000" y="6163056"/>
            <a:ext cx="1389888"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961888" y="5623560"/>
            <a:ext cx="2084831"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715000"/>
            <a:ext cx="2011679" cy="320040"/>
          </a:xfrm>
          <a:prstGeom prst="rect">
            <a:avLst/>
          </a:prstGeom>
          <a:noFill/>
        </p:spPr>
        <p:txBody>
          <a:bodyPr wrap="square">
            <a:spAutoFit/>
          </a:bodyPr>
          <a:lstStyle/>
          <a:p>
            <a:pPr algn="ctr"/>
            <a:r>
              <a:rPr sz="1100" b="1" i="0">
                <a:solidFill>
                  <a:srgbClr val="FFFFFF"/>
                </a:solidFill>
              </a:rPr>
              <a:t>12</a:t>
            </a:r>
          </a:p>
        </p:txBody>
      </p:sp>
      <p:sp>
        <p:nvSpPr>
          <p:cNvPr id="36" name="TextBox 35"/>
          <p:cNvSpPr txBox="1"/>
          <p:nvPr/>
        </p:nvSpPr>
        <p:spPr>
          <a:xfrm>
            <a:off x="5961888" y="6163056"/>
            <a:ext cx="2084831"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19"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5"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19"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99661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Your Grade, Your GPA, Your Transcript: How Academic Performance Works at TRHS</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the TRHS 2026-27 Academic Planning Guide</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Grade, Your GPA, Your Transcript: How Academic Performance Works at TRHS  (p. 1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In middle school, grades matter — but in high school, they become part of a permanent
record called your transcript. Your transcript follows you everywhere: to college
applications, scholarship applications, and sometimes job applications. It shows every
course you took, the grade you earned, the number of credits, and whether the course was
standard, advanced, or AP. You cannot erase entries on your transcript, which means
every semester counts from day one.</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At Two Rivers, grades are recorded on a 4.0 scale for standard courses. An A earns 4.0
GPA points, a B earns 3.0, a C earns 2.0, a D earns 1.0, and an F earns 0.0. For AP, CIS
(College in the Schools), and other college-credit courses, grades are weighted —
meaning they can earn up to 4.8 GPA points for an A. This weighted system rewards
students who challenge themselves. A student with a 3.5 GPA in all advanced courses is
making a stronger academic statement than a student with a 3.8 GPA in all standard
courses — college admissions officers understand this distinction.</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Your Grade, Your GPA, Your Transcript: How Academic Performance Works at TRHS  (p. 2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The school year is divided into four quarters, with two quarters making one semester. A
semester course earns 0.5 credits; a full-year course earns 1.0 credit. You need 23
credits to graduate. Failing a required course means you must retake it — which is
possible but costly in time and scheduling flexibility. Two Rivers offers credit
recovery sessions after school and in summer, but prevention is far better than
recovery. The most effective strategy is to take your grade seriously from the first
assignment in September.</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One powerful tool students underuse is Infinite Campus, the district's grade and
attendance portal. You and your parents can access it anytime to see your current
grades, missing assignments, and attendance. Research on student success consistently
shows that students who monitor their own grades regularly — rather than waiting for
report cards — catch problems earlier and recover faster. If your grade in any class
dips below where you want it to be, the time to act is the moment you notice it, not the
week before finals.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'Your Grade, Your GPA, Your Transcript: How Academic Performance Works at TRHS'</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99661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a transcript and why does it matter? List at least three situations where your
transcript could be used.</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99661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Explain the difference between a standard GPA and a weighted GPA at Two Rivers. Give a specific
example of how they are calculated differently.</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99661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How many credits does a semester course earn? A full-year course? How many credits total are
required to graduate?</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99661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What is Infinite Campus and how does the reading say effective students use it? Do you
currently use a similar tool to track your grades?</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99661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If a student receives a 78% (C+) at the quarter mark in their first AP course, what should they
do? Write a specific action plan using information from this reading and from Unit 1 (executive
functioning) and Unit 3 (self-advocacy).</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5.1</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What Is a GPA? Weighted vs. Unweighted Explained</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Signet Education  ·  approx. 4 min</a:t>
            </a:r>
          </a:p>
        </p:txBody>
      </p:sp>
      <p:sp>
        <p:nvSpPr>
          <p:cNvPr id="9" name="Rectangle 8"/>
          <p:cNvSpPr/>
          <p:nvPr/>
        </p:nvSpPr>
        <p:spPr>
          <a:xfrm>
            <a:off x="365760" y="2377440"/>
            <a:ext cx="8412480" cy="2743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99661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After watching, can you explain the difference to a parent tonight?</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"How to Use Your School's Grade Portal"  |  Common Sense Education</a:t>
            </a:r>
          </a:p>
        </p:txBody>
      </p:sp>
      <p:sp>
        <p:nvSpPr>
          <p:cNvPr id="16" name="Rectangle 15">
            <a:hlinkClick r:id="rId3"/>
          </p:cNvPr>
          <p:cNvSpPr/>
          <p:nvPr/>
        </p:nvSpPr>
        <p:spPr>
          <a:xfrm>
            <a:off x="2743200" y="4480560"/>
            <a:ext cx="3657600" cy="7498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Portal"  —  Lesson 5.1</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Infinite Campus had been loaded on Jordan's phone since September. He had never opened it.</a:t>
            </a:r>
          </a:p>
        </p:txBody>
      </p:sp>
      <p:sp>
        <p:nvSpPr>
          <p:cNvPr id="7" name="TextBox 6"/>
          <p:cNvSpPr txBox="1"/>
          <p:nvPr/>
        </p:nvSpPr>
        <p:spPr>
          <a:xfrm>
            <a:off x="228600" y="1133856"/>
            <a:ext cx="8686800" cy="649224"/>
          </a:xfrm>
          <a:prstGeom prst="rect">
            <a:avLst/>
          </a:prstGeom>
          <a:noFill/>
        </p:spPr>
        <p:txBody>
          <a:bodyPr wrap="square">
            <a:spAutoFit/>
          </a:bodyPr>
          <a:lstStyle/>
          <a:p>
            <a:pPr algn="l">
              <a:lnSpc>
                <a:spcPts val="1500"/>
              </a:lnSpc>
            </a:pPr>
            <a:r>
              <a:rPr sz="1000" b="0" i="0">
                <a:solidFill>
                  <a:srgbClr val="212121"/>
                </a:solidFill>
              </a:rPr>
              <a:t>This was not an oversight. He'd made a decision, in the vague and unspoken way that most
decisions happen: if he didn't look, the numbers couldn't surprise him. He knew roughly how he
was doing. Roughly was fine.</a:t>
            </a:r>
          </a:p>
        </p:txBody>
      </p:sp>
      <p:sp>
        <p:nvSpPr>
          <p:cNvPr id="8" name="TextBox 7"/>
          <p:cNvSpPr txBox="1"/>
          <p:nvPr/>
        </p:nvSpPr>
        <p:spPr>
          <a:xfrm>
            <a:off x="228600" y="1792224"/>
            <a:ext cx="8686800" cy="448056"/>
          </a:xfrm>
          <a:prstGeom prst="rect">
            <a:avLst/>
          </a:prstGeom>
          <a:noFill/>
        </p:spPr>
        <p:txBody>
          <a:bodyPr wrap="square">
            <a:spAutoFit/>
          </a:bodyPr>
          <a:lstStyle/>
          <a:p>
            <a:pPr algn="l">
              <a:lnSpc>
                <a:spcPts val="1500"/>
              </a:lnSpc>
            </a:pPr>
            <a:r>
              <a:rPr sz="1000" b="0" i="0">
                <a:solidFill>
                  <a:srgbClr val="212121"/>
                </a:solidFill>
              </a:rPr>
              <a:t>Maya checked hers every Sunday and Wednesday. She had a system. Anything below a B+ got a
plan.</a:t>
            </a:r>
          </a:p>
        </p:txBody>
      </p:sp>
      <p:sp>
        <p:nvSpPr>
          <p:cNvPr id="9" name="TextBox 8"/>
          <p:cNvSpPr txBox="1"/>
          <p:nvPr/>
        </p:nvSpPr>
        <p:spPr>
          <a:xfrm>
            <a:off x="228600" y="2249424"/>
            <a:ext cx="8686800" cy="246888"/>
          </a:xfrm>
          <a:prstGeom prst="rect">
            <a:avLst/>
          </a:prstGeom>
          <a:noFill/>
        </p:spPr>
        <p:txBody>
          <a:bodyPr wrap="square">
            <a:spAutoFit/>
          </a:bodyPr>
          <a:lstStyle/>
          <a:p>
            <a:pPr algn="l">
              <a:lnSpc>
                <a:spcPts val="1500"/>
              </a:lnSpc>
            </a:pPr>
            <a:r>
              <a:rPr sz="1000" b="0" i="0">
                <a:solidFill>
                  <a:srgbClr val="212121"/>
                </a:solidFill>
              </a:rPr>
              <a:t>Eli checked his on the first of every month. He told himself that was enough. It was not.</a:t>
            </a:r>
          </a:p>
        </p:txBody>
      </p:sp>
      <p:sp>
        <p:nvSpPr>
          <p:cNvPr id="10" name="TextBox 9"/>
          <p:cNvSpPr txBox="1"/>
          <p:nvPr/>
        </p:nvSpPr>
        <p:spPr>
          <a:xfrm>
            <a:off x="228600" y="2505456"/>
            <a:ext cx="8686800" cy="246888"/>
          </a:xfrm>
          <a:prstGeom prst="rect">
            <a:avLst/>
          </a:prstGeom>
          <a:noFill/>
        </p:spPr>
        <p:txBody>
          <a:bodyPr wrap="square">
            <a:spAutoFit/>
          </a:bodyPr>
          <a:lstStyle/>
          <a:p>
            <a:pPr algn="l">
              <a:lnSpc>
                <a:spcPts val="1500"/>
              </a:lnSpc>
            </a:pPr>
            <a:r>
              <a:rPr sz="1000" b="0" i="0">
                <a:solidFill>
                  <a:srgbClr val="212121"/>
                </a:solidFill>
              </a:rPr>
              <a:t>In Warrior Prep, the teacher had them log in. Jordan opened it in class for the first time.</a:t>
            </a:r>
          </a:p>
        </p:txBody>
      </p:sp>
      <p:sp>
        <p:nvSpPr>
          <p:cNvPr id="11" name="TextBox 10"/>
          <p:cNvSpPr txBox="1"/>
          <p:nvPr/>
        </p:nvSpPr>
        <p:spPr>
          <a:xfrm>
            <a:off x="228600" y="2761488"/>
            <a:ext cx="8686800" cy="649224"/>
          </a:xfrm>
          <a:prstGeom prst="rect">
            <a:avLst/>
          </a:prstGeom>
          <a:noFill/>
        </p:spPr>
        <p:txBody>
          <a:bodyPr wrap="square">
            <a:spAutoFit/>
          </a:bodyPr>
          <a:lstStyle/>
          <a:p>
            <a:pPr algn="l">
              <a:lnSpc>
                <a:spcPts val="1500"/>
              </a:lnSpc>
            </a:pPr>
            <a:r>
              <a:rPr sz="1050" b="0" i="1">
                <a:solidFill>
                  <a:srgbClr val="1A1A6E"/>
                </a:solidFill>
              </a:rPr>
              <a:t>He had a 74 in history. He'd thought it was maybe a 78. He had a missing assignment in
science. He hadn't known about the missing assignment. He had a B- in English, which was fine,
but there was a comment from his teacher: Jordan is capable of more specific analysis.</a:t>
            </a:r>
          </a:p>
        </p:txBody>
      </p:sp>
      <p:sp>
        <p:nvSpPr>
          <p:cNvPr id="12" name="TextBox 11"/>
          <p:cNvSpPr txBox="1"/>
          <p:nvPr/>
        </p:nvSpPr>
        <p:spPr>
          <a:xfrm>
            <a:off x="228600" y="3419856"/>
            <a:ext cx="8686800" cy="246888"/>
          </a:xfrm>
          <a:prstGeom prst="rect">
            <a:avLst/>
          </a:prstGeom>
          <a:noFill/>
        </p:spPr>
        <p:txBody>
          <a:bodyPr wrap="square">
            <a:spAutoFit/>
          </a:bodyPr>
          <a:lstStyle/>
          <a:p>
            <a:pPr algn="l">
              <a:lnSpc>
                <a:spcPts val="1500"/>
              </a:lnSpc>
            </a:pPr>
            <a:r>
              <a:rPr sz="1000" b="0" i="0">
                <a:solidFill>
                  <a:srgbClr val="212121"/>
                </a:solidFill>
              </a:rPr>
              <a:t>He read it three times.</a:t>
            </a:r>
          </a:p>
        </p:txBody>
      </p:sp>
      <p:sp>
        <p:nvSpPr>
          <p:cNvPr id="13" name="TextBox 12"/>
          <p:cNvSpPr txBox="1"/>
          <p:nvPr/>
        </p:nvSpPr>
        <p:spPr>
          <a:xfrm>
            <a:off x="228600" y="3675888"/>
            <a:ext cx="8686800" cy="246888"/>
          </a:xfrm>
          <a:prstGeom prst="rect">
            <a:avLst/>
          </a:prstGeom>
          <a:noFill/>
        </p:spPr>
        <p:txBody>
          <a:bodyPr wrap="square">
            <a:spAutoFit/>
          </a:bodyPr>
          <a:lstStyle/>
          <a:p>
            <a:pPr algn="l">
              <a:lnSpc>
                <a:spcPts val="1500"/>
              </a:lnSpc>
            </a:pPr>
            <a:r>
              <a:rPr sz="1050" b="0" i="1">
                <a:solidFill>
                  <a:srgbClr val="1A1A6E"/>
                </a:solidFill>
              </a:rPr>
              <a:t>"What," Maya said.</a:t>
            </a:r>
          </a:p>
        </p:txBody>
      </p:sp>
      <p:sp>
        <p:nvSpPr>
          <p:cNvPr id="14" name="TextBox 13"/>
          <p:cNvSpPr txBox="1"/>
          <p:nvPr/>
        </p:nvSpPr>
        <p:spPr>
          <a:xfrm>
            <a:off x="228600" y="3931920"/>
            <a:ext cx="8686800" cy="246888"/>
          </a:xfrm>
          <a:prstGeom prst="rect">
            <a:avLst/>
          </a:prstGeom>
          <a:noFill/>
        </p:spPr>
        <p:txBody>
          <a:bodyPr wrap="square">
            <a:spAutoFit/>
          </a:bodyPr>
          <a:lstStyle/>
          <a:p>
            <a:pPr algn="l">
              <a:lnSpc>
                <a:spcPts val="1500"/>
              </a:lnSpc>
            </a:pPr>
            <a:r>
              <a:rPr sz="1000" b="0" i="0">
                <a:solidFill>
                  <a:srgbClr val="212121"/>
                </a:solidFill>
              </a:rPr>
              <a:t>He showed her the comment.</a:t>
            </a:r>
          </a:p>
        </p:txBody>
      </p:sp>
      <p:sp>
        <p:nvSpPr>
          <p:cNvPr id="15" name="TextBox 14"/>
          <p:cNvSpPr txBox="1"/>
          <p:nvPr/>
        </p:nvSpPr>
        <p:spPr>
          <a:xfrm>
            <a:off x="228600" y="4187952"/>
            <a:ext cx="8686800" cy="246888"/>
          </a:xfrm>
          <a:prstGeom prst="rect">
            <a:avLst/>
          </a:prstGeom>
          <a:noFill/>
        </p:spPr>
        <p:txBody>
          <a:bodyPr wrap="square">
            <a:spAutoFit/>
          </a:bodyPr>
          <a:lstStyle/>
          <a:p>
            <a:pPr algn="l">
              <a:lnSpc>
                <a:spcPts val="1500"/>
              </a:lnSpc>
            </a:pPr>
            <a:r>
              <a:rPr sz="1050" b="0" i="1">
                <a:solidFill>
                  <a:srgbClr val="1A1A6E"/>
                </a:solidFill>
              </a:rPr>
              <a:t>She read it. "That's actually a compliment."</a:t>
            </a:r>
          </a:p>
        </p:txBody>
      </p:sp>
      <p:sp>
        <p:nvSpPr>
          <p:cNvPr id="16" name="TextBox 15"/>
          <p:cNvSpPr txBox="1"/>
          <p:nvPr/>
        </p:nvSpPr>
        <p:spPr>
          <a:xfrm>
            <a:off x="228600" y="4443984"/>
            <a:ext cx="8686800" cy="246888"/>
          </a:xfrm>
          <a:prstGeom prst="rect">
            <a:avLst/>
          </a:prstGeom>
          <a:noFill/>
        </p:spPr>
        <p:txBody>
          <a:bodyPr wrap="square">
            <a:spAutoFit/>
          </a:bodyPr>
          <a:lstStyle/>
          <a:p>
            <a:pPr algn="l">
              <a:lnSpc>
                <a:spcPts val="1500"/>
              </a:lnSpc>
            </a:pPr>
            <a:r>
              <a:rPr sz="1050" b="0" i="1">
                <a:solidFill>
                  <a:srgbClr val="1A1A6E"/>
                </a:solidFill>
              </a:rPr>
              <a:t>"How."</a:t>
            </a:r>
          </a:p>
        </p:txBody>
      </p:sp>
      <p:sp>
        <p:nvSpPr>
          <p:cNvPr id="17" name="TextBox 16"/>
          <p:cNvSpPr txBox="1"/>
          <p:nvPr/>
        </p:nvSpPr>
        <p:spPr>
          <a:xfrm>
            <a:off x="228600" y="4700016"/>
            <a:ext cx="8686800" cy="246888"/>
          </a:xfrm>
          <a:prstGeom prst="rect">
            <a:avLst/>
          </a:prstGeom>
          <a:noFill/>
        </p:spPr>
        <p:txBody>
          <a:bodyPr wrap="square">
            <a:spAutoFit/>
          </a:bodyPr>
          <a:lstStyle/>
          <a:p>
            <a:pPr algn="l">
              <a:lnSpc>
                <a:spcPts val="1500"/>
              </a:lnSpc>
            </a:pPr>
            <a:r>
              <a:rPr sz="1050" b="0" i="1">
                <a:solidFill>
                  <a:srgbClr val="1A1A6E"/>
                </a:solidFill>
              </a:rPr>
              <a:t>"She said 'capable.' She thinks you can. She's not saying you're bad at it."</a:t>
            </a:r>
          </a:p>
        </p:txBody>
      </p:sp>
      <p:sp>
        <p:nvSpPr>
          <p:cNvPr id="18" name="TextBox 17"/>
          <p:cNvSpPr txBox="1"/>
          <p:nvPr/>
        </p:nvSpPr>
        <p:spPr>
          <a:xfrm>
            <a:off x="228600" y="4956048"/>
            <a:ext cx="8686800" cy="246888"/>
          </a:xfrm>
          <a:prstGeom prst="rect">
            <a:avLst/>
          </a:prstGeom>
          <a:noFill/>
        </p:spPr>
        <p:txBody>
          <a:bodyPr wrap="square">
            <a:spAutoFit/>
          </a:bodyPr>
          <a:lstStyle/>
          <a:p>
            <a:pPr algn="l">
              <a:lnSpc>
                <a:spcPts val="1500"/>
              </a:lnSpc>
            </a:pPr>
            <a:r>
              <a:rPr sz="1000" b="0" i="0">
                <a:solidFill>
                  <a:srgbClr val="212121"/>
                </a:solidFill>
              </a:rPr>
              <a:t>He looked at it again. He'd read it as criticism. He hadn't read the word capable at all.</a:t>
            </a:r>
          </a:p>
        </p:txBody>
      </p:sp>
      <p:sp>
        <p:nvSpPr>
          <p:cNvPr id="19" name="TextBox 18"/>
          <p:cNvSpPr txBox="1"/>
          <p:nvPr/>
        </p:nvSpPr>
        <p:spPr>
          <a:xfrm>
            <a:off x="228600" y="5212080"/>
            <a:ext cx="8686800" cy="246888"/>
          </a:xfrm>
          <a:prstGeom prst="rect">
            <a:avLst/>
          </a:prstGeom>
          <a:noFill/>
        </p:spPr>
        <p:txBody>
          <a:bodyPr wrap="square">
            <a:spAutoFit/>
          </a:bodyPr>
          <a:lstStyle/>
          <a:p>
            <a:pPr algn="l">
              <a:lnSpc>
                <a:spcPts val="1500"/>
              </a:lnSpc>
            </a:pPr>
            <a:r>
              <a:rPr sz="1050" b="0" i="1">
                <a:solidFill>
                  <a:srgbClr val="1A1A6E"/>
                </a:solidFill>
              </a:rPr>
              <a:t>"The missing assignment," he said.</a:t>
            </a:r>
          </a:p>
        </p:txBody>
      </p:sp>
      <p:sp>
        <p:nvSpPr>
          <p:cNvPr id="20" name="TextBox 19"/>
          <p:cNvSpPr txBox="1"/>
          <p:nvPr/>
        </p:nvSpPr>
        <p:spPr>
          <a:xfrm>
            <a:off x="228600" y="5468112"/>
            <a:ext cx="8686800" cy="246888"/>
          </a:xfrm>
          <a:prstGeom prst="rect">
            <a:avLst/>
          </a:prstGeom>
          <a:noFill/>
        </p:spPr>
        <p:txBody>
          <a:bodyPr wrap="square">
            <a:spAutoFit/>
          </a:bodyPr>
          <a:lstStyle/>
          <a:p>
            <a:pPr algn="l">
              <a:lnSpc>
                <a:spcPts val="1500"/>
              </a:lnSpc>
            </a:pPr>
            <a:r>
              <a:rPr sz="1050" b="0" i="1">
                <a:solidFill>
                  <a:srgbClr val="1A1A6E"/>
                </a:solidFill>
              </a:rPr>
              <a:t>"Email her tonight."</a:t>
            </a:r>
          </a:p>
        </p:txBody>
      </p:sp>
      <p:sp>
        <p:nvSpPr>
          <p:cNvPr id="21" name="TextBox 20"/>
          <p:cNvSpPr txBox="1"/>
          <p:nvPr/>
        </p:nvSpPr>
        <p:spPr>
          <a:xfrm>
            <a:off x="228600" y="5724144"/>
            <a:ext cx="8686800" cy="246888"/>
          </a:xfrm>
          <a:prstGeom prst="rect">
            <a:avLst/>
          </a:prstGeom>
          <a:noFill/>
        </p:spPr>
        <p:txBody>
          <a:bodyPr wrap="square">
            <a:spAutoFit/>
          </a:bodyPr>
          <a:lstStyle/>
          <a:p>
            <a:pPr algn="l">
              <a:lnSpc>
                <a:spcPts val="1500"/>
              </a:lnSpc>
            </a:pPr>
            <a:r>
              <a:rPr sz="1050" b="0" i="1">
                <a:solidFill>
                  <a:srgbClr val="1A1A6E"/>
                </a:solidFill>
              </a:rPr>
              <a:t>"Can I even turn it in?"</a:t>
            </a:r>
          </a:p>
        </p:txBody>
      </p:sp>
      <p:sp>
        <p:nvSpPr>
          <p:cNvPr id="22" name="TextBox 21"/>
          <p:cNvSpPr txBox="1"/>
          <p:nvPr/>
        </p:nvSpPr>
        <p:spPr>
          <a:xfrm>
            <a:off x="228600" y="5980176"/>
            <a:ext cx="8686800" cy="246888"/>
          </a:xfrm>
          <a:prstGeom prst="rect">
            <a:avLst/>
          </a:prstGeom>
          <a:noFill/>
        </p:spPr>
        <p:txBody>
          <a:bodyPr wrap="square">
            <a:spAutoFit/>
          </a:bodyPr>
          <a:lstStyle/>
          <a:p>
            <a:pPr algn="l">
              <a:lnSpc>
                <a:spcPts val="1500"/>
              </a:lnSpc>
            </a:pPr>
            <a:r>
              <a:rPr sz="1050" b="0" i="1">
                <a:solidFill>
                  <a:srgbClr val="1A1A6E"/>
                </a:solidFill>
              </a:rPr>
              <a:t>"You won't know until you ask."</a:t>
            </a:r>
          </a:p>
        </p:txBody>
      </p:sp>
      <p:sp>
        <p:nvSpPr>
          <p:cNvPr id="23" name="TextBox 22"/>
          <p:cNvSpPr txBox="1"/>
          <p:nvPr/>
        </p:nvSpPr>
        <p:spPr>
          <a:xfrm>
            <a:off x="228600" y="6236208"/>
            <a:ext cx="8686800" cy="649224"/>
          </a:xfrm>
          <a:prstGeom prst="rect">
            <a:avLst/>
          </a:prstGeom>
          <a:noFill/>
        </p:spPr>
        <p:txBody>
          <a:bodyPr wrap="square">
            <a:spAutoFit/>
          </a:bodyPr>
          <a:lstStyle/>
          <a:p>
            <a:pPr algn="l">
              <a:lnSpc>
                <a:spcPts val="1500"/>
              </a:lnSpc>
            </a:pPr>
            <a:r>
              <a:rPr sz="1000" b="0" i="0">
                <a:solidFill>
                  <a:srgbClr val="212121"/>
                </a:solidFill>
              </a:rPr>
              <a:t>He put his phone down. He had been avoiding this for three months. In six minutes it had
produced one comment that was actually encouraging, one problem he could maybe fix, and one
grade that was lower than he'd assumed.</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Portal"</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Jordan has been deliberately not checking his grades. Is that a strategy — or avoidance?
What's the difference?</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reads the teacher's comment as a compliment. Jordan reads it as criticism. What changes
when you learn to read feedback differently?</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Eli checks his grades monthly and thinks that's enough. Is it? What is the right frequency —
and what should you do when you look?</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After today's lesson, what would a weekly grade-check habit actually look like for you? What
would you do with the information?</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How Grades Work at TRHS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TRHS uses a 4.0 GPA scale for standard courses and a 4.8 scale for AP, CIS (College in
the Schools), and college-credit courses. The school year has four quarters; your
semester grade (the grade that appears on your transcript) is calculated from two
quarters. A semester course earns 0.5 credits; a full-year course earns 1.0 credit. You
need 23 total credits to graduate. Dropping a course after week 10 results in an F for
that semester — so choose carefully and stay in courses you've started.</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Have you ever checked your grades in a portal? How often? What stopped you from doing it more?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GPA Practice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Using the grading scale from the Academic Planning Guide, calculate the GPA for the
sample student below. Then answer: What grade in which course would have the biggest
positive impact on this GPA?</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99661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Infinite Campus shows your grade in real time. Students who monitor their grades regularly catch problems faster and recover faster.</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GPA Calculator Practice  —  Lesson 5.1</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12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Calculate the sample student's GPA using the TRHS grading scale. Then: which ONE grade improvement would have the biggest impact on their GPA? Show your work.</a:t>
            </a:r>
          </a:p>
        </p:txBody>
      </p:sp>
      <p:sp>
        <p:nvSpPr>
          <p:cNvPr id="7" name="Rectangle 6"/>
          <p:cNvSpPr/>
          <p:nvPr/>
        </p:nvSpPr>
        <p:spPr>
          <a:xfrm>
            <a:off x="182880" y="1783080"/>
            <a:ext cx="8778240" cy="34747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828800"/>
            <a:ext cx="2560320" cy="256032"/>
          </a:xfrm>
          <a:prstGeom prst="rect">
            <a:avLst/>
          </a:prstGeom>
          <a:noFill/>
        </p:spPr>
        <p:txBody>
          <a:bodyPr wrap="square">
            <a:spAutoFit/>
          </a:bodyPr>
          <a:lstStyle/>
          <a:p>
            <a:pPr algn="l"/>
            <a:r>
              <a:rPr sz="1000" b="1" i="0">
                <a:solidFill>
                  <a:srgbClr val="FFFFFF"/>
                </a:solidFill>
              </a:rPr>
              <a:t>Course</a:t>
            </a:r>
          </a:p>
        </p:txBody>
      </p:sp>
      <p:sp>
        <p:nvSpPr>
          <p:cNvPr id="9" name="TextBox 8"/>
          <p:cNvSpPr txBox="1"/>
          <p:nvPr/>
        </p:nvSpPr>
        <p:spPr>
          <a:xfrm>
            <a:off x="2834639" y="1828800"/>
            <a:ext cx="914400" cy="256032"/>
          </a:xfrm>
          <a:prstGeom prst="rect">
            <a:avLst/>
          </a:prstGeom>
          <a:noFill/>
        </p:spPr>
        <p:txBody>
          <a:bodyPr wrap="square">
            <a:spAutoFit/>
          </a:bodyPr>
          <a:lstStyle/>
          <a:p>
            <a:pPr algn="l"/>
            <a:r>
              <a:rPr sz="1000" b="1" i="0">
                <a:solidFill>
                  <a:srgbClr val="FFFFFF"/>
                </a:solidFill>
              </a:rPr>
              <a:t>Grade</a:t>
            </a:r>
          </a:p>
        </p:txBody>
      </p:sp>
      <p:sp>
        <p:nvSpPr>
          <p:cNvPr id="10" name="TextBox 9"/>
          <p:cNvSpPr txBox="1"/>
          <p:nvPr/>
        </p:nvSpPr>
        <p:spPr>
          <a:xfrm>
            <a:off x="3794759" y="1828800"/>
            <a:ext cx="914400" cy="256032"/>
          </a:xfrm>
          <a:prstGeom prst="rect">
            <a:avLst/>
          </a:prstGeom>
          <a:noFill/>
        </p:spPr>
        <p:txBody>
          <a:bodyPr wrap="square">
            <a:spAutoFit/>
          </a:bodyPr>
          <a:lstStyle/>
          <a:p>
            <a:pPr algn="l"/>
            <a:r>
              <a:rPr sz="1000" b="1" i="0">
                <a:solidFill>
                  <a:srgbClr val="FFFFFF"/>
                </a:solidFill>
              </a:rPr>
              <a:t>Credits</a:t>
            </a:r>
          </a:p>
        </p:txBody>
      </p:sp>
      <p:sp>
        <p:nvSpPr>
          <p:cNvPr id="11" name="TextBox 10"/>
          <p:cNvSpPr txBox="1"/>
          <p:nvPr/>
        </p:nvSpPr>
        <p:spPr>
          <a:xfrm>
            <a:off x="4754879" y="1828800"/>
            <a:ext cx="1645920" cy="256032"/>
          </a:xfrm>
          <a:prstGeom prst="rect">
            <a:avLst/>
          </a:prstGeom>
          <a:noFill/>
        </p:spPr>
        <p:txBody>
          <a:bodyPr wrap="square">
            <a:spAutoFit/>
          </a:bodyPr>
          <a:lstStyle/>
          <a:p>
            <a:pPr algn="l"/>
            <a:r>
              <a:rPr sz="1000" b="1" i="0">
                <a:solidFill>
                  <a:srgbClr val="FFFFFF"/>
                </a:solidFill>
              </a:rPr>
              <a:t>GPA Points</a:t>
            </a:r>
          </a:p>
        </p:txBody>
      </p:sp>
      <p:sp>
        <p:nvSpPr>
          <p:cNvPr id="12" name="TextBox 11"/>
          <p:cNvSpPr txBox="1"/>
          <p:nvPr/>
        </p:nvSpPr>
        <p:spPr>
          <a:xfrm>
            <a:off x="6446519" y="1828800"/>
            <a:ext cx="1645920" cy="256032"/>
          </a:xfrm>
          <a:prstGeom prst="rect">
            <a:avLst/>
          </a:prstGeom>
          <a:noFill/>
        </p:spPr>
        <p:txBody>
          <a:bodyPr wrap="square">
            <a:spAutoFit/>
          </a:bodyPr>
          <a:lstStyle/>
          <a:p>
            <a:pPr algn="l"/>
            <a:r>
              <a:rPr sz="1000" b="1" i="0">
                <a:solidFill>
                  <a:srgbClr val="FFFFFF"/>
                </a:solidFill>
              </a:rPr>
              <a:t>Weighted</a:t>
            </a:r>
          </a:p>
        </p:txBody>
      </p:sp>
      <p:sp>
        <p:nvSpPr>
          <p:cNvPr id="13" name="Rectangle 12"/>
          <p:cNvSpPr/>
          <p:nvPr/>
        </p:nvSpPr>
        <p:spPr>
          <a:xfrm>
            <a:off x="182880" y="2167128"/>
            <a:ext cx="877824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2231136"/>
            <a:ext cx="2560320" cy="274320"/>
          </a:xfrm>
          <a:prstGeom prst="rect">
            <a:avLst/>
          </a:prstGeom>
          <a:noFill/>
        </p:spPr>
        <p:txBody>
          <a:bodyPr wrap="square">
            <a:spAutoFit/>
          </a:bodyPr>
          <a:lstStyle/>
          <a:p>
            <a:pPr algn="l"/>
            <a:r>
              <a:rPr sz="950" b="0" i="0">
                <a:solidFill>
                  <a:srgbClr val="212121"/>
                </a:solidFill>
              </a:rPr>
              <a:t>Language Arts 9</a:t>
            </a:r>
          </a:p>
        </p:txBody>
      </p:sp>
      <p:sp>
        <p:nvSpPr>
          <p:cNvPr id="15" name="TextBox 14"/>
          <p:cNvSpPr txBox="1"/>
          <p:nvPr/>
        </p:nvSpPr>
        <p:spPr>
          <a:xfrm>
            <a:off x="2834639" y="2231136"/>
            <a:ext cx="914400" cy="274320"/>
          </a:xfrm>
          <a:prstGeom prst="rect">
            <a:avLst/>
          </a:prstGeom>
          <a:noFill/>
        </p:spPr>
        <p:txBody>
          <a:bodyPr wrap="square">
            <a:spAutoFit/>
          </a:bodyPr>
          <a:lstStyle/>
          <a:p>
            <a:pPr algn="l"/>
            <a:r>
              <a:rPr sz="950" b="0" i="0">
                <a:solidFill>
                  <a:srgbClr val="212121"/>
                </a:solidFill>
              </a:rPr>
              <a:t>B+</a:t>
            </a:r>
          </a:p>
        </p:txBody>
      </p:sp>
      <p:sp>
        <p:nvSpPr>
          <p:cNvPr id="16" name="TextBox 15"/>
          <p:cNvSpPr txBox="1"/>
          <p:nvPr/>
        </p:nvSpPr>
        <p:spPr>
          <a:xfrm>
            <a:off x="3794759" y="2231136"/>
            <a:ext cx="914400" cy="274320"/>
          </a:xfrm>
          <a:prstGeom prst="rect">
            <a:avLst/>
          </a:prstGeom>
          <a:noFill/>
        </p:spPr>
        <p:txBody>
          <a:bodyPr wrap="square">
            <a:spAutoFit/>
          </a:bodyPr>
          <a:lstStyle/>
          <a:p>
            <a:pPr algn="l"/>
            <a:r>
              <a:rPr sz="950" b="0" i="0">
                <a:solidFill>
                  <a:srgbClr val="212121"/>
                </a:solidFill>
              </a:rPr>
              <a:t>1.0</a:t>
            </a:r>
          </a:p>
        </p:txBody>
      </p:sp>
      <p:sp>
        <p:nvSpPr>
          <p:cNvPr id="17" name="TextBox 16"/>
          <p:cNvSpPr txBox="1"/>
          <p:nvPr/>
        </p:nvSpPr>
        <p:spPr>
          <a:xfrm>
            <a:off x="4754879" y="2231136"/>
            <a:ext cx="1645920" cy="274320"/>
          </a:xfrm>
          <a:prstGeom prst="rect">
            <a:avLst/>
          </a:prstGeom>
          <a:noFill/>
        </p:spPr>
        <p:txBody>
          <a:bodyPr wrap="square">
            <a:spAutoFit/>
          </a:bodyPr>
          <a:lstStyle/>
          <a:p>
            <a:pPr algn="l"/>
            <a:r>
              <a:rPr sz="950" b="0" i="0">
                <a:solidFill>
                  <a:srgbClr val="212121"/>
                </a:solidFill>
              </a:rPr>
              <a:t/>
            </a:r>
          </a:p>
        </p:txBody>
      </p:sp>
      <p:sp>
        <p:nvSpPr>
          <p:cNvPr id="18" name="TextBox 17"/>
          <p:cNvSpPr txBox="1"/>
          <p:nvPr/>
        </p:nvSpPr>
        <p:spPr>
          <a:xfrm>
            <a:off x="6446519" y="2231136"/>
            <a:ext cx="1645920" cy="274320"/>
          </a:xfrm>
          <a:prstGeom prst="rect">
            <a:avLst/>
          </a:prstGeom>
          <a:noFill/>
        </p:spPr>
        <p:txBody>
          <a:bodyPr wrap="square">
            <a:spAutoFit/>
          </a:bodyPr>
          <a:lstStyle/>
          <a:p>
            <a:pPr algn="l"/>
            <a:r>
              <a:rPr sz="950" b="0" i="0">
                <a:solidFill>
                  <a:srgbClr val="212121"/>
                </a:solidFill>
              </a:rPr>
              <a:t/>
            </a:r>
          </a:p>
        </p:txBody>
      </p:sp>
      <p:sp>
        <p:nvSpPr>
          <p:cNvPr id="19" name="Rectangle 18"/>
          <p:cNvSpPr/>
          <p:nvPr/>
        </p:nvSpPr>
        <p:spPr>
          <a:xfrm>
            <a:off x="182880" y="2587752"/>
            <a:ext cx="877824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2651760"/>
            <a:ext cx="2560320" cy="274320"/>
          </a:xfrm>
          <a:prstGeom prst="rect">
            <a:avLst/>
          </a:prstGeom>
          <a:noFill/>
        </p:spPr>
        <p:txBody>
          <a:bodyPr wrap="square">
            <a:spAutoFit/>
          </a:bodyPr>
          <a:lstStyle/>
          <a:p>
            <a:pPr algn="l"/>
            <a:r>
              <a:rPr sz="950" b="0" i="0">
                <a:solidFill>
                  <a:srgbClr val="212121"/>
                </a:solidFill>
              </a:rPr>
              <a:t>Human Geography &amp; Ethnic Studies</a:t>
            </a:r>
          </a:p>
        </p:txBody>
      </p:sp>
      <p:sp>
        <p:nvSpPr>
          <p:cNvPr id="21" name="TextBox 20"/>
          <p:cNvSpPr txBox="1"/>
          <p:nvPr/>
        </p:nvSpPr>
        <p:spPr>
          <a:xfrm>
            <a:off x="2834639" y="2651760"/>
            <a:ext cx="914400" cy="274320"/>
          </a:xfrm>
          <a:prstGeom prst="rect">
            <a:avLst/>
          </a:prstGeom>
          <a:noFill/>
        </p:spPr>
        <p:txBody>
          <a:bodyPr wrap="square">
            <a:spAutoFit/>
          </a:bodyPr>
          <a:lstStyle/>
          <a:p>
            <a:pPr algn="l"/>
            <a:r>
              <a:rPr sz="950" b="0" i="0">
                <a:solidFill>
                  <a:srgbClr val="212121"/>
                </a:solidFill>
              </a:rPr>
              <a:t>A-</a:t>
            </a:r>
          </a:p>
        </p:txBody>
      </p:sp>
      <p:sp>
        <p:nvSpPr>
          <p:cNvPr id="22" name="TextBox 21"/>
          <p:cNvSpPr txBox="1"/>
          <p:nvPr/>
        </p:nvSpPr>
        <p:spPr>
          <a:xfrm>
            <a:off x="3794759" y="2651760"/>
            <a:ext cx="914400" cy="274320"/>
          </a:xfrm>
          <a:prstGeom prst="rect">
            <a:avLst/>
          </a:prstGeom>
          <a:noFill/>
        </p:spPr>
        <p:txBody>
          <a:bodyPr wrap="square">
            <a:spAutoFit/>
          </a:bodyPr>
          <a:lstStyle/>
          <a:p>
            <a:pPr algn="l"/>
            <a:r>
              <a:rPr sz="950" b="0" i="0">
                <a:solidFill>
                  <a:srgbClr val="212121"/>
                </a:solidFill>
              </a:rPr>
              <a:t>1.0</a:t>
            </a:r>
          </a:p>
        </p:txBody>
      </p:sp>
      <p:sp>
        <p:nvSpPr>
          <p:cNvPr id="23" name="TextBox 22"/>
          <p:cNvSpPr txBox="1"/>
          <p:nvPr/>
        </p:nvSpPr>
        <p:spPr>
          <a:xfrm>
            <a:off x="4754879" y="2651760"/>
            <a:ext cx="1645920" cy="274320"/>
          </a:xfrm>
          <a:prstGeom prst="rect">
            <a:avLst/>
          </a:prstGeom>
          <a:noFill/>
        </p:spPr>
        <p:txBody>
          <a:bodyPr wrap="square">
            <a:spAutoFit/>
          </a:bodyPr>
          <a:lstStyle/>
          <a:p>
            <a:pPr algn="l"/>
            <a:r>
              <a:rPr sz="950" b="0" i="0">
                <a:solidFill>
                  <a:srgbClr val="212121"/>
                </a:solidFill>
              </a:rPr>
              <a:t/>
            </a:r>
          </a:p>
        </p:txBody>
      </p:sp>
      <p:sp>
        <p:nvSpPr>
          <p:cNvPr id="24" name="TextBox 23"/>
          <p:cNvSpPr txBox="1"/>
          <p:nvPr/>
        </p:nvSpPr>
        <p:spPr>
          <a:xfrm>
            <a:off x="6446519" y="2651760"/>
            <a:ext cx="1645920" cy="274320"/>
          </a:xfrm>
          <a:prstGeom prst="rect">
            <a:avLst/>
          </a:prstGeom>
          <a:noFill/>
        </p:spPr>
        <p:txBody>
          <a:bodyPr wrap="square">
            <a:spAutoFit/>
          </a:bodyPr>
          <a:lstStyle/>
          <a:p>
            <a:pPr algn="l"/>
            <a:r>
              <a:rPr sz="950" b="0" i="0">
                <a:solidFill>
                  <a:srgbClr val="212121"/>
                </a:solidFill>
              </a:rPr>
              <a:t/>
            </a:r>
          </a:p>
        </p:txBody>
      </p:sp>
      <p:sp>
        <p:nvSpPr>
          <p:cNvPr id="25" name="Rectangle 24"/>
          <p:cNvSpPr/>
          <p:nvPr/>
        </p:nvSpPr>
        <p:spPr>
          <a:xfrm>
            <a:off x="182880" y="3008376"/>
            <a:ext cx="877824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600" y="3072384"/>
            <a:ext cx="2560320" cy="274320"/>
          </a:xfrm>
          <a:prstGeom prst="rect">
            <a:avLst/>
          </a:prstGeom>
          <a:noFill/>
        </p:spPr>
        <p:txBody>
          <a:bodyPr wrap="square">
            <a:spAutoFit/>
          </a:bodyPr>
          <a:lstStyle/>
          <a:p>
            <a:pPr algn="l"/>
            <a:r>
              <a:rPr sz="950" b="0" i="0">
                <a:solidFill>
                  <a:srgbClr val="212121"/>
                </a:solidFill>
              </a:rPr>
              <a:t>Geometry</a:t>
            </a:r>
          </a:p>
        </p:txBody>
      </p:sp>
      <p:sp>
        <p:nvSpPr>
          <p:cNvPr id="27" name="TextBox 26"/>
          <p:cNvSpPr txBox="1"/>
          <p:nvPr/>
        </p:nvSpPr>
        <p:spPr>
          <a:xfrm>
            <a:off x="2834639" y="3072384"/>
            <a:ext cx="914400" cy="274320"/>
          </a:xfrm>
          <a:prstGeom prst="rect">
            <a:avLst/>
          </a:prstGeom>
          <a:noFill/>
        </p:spPr>
        <p:txBody>
          <a:bodyPr wrap="square">
            <a:spAutoFit/>
          </a:bodyPr>
          <a:lstStyle/>
          <a:p>
            <a:pPr algn="l"/>
            <a:r>
              <a:rPr sz="950" b="0" i="0">
                <a:solidFill>
                  <a:srgbClr val="212121"/>
                </a:solidFill>
              </a:rPr>
              <a:t>B</a:t>
            </a:r>
          </a:p>
        </p:txBody>
      </p:sp>
      <p:sp>
        <p:nvSpPr>
          <p:cNvPr id="28" name="TextBox 27"/>
          <p:cNvSpPr txBox="1"/>
          <p:nvPr/>
        </p:nvSpPr>
        <p:spPr>
          <a:xfrm>
            <a:off x="3794759" y="3072384"/>
            <a:ext cx="914400" cy="274320"/>
          </a:xfrm>
          <a:prstGeom prst="rect">
            <a:avLst/>
          </a:prstGeom>
          <a:noFill/>
        </p:spPr>
        <p:txBody>
          <a:bodyPr wrap="square">
            <a:spAutoFit/>
          </a:bodyPr>
          <a:lstStyle/>
          <a:p>
            <a:pPr algn="l"/>
            <a:r>
              <a:rPr sz="950" b="0" i="0">
                <a:solidFill>
                  <a:srgbClr val="212121"/>
                </a:solidFill>
              </a:rPr>
              <a:t>1.0</a:t>
            </a:r>
          </a:p>
        </p:txBody>
      </p:sp>
      <p:sp>
        <p:nvSpPr>
          <p:cNvPr id="29" name="TextBox 28"/>
          <p:cNvSpPr txBox="1"/>
          <p:nvPr/>
        </p:nvSpPr>
        <p:spPr>
          <a:xfrm>
            <a:off x="4754879" y="3072384"/>
            <a:ext cx="1645920" cy="274320"/>
          </a:xfrm>
          <a:prstGeom prst="rect">
            <a:avLst/>
          </a:prstGeom>
          <a:noFill/>
        </p:spPr>
        <p:txBody>
          <a:bodyPr wrap="square">
            <a:spAutoFit/>
          </a:bodyPr>
          <a:lstStyle/>
          <a:p>
            <a:pPr algn="l"/>
            <a:r>
              <a:rPr sz="950" b="0" i="0">
                <a:solidFill>
                  <a:srgbClr val="212121"/>
                </a:solidFill>
              </a:rPr>
              <a:t/>
            </a:r>
          </a:p>
        </p:txBody>
      </p:sp>
      <p:sp>
        <p:nvSpPr>
          <p:cNvPr id="30" name="TextBox 29"/>
          <p:cNvSpPr txBox="1"/>
          <p:nvPr/>
        </p:nvSpPr>
        <p:spPr>
          <a:xfrm>
            <a:off x="6446519" y="3072384"/>
            <a:ext cx="1645920" cy="274320"/>
          </a:xfrm>
          <a:prstGeom prst="rect">
            <a:avLst/>
          </a:prstGeom>
          <a:noFill/>
        </p:spPr>
        <p:txBody>
          <a:bodyPr wrap="square">
            <a:spAutoFit/>
          </a:bodyPr>
          <a:lstStyle/>
          <a:p>
            <a:pPr algn="l"/>
            <a:r>
              <a:rPr sz="950" b="0" i="0">
                <a:solidFill>
                  <a:srgbClr val="212121"/>
                </a:solidFill>
              </a:rPr>
              <a:t/>
            </a:r>
          </a:p>
        </p:txBody>
      </p:sp>
      <p:sp>
        <p:nvSpPr>
          <p:cNvPr id="31" name="Rectangle 30"/>
          <p:cNvSpPr/>
          <p:nvPr/>
        </p:nvSpPr>
        <p:spPr>
          <a:xfrm>
            <a:off x="182880" y="3429000"/>
            <a:ext cx="877824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 y="3493008"/>
            <a:ext cx="2560320" cy="274320"/>
          </a:xfrm>
          <a:prstGeom prst="rect">
            <a:avLst/>
          </a:prstGeom>
          <a:noFill/>
        </p:spPr>
        <p:txBody>
          <a:bodyPr wrap="square">
            <a:spAutoFit/>
          </a:bodyPr>
          <a:lstStyle/>
          <a:p>
            <a:pPr algn="l"/>
            <a:r>
              <a:rPr sz="950" b="0" i="0">
                <a:solidFill>
                  <a:srgbClr val="212121"/>
                </a:solidFill>
              </a:rPr>
              <a:t>Earth &amp; Space Science</a:t>
            </a:r>
          </a:p>
        </p:txBody>
      </p:sp>
      <p:sp>
        <p:nvSpPr>
          <p:cNvPr id="33" name="TextBox 32"/>
          <p:cNvSpPr txBox="1"/>
          <p:nvPr/>
        </p:nvSpPr>
        <p:spPr>
          <a:xfrm>
            <a:off x="2834639" y="3493008"/>
            <a:ext cx="914400" cy="274320"/>
          </a:xfrm>
          <a:prstGeom prst="rect">
            <a:avLst/>
          </a:prstGeom>
          <a:noFill/>
        </p:spPr>
        <p:txBody>
          <a:bodyPr wrap="square">
            <a:spAutoFit/>
          </a:bodyPr>
          <a:lstStyle/>
          <a:p>
            <a:pPr algn="l"/>
            <a:r>
              <a:rPr sz="950" b="0" i="0">
                <a:solidFill>
                  <a:srgbClr val="212121"/>
                </a:solidFill>
              </a:rPr>
              <a:t>B-</a:t>
            </a:r>
          </a:p>
        </p:txBody>
      </p:sp>
      <p:sp>
        <p:nvSpPr>
          <p:cNvPr id="34" name="TextBox 33"/>
          <p:cNvSpPr txBox="1"/>
          <p:nvPr/>
        </p:nvSpPr>
        <p:spPr>
          <a:xfrm>
            <a:off x="3794759" y="3493008"/>
            <a:ext cx="914400" cy="274320"/>
          </a:xfrm>
          <a:prstGeom prst="rect">
            <a:avLst/>
          </a:prstGeom>
          <a:noFill/>
        </p:spPr>
        <p:txBody>
          <a:bodyPr wrap="square">
            <a:spAutoFit/>
          </a:bodyPr>
          <a:lstStyle/>
          <a:p>
            <a:pPr algn="l"/>
            <a:r>
              <a:rPr sz="950" b="0" i="0">
                <a:solidFill>
                  <a:srgbClr val="212121"/>
                </a:solidFill>
              </a:rPr>
              <a:t>1.0</a:t>
            </a:r>
          </a:p>
        </p:txBody>
      </p:sp>
      <p:sp>
        <p:nvSpPr>
          <p:cNvPr id="35" name="TextBox 34"/>
          <p:cNvSpPr txBox="1"/>
          <p:nvPr/>
        </p:nvSpPr>
        <p:spPr>
          <a:xfrm>
            <a:off x="4754879" y="3493008"/>
            <a:ext cx="1645920" cy="274320"/>
          </a:xfrm>
          <a:prstGeom prst="rect">
            <a:avLst/>
          </a:prstGeom>
          <a:noFill/>
        </p:spPr>
        <p:txBody>
          <a:bodyPr wrap="square">
            <a:spAutoFit/>
          </a:bodyPr>
          <a:lstStyle/>
          <a:p>
            <a:pPr algn="l"/>
            <a:r>
              <a:rPr sz="950" b="0" i="0">
                <a:solidFill>
                  <a:srgbClr val="212121"/>
                </a:solidFill>
              </a:rPr>
              <a:t/>
            </a:r>
          </a:p>
        </p:txBody>
      </p:sp>
      <p:sp>
        <p:nvSpPr>
          <p:cNvPr id="36" name="TextBox 35"/>
          <p:cNvSpPr txBox="1"/>
          <p:nvPr/>
        </p:nvSpPr>
        <p:spPr>
          <a:xfrm>
            <a:off x="6446519" y="3493008"/>
            <a:ext cx="1645920" cy="274320"/>
          </a:xfrm>
          <a:prstGeom prst="rect">
            <a:avLst/>
          </a:prstGeom>
          <a:noFill/>
        </p:spPr>
        <p:txBody>
          <a:bodyPr wrap="square">
            <a:spAutoFit/>
          </a:bodyPr>
          <a:lstStyle/>
          <a:p>
            <a:pPr algn="l"/>
            <a:r>
              <a:rPr sz="950" b="0" i="0">
                <a:solidFill>
                  <a:srgbClr val="212121"/>
                </a:solidFill>
              </a:rPr>
              <a:t/>
            </a:r>
          </a:p>
        </p:txBody>
      </p:sp>
      <p:sp>
        <p:nvSpPr>
          <p:cNvPr id="37" name="Rectangle 36"/>
          <p:cNvSpPr/>
          <p:nvPr/>
        </p:nvSpPr>
        <p:spPr>
          <a:xfrm>
            <a:off x="182880" y="3849624"/>
            <a:ext cx="877824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8600" y="3913632"/>
            <a:ext cx="2560320" cy="274320"/>
          </a:xfrm>
          <a:prstGeom prst="rect">
            <a:avLst/>
          </a:prstGeom>
          <a:noFill/>
        </p:spPr>
        <p:txBody>
          <a:bodyPr wrap="square">
            <a:spAutoFit/>
          </a:bodyPr>
          <a:lstStyle/>
          <a:p>
            <a:pPr algn="l"/>
            <a:r>
              <a:rPr sz="950" b="0" i="0">
                <a:solidFill>
                  <a:srgbClr val="212121"/>
                </a:solidFill>
              </a:rPr>
              <a:t>Warrior Seminar</a:t>
            </a:r>
          </a:p>
        </p:txBody>
      </p:sp>
      <p:sp>
        <p:nvSpPr>
          <p:cNvPr id="39" name="TextBox 38"/>
          <p:cNvSpPr txBox="1"/>
          <p:nvPr/>
        </p:nvSpPr>
        <p:spPr>
          <a:xfrm>
            <a:off x="2834639" y="3913632"/>
            <a:ext cx="914400" cy="274320"/>
          </a:xfrm>
          <a:prstGeom prst="rect">
            <a:avLst/>
          </a:prstGeom>
          <a:noFill/>
        </p:spPr>
        <p:txBody>
          <a:bodyPr wrap="square">
            <a:spAutoFit/>
          </a:bodyPr>
          <a:lstStyle/>
          <a:p>
            <a:pPr algn="l"/>
            <a:r>
              <a:rPr sz="950" b="0" i="0">
                <a:solidFill>
                  <a:srgbClr val="212121"/>
                </a:solidFill>
              </a:rPr>
              <a:t>A</a:t>
            </a:r>
          </a:p>
        </p:txBody>
      </p:sp>
      <p:sp>
        <p:nvSpPr>
          <p:cNvPr id="40" name="TextBox 39"/>
          <p:cNvSpPr txBox="1"/>
          <p:nvPr/>
        </p:nvSpPr>
        <p:spPr>
          <a:xfrm>
            <a:off x="3794759" y="3913632"/>
            <a:ext cx="914400" cy="274320"/>
          </a:xfrm>
          <a:prstGeom prst="rect">
            <a:avLst/>
          </a:prstGeom>
          <a:noFill/>
        </p:spPr>
        <p:txBody>
          <a:bodyPr wrap="square">
            <a:spAutoFit/>
          </a:bodyPr>
          <a:lstStyle/>
          <a:p>
            <a:pPr algn="l"/>
            <a:r>
              <a:rPr sz="950" b="0" i="0">
                <a:solidFill>
                  <a:srgbClr val="212121"/>
                </a:solidFill>
              </a:rPr>
              <a:t>0.5</a:t>
            </a:r>
          </a:p>
        </p:txBody>
      </p:sp>
      <p:sp>
        <p:nvSpPr>
          <p:cNvPr id="41" name="TextBox 40"/>
          <p:cNvSpPr txBox="1"/>
          <p:nvPr/>
        </p:nvSpPr>
        <p:spPr>
          <a:xfrm>
            <a:off x="4754879" y="3913632"/>
            <a:ext cx="1645920" cy="274320"/>
          </a:xfrm>
          <a:prstGeom prst="rect">
            <a:avLst/>
          </a:prstGeom>
          <a:noFill/>
        </p:spPr>
        <p:txBody>
          <a:bodyPr wrap="square">
            <a:spAutoFit/>
          </a:bodyPr>
          <a:lstStyle/>
          <a:p>
            <a:pPr algn="l"/>
            <a:r>
              <a:rPr sz="950" b="0" i="0">
                <a:solidFill>
                  <a:srgbClr val="212121"/>
                </a:solidFill>
              </a:rPr>
              <a:t/>
            </a:r>
          </a:p>
        </p:txBody>
      </p:sp>
      <p:sp>
        <p:nvSpPr>
          <p:cNvPr id="42" name="TextBox 41"/>
          <p:cNvSpPr txBox="1"/>
          <p:nvPr/>
        </p:nvSpPr>
        <p:spPr>
          <a:xfrm>
            <a:off x="6446519" y="3913632"/>
            <a:ext cx="1645920" cy="274320"/>
          </a:xfrm>
          <a:prstGeom prst="rect">
            <a:avLst/>
          </a:prstGeom>
          <a:noFill/>
        </p:spPr>
        <p:txBody>
          <a:bodyPr wrap="square">
            <a:spAutoFit/>
          </a:bodyPr>
          <a:lstStyle/>
          <a:p>
            <a:pPr algn="l"/>
            <a:r>
              <a:rPr sz="950" b="0" i="0">
                <a:solidFill>
                  <a:srgbClr val="212121"/>
                </a:solidFill>
              </a:rPr>
              <a:t/>
            </a:r>
          </a:p>
        </p:txBody>
      </p:sp>
      <p:sp>
        <p:nvSpPr>
          <p:cNvPr id="43" name="Rectangle 42"/>
          <p:cNvSpPr/>
          <p:nvPr/>
        </p:nvSpPr>
        <p:spPr>
          <a:xfrm>
            <a:off x="182880" y="4270248"/>
            <a:ext cx="8778240"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8600" y="4334256"/>
            <a:ext cx="2560320" cy="274320"/>
          </a:xfrm>
          <a:prstGeom prst="rect">
            <a:avLst/>
          </a:prstGeom>
          <a:noFill/>
        </p:spPr>
        <p:txBody>
          <a:bodyPr wrap="square">
            <a:spAutoFit/>
          </a:bodyPr>
          <a:lstStyle/>
          <a:p>
            <a:pPr algn="l"/>
            <a:r>
              <a:rPr sz="950" b="0" i="0">
                <a:solidFill>
                  <a:srgbClr val="212121"/>
                </a:solidFill>
              </a:rPr>
              <a:t>Woodworking I</a:t>
            </a:r>
          </a:p>
        </p:txBody>
      </p:sp>
      <p:sp>
        <p:nvSpPr>
          <p:cNvPr id="45" name="TextBox 44"/>
          <p:cNvSpPr txBox="1"/>
          <p:nvPr/>
        </p:nvSpPr>
        <p:spPr>
          <a:xfrm>
            <a:off x="2834639" y="4334256"/>
            <a:ext cx="914400" cy="274320"/>
          </a:xfrm>
          <a:prstGeom prst="rect">
            <a:avLst/>
          </a:prstGeom>
          <a:noFill/>
        </p:spPr>
        <p:txBody>
          <a:bodyPr wrap="square">
            <a:spAutoFit/>
          </a:bodyPr>
          <a:lstStyle/>
          <a:p>
            <a:pPr algn="l"/>
            <a:r>
              <a:rPr sz="950" b="0" i="0">
                <a:solidFill>
                  <a:srgbClr val="212121"/>
                </a:solidFill>
              </a:rPr>
              <a:t>A</a:t>
            </a:r>
          </a:p>
        </p:txBody>
      </p:sp>
      <p:sp>
        <p:nvSpPr>
          <p:cNvPr id="46" name="TextBox 45"/>
          <p:cNvSpPr txBox="1"/>
          <p:nvPr/>
        </p:nvSpPr>
        <p:spPr>
          <a:xfrm>
            <a:off x="3794759" y="4334256"/>
            <a:ext cx="914400" cy="274320"/>
          </a:xfrm>
          <a:prstGeom prst="rect">
            <a:avLst/>
          </a:prstGeom>
          <a:noFill/>
        </p:spPr>
        <p:txBody>
          <a:bodyPr wrap="square">
            <a:spAutoFit/>
          </a:bodyPr>
          <a:lstStyle/>
          <a:p>
            <a:pPr algn="l"/>
            <a:r>
              <a:rPr sz="950" b="0" i="0">
                <a:solidFill>
                  <a:srgbClr val="212121"/>
                </a:solidFill>
              </a:rPr>
              <a:t>0.5</a:t>
            </a:r>
          </a:p>
        </p:txBody>
      </p:sp>
      <p:sp>
        <p:nvSpPr>
          <p:cNvPr id="47" name="TextBox 46"/>
          <p:cNvSpPr txBox="1"/>
          <p:nvPr/>
        </p:nvSpPr>
        <p:spPr>
          <a:xfrm>
            <a:off x="4754879" y="4334256"/>
            <a:ext cx="1645920" cy="274320"/>
          </a:xfrm>
          <a:prstGeom prst="rect">
            <a:avLst/>
          </a:prstGeom>
          <a:noFill/>
        </p:spPr>
        <p:txBody>
          <a:bodyPr wrap="square">
            <a:spAutoFit/>
          </a:bodyPr>
          <a:lstStyle/>
          <a:p>
            <a:pPr algn="l"/>
            <a:r>
              <a:rPr sz="950" b="0" i="0">
                <a:solidFill>
                  <a:srgbClr val="212121"/>
                </a:solidFill>
              </a:rPr>
              <a:t/>
            </a:r>
          </a:p>
        </p:txBody>
      </p:sp>
      <p:sp>
        <p:nvSpPr>
          <p:cNvPr id="48" name="TextBox 47"/>
          <p:cNvSpPr txBox="1"/>
          <p:nvPr/>
        </p:nvSpPr>
        <p:spPr>
          <a:xfrm>
            <a:off x="6446519" y="4334256"/>
            <a:ext cx="1645920" cy="274320"/>
          </a:xfrm>
          <a:prstGeom prst="rect">
            <a:avLst/>
          </a:prstGeom>
          <a:noFill/>
        </p:spPr>
        <p:txBody>
          <a:bodyPr wrap="square">
            <a:spAutoFit/>
          </a:bodyPr>
          <a:lstStyle/>
          <a:p>
            <a:pPr algn="l"/>
            <a:r>
              <a:rPr sz="950" b="0" i="0">
                <a:solidFill>
                  <a:srgbClr val="212121"/>
                </a:solidFill>
              </a:rPr>
              <a:t/>
            </a:r>
          </a:p>
        </p:txBody>
      </p:sp>
      <p:sp>
        <p:nvSpPr>
          <p:cNvPr id="49" name="Rectangle 48"/>
          <p:cNvSpPr/>
          <p:nvPr/>
        </p:nvSpPr>
        <p:spPr>
          <a:xfrm>
            <a:off x="182880" y="4690872"/>
            <a:ext cx="8778240" cy="40233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8600" y="4754880"/>
            <a:ext cx="2560320" cy="274320"/>
          </a:xfrm>
          <a:prstGeom prst="rect">
            <a:avLst/>
          </a:prstGeom>
          <a:noFill/>
        </p:spPr>
        <p:txBody>
          <a:bodyPr wrap="square">
            <a:spAutoFit/>
          </a:bodyPr>
          <a:lstStyle/>
          <a:p>
            <a:pPr algn="l"/>
            <a:r>
              <a:rPr sz="950" b="0" i="0">
                <a:solidFill>
                  <a:srgbClr val="212121"/>
                </a:solidFill>
              </a:rPr>
              <a:t>Intro to Organized Sports</a:t>
            </a:r>
          </a:p>
        </p:txBody>
      </p:sp>
      <p:sp>
        <p:nvSpPr>
          <p:cNvPr id="51" name="TextBox 50"/>
          <p:cNvSpPr txBox="1"/>
          <p:nvPr/>
        </p:nvSpPr>
        <p:spPr>
          <a:xfrm>
            <a:off x="2834639" y="4754880"/>
            <a:ext cx="914400" cy="274320"/>
          </a:xfrm>
          <a:prstGeom prst="rect">
            <a:avLst/>
          </a:prstGeom>
          <a:noFill/>
        </p:spPr>
        <p:txBody>
          <a:bodyPr wrap="square">
            <a:spAutoFit/>
          </a:bodyPr>
          <a:lstStyle/>
          <a:p>
            <a:pPr algn="l"/>
            <a:r>
              <a:rPr sz="950" b="0" i="0">
                <a:solidFill>
                  <a:srgbClr val="212121"/>
                </a:solidFill>
              </a:rPr>
              <a:t>B+</a:t>
            </a:r>
          </a:p>
        </p:txBody>
      </p:sp>
      <p:sp>
        <p:nvSpPr>
          <p:cNvPr id="52" name="TextBox 51"/>
          <p:cNvSpPr txBox="1"/>
          <p:nvPr/>
        </p:nvSpPr>
        <p:spPr>
          <a:xfrm>
            <a:off x="3794759" y="4754880"/>
            <a:ext cx="914400" cy="274320"/>
          </a:xfrm>
          <a:prstGeom prst="rect">
            <a:avLst/>
          </a:prstGeom>
          <a:noFill/>
        </p:spPr>
        <p:txBody>
          <a:bodyPr wrap="square">
            <a:spAutoFit/>
          </a:bodyPr>
          <a:lstStyle/>
          <a:p>
            <a:pPr algn="l"/>
            <a:r>
              <a:rPr sz="950" b="0" i="0">
                <a:solidFill>
                  <a:srgbClr val="212121"/>
                </a:solidFill>
              </a:rPr>
              <a:t>0.5</a:t>
            </a:r>
          </a:p>
        </p:txBody>
      </p:sp>
      <p:sp>
        <p:nvSpPr>
          <p:cNvPr id="53" name="TextBox 52"/>
          <p:cNvSpPr txBox="1"/>
          <p:nvPr/>
        </p:nvSpPr>
        <p:spPr>
          <a:xfrm>
            <a:off x="4754879" y="4754880"/>
            <a:ext cx="1645920" cy="274320"/>
          </a:xfrm>
          <a:prstGeom prst="rect">
            <a:avLst/>
          </a:prstGeom>
          <a:noFill/>
        </p:spPr>
        <p:txBody>
          <a:bodyPr wrap="square">
            <a:spAutoFit/>
          </a:bodyPr>
          <a:lstStyle/>
          <a:p>
            <a:pPr algn="l"/>
            <a:r>
              <a:rPr sz="950" b="0" i="0">
                <a:solidFill>
                  <a:srgbClr val="212121"/>
                </a:solidFill>
              </a:rPr>
              <a:t/>
            </a:r>
          </a:p>
        </p:txBody>
      </p:sp>
      <p:sp>
        <p:nvSpPr>
          <p:cNvPr id="54" name="TextBox 53"/>
          <p:cNvSpPr txBox="1"/>
          <p:nvPr/>
        </p:nvSpPr>
        <p:spPr>
          <a:xfrm>
            <a:off x="6446519" y="4754880"/>
            <a:ext cx="1645920" cy="274320"/>
          </a:xfrm>
          <a:prstGeom prst="rect">
            <a:avLst/>
          </a:prstGeom>
          <a:noFill/>
        </p:spPr>
        <p:txBody>
          <a:bodyPr wrap="square">
            <a:spAutoFit/>
          </a:bodyPr>
          <a:lstStyle/>
          <a:p>
            <a:pPr algn="l"/>
            <a:r>
              <a:rPr sz="950" b="0" i="0">
                <a:solidFill>
                  <a:srgbClr val="212121"/>
                </a:solidFill>
              </a:rPr>
              <a:t/>
            </a:r>
          </a:p>
        </p:txBody>
      </p:sp>
      <p:sp>
        <p:nvSpPr>
          <p:cNvPr id="55" name="Rectangle 54"/>
          <p:cNvSpPr/>
          <p:nvPr/>
        </p:nvSpPr>
        <p:spPr>
          <a:xfrm>
            <a:off x="182880" y="5111496"/>
            <a:ext cx="8778240" cy="40233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74320" y="5175504"/>
            <a:ext cx="2743200" cy="274320"/>
          </a:xfrm>
          <a:prstGeom prst="rect">
            <a:avLst/>
          </a:prstGeom>
          <a:noFill/>
        </p:spPr>
        <p:txBody>
          <a:bodyPr wrap="square">
            <a:spAutoFit/>
          </a:bodyPr>
          <a:lstStyle/>
          <a:p>
            <a:pPr algn="l"/>
            <a:r>
              <a:rPr sz="1000" b="1" i="0">
                <a:solidFill>
                  <a:srgbClr val="212121"/>
                </a:solidFill>
              </a:rPr>
              <a:t>TOTAL GPA →</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Habits That Protect Your GPA</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Review the list below. Check the habits you already have. Circle the ones you want to
build.</a:t>
            </a:r>
          </a:p>
        </p:txBody>
      </p:sp>
      <p:sp>
        <p:nvSpPr>
          <p:cNvPr id="5" name="Rectangle 4"/>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Habits That Protect Your GPA  —  Lesson 5.1</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12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Check the habits you already have. Circle the ones you want to build. Put a star next to the ONE habit you will commit to starting this week.</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Check the habits you already have. Circle the ones you want to build. Put a star next to the ONE habit you will commit to starting this week.</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5.1: Grades, Credits &amp; GPA at TRHS</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Quick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If your goal is a 3.5 GPA in 9th grade, what does that mean in real terms (what grades do you need)? What is the single most important habit you will commit to in order to reach that goal?</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5.2  ·  5 minutes</a:t>
            </a:r>
          </a:p>
        </p:txBody>
      </p:sp>
      <p:sp>
        <p:nvSpPr>
          <p:cNvPr id="7" name="Rectangle 6"/>
          <p:cNvSpPr/>
          <p:nvPr/>
        </p:nvSpPr>
        <p:spPr>
          <a:xfrm>
            <a:off x="228600" y="868680"/>
            <a:ext cx="1463040" cy="329184"/>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GPA Impact Scenario</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A student gets straight B's (3.0) in semester 1. In semester 2, they get one A and the rest B's. By how much does their GPA change? Show your work:
Then: what ONE habit change would have the biggest effect on a student's GPA?</a:t>
            </a:r>
          </a:p>
        </p:txBody>
      </p:sp>
      <p:sp>
        <p:nvSpPr>
          <p:cNvPr id="13" name="Rectangle 12"/>
          <p:cNvSpPr/>
          <p:nvPr/>
        </p:nvSpPr>
        <p:spPr>
          <a:xfrm>
            <a:off x="228600" y="4919472"/>
            <a:ext cx="8686800" cy="47548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Calculate with a partner → share the habit</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5.2  |  Unit 5: Transition to High School</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Getting Involved at TRHS</a:t>
            </a:r>
          </a:p>
        </p:txBody>
      </p:sp>
      <p:sp>
        <p:nvSpPr>
          <p:cNvPr id="6" name="Rectangle 5"/>
          <p:cNvSpPr/>
          <p:nvPr/>
        </p:nvSpPr>
        <p:spPr>
          <a:xfrm>
            <a:off x="182880" y="1024128"/>
            <a:ext cx="8778240" cy="329184"/>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Explain the connection between extracurricular involvement and academic and social well-being.</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Develop a personal strategy for trying new activities while maintaining academic balance.</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Identify at least one activity, one club/service group, and one sport they plan to explore.</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99661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996619"/>
                </a:solidFill>
              </a:rPr>
              <a:t>BARR (Building Assets, Reducing Risks)</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Acronym for Building Assets, Reducing Risks — a model of structured team support for 9th graders</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TRHS program that places every 9th grader on a small team of teachers who regularly communicate to support their success.</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737360"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664208" cy="320040"/>
          </a:xfrm>
          <a:prstGeom prst="rect">
            <a:avLst/>
          </a:prstGeom>
          <a:noFill/>
        </p:spPr>
        <p:txBody>
          <a:bodyPr wrap="square">
            <a:spAutoFit/>
          </a:bodyPr>
          <a:lstStyle/>
          <a:p>
            <a:pPr algn="ctr"/>
            <a:r>
              <a:rPr sz="1100" b="1" i="0">
                <a:solidFill>
                  <a:srgbClr val="FFFFFF"/>
                </a:solidFill>
              </a:rPr>
              <a:t>10</a:t>
            </a:r>
          </a:p>
        </p:txBody>
      </p:sp>
      <p:sp>
        <p:nvSpPr>
          <p:cNvPr id="27" name="TextBox 26"/>
          <p:cNvSpPr txBox="1"/>
          <p:nvPr/>
        </p:nvSpPr>
        <p:spPr>
          <a:xfrm>
            <a:off x="1618488" y="6163056"/>
            <a:ext cx="1737360"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355848" y="5623560"/>
            <a:ext cx="1216152"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2424" y="5715000"/>
            <a:ext cx="1143000" cy="320040"/>
          </a:xfrm>
          <a:prstGeom prst="rect">
            <a:avLst/>
          </a:prstGeom>
          <a:noFill/>
        </p:spPr>
        <p:txBody>
          <a:bodyPr wrap="square">
            <a:spAutoFit/>
          </a:bodyPr>
          <a:lstStyle/>
          <a:p>
            <a:pPr algn="ctr"/>
            <a:r>
              <a:rPr sz="1100" b="1" i="0">
                <a:solidFill>
                  <a:srgbClr val="FFFFFF"/>
                </a:solidFill>
              </a:rPr>
              <a:t>7</a:t>
            </a:r>
          </a:p>
        </p:txBody>
      </p:sp>
      <p:sp>
        <p:nvSpPr>
          <p:cNvPr id="30" name="TextBox 29"/>
          <p:cNvSpPr txBox="1"/>
          <p:nvPr/>
        </p:nvSpPr>
        <p:spPr>
          <a:xfrm>
            <a:off x="3355848" y="6163056"/>
            <a:ext cx="1216152"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572000" y="5623560"/>
            <a:ext cx="1737360"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8576" y="5715000"/>
            <a:ext cx="1664208" cy="320040"/>
          </a:xfrm>
          <a:prstGeom prst="rect">
            <a:avLst/>
          </a:prstGeom>
          <a:noFill/>
        </p:spPr>
        <p:txBody>
          <a:bodyPr wrap="square">
            <a:spAutoFit/>
          </a:bodyPr>
          <a:lstStyle/>
          <a:p>
            <a:pPr algn="ctr"/>
            <a:r>
              <a:rPr sz="1100" b="1" i="0">
                <a:solidFill>
                  <a:srgbClr val="FFFFFF"/>
                </a:solidFill>
              </a:rPr>
              <a:t>10</a:t>
            </a:r>
          </a:p>
        </p:txBody>
      </p:sp>
      <p:sp>
        <p:nvSpPr>
          <p:cNvPr id="33" name="TextBox 32"/>
          <p:cNvSpPr txBox="1"/>
          <p:nvPr/>
        </p:nvSpPr>
        <p:spPr>
          <a:xfrm>
            <a:off x="4572000" y="6163056"/>
            <a:ext cx="1737360"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6309360" y="5623560"/>
            <a:ext cx="173736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715000"/>
            <a:ext cx="1664208" cy="320040"/>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6309360" y="6163056"/>
            <a:ext cx="173736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99661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9th Grade Is Different: BARR, Belonging, and the Warrior Way</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by the BARR Center and TRHS transition resources</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10 min</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9th Grade Is Different: BARR, Belonging, and the Warrior Way  (p. 1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Something unusual happens in 9th grade. Research on educational trajectories — the long-
term patterns of student success — consistently identifies the 9th grade year as the
single most predictive year in a student's K-12 career. Students who fail two or more
courses in 9th grade have significantly lower graduation rates, regardless of how they
performed in middle school. Conversely, students who finish 9th grade on track — passing
their courses, earning their credits, staying connected to school — go on to graduate
and pursue post-secondary education at dramatically higher rates.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Two Rivers takes this research seriously, which is why every 9th grader is placed into
the BARR model: Building Assets, Reducing Risks. In BARR, you are not just assigned to
teachers — you are placed on a team. Your BARR team consists of 3-4 teachers who all
share you and your classmates across their different courses. These teachers meet
regularly to discuss student progress. They share information about grades, attendance,
and social-emotional wellbeing. If you are struggling in two subjects at once, your BARR
team will know — and they will reach out, not wait for you to come to them.</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9th Grade Is Different: BARR, Belonging, and the Warrior Way  (p. 2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Your BARR teacher is a specific person on your team who serves as your primary contact
and the contact for your family. They are the person who notices when something is off —
when your attendance slides, when your grades dip, when you seem stressed or
disconnected. Think of your BARR teacher as a built-in ally: someone who is not just in
charge of teaching you a subject, but also invested in how you are doing as a whole
person. Research on the BARR model, which began in Minnesota, shows significant
improvements in 9th grade course passage rates and significant reductions in chronic
absenteeism at schools that implement it well.</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But BARR is not a safety net that catches you without your effort. It is a support
structure that amplifies the effort you bring. Students who show up, engage, and reach
out when they are struggling benefit enormously from the BARR system. Students who
disengage, skip class, or hide their struggles miss most of its benefit. The single most
important thing you can do in 9th grade is be present — physically in class, mentally
engaged, and willing to communicate when things get hard.</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'9th Grade Is Different: BARR, Belonging, and the Warrior Way'</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7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99661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Why does research identify 9th grade as the most important year in a student's K-12 career?
What are the consequences of failing courses in 9th grade?</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99661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is BARR and how does it work at Two Rivers? How is it different from a regular school
structure?</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99661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is the role of a BARR teacher? How is it different from a regular classroom teacher?</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99661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BARR 'amplifies the effort you bring.' What does this mean? What must YOU do
to benefit from BARR?</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99661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Based on the reading, list THREE specific behaviors you commit to in 9th grade that will help
you take full advantage of the BARR structure. Explain why each one matters.</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5.2</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The 9th Grade Cliff — Why Freshman Year Matters Most</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AVID / Alliance for Excellent Education  ·  approx. 5 min</a:t>
            </a:r>
          </a:p>
        </p:txBody>
      </p:sp>
      <p:sp>
        <p:nvSpPr>
          <p:cNvPr id="9" name="Rectangle 8"/>
          <p:cNvSpPr/>
          <p:nvPr/>
        </p:nvSpPr>
        <p:spPr>
          <a:xfrm>
            <a:off x="365760" y="2377440"/>
            <a:ext cx="8412480" cy="2743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99661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is the 'ninth grade cliff' and what are the warning signs?</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"What Is BARR? Building Assets, Reducing Risks"  |  BARR Center</a:t>
            </a:r>
          </a:p>
        </p:txBody>
      </p:sp>
      <p:sp>
        <p:nvSpPr>
          <p:cNvPr id="16" name="Rectangle 15">
            <a:hlinkClick r:id="rId3"/>
          </p:cNvPr>
          <p:cNvSpPr/>
          <p:nvPr/>
        </p:nvSpPr>
        <p:spPr>
          <a:xfrm>
            <a:off x="2743200" y="4480560"/>
            <a:ext cx="3657600" cy="7498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Team"  —  Lesson 5.2</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00" b="0" i="0">
                <a:solidFill>
                  <a:srgbClr val="212121"/>
                </a:solidFill>
              </a:rPr>
              <a:t>The teacher explained BARR: a team of teachers who share the same 9th graders and actually
talk about how they're doing.</a:t>
            </a:r>
          </a:p>
        </p:txBody>
      </p:sp>
      <p:sp>
        <p:nvSpPr>
          <p:cNvPr id="7" name="TextBox 6"/>
          <p:cNvSpPr txBox="1"/>
          <p:nvPr/>
        </p:nvSpPr>
        <p:spPr>
          <a:xfrm>
            <a:off x="228600" y="1335024"/>
            <a:ext cx="8686800" cy="246888"/>
          </a:xfrm>
          <a:prstGeom prst="rect">
            <a:avLst/>
          </a:prstGeom>
          <a:noFill/>
        </p:spPr>
        <p:txBody>
          <a:bodyPr wrap="square">
            <a:spAutoFit/>
          </a:bodyPr>
          <a:lstStyle/>
          <a:p>
            <a:pPr algn="l">
              <a:lnSpc>
                <a:spcPts val="1500"/>
              </a:lnSpc>
            </a:pPr>
            <a:r>
              <a:rPr sz="1050" b="0" i="1">
                <a:solidFill>
                  <a:srgbClr val="1A1A6E"/>
                </a:solidFill>
              </a:rPr>
              <a:t>Priya raised her hand. "Like, they share information about specific students?"</a:t>
            </a:r>
          </a:p>
        </p:txBody>
      </p:sp>
      <p:sp>
        <p:nvSpPr>
          <p:cNvPr id="8" name="TextBox 7"/>
          <p:cNvSpPr txBox="1"/>
          <p:nvPr/>
        </p:nvSpPr>
        <p:spPr>
          <a:xfrm>
            <a:off x="228600" y="1591056"/>
            <a:ext cx="8686800" cy="246888"/>
          </a:xfrm>
          <a:prstGeom prst="rect">
            <a:avLst/>
          </a:prstGeom>
          <a:noFill/>
        </p:spPr>
        <p:txBody>
          <a:bodyPr wrap="square">
            <a:spAutoFit/>
          </a:bodyPr>
          <a:lstStyle/>
          <a:p>
            <a:pPr algn="l">
              <a:lnSpc>
                <a:spcPts val="1500"/>
              </a:lnSpc>
            </a:pPr>
            <a:r>
              <a:rPr sz="1050" b="0" i="1">
                <a:solidFill>
                  <a:srgbClr val="1A1A6E"/>
                </a:solidFill>
              </a:rPr>
              <a:t>"Yes. If you're struggling in one class, your whole team might know."</a:t>
            </a:r>
          </a:p>
        </p:txBody>
      </p:sp>
      <p:sp>
        <p:nvSpPr>
          <p:cNvPr id="9" name="TextBox 8"/>
          <p:cNvSpPr txBox="1"/>
          <p:nvPr/>
        </p:nvSpPr>
        <p:spPr>
          <a:xfrm>
            <a:off x="228600" y="1847088"/>
            <a:ext cx="8686800" cy="649224"/>
          </a:xfrm>
          <a:prstGeom prst="rect">
            <a:avLst/>
          </a:prstGeom>
          <a:noFill/>
        </p:spPr>
        <p:txBody>
          <a:bodyPr wrap="square">
            <a:spAutoFit/>
          </a:bodyPr>
          <a:lstStyle/>
          <a:p>
            <a:pPr algn="l">
              <a:lnSpc>
                <a:spcPts val="1500"/>
              </a:lnSpc>
            </a:pPr>
            <a:r>
              <a:rPr sz="1000" b="0" i="0">
                <a:solidFill>
                  <a:srgbClr val="212121"/>
                </a:solidFill>
              </a:rPr>
              <a:t>Priya put her hand down. She thought about this. All her teachers knowing, at once, that she
was struggling at something felt like standing under a spotlight she hadn't agreed to stand
under.</a:t>
            </a:r>
          </a:p>
        </p:txBody>
      </p:sp>
      <p:sp>
        <p:nvSpPr>
          <p:cNvPr id="10" name="TextBox 9"/>
          <p:cNvSpPr txBox="1"/>
          <p:nvPr/>
        </p:nvSpPr>
        <p:spPr>
          <a:xfrm>
            <a:off x="228600" y="2505456"/>
            <a:ext cx="8686800" cy="246888"/>
          </a:xfrm>
          <a:prstGeom prst="rect">
            <a:avLst/>
          </a:prstGeom>
          <a:noFill/>
        </p:spPr>
        <p:txBody>
          <a:bodyPr wrap="square">
            <a:spAutoFit/>
          </a:bodyPr>
          <a:lstStyle/>
          <a:p>
            <a:pPr algn="l">
              <a:lnSpc>
                <a:spcPts val="1500"/>
              </a:lnSpc>
            </a:pPr>
            <a:r>
              <a:rPr sz="1000" b="0" i="0">
                <a:solidFill>
                  <a:srgbClr val="212121"/>
                </a:solidFill>
              </a:rPr>
              <a:t>After class, she told Maya.</a:t>
            </a:r>
          </a:p>
        </p:txBody>
      </p:sp>
      <p:sp>
        <p:nvSpPr>
          <p:cNvPr id="11" name="TextBox 10"/>
          <p:cNvSpPr txBox="1"/>
          <p:nvPr/>
        </p:nvSpPr>
        <p:spPr>
          <a:xfrm>
            <a:off x="228600" y="2761488"/>
            <a:ext cx="8686800" cy="246888"/>
          </a:xfrm>
          <a:prstGeom prst="rect">
            <a:avLst/>
          </a:prstGeom>
          <a:noFill/>
        </p:spPr>
        <p:txBody>
          <a:bodyPr wrap="square">
            <a:spAutoFit/>
          </a:bodyPr>
          <a:lstStyle/>
          <a:p>
            <a:pPr algn="l">
              <a:lnSpc>
                <a:spcPts val="1500"/>
              </a:lnSpc>
            </a:pPr>
            <a:r>
              <a:rPr sz="1050" b="0" i="1">
                <a:solidFill>
                  <a:srgbClr val="1A1A6E"/>
                </a:solidFill>
              </a:rPr>
              <a:t>"I think it sounds good," Maya said.</a:t>
            </a:r>
          </a:p>
        </p:txBody>
      </p:sp>
      <p:sp>
        <p:nvSpPr>
          <p:cNvPr id="12" name="TextBox 11"/>
          <p:cNvSpPr txBox="1"/>
          <p:nvPr/>
        </p:nvSpPr>
        <p:spPr>
          <a:xfrm>
            <a:off x="228600" y="3017520"/>
            <a:ext cx="8686800" cy="246888"/>
          </a:xfrm>
          <a:prstGeom prst="rect">
            <a:avLst/>
          </a:prstGeom>
          <a:noFill/>
        </p:spPr>
        <p:txBody>
          <a:bodyPr wrap="square">
            <a:spAutoFit/>
          </a:bodyPr>
          <a:lstStyle/>
          <a:p>
            <a:pPr algn="l">
              <a:lnSpc>
                <a:spcPts val="1500"/>
              </a:lnSpc>
            </a:pPr>
            <a:r>
              <a:rPr sz="1050" b="0" i="1">
                <a:solidFill>
                  <a:srgbClr val="1A1A6E"/>
                </a:solidFill>
              </a:rPr>
              <a:t>"You don't think it's weird that they all talk about you?"</a:t>
            </a:r>
          </a:p>
        </p:txBody>
      </p:sp>
      <p:sp>
        <p:nvSpPr>
          <p:cNvPr id="13" name="TextBox 12"/>
          <p:cNvSpPr txBox="1"/>
          <p:nvPr/>
        </p:nvSpPr>
        <p:spPr>
          <a:xfrm>
            <a:off x="228600" y="3273552"/>
            <a:ext cx="8686800" cy="246888"/>
          </a:xfrm>
          <a:prstGeom prst="rect">
            <a:avLst/>
          </a:prstGeom>
          <a:noFill/>
        </p:spPr>
        <p:txBody>
          <a:bodyPr wrap="square">
            <a:spAutoFit/>
          </a:bodyPr>
          <a:lstStyle/>
          <a:p>
            <a:pPr algn="l">
              <a:lnSpc>
                <a:spcPts val="1500"/>
              </a:lnSpc>
            </a:pPr>
            <a:r>
              <a:rPr sz="1050" b="0" i="1">
                <a:solidFill>
                  <a:srgbClr val="1A1A6E"/>
                </a:solidFill>
              </a:rPr>
              <a:t>"They already do. Every school. But in BARR it's organized, so it actually helps."</a:t>
            </a:r>
          </a:p>
        </p:txBody>
      </p:sp>
      <p:sp>
        <p:nvSpPr>
          <p:cNvPr id="14" name="TextBox 13"/>
          <p:cNvSpPr txBox="1"/>
          <p:nvPr/>
        </p:nvSpPr>
        <p:spPr>
          <a:xfrm>
            <a:off x="228600" y="3529584"/>
            <a:ext cx="8686800" cy="246888"/>
          </a:xfrm>
          <a:prstGeom prst="rect">
            <a:avLst/>
          </a:prstGeom>
          <a:noFill/>
        </p:spPr>
        <p:txBody>
          <a:bodyPr wrap="square">
            <a:spAutoFit/>
          </a:bodyPr>
          <a:lstStyle/>
          <a:p>
            <a:pPr algn="l">
              <a:lnSpc>
                <a:spcPts val="1500"/>
              </a:lnSpc>
            </a:pPr>
            <a:r>
              <a:rPr sz="1050" b="0" i="1">
                <a:solidFill>
                  <a:srgbClr val="1A1A6E"/>
                </a:solidFill>
              </a:rPr>
              <a:t>"What if you don't want the help?"</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50" b="0" i="1">
                <a:solidFill>
                  <a:srgbClr val="1A1A6E"/>
                </a:solidFill>
              </a:rPr>
              <a:t>Maya looked at her. "When did you not want help?"</a:t>
            </a:r>
          </a:p>
        </p:txBody>
      </p:sp>
      <p:sp>
        <p:nvSpPr>
          <p:cNvPr id="16" name="TextBox 15"/>
          <p:cNvSpPr txBox="1"/>
          <p:nvPr/>
        </p:nvSpPr>
        <p:spPr>
          <a:xfrm>
            <a:off x="228600" y="4041648"/>
            <a:ext cx="8686800" cy="246888"/>
          </a:xfrm>
          <a:prstGeom prst="rect">
            <a:avLst/>
          </a:prstGeom>
          <a:noFill/>
        </p:spPr>
        <p:txBody>
          <a:bodyPr wrap="square">
            <a:spAutoFit/>
          </a:bodyPr>
          <a:lstStyle/>
          <a:p>
            <a:pPr algn="l">
              <a:lnSpc>
                <a:spcPts val="1500"/>
              </a:lnSpc>
            </a:pPr>
            <a:r>
              <a:rPr sz="1050" b="0" i="1">
                <a:solidFill>
                  <a:srgbClr val="1A1A6E"/>
                </a:solidFill>
              </a:rPr>
              <a:t>"It's different when people are watching."</a:t>
            </a:r>
          </a:p>
        </p:txBody>
      </p:sp>
      <p:sp>
        <p:nvSpPr>
          <p:cNvPr id="17" name="TextBox 16"/>
          <p:cNvSpPr txBox="1"/>
          <p:nvPr/>
        </p:nvSpPr>
        <p:spPr>
          <a:xfrm>
            <a:off x="228600" y="4297680"/>
            <a:ext cx="8686800" cy="246888"/>
          </a:xfrm>
          <a:prstGeom prst="rect">
            <a:avLst/>
          </a:prstGeom>
          <a:noFill/>
        </p:spPr>
        <p:txBody>
          <a:bodyPr wrap="square">
            <a:spAutoFit/>
          </a:bodyPr>
          <a:lstStyle/>
          <a:p>
            <a:pPr algn="l">
              <a:lnSpc>
                <a:spcPts val="1500"/>
              </a:lnSpc>
            </a:pPr>
            <a:r>
              <a:rPr sz="1050" b="0" i="1">
                <a:solidFill>
                  <a:srgbClr val="1A1A6E"/>
                </a:solidFill>
              </a:rPr>
              <a:t>"They're not watching to judge you. They're watching because they're supposed to."</a:t>
            </a:r>
          </a:p>
        </p:txBody>
      </p:sp>
      <p:sp>
        <p:nvSpPr>
          <p:cNvPr id="18" name="TextBox 17"/>
          <p:cNvSpPr txBox="1"/>
          <p:nvPr/>
        </p:nvSpPr>
        <p:spPr>
          <a:xfrm>
            <a:off x="228600" y="4553712"/>
            <a:ext cx="8686800" cy="649224"/>
          </a:xfrm>
          <a:prstGeom prst="rect">
            <a:avLst/>
          </a:prstGeom>
          <a:noFill/>
        </p:spPr>
        <p:txBody>
          <a:bodyPr wrap="square">
            <a:spAutoFit/>
          </a:bodyPr>
          <a:lstStyle/>
          <a:p>
            <a:pPr algn="l">
              <a:lnSpc>
                <a:spcPts val="1500"/>
              </a:lnSpc>
            </a:pPr>
            <a:r>
              <a:rPr sz="1000" b="0" i="0">
                <a:solidFill>
                  <a:srgbClr val="212121"/>
                </a:solidFill>
              </a:rPr>
              <a:t>Priya thought about sixth grade. She'd been new. She'd been quiet. No one had noticed she was
lost in math for almost two months. By the time a teacher figured it out, she was far enough
behind that it had taken the whole second semester to recover.</a:t>
            </a:r>
          </a:p>
        </p:txBody>
      </p:sp>
      <p:sp>
        <p:nvSpPr>
          <p:cNvPr id="19" name="TextBox 18"/>
          <p:cNvSpPr txBox="1"/>
          <p:nvPr/>
        </p:nvSpPr>
        <p:spPr>
          <a:xfrm>
            <a:off x="228600" y="5212080"/>
            <a:ext cx="8686800" cy="448056"/>
          </a:xfrm>
          <a:prstGeom prst="rect">
            <a:avLst/>
          </a:prstGeom>
          <a:noFill/>
        </p:spPr>
        <p:txBody>
          <a:bodyPr wrap="square">
            <a:spAutoFit/>
          </a:bodyPr>
          <a:lstStyle/>
          <a:p>
            <a:pPr algn="l">
              <a:lnSpc>
                <a:spcPts val="1500"/>
              </a:lnSpc>
            </a:pPr>
            <a:r>
              <a:rPr sz="1050" b="0" i="1">
                <a:solidFill>
                  <a:srgbClr val="1A1A6E"/>
                </a:solidFill>
              </a:rPr>
              <a:t>"Maybe if someone had been paying attention in sixth grade," she said slowly, "it would have
been faster."</a:t>
            </a:r>
          </a:p>
        </p:txBody>
      </p:sp>
      <p:sp>
        <p:nvSpPr>
          <p:cNvPr id="20" name="TextBox 19"/>
          <p:cNvSpPr txBox="1"/>
          <p:nvPr/>
        </p:nvSpPr>
        <p:spPr>
          <a:xfrm>
            <a:off x="228600" y="5669280"/>
            <a:ext cx="8686800" cy="246888"/>
          </a:xfrm>
          <a:prstGeom prst="rect">
            <a:avLst/>
          </a:prstGeom>
          <a:noFill/>
        </p:spPr>
        <p:txBody>
          <a:bodyPr wrap="square">
            <a:spAutoFit/>
          </a:bodyPr>
          <a:lstStyle/>
          <a:p>
            <a:pPr algn="l">
              <a:lnSpc>
                <a:spcPts val="1500"/>
              </a:lnSpc>
            </a:pPr>
            <a:r>
              <a:rPr sz="1050" b="0" i="1">
                <a:solidFill>
                  <a:srgbClr val="1A1A6E"/>
                </a:solidFill>
              </a:rPr>
              <a:t>"Yeah," Maya said.</a:t>
            </a:r>
          </a:p>
        </p:txBody>
      </p:sp>
      <p:sp>
        <p:nvSpPr>
          <p:cNvPr id="21" name="TextBox 20"/>
          <p:cNvSpPr txBox="1"/>
          <p:nvPr/>
        </p:nvSpPr>
        <p:spPr>
          <a:xfrm>
            <a:off x="228600" y="5925312"/>
            <a:ext cx="8686800" cy="448056"/>
          </a:xfrm>
          <a:prstGeom prst="rect">
            <a:avLst/>
          </a:prstGeom>
          <a:noFill/>
        </p:spPr>
        <p:txBody>
          <a:bodyPr wrap="square">
            <a:spAutoFit/>
          </a:bodyPr>
          <a:lstStyle/>
          <a:p>
            <a:pPr algn="l">
              <a:lnSpc>
                <a:spcPts val="1500"/>
              </a:lnSpc>
            </a:pPr>
            <a:r>
              <a:rPr sz="1000" b="0" i="0">
                <a:solidFill>
                  <a:srgbClr val="212121"/>
                </a:solidFill>
              </a:rPr>
              <a:t>Priya looked at the handout about BARR. A team of teachers who share information and check in.
A structure designed to notice before things get bad.</a:t>
            </a:r>
          </a:p>
        </p:txBody>
      </p:sp>
      <p:sp>
        <p:nvSpPr>
          <p:cNvPr id="22" name="TextBox 21"/>
          <p:cNvSpPr txBox="1"/>
          <p:nvPr/>
        </p:nvSpPr>
        <p:spPr>
          <a:xfrm>
            <a:off x="228600" y="6382512"/>
            <a:ext cx="8686800" cy="246888"/>
          </a:xfrm>
          <a:prstGeom prst="rect">
            <a:avLst/>
          </a:prstGeom>
          <a:noFill/>
        </p:spPr>
        <p:txBody>
          <a:bodyPr wrap="square">
            <a:spAutoFit/>
          </a:bodyPr>
          <a:lstStyle/>
          <a:p>
            <a:pPr algn="l">
              <a:lnSpc>
                <a:spcPts val="1500"/>
              </a:lnSpc>
            </a:pPr>
            <a:r>
              <a:rPr sz="1000" b="0" i="0">
                <a:solidFill>
                  <a:srgbClr val="212121"/>
                </a:solidFill>
              </a:rPr>
              <a:t>It still felt strange. But strange and bad were different things.</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Team"</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Priya is uncomfortable with BARR because it means teachers share information about her. Is
that discomfort reasonable — or is something else going on?</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says 'they already do' — all schools share information about students. How does
organizing that process change it?</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Priya's sixth-grade experience shows what happens when no one is paying attention. How does
that reframe her discomfort with BARR?</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Would you rather have a team of teachers watching out for you — or teachers who each see only
their own class? What are the real trade-offs?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The BARR Advantage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One of the best things about starting at TRHS is BARR. As a 9th grader, you will be
assigned to a team of 3-4 teachers who have ALL of your classmates in at least one
class. These teachers meet regularly to talk about how their students are doing —
academically, socially, emotionally. If you're struggling, your BARR teacher will notice
and reach out. If you're thriving, they'll know that too. You are NOT going to fall
through the cracks at TRHS — the structure won't let you, as long as you show up.</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What do you know about how 8th grade is different from what you expect in 9th grade?</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The 'Try One Thing' Challenge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Research on high school students shows that students who are involved in at least one
extracurricular activity are significantly more likely to feel connected to school and
graduate on time. The challenge: pick at least ONE thing you've never done before and
commit to trying it in the first semester. It doesn't have to be the thing you stick
with forever — it just has to get you in the door.</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99661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BARR amplifies the effort you bring. Students who show up and communicate benefit enormously; students who disengage miss most of it.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The Try One Thing Commitment  —  Lesson 5.2</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10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Fill in each field honestly and completely. This is a real commitment — write something you actually mean. You will revisit this at the end of the unit.</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Fill in each field honestly and completely. This is a real commitment — write something you actually mean. You will revisit this at the end of the unit.</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5.2: Getting Involved at TRHS</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Rating Scale + Reflection</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914400"/>
          </a:xfrm>
          <a:prstGeom prst="rect">
            <a:avLst/>
          </a:prstGeom>
          <a:noFill/>
        </p:spPr>
        <p:txBody>
          <a:bodyPr wrap="square">
            <a:spAutoFit/>
          </a:bodyPr>
          <a:lstStyle/>
          <a:p>
            <a:pPr algn="l"/>
            <a:r>
              <a:rPr sz="1100" b="0" i="0">
                <a:solidFill>
                  <a:srgbClr val="212121"/>
                </a:solidFill>
              </a:rPr>
              <a:t>How confident do you feel about getting involved at TRHS? (1 = not confident at all, 5 = very confident). Explain what would help you feel more confident.</a:t>
            </a:r>
          </a:p>
        </p:txBody>
      </p:sp>
      <p:sp>
        <p:nvSpPr>
          <p:cNvPr id="9" name="Rectangle 8"/>
          <p:cNvSpPr/>
          <p:nvPr/>
        </p:nvSpPr>
        <p:spPr>
          <a:xfrm>
            <a:off x="22860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176272"/>
            <a:ext cx="1554480" cy="365760"/>
          </a:xfrm>
          <a:prstGeom prst="rect">
            <a:avLst/>
          </a:prstGeom>
          <a:noFill/>
        </p:spPr>
        <p:txBody>
          <a:bodyPr wrap="square">
            <a:spAutoFit/>
          </a:bodyPr>
          <a:lstStyle/>
          <a:p>
            <a:pPr algn="ctr"/>
            <a:r>
              <a:rPr sz="1100" b="0" i="0">
                <a:solidFill>
                  <a:srgbClr val="212121"/>
                </a:solidFill>
              </a:rPr>
              <a:t>1 — Not at all</a:t>
            </a:r>
          </a:p>
        </p:txBody>
      </p:sp>
      <p:sp>
        <p:nvSpPr>
          <p:cNvPr id="11" name="Rectangle 10"/>
          <p:cNvSpPr/>
          <p:nvPr/>
        </p:nvSpPr>
        <p:spPr>
          <a:xfrm>
            <a:off x="192024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2176272"/>
            <a:ext cx="1554480" cy="365760"/>
          </a:xfrm>
          <a:prstGeom prst="rect">
            <a:avLst/>
          </a:prstGeom>
          <a:noFill/>
        </p:spPr>
        <p:txBody>
          <a:bodyPr wrap="square">
            <a:spAutoFit/>
          </a:bodyPr>
          <a:lstStyle/>
          <a:p>
            <a:pPr algn="ctr"/>
            <a:r>
              <a:rPr sz="1100" b="0" i="0">
                <a:solidFill>
                  <a:srgbClr val="212121"/>
                </a:solidFill>
              </a:rPr>
              <a:t>2</a:t>
            </a:r>
          </a:p>
        </p:txBody>
      </p:sp>
      <p:sp>
        <p:nvSpPr>
          <p:cNvPr id="13" name="Rectangle 12"/>
          <p:cNvSpPr/>
          <p:nvPr/>
        </p:nvSpPr>
        <p:spPr>
          <a:xfrm>
            <a:off x="361188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176272"/>
            <a:ext cx="1554480" cy="365760"/>
          </a:xfrm>
          <a:prstGeom prst="rect">
            <a:avLst/>
          </a:prstGeom>
          <a:noFill/>
        </p:spPr>
        <p:txBody>
          <a:bodyPr wrap="square">
            <a:spAutoFit/>
          </a:bodyPr>
          <a:lstStyle/>
          <a:p>
            <a:pPr algn="ctr"/>
            <a:r>
              <a:rPr sz="1100" b="0" i="0">
                <a:solidFill>
                  <a:srgbClr val="212121"/>
                </a:solidFill>
              </a:rPr>
              <a:t>3 — Somewhat</a:t>
            </a:r>
          </a:p>
        </p:txBody>
      </p:sp>
      <p:sp>
        <p:nvSpPr>
          <p:cNvPr id="15" name="Rectangle 14"/>
          <p:cNvSpPr/>
          <p:nvPr/>
        </p:nvSpPr>
        <p:spPr>
          <a:xfrm>
            <a:off x="5303520" y="2103120"/>
            <a:ext cx="16459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2176272"/>
            <a:ext cx="1554480" cy="365760"/>
          </a:xfrm>
          <a:prstGeom prst="rect">
            <a:avLst/>
          </a:prstGeom>
          <a:noFill/>
        </p:spPr>
        <p:txBody>
          <a:bodyPr wrap="square">
            <a:spAutoFit/>
          </a:bodyPr>
          <a:lstStyle/>
          <a:p>
            <a:pPr algn="ctr"/>
            <a:r>
              <a:rPr sz="1100" b="0" i="0">
                <a:solidFill>
                  <a:srgbClr val="212121"/>
                </a:solidFill>
              </a:rPr>
              <a:t>4</a:t>
            </a:r>
          </a:p>
        </p:txBody>
      </p:sp>
      <p:sp>
        <p:nvSpPr>
          <p:cNvPr id="17" name="Rectangle 16"/>
          <p:cNvSpPr/>
          <p:nvPr/>
        </p:nvSpPr>
        <p:spPr>
          <a:xfrm>
            <a:off x="6995160" y="2103120"/>
            <a:ext cx="1645920" cy="512064"/>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176272"/>
            <a:ext cx="1554480" cy="365760"/>
          </a:xfrm>
          <a:prstGeom prst="rect">
            <a:avLst/>
          </a:prstGeom>
          <a:noFill/>
        </p:spPr>
        <p:txBody>
          <a:bodyPr wrap="square">
            <a:spAutoFit/>
          </a:bodyPr>
          <a:lstStyle/>
          <a:p>
            <a:pPr algn="ctr"/>
            <a:r>
              <a:rPr sz="1100" b="0" i="0">
                <a:solidFill>
                  <a:srgbClr val="212121"/>
                </a:solidFill>
              </a:rPr>
              <a:t>5 — Yes!</a:t>
            </a:r>
          </a:p>
        </p:txBody>
      </p:sp>
      <p:sp>
        <p:nvSpPr>
          <p:cNvPr id="19" name="Rectangle 18"/>
          <p:cNvSpPr/>
          <p:nvPr/>
        </p:nvSpPr>
        <p:spPr>
          <a:xfrm>
            <a:off x="228600" y="283463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657599"/>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5.3  ·  5 minutes</a:t>
            </a:r>
          </a:p>
        </p:txBody>
      </p:sp>
      <p:sp>
        <p:nvSpPr>
          <p:cNvPr id="7" name="Rectangle 6"/>
          <p:cNvSpPr/>
          <p:nvPr/>
        </p:nvSpPr>
        <p:spPr>
          <a:xfrm>
            <a:off x="228600" y="868680"/>
            <a:ext cx="1463040"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ANTICIPATION</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If Registration Were TODAY</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Without looking at anything — write the 7 courses you would register for if it were due today:
P1: __________________  P2: __________________  P3: __________________
P4: __________________  P5: __________________  P6: __________________  P7: __________________
How confident do you feel about these choices? (circle)  1 — 2 — 3 — 4 — 5</a:t>
            </a:r>
          </a:p>
        </p:txBody>
      </p:sp>
      <p:sp>
        <p:nvSpPr>
          <p:cNvPr id="13" name="Rectangle 12"/>
          <p:cNvSpPr/>
          <p:nvPr/>
        </p:nvSpPr>
        <p:spPr>
          <a:xfrm>
            <a:off x="228600" y="4919472"/>
            <a:ext cx="8686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Compare with a partner — what's different? What did you forget?</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5.3  |  Unit 5: Transition to High School</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Finalizing My Fall Schedule</a:t>
            </a:r>
          </a:p>
        </p:txBody>
      </p:sp>
      <p:sp>
        <p:nvSpPr>
          <p:cNvPr id="6" name="Rectangle 5"/>
          <p:cNvSpPr/>
          <p:nvPr/>
        </p:nvSpPr>
        <p:spPr>
          <a:xfrm>
            <a:off x="182880" y="1024128"/>
            <a:ext cx="8778240" cy="329184"/>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Review and finalize their mock 9th grade course schedule.</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Identify 2–3 alternate course selections in case first choices are unavailable.</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Write a brief course rationale explaining their scheduling choices.</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99661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996619"/>
                </a:solidFill>
              </a:rPr>
              <a:t>Transcript</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transcribere (to copy over) — trans (across) + scribere (to write)</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Your permanent academic record — every course, every grade, every credit, from 9th grade through graduation.</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50 min</a:t>
            </a:r>
          </a:p>
        </p:txBody>
      </p:sp>
      <p:sp>
        <p:nvSpPr>
          <p:cNvPr id="19" name="Rectangle 18"/>
          <p:cNvSpPr/>
          <p:nvPr/>
        </p:nvSpPr>
        <p:spPr>
          <a:xfrm>
            <a:off x="228600" y="5623560"/>
            <a:ext cx="868680"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95528"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868680"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97280" y="5623560"/>
            <a:ext cx="521207" cy="5029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5715000"/>
            <a:ext cx="448055"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97280" y="6163056"/>
            <a:ext cx="521207"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618488" y="5623560"/>
            <a:ext cx="1563624"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5064" y="5715000"/>
            <a:ext cx="1490472" cy="320040"/>
          </a:xfrm>
          <a:prstGeom prst="rect">
            <a:avLst/>
          </a:prstGeom>
          <a:noFill/>
        </p:spPr>
        <p:txBody>
          <a:bodyPr wrap="square">
            <a:spAutoFit/>
          </a:bodyPr>
          <a:lstStyle/>
          <a:p>
            <a:pPr algn="ctr"/>
            <a:r>
              <a:rPr sz="1100" b="1" i="0">
                <a:solidFill>
                  <a:srgbClr val="FFFFFF"/>
                </a:solidFill>
              </a:rPr>
              <a:t>9</a:t>
            </a:r>
          </a:p>
        </p:txBody>
      </p:sp>
      <p:sp>
        <p:nvSpPr>
          <p:cNvPr id="27" name="TextBox 26"/>
          <p:cNvSpPr txBox="1"/>
          <p:nvPr/>
        </p:nvSpPr>
        <p:spPr>
          <a:xfrm>
            <a:off x="1618488" y="6163056"/>
            <a:ext cx="1563624"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3182112" y="5623560"/>
            <a:ext cx="1042415"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18688" y="5715000"/>
            <a:ext cx="969263" cy="320040"/>
          </a:xfrm>
          <a:prstGeom prst="rect">
            <a:avLst/>
          </a:prstGeom>
          <a:noFill/>
        </p:spPr>
        <p:txBody>
          <a:bodyPr wrap="square">
            <a:spAutoFit/>
          </a:bodyPr>
          <a:lstStyle/>
          <a:p>
            <a:pPr algn="ctr"/>
            <a:r>
              <a:rPr sz="1100" b="1" i="0">
                <a:solidFill>
                  <a:srgbClr val="FFFFFF"/>
                </a:solidFill>
              </a:rPr>
              <a:t>6</a:t>
            </a:r>
          </a:p>
        </p:txBody>
      </p:sp>
      <p:sp>
        <p:nvSpPr>
          <p:cNvPr id="30" name="TextBox 29"/>
          <p:cNvSpPr txBox="1"/>
          <p:nvPr/>
        </p:nvSpPr>
        <p:spPr>
          <a:xfrm>
            <a:off x="3182112" y="6163056"/>
            <a:ext cx="1042415"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4224528" y="5623560"/>
            <a:ext cx="1216152"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61104" y="5715000"/>
            <a:ext cx="1143000" cy="320040"/>
          </a:xfrm>
          <a:prstGeom prst="rect">
            <a:avLst/>
          </a:prstGeom>
          <a:noFill/>
        </p:spPr>
        <p:txBody>
          <a:bodyPr wrap="square">
            <a:spAutoFit/>
          </a:bodyPr>
          <a:lstStyle/>
          <a:p>
            <a:pPr algn="ctr"/>
            <a:r>
              <a:rPr sz="1100" b="1" i="0">
                <a:solidFill>
                  <a:srgbClr val="FFFFFF"/>
                </a:solidFill>
              </a:rPr>
              <a:t>7</a:t>
            </a:r>
          </a:p>
        </p:txBody>
      </p:sp>
      <p:sp>
        <p:nvSpPr>
          <p:cNvPr id="33" name="TextBox 32"/>
          <p:cNvSpPr txBox="1"/>
          <p:nvPr/>
        </p:nvSpPr>
        <p:spPr>
          <a:xfrm>
            <a:off x="4224528" y="6163056"/>
            <a:ext cx="1216152"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5440680" y="5623560"/>
            <a:ext cx="2606040"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77256" y="5715000"/>
            <a:ext cx="2532888" cy="320040"/>
          </a:xfrm>
          <a:prstGeom prst="rect">
            <a:avLst/>
          </a:prstGeom>
          <a:noFill/>
        </p:spPr>
        <p:txBody>
          <a:bodyPr wrap="square">
            <a:spAutoFit/>
          </a:bodyPr>
          <a:lstStyle/>
          <a:p>
            <a:pPr algn="ctr"/>
            <a:r>
              <a:rPr sz="1100" b="1" i="0">
                <a:solidFill>
                  <a:srgbClr val="FFFFFF"/>
                </a:solidFill>
              </a:rPr>
              <a:t>15</a:t>
            </a:r>
          </a:p>
        </p:txBody>
      </p:sp>
      <p:sp>
        <p:nvSpPr>
          <p:cNvPr id="36" name="TextBox 35"/>
          <p:cNvSpPr txBox="1"/>
          <p:nvPr/>
        </p:nvSpPr>
        <p:spPr>
          <a:xfrm>
            <a:off x="5440680" y="6163056"/>
            <a:ext cx="2606040"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046720" y="5623560"/>
            <a:ext cx="868680"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3296" y="5715000"/>
            <a:ext cx="795528"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046720" y="6163056"/>
            <a:ext cx="868680"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99661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Choosing Well: Course Selection, Alternates, and the Art of Planning Ahead</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TRHS course registration guidance and college admissions research</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9 min</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Choosing Well: Course Selection, Alternates, and the Art of Planning Ahead  (p. 1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In December of your 8th grade year, you will submit your course registration for 9th
grade at Two Rivers. This registration is considered final. That phrase carries
significant weight: unlike middle school, where schedule changes are relatively common,
high school course selections are used to determine how many sections to run, how many
teachers to assign, and which rooms to book. Once those decisions are made, the system
cannot easily accommodate individual changes. This is not designed to punish students —
it is the reality of running a school of hundreds of students with limited resources.</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This is why the planning you are doing right now matters. Every course you select should
be deliberate. Can you articulate why you chose each course? Does your selection align
with your interests, your career direction, and your academic strengths? Have you
checked the prerequisites? Have you considered whether you are taking on too much in one
semester, or too little?</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Choosing Well: Course Selection, Alternates, and the Art of Planning Ahead  (p. 2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You are also required to identify alternate course selections — second choices for each
elective slot, in case your first choice is not available due to scheduling conflicts or
enrollment limits. Alternates are not an afterthought: they are legitimate choices,
treated equally with your primary selections. If you have not thought seriously about
your alternates, you may end up in a course by default that does not serve your goals.
Treat your alternates the way you treat your first choices — with intention.</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College admissions research offers a useful perspective on course selection: admissions
counselors at four-year universities consistently say they would rather see a student
who challenged themselves and earned a B than one who took easy courses and earned an A.
This does not mean you should overload yourself with AP courses in 9th grade — that
approach backfires more often than it succeeds. It means you should select courses at
the appropriate level of challenge for who you are right now, with room to grow over
four years.</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'Choosing Well: Course Selection, Alternates, and the Art of Planning Ahead'</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6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99661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Why is the 9th grade course registration considered final at Two Rivers? What is the reasoning
behind this policy?</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99661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What are 'alternate course selections' and why are they important? What is the risk of not
taking alternates seriously?</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99661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What do college admissions counselors say about taking challenging courses vs. easy courses?
What is the implication for your planning?</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99661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The reading says every course selection should be 'deliberate.' Evaluate your own draft
schedule from Lesson 4.2. Can you articulate why you chose each course? Revise or defend each
choice.</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99661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Write your finalized 9th grade course selection as if you were submitting it to a school
counselor. Include: course name, reason for choosing it, and one alternate for each elective.
Make it as specific and thoughtful as possible.</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5.3</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How to Choose High School Classes — Tips from a Counselor</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College Prep Academy  ·  approx. 7 min</a:t>
            </a:r>
          </a:p>
        </p:txBody>
      </p:sp>
      <p:sp>
        <p:nvSpPr>
          <p:cNvPr id="9" name="Rectangle 8"/>
          <p:cNvSpPr/>
          <p:nvPr/>
        </p:nvSpPr>
        <p:spPr>
          <a:xfrm>
            <a:off x="365760" y="2377440"/>
            <a:ext cx="8412480" cy="2743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99661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does the counselor say about alternates? Does it change how you're thinking about your choices?</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"AP vs. Regular Classes — What's the Difference?"  |  SupertutorTV</a:t>
            </a:r>
          </a:p>
        </p:txBody>
      </p:sp>
      <p:sp>
        <p:nvSpPr>
          <p:cNvPr id="16" name="Rectangle 15">
            <a:hlinkClick r:id="rId3"/>
          </p:cNvPr>
          <p:cNvSpPr/>
          <p:nvPr/>
        </p:nvSpPr>
        <p:spPr>
          <a:xfrm>
            <a:off x="2743200" y="4480560"/>
            <a:ext cx="3657600" cy="7498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Alternate"  —  Lesson 5.3</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448056"/>
          </a:xfrm>
          <a:prstGeom prst="rect">
            <a:avLst/>
          </a:prstGeom>
          <a:noFill/>
        </p:spPr>
        <p:txBody>
          <a:bodyPr wrap="square">
            <a:spAutoFit/>
          </a:bodyPr>
          <a:lstStyle/>
          <a:p>
            <a:pPr algn="l">
              <a:lnSpc>
                <a:spcPts val="1500"/>
              </a:lnSpc>
            </a:pPr>
            <a:r>
              <a:rPr sz="1000" b="0" i="0">
                <a:solidFill>
                  <a:srgbClr val="212121"/>
                </a:solidFill>
              </a:rPr>
              <a:t>The registration form had an alternate line for every elective. Jordan had not filled in any
of the alternate lines.</a:t>
            </a:r>
          </a:p>
        </p:txBody>
      </p:sp>
      <p:sp>
        <p:nvSpPr>
          <p:cNvPr id="7" name="TextBox 6"/>
          <p:cNvSpPr txBox="1"/>
          <p:nvPr/>
        </p:nvSpPr>
        <p:spPr>
          <a:xfrm>
            <a:off x="228600" y="1335024"/>
            <a:ext cx="8686800" cy="246888"/>
          </a:xfrm>
          <a:prstGeom prst="rect">
            <a:avLst/>
          </a:prstGeom>
          <a:noFill/>
        </p:spPr>
        <p:txBody>
          <a:bodyPr wrap="square">
            <a:spAutoFit/>
          </a:bodyPr>
          <a:lstStyle/>
          <a:p>
            <a:pPr algn="l">
              <a:lnSpc>
                <a:spcPts val="1500"/>
              </a:lnSpc>
            </a:pPr>
            <a:r>
              <a:rPr sz="1050" b="0" i="1">
                <a:solidFill>
                  <a:srgbClr val="1A1A6E"/>
                </a:solidFill>
              </a:rPr>
              <a:t>"What happens if you don't fill them in?" he asked Maya.</a:t>
            </a:r>
          </a:p>
        </p:txBody>
      </p:sp>
      <p:sp>
        <p:nvSpPr>
          <p:cNvPr id="8" name="TextBox 7"/>
          <p:cNvSpPr txBox="1"/>
          <p:nvPr/>
        </p:nvSpPr>
        <p:spPr>
          <a:xfrm>
            <a:off x="228600" y="1591056"/>
            <a:ext cx="8686800" cy="246888"/>
          </a:xfrm>
          <a:prstGeom prst="rect">
            <a:avLst/>
          </a:prstGeom>
          <a:noFill/>
        </p:spPr>
        <p:txBody>
          <a:bodyPr wrap="square">
            <a:spAutoFit/>
          </a:bodyPr>
          <a:lstStyle/>
          <a:p>
            <a:pPr algn="l">
              <a:lnSpc>
                <a:spcPts val="1500"/>
              </a:lnSpc>
            </a:pPr>
            <a:r>
              <a:rPr sz="1050" b="0" i="1">
                <a:solidFill>
                  <a:srgbClr val="1A1A6E"/>
                </a:solidFill>
              </a:rPr>
              <a:t>"They assign you something."</a:t>
            </a:r>
          </a:p>
        </p:txBody>
      </p:sp>
      <p:sp>
        <p:nvSpPr>
          <p:cNvPr id="9" name="TextBox 8"/>
          <p:cNvSpPr txBox="1"/>
          <p:nvPr/>
        </p:nvSpPr>
        <p:spPr>
          <a:xfrm>
            <a:off x="228600" y="1847088"/>
            <a:ext cx="8686800" cy="246888"/>
          </a:xfrm>
          <a:prstGeom prst="rect">
            <a:avLst/>
          </a:prstGeom>
          <a:noFill/>
        </p:spPr>
        <p:txBody>
          <a:bodyPr wrap="square">
            <a:spAutoFit/>
          </a:bodyPr>
          <a:lstStyle/>
          <a:p>
            <a:pPr algn="l">
              <a:lnSpc>
                <a:spcPts val="1500"/>
              </a:lnSpc>
            </a:pPr>
            <a:r>
              <a:rPr sz="1050" b="0" i="1">
                <a:solidFill>
                  <a:srgbClr val="1A1A6E"/>
                </a:solidFill>
              </a:rPr>
              <a:t>"Assign me what?"</a:t>
            </a:r>
          </a:p>
        </p:txBody>
      </p:sp>
      <p:sp>
        <p:nvSpPr>
          <p:cNvPr id="10" name="TextBox 9"/>
          <p:cNvSpPr txBox="1"/>
          <p:nvPr/>
        </p:nvSpPr>
        <p:spPr>
          <a:xfrm>
            <a:off x="228600" y="2103120"/>
            <a:ext cx="8686800" cy="246888"/>
          </a:xfrm>
          <a:prstGeom prst="rect">
            <a:avLst/>
          </a:prstGeom>
          <a:noFill/>
        </p:spPr>
        <p:txBody>
          <a:bodyPr wrap="square">
            <a:spAutoFit/>
          </a:bodyPr>
          <a:lstStyle/>
          <a:p>
            <a:pPr algn="l">
              <a:lnSpc>
                <a:spcPts val="1500"/>
              </a:lnSpc>
            </a:pPr>
            <a:r>
              <a:rPr sz="1050" b="0" i="1">
                <a:solidFill>
                  <a:srgbClr val="1A1A6E"/>
                </a:solidFill>
              </a:rPr>
              <a:t>"Whatever's open."</a:t>
            </a:r>
          </a:p>
        </p:txBody>
      </p:sp>
      <p:sp>
        <p:nvSpPr>
          <p:cNvPr id="11" name="TextBox 10"/>
          <p:cNvSpPr txBox="1"/>
          <p:nvPr/>
        </p:nvSpPr>
        <p:spPr>
          <a:xfrm>
            <a:off x="228600" y="2359152"/>
            <a:ext cx="8686800" cy="246888"/>
          </a:xfrm>
          <a:prstGeom prst="rect">
            <a:avLst/>
          </a:prstGeom>
          <a:noFill/>
        </p:spPr>
        <p:txBody>
          <a:bodyPr wrap="square">
            <a:spAutoFit/>
          </a:bodyPr>
          <a:lstStyle/>
          <a:p>
            <a:pPr algn="l">
              <a:lnSpc>
                <a:spcPts val="1500"/>
              </a:lnSpc>
            </a:pPr>
            <a:r>
              <a:rPr sz="1050" b="0" i="1">
                <a:solidFill>
                  <a:srgbClr val="1A1A6E"/>
                </a:solidFill>
              </a:rPr>
              <a:t>He looked at the blank lines. "So I could end up in something random."</a:t>
            </a:r>
          </a:p>
        </p:txBody>
      </p:sp>
      <p:sp>
        <p:nvSpPr>
          <p:cNvPr id="12" name="TextBox 11"/>
          <p:cNvSpPr txBox="1"/>
          <p:nvPr/>
        </p:nvSpPr>
        <p:spPr>
          <a:xfrm>
            <a:off x="228600" y="2615184"/>
            <a:ext cx="8686800" cy="246888"/>
          </a:xfrm>
          <a:prstGeom prst="rect">
            <a:avLst/>
          </a:prstGeom>
          <a:noFill/>
        </p:spPr>
        <p:txBody>
          <a:bodyPr wrap="square">
            <a:spAutoFit/>
          </a:bodyPr>
          <a:lstStyle/>
          <a:p>
            <a:pPr algn="l">
              <a:lnSpc>
                <a:spcPts val="1500"/>
              </a:lnSpc>
            </a:pPr>
            <a:r>
              <a:rPr sz="1050" b="0" i="1">
                <a:solidFill>
                  <a:srgbClr val="1A1A6E"/>
                </a:solidFill>
              </a:rPr>
              <a:t>"Yes."</a:t>
            </a:r>
          </a:p>
        </p:txBody>
      </p:sp>
      <p:sp>
        <p:nvSpPr>
          <p:cNvPr id="13" name="TextBox 12"/>
          <p:cNvSpPr txBox="1"/>
          <p:nvPr/>
        </p:nvSpPr>
        <p:spPr>
          <a:xfrm>
            <a:off x="228600" y="2871216"/>
            <a:ext cx="8686800" cy="246888"/>
          </a:xfrm>
          <a:prstGeom prst="rect">
            <a:avLst/>
          </a:prstGeom>
          <a:noFill/>
        </p:spPr>
        <p:txBody>
          <a:bodyPr wrap="square">
            <a:spAutoFit/>
          </a:bodyPr>
          <a:lstStyle/>
          <a:p>
            <a:pPr algn="l">
              <a:lnSpc>
                <a:spcPts val="1500"/>
              </a:lnSpc>
            </a:pPr>
            <a:r>
              <a:rPr sz="1050" b="0" i="1">
                <a:solidFill>
                  <a:srgbClr val="1A1A6E"/>
                </a:solidFill>
              </a:rPr>
              <a:t>"Why didn't anyone tell me that."</a:t>
            </a:r>
          </a:p>
        </p:txBody>
      </p:sp>
      <p:sp>
        <p:nvSpPr>
          <p:cNvPr id="14" name="TextBox 13"/>
          <p:cNvSpPr txBox="1"/>
          <p:nvPr/>
        </p:nvSpPr>
        <p:spPr>
          <a:xfrm>
            <a:off x="228600" y="3127248"/>
            <a:ext cx="8686800" cy="246888"/>
          </a:xfrm>
          <a:prstGeom prst="rect">
            <a:avLst/>
          </a:prstGeom>
          <a:noFill/>
        </p:spPr>
        <p:txBody>
          <a:bodyPr wrap="square">
            <a:spAutoFit/>
          </a:bodyPr>
          <a:lstStyle/>
          <a:p>
            <a:pPr algn="l">
              <a:lnSpc>
                <a:spcPts val="1500"/>
              </a:lnSpc>
            </a:pPr>
            <a:r>
              <a:rPr sz="1050" b="0" i="1">
                <a:solidFill>
                  <a:srgbClr val="1A1A6E"/>
                </a:solidFill>
              </a:rPr>
              <a:t>"It says it on the form."</a:t>
            </a:r>
          </a:p>
        </p:txBody>
      </p:sp>
      <p:sp>
        <p:nvSpPr>
          <p:cNvPr id="15" name="TextBox 14"/>
          <p:cNvSpPr txBox="1"/>
          <p:nvPr/>
        </p:nvSpPr>
        <p:spPr>
          <a:xfrm>
            <a:off x="228600" y="3383280"/>
            <a:ext cx="8686800" cy="246888"/>
          </a:xfrm>
          <a:prstGeom prst="rect">
            <a:avLst/>
          </a:prstGeom>
          <a:noFill/>
        </p:spPr>
        <p:txBody>
          <a:bodyPr wrap="square">
            <a:spAutoFit/>
          </a:bodyPr>
          <a:lstStyle/>
          <a:p>
            <a:pPr algn="l">
              <a:lnSpc>
                <a:spcPts val="1500"/>
              </a:lnSpc>
            </a:pPr>
            <a:r>
              <a:rPr sz="1000" b="0" i="0">
                <a:solidFill>
                  <a:srgbClr val="212121"/>
                </a:solidFill>
              </a:rPr>
              <a:t>He looked at the form. It did say it. He hadn't read the instructions.</a:t>
            </a:r>
          </a:p>
        </p:txBody>
      </p:sp>
      <p:sp>
        <p:nvSpPr>
          <p:cNvPr id="16" name="TextBox 15"/>
          <p:cNvSpPr txBox="1"/>
          <p:nvPr/>
        </p:nvSpPr>
        <p:spPr>
          <a:xfrm>
            <a:off x="228600" y="3639312"/>
            <a:ext cx="8686800" cy="649224"/>
          </a:xfrm>
          <a:prstGeom prst="rect">
            <a:avLst/>
          </a:prstGeom>
          <a:noFill/>
        </p:spPr>
        <p:txBody>
          <a:bodyPr wrap="square">
            <a:spAutoFit/>
          </a:bodyPr>
          <a:lstStyle/>
          <a:p>
            <a:pPr algn="l">
              <a:lnSpc>
                <a:spcPts val="1500"/>
              </a:lnSpc>
            </a:pPr>
            <a:r>
              <a:rPr sz="1000" b="0" i="0">
                <a:solidFill>
                  <a:srgbClr val="212121"/>
                </a:solidFill>
              </a:rPr>
              <a:t>Eli had filled in alternates but not thought hard about them. His alternate for Intro to
Technology was Study Hall. He'd written it because Study Hall wasn't a real choice — it was
just what you put when you didn't know.</a:t>
            </a:r>
          </a:p>
        </p:txBody>
      </p:sp>
      <p:sp>
        <p:nvSpPr>
          <p:cNvPr id="17" name="TextBox 16"/>
          <p:cNvSpPr txBox="1"/>
          <p:nvPr/>
        </p:nvSpPr>
        <p:spPr>
          <a:xfrm>
            <a:off x="228600" y="4297680"/>
            <a:ext cx="8686800" cy="246888"/>
          </a:xfrm>
          <a:prstGeom prst="rect">
            <a:avLst/>
          </a:prstGeom>
          <a:noFill/>
        </p:spPr>
        <p:txBody>
          <a:bodyPr wrap="square">
            <a:spAutoFit/>
          </a:bodyPr>
          <a:lstStyle/>
          <a:p>
            <a:pPr algn="l">
              <a:lnSpc>
                <a:spcPts val="1500"/>
              </a:lnSpc>
            </a:pPr>
            <a:r>
              <a:rPr sz="1050" b="0" i="1">
                <a:solidFill>
                  <a:srgbClr val="1A1A6E"/>
                </a:solidFill>
              </a:rPr>
              <a:t>"Is Study Hall an actual option?" he asked Maya.</a:t>
            </a:r>
          </a:p>
        </p:txBody>
      </p:sp>
      <p:sp>
        <p:nvSpPr>
          <p:cNvPr id="18" name="TextBox 17"/>
          <p:cNvSpPr txBox="1"/>
          <p:nvPr/>
        </p:nvSpPr>
        <p:spPr>
          <a:xfrm>
            <a:off x="228600" y="4553712"/>
            <a:ext cx="8686800" cy="246888"/>
          </a:xfrm>
          <a:prstGeom prst="rect">
            <a:avLst/>
          </a:prstGeom>
          <a:noFill/>
        </p:spPr>
        <p:txBody>
          <a:bodyPr wrap="square">
            <a:spAutoFit/>
          </a:bodyPr>
          <a:lstStyle/>
          <a:p>
            <a:pPr algn="l">
              <a:lnSpc>
                <a:spcPts val="1500"/>
              </a:lnSpc>
            </a:pPr>
            <a:r>
              <a:rPr sz="1050" b="0" i="1">
                <a:solidFill>
                  <a:srgbClr val="1A1A6E"/>
                </a:solidFill>
              </a:rPr>
              <a:t>"It's a choice. Not usually a good one."</a:t>
            </a:r>
          </a:p>
        </p:txBody>
      </p:sp>
      <p:sp>
        <p:nvSpPr>
          <p:cNvPr id="19" name="TextBox 18"/>
          <p:cNvSpPr txBox="1"/>
          <p:nvPr/>
        </p:nvSpPr>
        <p:spPr>
          <a:xfrm>
            <a:off x="228600" y="4809744"/>
            <a:ext cx="8686800" cy="246888"/>
          </a:xfrm>
          <a:prstGeom prst="rect">
            <a:avLst/>
          </a:prstGeom>
          <a:noFill/>
        </p:spPr>
        <p:txBody>
          <a:bodyPr wrap="square">
            <a:spAutoFit/>
          </a:bodyPr>
          <a:lstStyle/>
          <a:p>
            <a:pPr algn="l">
              <a:lnSpc>
                <a:spcPts val="1500"/>
              </a:lnSpc>
            </a:pPr>
            <a:r>
              <a:rPr sz="1050" b="0" i="1">
                <a:solidFill>
                  <a:srgbClr val="1A1A6E"/>
                </a:solidFill>
              </a:rPr>
              <a:t>"Why not?"</a:t>
            </a:r>
          </a:p>
        </p:txBody>
      </p:sp>
      <p:sp>
        <p:nvSpPr>
          <p:cNvPr id="20" name="TextBox 19"/>
          <p:cNvSpPr txBox="1"/>
          <p:nvPr/>
        </p:nvSpPr>
        <p:spPr>
          <a:xfrm>
            <a:off x="228600" y="5065776"/>
            <a:ext cx="8686800" cy="448056"/>
          </a:xfrm>
          <a:prstGeom prst="rect">
            <a:avLst/>
          </a:prstGeom>
          <a:noFill/>
        </p:spPr>
        <p:txBody>
          <a:bodyPr wrap="square">
            <a:spAutoFit/>
          </a:bodyPr>
          <a:lstStyle/>
          <a:p>
            <a:pPr algn="l">
              <a:lnSpc>
                <a:spcPts val="1500"/>
              </a:lnSpc>
            </a:pPr>
            <a:r>
              <a:rPr sz="1050" b="0" i="1">
                <a:solidFill>
                  <a:srgbClr val="1A1A6E"/>
                </a:solidFill>
              </a:rPr>
              <a:t>"Because if you end up in it, it means you got placed out of what you actually wanted, and now
you have an open period with no structure."</a:t>
            </a:r>
          </a:p>
        </p:txBody>
      </p:sp>
      <p:sp>
        <p:nvSpPr>
          <p:cNvPr id="21" name="TextBox 20"/>
          <p:cNvSpPr txBox="1"/>
          <p:nvPr/>
        </p:nvSpPr>
        <p:spPr>
          <a:xfrm>
            <a:off x="228600" y="5522976"/>
            <a:ext cx="8686800" cy="246888"/>
          </a:xfrm>
          <a:prstGeom prst="rect">
            <a:avLst/>
          </a:prstGeom>
          <a:noFill/>
        </p:spPr>
        <p:txBody>
          <a:bodyPr wrap="square">
            <a:spAutoFit/>
          </a:bodyPr>
          <a:lstStyle/>
          <a:p>
            <a:pPr algn="l">
              <a:lnSpc>
                <a:spcPts val="1500"/>
              </a:lnSpc>
            </a:pPr>
            <a:r>
              <a:rPr sz="1000" b="0" i="0">
                <a:solidFill>
                  <a:srgbClr val="212121"/>
                </a:solidFill>
              </a:rPr>
              <a:t>Eli erased it. He thought about what he actually wanted as a backup.</a:t>
            </a:r>
          </a:p>
        </p:txBody>
      </p:sp>
      <p:sp>
        <p:nvSpPr>
          <p:cNvPr id="22" name="TextBox 21"/>
          <p:cNvSpPr txBox="1"/>
          <p:nvPr/>
        </p:nvSpPr>
        <p:spPr>
          <a:xfrm>
            <a:off x="228600" y="5779008"/>
            <a:ext cx="8686800" cy="448056"/>
          </a:xfrm>
          <a:prstGeom prst="rect">
            <a:avLst/>
          </a:prstGeom>
          <a:noFill/>
        </p:spPr>
        <p:txBody>
          <a:bodyPr wrap="square">
            <a:spAutoFit/>
          </a:bodyPr>
          <a:lstStyle/>
          <a:p>
            <a:pPr algn="l">
              <a:lnSpc>
                <a:spcPts val="1500"/>
              </a:lnSpc>
            </a:pPr>
            <a:r>
              <a:rPr sz="1050" b="0" i="1">
                <a:solidFill>
                  <a:srgbClr val="1A1A6E"/>
                </a:solidFill>
              </a:rPr>
              <a:t>"If I can't get into Transportation CAPS," he said slowly, "I'd want the Intro to Engineering
class. That's still in the same direction."</a:t>
            </a:r>
          </a:p>
        </p:txBody>
      </p:sp>
      <p:sp>
        <p:nvSpPr>
          <p:cNvPr id="23" name="TextBox 22"/>
          <p:cNvSpPr txBox="1"/>
          <p:nvPr/>
        </p:nvSpPr>
        <p:spPr>
          <a:xfrm>
            <a:off x="228600" y="6236208"/>
            <a:ext cx="8686800" cy="246888"/>
          </a:xfrm>
          <a:prstGeom prst="rect">
            <a:avLst/>
          </a:prstGeom>
          <a:noFill/>
        </p:spPr>
        <p:txBody>
          <a:bodyPr wrap="square">
            <a:spAutoFit/>
          </a:bodyPr>
          <a:lstStyle/>
          <a:p>
            <a:pPr algn="l">
              <a:lnSpc>
                <a:spcPts val="1500"/>
              </a:lnSpc>
            </a:pPr>
            <a:r>
              <a:rPr sz="1050" b="0" i="1">
                <a:solidFill>
                  <a:srgbClr val="1A1A6E"/>
                </a:solidFill>
              </a:rPr>
              <a:t>"Write that," Maya said.</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Alternate"</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Jordan didn't read the instructions on the form and might end up with a random placement. How
does this connect to what we've learned about planning ahead versus reacting?</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Eli puts 'Study Hall' as an alternate because it's easy to write. What's wrong with that as a
planning strategy?</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Why is it important that Eli's alternate (Intro to Engineering) is 'still in the same
direction'? What does that suggest about how to choose an alternate?</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If your first-choice elective is unavailable, what would your real alternate be — and why?
Does it still connect to something you care about?</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Your Schedule is Your Foundation</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The courses you take in 9th grade are the foundation of your high school transcript.
They determine which courses you can take in 10th grade (because of prerequisites), how
your GPA starts, and how your interests develop. At TRHS, all registrations are
considered final after submission — so it is critical to think carefully about your
choices now. You must also identify alternate courses in case your first choice is
unavailable. This is not a punishment — it's smart planning.</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If you had to submit your course registration TODAY, what would you put down? How confident do you feel?</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Finalize &amp; Justify Your Schedule</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Complete the final schedule below. For each course choice, write ONE sentence explaining
why you chose it. Then identify an alternate for each elective slot.</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99661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Alternates are not an afterthought — treat them with the same intentionality as your first choices.</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Finalize Your Schedule  —  Lesson 5.3</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15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Write your final choices and a one-sentence rationale for each. Identify one alternate for every elective. Make each choice deliberate.</a:t>
            </a:r>
          </a:p>
        </p:txBody>
      </p:sp>
      <p:sp>
        <p:nvSpPr>
          <p:cNvPr id="7" name="Rectangle 6"/>
          <p:cNvSpPr/>
          <p:nvPr/>
        </p:nvSpPr>
        <p:spPr>
          <a:xfrm>
            <a:off x="182880" y="1783080"/>
            <a:ext cx="8778240" cy="34747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828800"/>
            <a:ext cx="640080" cy="256032"/>
          </a:xfrm>
          <a:prstGeom prst="rect">
            <a:avLst/>
          </a:prstGeom>
          <a:noFill/>
        </p:spPr>
        <p:txBody>
          <a:bodyPr wrap="square">
            <a:spAutoFit/>
          </a:bodyPr>
          <a:lstStyle/>
          <a:p>
            <a:pPr algn="l"/>
            <a:r>
              <a:rPr sz="1000" b="1" i="0">
                <a:solidFill>
                  <a:srgbClr val="FFFFFF"/>
                </a:solidFill>
              </a:rPr>
              <a:t>Period</a:t>
            </a:r>
          </a:p>
        </p:txBody>
      </p:sp>
      <p:sp>
        <p:nvSpPr>
          <p:cNvPr id="9" name="TextBox 8"/>
          <p:cNvSpPr txBox="1"/>
          <p:nvPr/>
        </p:nvSpPr>
        <p:spPr>
          <a:xfrm>
            <a:off x="960119" y="1828800"/>
            <a:ext cx="1737360" cy="256032"/>
          </a:xfrm>
          <a:prstGeom prst="rect">
            <a:avLst/>
          </a:prstGeom>
          <a:noFill/>
        </p:spPr>
        <p:txBody>
          <a:bodyPr wrap="square">
            <a:spAutoFit/>
          </a:bodyPr>
          <a:lstStyle/>
          <a:p>
            <a:pPr algn="l"/>
            <a:r>
              <a:rPr sz="1000" b="1" i="0">
                <a:solidFill>
                  <a:srgbClr val="FFFFFF"/>
                </a:solidFill>
              </a:rPr>
              <a:t>Course Choice</a:t>
            </a:r>
          </a:p>
        </p:txBody>
      </p:sp>
      <p:sp>
        <p:nvSpPr>
          <p:cNvPr id="10" name="TextBox 9"/>
          <p:cNvSpPr txBox="1"/>
          <p:nvPr/>
        </p:nvSpPr>
        <p:spPr>
          <a:xfrm>
            <a:off x="2788920" y="1828800"/>
            <a:ext cx="3200400" cy="256032"/>
          </a:xfrm>
          <a:prstGeom prst="rect">
            <a:avLst/>
          </a:prstGeom>
          <a:noFill/>
        </p:spPr>
        <p:txBody>
          <a:bodyPr wrap="square">
            <a:spAutoFit/>
          </a:bodyPr>
          <a:lstStyle/>
          <a:p>
            <a:pPr algn="l"/>
            <a:r>
              <a:rPr sz="1000" b="1" i="0">
                <a:solidFill>
                  <a:srgbClr val="FFFFFF"/>
                </a:solidFill>
              </a:rPr>
              <a:t>Why I chose it</a:t>
            </a:r>
          </a:p>
        </p:txBody>
      </p:sp>
      <p:sp>
        <p:nvSpPr>
          <p:cNvPr id="11" name="TextBox 10"/>
          <p:cNvSpPr txBox="1"/>
          <p:nvPr/>
        </p:nvSpPr>
        <p:spPr>
          <a:xfrm>
            <a:off x="6080760" y="1828800"/>
            <a:ext cx="2103120" cy="256032"/>
          </a:xfrm>
          <a:prstGeom prst="rect">
            <a:avLst/>
          </a:prstGeom>
          <a:noFill/>
        </p:spPr>
        <p:txBody>
          <a:bodyPr wrap="square">
            <a:spAutoFit/>
          </a:bodyPr>
          <a:lstStyle/>
          <a:p>
            <a:pPr algn="l"/>
            <a:r>
              <a:rPr sz="1000" b="1" i="0">
                <a:solidFill>
                  <a:srgbClr val="FFFFFF"/>
                </a:solidFill>
              </a:rPr>
              <a:t>Alternate</a:t>
            </a:r>
          </a:p>
        </p:txBody>
      </p:sp>
      <p:sp>
        <p:nvSpPr>
          <p:cNvPr id="12" name="Rectangle 11"/>
          <p:cNvSpPr/>
          <p:nvPr/>
        </p:nvSpPr>
        <p:spPr>
          <a:xfrm>
            <a:off x="182880" y="2167128"/>
            <a:ext cx="877824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167128"/>
            <a:ext cx="640080" cy="51206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2258568"/>
            <a:ext cx="530352" cy="329184"/>
          </a:xfrm>
          <a:prstGeom prst="rect">
            <a:avLst/>
          </a:prstGeom>
          <a:noFill/>
        </p:spPr>
        <p:txBody>
          <a:bodyPr wrap="square">
            <a:spAutoFit/>
          </a:bodyPr>
          <a:lstStyle/>
          <a:p>
            <a:pPr algn="ctr"/>
            <a:r>
              <a:rPr sz="1100" b="1" i="0">
                <a:solidFill>
                  <a:srgbClr val="212121"/>
                </a:solidFill>
              </a:rPr>
              <a:t>P1</a:t>
            </a:r>
          </a:p>
        </p:txBody>
      </p:sp>
      <p:sp>
        <p:nvSpPr>
          <p:cNvPr id="15" name="Rectangle 14"/>
          <p:cNvSpPr/>
          <p:nvPr/>
        </p:nvSpPr>
        <p:spPr>
          <a:xfrm>
            <a:off x="182880" y="2697480"/>
            <a:ext cx="8778240" cy="512064"/>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697480"/>
            <a:ext cx="640080" cy="51206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2788920"/>
            <a:ext cx="530352" cy="329184"/>
          </a:xfrm>
          <a:prstGeom prst="rect">
            <a:avLst/>
          </a:prstGeom>
          <a:noFill/>
        </p:spPr>
        <p:txBody>
          <a:bodyPr wrap="square">
            <a:spAutoFit/>
          </a:bodyPr>
          <a:lstStyle/>
          <a:p>
            <a:pPr algn="ctr"/>
            <a:r>
              <a:rPr sz="1100" b="1" i="0">
                <a:solidFill>
                  <a:srgbClr val="212121"/>
                </a:solidFill>
              </a:rPr>
              <a:t>P2</a:t>
            </a:r>
          </a:p>
        </p:txBody>
      </p:sp>
      <p:sp>
        <p:nvSpPr>
          <p:cNvPr id="18" name="Rectangle 17"/>
          <p:cNvSpPr/>
          <p:nvPr/>
        </p:nvSpPr>
        <p:spPr>
          <a:xfrm>
            <a:off x="182880" y="3227832"/>
            <a:ext cx="877824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2880" y="3227832"/>
            <a:ext cx="640080" cy="51206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3319272"/>
            <a:ext cx="530352" cy="329184"/>
          </a:xfrm>
          <a:prstGeom prst="rect">
            <a:avLst/>
          </a:prstGeom>
          <a:noFill/>
        </p:spPr>
        <p:txBody>
          <a:bodyPr wrap="square">
            <a:spAutoFit/>
          </a:bodyPr>
          <a:lstStyle/>
          <a:p>
            <a:pPr algn="ctr"/>
            <a:r>
              <a:rPr sz="1100" b="1" i="0">
                <a:solidFill>
                  <a:srgbClr val="212121"/>
                </a:solidFill>
              </a:rPr>
              <a:t>P3</a:t>
            </a:r>
          </a:p>
        </p:txBody>
      </p:sp>
      <p:sp>
        <p:nvSpPr>
          <p:cNvPr id="21" name="Rectangle 20"/>
          <p:cNvSpPr/>
          <p:nvPr/>
        </p:nvSpPr>
        <p:spPr>
          <a:xfrm>
            <a:off x="182880" y="3758184"/>
            <a:ext cx="8778240" cy="512064"/>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 y="3758184"/>
            <a:ext cx="640080" cy="51206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8600" y="3849624"/>
            <a:ext cx="530352" cy="329184"/>
          </a:xfrm>
          <a:prstGeom prst="rect">
            <a:avLst/>
          </a:prstGeom>
          <a:noFill/>
        </p:spPr>
        <p:txBody>
          <a:bodyPr wrap="square">
            <a:spAutoFit/>
          </a:bodyPr>
          <a:lstStyle/>
          <a:p>
            <a:pPr algn="ctr"/>
            <a:r>
              <a:rPr sz="1100" b="1" i="0">
                <a:solidFill>
                  <a:srgbClr val="212121"/>
                </a:solidFill>
              </a:rPr>
              <a:t>P4</a:t>
            </a:r>
          </a:p>
        </p:txBody>
      </p:sp>
      <p:sp>
        <p:nvSpPr>
          <p:cNvPr id="24" name="Rectangle 23"/>
          <p:cNvSpPr/>
          <p:nvPr/>
        </p:nvSpPr>
        <p:spPr>
          <a:xfrm>
            <a:off x="182880" y="4288536"/>
            <a:ext cx="877824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 y="4288536"/>
            <a:ext cx="640080" cy="51206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600" y="4379976"/>
            <a:ext cx="530352" cy="329184"/>
          </a:xfrm>
          <a:prstGeom prst="rect">
            <a:avLst/>
          </a:prstGeom>
          <a:noFill/>
        </p:spPr>
        <p:txBody>
          <a:bodyPr wrap="square">
            <a:spAutoFit/>
          </a:bodyPr>
          <a:lstStyle/>
          <a:p>
            <a:pPr algn="ctr"/>
            <a:r>
              <a:rPr sz="1100" b="1" i="0">
                <a:solidFill>
                  <a:srgbClr val="212121"/>
                </a:solidFill>
              </a:rPr>
              <a:t>P5</a:t>
            </a:r>
          </a:p>
        </p:txBody>
      </p:sp>
      <p:sp>
        <p:nvSpPr>
          <p:cNvPr id="27" name="Rectangle 26"/>
          <p:cNvSpPr/>
          <p:nvPr/>
        </p:nvSpPr>
        <p:spPr>
          <a:xfrm>
            <a:off x="182880" y="4818888"/>
            <a:ext cx="8778240" cy="512064"/>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 y="4818888"/>
            <a:ext cx="640080" cy="51206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 y="4910328"/>
            <a:ext cx="530352" cy="329184"/>
          </a:xfrm>
          <a:prstGeom prst="rect">
            <a:avLst/>
          </a:prstGeom>
          <a:noFill/>
        </p:spPr>
        <p:txBody>
          <a:bodyPr wrap="square">
            <a:spAutoFit/>
          </a:bodyPr>
          <a:lstStyle/>
          <a:p>
            <a:pPr algn="ctr"/>
            <a:r>
              <a:rPr sz="1100" b="1" i="0">
                <a:solidFill>
                  <a:srgbClr val="212121"/>
                </a:solidFill>
              </a:rPr>
              <a:t>P6</a:t>
            </a:r>
          </a:p>
        </p:txBody>
      </p:sp>
      <p:sp>
        <p:nvSpPr>
          <p:cNvPr id="30" name="Rectangle 29"/>
          <p:cNvSpPr/>
          <p:nvPr/>
        </p:nvSpPr>
        <p:spPr>
          <a:xfrm>
            <a:off x="182880" y="5349240"/>
            <a:ext cx="877824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2880" y="5349240"/>
            <a:ext cx="640080" cy="51206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 y="5440680"/>
            <a:ext cx="530352" cy="329184"/>
          </a:xfrm>
          <a:prstGeom prst="rect">
            <a:avLst/>
          </a:prstGeom>
          <a:noFill/>
        </p:spPr>
        <p:txBody>
          <a:bodyPr wrap="square">
            <a:spAutoFit/>
          </a:bodyPr>
          <a:lstStyle/>
          <a:p>
            <a:pPr algn="ctr"/>
            <a:r>
              <a:rPr sz="1100" b="1" i="0">
                <a:solidFill>
                  <a:srgbClr val="212121"/>
                </a:solidFill>
              </a:rPr>
              <a:t>P7</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5.3: Finalizing My Fall Schedule</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3-2-1 Reflection</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60704"/>
            <a:ext cx="8412480" cy="384048"/>
          </a:xfrm>
          <a:prstGeom prst="rect">
            <a:avLst/>
          </a:prstGeom>
          <a:noFill/>
        </p:spPr>
        <p:txBody>
          <a:bodyPr wrap="square">
            <a:spAutoFit/>
          </a:bodyPr>
          <a:lstStyle/>
          <a:p>
            <a:pPr algn="l"/>
            <a:r>
              <a:rPr sz="1100" b="0" i="1">
                <a:solidFill>
                  <a:srgbClr val="212121"/>
                </a:solidFill>
              </a:rPr>
              <a:t>3 courses I am taking in 9th grade and why I chose each:</a:t>
            </a:r>
          </a:p>
        </p:txBody>
      </p:sp>
      <p:sp>
        <p:nvSpPr>
          <p:cNvPr id="9" name="Rectangle 8"/>
          <p:cNvSpPr/>
          <p:nvPr/>
        </p:nvSpPr>
        <p:spPr>
          <a:xfrm>
            <a:off x="228600" y="155448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609344"/>
            <a:ext cx="8412480" cy="384048"/>
          </a:xfrm>
          <a:prstGeom prst="rect">
            <a:avLst/>
          </a:prstGeom>
          <a:noFill/>
        </p:spPr>
        <p:txBody>
          <a:bodyPr wrap="square">
            <a:spAutoFit/>
          </a:bodyPr>
          <a:lstStyle/>
          <a:p>
            <a:pPr algn="l"/>
            <a:r>
              <a:rPr sz="1100" b="0" i="1">
                <a:solidFill>
                  <a:srgbClr val="212121"/>
                </a:solidFill>
              </a:rPr>
              <a:t>2 things I am doing to prepare for my most challenging course:</a:t>
            </a:r>
          </a:p>
        </p:txBody>
      </p:sp>
      <p:sp>
        <p:nvSpPr>
          <p:cNvPr id="11" name="Rectangle 10"/>
          <p:cNvSpPr/>
          <p:nvPr/>
        </p:nvSpPr>
        <p:spPr>
          <a:xfrm>
            <a:off x="228600" y="2103120"/>
            <a:ext cx="8686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157984"/>
            <a:ext cx="8412480" cy="384048"/>
          </a:xfrm>
          <a:prstGeom prst="rect">
            <a:avLst/>
          </a:prstGeom>
          <a:noFill/>
        </p:spPr>
        <p:txBody>
          <a:bodyPr wrap="square">
            <a:spAutoFit/>
          </a:bodyPr>
          <a:lstStyle/>
          <a:p>
            <a:pPr algn="l"/>
            <a:r>
              <a:rPr sz="1100" b="0" i="1">
                <a:solidFill>
                  <a:srgbClr val="212121"/>
                </a:solidFill>
              </a:rPr>
              <a:t>1 alternate course I identified and why:</a:t>
            </a:r>
          </a:p>
        </p:txBody>
      </p:sp>
      <p:sp>
        <p:nvSpPr>
          <p:cNvPr id="13" name="Rectangle 12"/>
          <p:cNvSpPr/>
          <p:nvPr/>
        </p:nvSpPr>
        <p:spPr>
          <a:xfrm>
            <a:off x="228600" y="27432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31546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9144000" cy="658368"/>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4114800" cy="475488"/>
          </a:xfrm>
          <a:prstGeom prst="rect">
            <a:avLst/>
          </a:prstGeom>
          <a:noFill/>
        </p:spPr>
        <p:txBody>
          <a:bodyPr wrap="square">
            <a:spAutoFit/>
          </a:bodyPr>
          <a:lstStyle/>
          <a:p>
            <a:pPr algn="l"/>
            <a:r>
              <a:rPr sz="2000" b="1" i="0">
                <a:solidFill>
                  <a:srgbClr val="FFFFFF"/>
                </a:solidFill>
              </a:rPr>
              <a:t>🔔  BELL RINGER</a:t>
            </a:r>
          </a:p>
        </p:txBody>
      </p:sp>
      <p:sp>
        <p:nvSpPr>
          <p:cNvPr id="6" name="TextBox 5"/>
          <p:cNvSpPr txBox="1"/>
          <p:nvPr/>
        </p:nvSpPr>
        <p:spPr>
          <a:xfrm>
            <a:off x="5029200" y="228600"/>
            <a:ext cx="3931920" cy="347472"/>
          </a:xfrm>
          <a:prstGeom prst="rect">
            <a:avLst/>
          </a:prstGeom>
          <a:noFill/>
        </p:spPr>
        <p:txBody>
          <a:bodyPr wrap="square">
            <a:spAutoFit/>
          </a:bodyPr>
          <a:lstStyle/>
          <a:p>
            <a:pPr algn="r"/>
            <a:r>
              <a:rPr sz="1300" b="0" i="0">
                <a:solidFill>
                  <a:srgbClr val="F5E0B2"/>
                </a:solidFill>
              </a:rPr>
              <a:t>Lesson 5.4  ·  5 minutes</a:t>
            </a:r>
          </a:p>
        </p:txBody>
      </p:sp>
      <p:sp>
        <p:nvSpPr>
          <p:cNvPr id="7" name="Rectangle 6"/>
          <p:cNvSpPr/>
          <p:nvPr/>
        </p:nvSpPr>
        <p:spPr>
          <a:xfrm>
            <a:off x="228600" y="868680"/>
            <a:ext cx="1463040" cy="329184"/>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905256"/>
            <a:ext cx="1371600" cy="256032"/>
          </a:xfrm>
          <a:prstGeom prst="rect">
            <a:avLst/>
          </a:prstGeom>
          <a:noFill/>
        </p:spPr>
        <p:txBody>
          <a:bodyPr wrap="square">
            <a:spAutoFit/>
          </a:bodyPr>
          <a:lstStyle/>
          <a:p>
            <a:pPr algn="ctr"/>
            <a:r>
              <a:rPr sz="1000" b="1" i="0">
                <a:solidFill>
                  <a:srgbClr val="FFFFFF"/>
                </a:solidFill>
              </a:rPr>
              <a:t>REVIEW</a:t>
            </a:r>
          </a:p>
        </p:txBody>
      </p:sp>
      <p:sp>
        <p:nvSpPr>
          <p:cNvPr id="9" name="TextBox 8"/>
          <p:cNvSpPr txBox="1"/>
          <p:nvPr/>
        </p:nvSpPr>
        <p:spPr>
          <a:xfrm>
            <a:off x="1828800" y="868680"/>
            <a:ext cx="7132320" cy="402336"/>
          </a:xfrm>
          <a:prstGeom prst="rect">
            <a:avLst/>
          </a:prstGeom>
          <a:noFill/>
        </p:spPr>
        <p:txBody>
          <a:bodyPr wrap="square">
            <a:spAutoFit/>
          </a:bodyPr>
          <a:lstStyle/>
          <a:p>
            <a:pPr algn="l"/>
            <a:r>
              <a:rPr sz="1700" b="1" i="0">
                <a:solidFill>
                  <a:srgbClr val="F5E0B2"/>
                </a:solidFill>
              </a:rPr>
              <a:t>What I Still Want to Know</a:t>
            </a:r>
          </a:p>
        </p:txBody>
      </p:sp>
      <p:sp>
        <p:nvSpPr>
          <p:cNvPr id="10" name="Rectangle 9"/>
          <p:cNvSpPr/>
          <p:nvPr/>
        </p:nvSpPr>
        <p:spPr>
          <a:xfrm>
            <a:off x="228600" y="1353312"/>
            <a:ext cx="8686800" cy="347472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353312"/>
            <a:ext cx="73152" cy="34747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8321040" cy="3246120"/>
          </a:xfrm>
          <a:prstGeom prst="rect">
            <a:avLst/>
          </a:prstGeom>
          <a:noFill/>
        </p:spPr>
        <p:txBody>
          <a:bodyPr wrap="square">
            <a:spAutoFit/>
          </a:bodyPr>
          <a:lstStyle/>
          <a:p>
            <a:pPr algn="l">
              <a:lnSpc>
                <a:spcPts val="2000"/>
              </a:lnSpc>
            </a:pPr>
            <a:r>
              <a:rPr sz="1400" b="0" i="0">
                <a:solidFill>
                  <a:srgbClr val="FFFFFF"/>
                </a:solidFill>
              </a:rPr>
              <a:t>Think about everything we've covered in Warrior Prep this semester.
Write the ONE question about high school that you still haven't gotten a clear answer to. Make it specific and story-inviting — not a yes/no question:
My panel question:
______________________________________________________
______________________________________________________</a:t>
            </a:r>
          </a:p>
        </p:txBody>
      </p:sp>
      <p:sp>
        <p:nvSpPr>
          <p:cNvPr id="13" name="Rectangle 12"/>
          <p:cNvSpPr/>
          <p:nvPr/>
        </p:nvSpPr>
        <p:spPr>
          <a:xfrm>
            <a:off x="228600" y="4919472"/>
            <a:ext cx="8686800" cy="47548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974336"/>
            <a:ext cx="8412480" cy="365760"/>
          </a:xfrm>
          <a:prstGeom prst="rect">
            <a:avLst/>
          </a:prstGeom>
          <a:noFill/>
        </p:spPr>
        <p:txBody>
          <a:bodyPr wrap="square">
            <a:spAutoFit/>
          </a:bodyPr>
          <a:lstStyle/>
          <a:p>
            <a:pPr algn="l"/>
            <a:r>
              <a:rPr sz="1100" b="1" i="0">
                <a:solidFill>
                  <a:srgbClr val="FFFFFF"/>
                </a:solidFill>
              </a:rPr>
              <a:t>Share: Each student reads their question — class thumbs up if it's one they also want answered</a:t>
            </a:r>
          </a:p>
        </p:txBody>
      </p:sp>
      <p:sp>
        <p:nvSpPr>
          <p:cNvPr id="15" name="Rectangle 14"/>
          <p:cNvSpPr/>
          <p:nvPr/>
        </p:nvSpPr>
        <p:spPr>
          <a:xfrm>
            <a:off x="7680960" y="557784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5824" y="5614416"/>
            <a:ext cx="1115568" cy="292608"/>
          </a:xfrm>
          <a:prstGeom prst="rect">
            <a:avLst/>
          </a:prstGeom>
          <a:noFill/>
        </p:spPr>
        <p:txBody>
          <a:bodyPr wrap="square">
            <a:spAutoFit/>
          </a:bodyPr>
          <a:lstStyle/>
          <a:p>
            <a:pPr algn="ctr"/>
            <a:r>
              <a:rPr sz="1200" b="1" i="0">
                <a:solidFill>
                  <a:srgbClr val="FFFFFF"/>
                </a:solidFill>
              </a:rPr>
              <a:t>⏱ 5 min</a:t>
            </a:r>
          </a:p>
        </p:txBody>
      </p:sp>
      <p:sp>
        <p:nvSpPr>
          <p:cNvPr id="17" name="Rectangle 16"/>
          <p:cNvSpPr/>
          <p:nvPr/>
        </p:nvSpPr>
        <p:spPr>
          <a:xfrm>
            <a:off x="228600" y="5532120"/>
            <a:ext cx="7269480" cy="411480"/>
          </a:xfrm>
          <a:prstGeom prst="rect">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5577840"/>
            <a:ext cx="7040880" cy="320040"/>
          </a:xfrm>
          <a:prstGeom prst="rect">
            <a:avLst/>
          </a:prstGeom>
          <a:noFill/>
        </p:spPr>
        <p:txBody>
          <a:bodyPr wrap="square">
            <a:spAutoFit/>
          </a:bodyPr>
          <a:lstStyle/>
          <a:p>
            <a:pPr algn="l"/>
            <a:r>
              <a:rPr sz="1000" b="0" i="1">
                <a:solidFill>
                  <a:srgbClr val="F5E0B2"/>
                </a:solidFill>
              </a:rPr>
              <a:t>📓  Write your response in your workbook before we share out.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8778240" cy="347472"/>
          </a:xfrm>
          <a:prstGeom prst="rect">
            <a:avLst/>
          </a:prstGeom>
          <a:noFill/>
        </p:spPr>
        <p:txBody>
          <a:bodyPr wrap="square">
            <a:spAutoFit/>
          </a:bodyPr>
          <a:lstStyle/>
          <a:p>
            <a:pPr algn="l"/>
            <a:r>
              <a:rPr sz="1200" b="0" i="0">
                <a:solidFill>
                  <a:srgbClr val="F5E0B2"/>
                </a:solidFill>
              </a:rPr>
              <a:t>Lesson 5.4  |  Unit 5: Transition to High School</a:t>
            </a:r>
          </a:p>
        </p:txBody>
      </p:sp>
      <p:sp>
        <p:nvSpPr>
          <p:cNvPr id="5" name="TextBox 4"/>
          <p:cNvSpPr txBox="1"/>
          <p:nvPr/>
        </p:nvSpPr>
        <p:spPr>
          <a:xfrm>
            <a:off x="228600" y="402336"/>
            <a:ext cx="8686800" cy="530352"/>
          </a:xfrm>
          <a:prstGeom prst="rect">
            <a:avLst/>
          </a:prstGeom>
          <a:noFill/>
        </p:spPr>
        <p:txBody>
          <a:bodyPr wrap="square">
            <a:spAutoFit/>
          </a:bodyPr>
          <a:lstStyle/>
          <a:p>
            <a:pPr algn="l"/>
            <a:r>
              <a:rPr sz="2400" b="1" i="0">
                <a:solidFill>
                  <a:srgbClr val="FFFFFF"/>
                </a:solidFill>
              </a:rPr>
              <a:t>TRHS Student Panel</a:t>
            </a:r>
          </a:p>
        </p:txBody>
      </p:sp>
      <p:sp>
        <p:nvSpPr>
          <p:cNvPr id="6" name="Rectangle 5"/>
          <p:cNvSpPr/>
          <p:nvPr/>
        </p:nvSpPr>
        <p:spPr>
          <a:xfrm>
            <a:off x="182880" y="1024128"/>
            <a:ext cx="8778240" cy="329184"/>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60704"/>
            <a:ext cx="8503920" cy="256031"/>
          </a:xfrm>
          <a:prstGeom prst="rect">
            <a:avLst/>
          </a:prstGeom>
          <a:noFill/>
        </p:spPr>
        <p:txBody>
          <a:bodyPr wrap="square">
            <a:spAutoFit/>
          </a:bodyPr>
          <a:lstStyle/>
          <a:p>
            <a:pPr algn="l"/>
            <a:r>
              <a:rPr sz="1200" b="1" i="0">
                <a:solidFill>
                  <a:srgbClr val="FFFFFF"/>
                </a:solidFill>
              </a:rPr>
              <a:t>Learning Objectives</a:t>
            </a:r>
          </a:p>
        </p:txBody>
      </p:sp>
      <p:sp>
        <p:nvSpPr>
          <p:cNvPr id="8" name="TextBox 7"/>
          <p:cNvSpPr txBox="1"/>
          <p:nvPr/>
        </p:nvSpPr>
        <p:spPr>
          <a:xfrm>
            <a:off x="274320" y="1417320"/>
            <a:ext cx="5120640" cy="420624"/>
          </a:xfrm>
          <a:prstGeom prst="rect">
            <a:avLst/>
          </a:prstGeom>
          <a:noFill/>
        </p:spPr>
        <p:txBody>
          <a:bodyPr wrap="square">
            <a:spAutoFit/>
          </a:bodyPr>
          <a:lstStyle/>
          <a:p>
            <a:pPr algn="l"/>
            <a:r>
              <a:rPr sz="1050" b="0" i="0">
                <a:solidFill>
                  <a:srgbClr val="212121"/>
                </a:solidFill>
              </a:rPr>
              <a:t>◉  Generate thoughtful, specific questions for current TRHS students.</a:t>
            </a:r>
          </a:p>
        </p:txBody>
      </p:sp>
      <p:sp>
        <p:nvSpPr>
          <p:cNvPr id="9" name="TextBox 8"/>
          <p:cNvSpPr txBox="1"/>
          <p:nvPr/>
        </p:nvSpPr>
        <p:spPr>
          <a:xfrm>
            <a:off x="274320" y="1856232"/>
            <a:ext cx="5120640" cy="420624"/>
          </a:xfrm>
          <a:prstGeom prst="rect">
            <a:avLst/>
          </a:prstGeom>
          <a:noFill/>
        </p:spPr>
        <p:txBody>
          <a:bodyPr wrap="square">
            <a:spAutoFit/>
          </a:bodyPr>
          <a:lstStyle/>
          <a:p>
            <a:pPr algn="l"/>
            <a:r>
              <a:rPr sz="1050" b="0" i="0">
                <a:solidFill>
                  <a:srgbClr val="212121"/>
                </a:solidFill>
              </a:rPr>
              <a:t>◉  Actively listen and take notes during the student panel.</a:t>
            </a:r>
          </a:p>
        </p:txBody>
      </p:sp>
      <p:sp>
        <p:nvSpPr>
          <p:cNvPr id="10" name="TextBox 9"/>
          <p:cNvSpPr txBox="1"/>
          <p:nvPr/>
        </p:nvSpPr>
        <p:spPr>
          <a:xfrm>
            <a:off x="274320" y="2295144"/>
            <a:ext cx="5120640" cy="420624"/>
          </a:xfrm>
          <a:prstGeom prst="rect">
            <a:avLst/>
          </a:prstGeom>
          <a:noFill/>
        </p:spPr>
        <p:txBody>
          <a:bodyPr wrap="square">
            <a:spAutoFit/>
          </a:bodyPr>
          <a:lstStyle/>
          <a:p>
            <a:pPr algn="l"/>
            <a:r>
              <a:rPr sz="1050" b="0" i="0">
                <a:solidFill>
                  <a:srgbClr val="212121"/>
                </a:solidFill>
              </a:rPr>
              <a:t>◉  Synthesize panel insights into personal action steps for 9th grade.</a:t>
            </a:r>
          </a:p>
        </p:txBody>
      </p:sp>
      <p:sp>
        <p:nvSpPr>
          <p:cNvPr id="11" name="Rectangle 10"/>
          <p:cNvSpPr/>
          <p:nvPr/>
        </p:nvSpPr>
        <p:spPr>
          <a:xfrm>
            <a:off x="5669280" y="1024128"/>
            <a:ext cx="333756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042415"/>
            <a:ext cx="3200400" cy="301752"/>
          </a:xfrm>
          <a:prstGeom prst="rect">
            <a:avLst/>
          </a:prstGeom>
          <a:noFill/>
        </p:spPr>
        <p:txBody>
          <a:bodyPr wrap="square">
            <a:spAutoFit/>
          </a:bodyPr>
          <a:lstStyle/>
          <a:p>
            <a:pPr algn="l"/>
            <a:r>
              <a:rPr sz="1000" b="1" i="0">
                <a:solidFill>
                  <a:srgbClr val="996619"/>
                </a:solidFill>
              </a:rPr>
              <a:t>Word Focus</a:t>
            </a:r>
          </a:p>
        </p:txBody>
      </p:sp>
      <p:sp>
        <p:nvSpPr>
          <p:cNvPr id="13" name="TextBox 12"/>
          <p:cNvSpPr txBox="1"/>
          <p:nvPr/>
        </p:nvSpPr>
        <p:spPr>
          <a:xfrm>
            <a:off x="5760720" y="1371600"/>
            <a:ext cx="3200400" cy="420624"/>
          </a:xfrm>
          <a:prstGeom prst="rect">
            <a:avLst/>
          </a:prstGeom>
          <a:noFill/>
        </p:spPr>
        <p:txBody>
          <a:bodyPr wrap="square">
            <a:spAutoFit/>
          </a:bodyPr>
          <a:lstStyle/>
          <a:p>
            <a:pPr algn="l"/>
            <a:r>
              <a:rPr sz="1600" b="1" i="0">
                <a:solidFill>
                  <a:srgbClr val="996619"/>
                </a:solidFill>
              </a:rPr>
              <a:t>Concurrent Enrollment (CE)</a:t>
            </a:r>
          </a:p>
        </p:txBody>
      </p:sp>
      <p:sp>
        <p:nvSpPr>
          <p:cNvPr id="14" name="TextBox 13"/>
          <p:cNvSpPr txBox="1"/>
          <p:nvPr/>
        </p:nvSpPr>
        <p:spPr>
          <a:xfrm>
            <a:off x="5760720" y="1801368"/>
            <a:ext cx="3200400" cy="329184"/>
          </a:xfrm>
          <a:prstGeom prst="rect">
            <a:avLst/>
          </a:prstGeom>
          <a:noFill/>
        </p:spPr>
        <p:txBody>
          <a:bodyPr wrap="square">
            <a:spAutoFit/>
          </a:bodyPr>
          <a:lstStyle/>
          <a:p>
            <a:pPr algn="l"/>
            <a:r>
              <a:rPr sz="900" b="0" i="1">
                <a:solidFill>
                  <a:srgbClr val="888888"/>
                </a:solidFill>
              </a:rPr>
              <a:t>Latin concurrere (to run together) + Latin enrollare (to enter on a roll/list)</a:t>
            </a:r>
          </a:p>
        </p:txBody>
      </p:sp>
      <p:sp>
        <p:nvSpPr>
          <p:cNvPr id="15" name="TextBox 14"/>
          <p:cNvSpPr txBox="1"/>
          <p:nvPr/>
        </p:nvSpPr>
        <p:spPr>
          <a:xfrm>
            <a:off x="5760720" y="2148840"/>
            <a:ext cx="3200400" cy="1097280"/>
          </a:xfrm>
          <a:prstGeom prst="rect">
            <a:avLst/>
          </a:prstGeom>
          <a:noFill/>
        </p:spPr>
        <p:txBody>
          <a:bodyPr wrap="square">
            <a:spAutoFit/>
          </a:bodyPr>
          <a:lstStyle/>
          <a:p>
            <a:pPr algn="l"/>
            <a:r>
              <a:rPr sz="1050" b="0" i="0">
                <a:solidFill>
                  <a:srgbClr val="212121"/>
                </a:solidFill>
              </a:rPr>
              <a:t>A high school course that also earns college credit — you start building your college transcript while still in high school.</a:t>
            </a:r>
          </a:p>
        </p:txBody>
      </p:sp>
      <p:sp>
        <p:nvSpPr>
          <p:cNvPr id="16" name="Rectangle 15"/>
          <p:cNvSpPr/>
          <p:nvPr/>
        </p:nvSpPr>
        <p:spPr>
          <a:xfrm>
            <a:off x="228600" y="5321808"/>
            <a:ext cx="86868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5321808"/>
            <a:ext cx="3657600" cy="256032"/>
          </a:xfrm>
          <a:prstGeom prst="rect">
            <a:avLst/>
          </a:prstGeom>
          <a:noFill/>
        </p:spPr>
        <p:txBody>
          <a:bodyPr wrap="square">
            <a:spAutoFit/>
          </a:bodyPr>
          <a:lstStyle/>
          <a:p>
            <a:pPr algn="l"/>
            <a:r>
              <a:rPr sz="900" b="1" i="0">
                <a:solidFill>
                  <a:srgbClr val="212121"/>
                </a:solidFill>
              </a:rPr>
              <a:t>50-Minute Lesson Plan</a:t>
            </a:r>
          </a:p>
        </p:txBody>
      </p:sp>
      <p:sp>
        <p:nvSpPr>
          <p:cNvPr id="18" name="TextBox 17"/>
          <p:cNvSpPr txBox="1"/>
          <p:nvPr/>
        </p:nvSpPr>
        <p:spPr>
          <a:xfrm>
            <a:off x="6400800" y="5321808"/>
            <a:ext cx="2286000" cy="256032"/>
          </a:xfrm>
          <a:prstGeom prst="rect">
            <a:avLst/>
          </a:prstGeom>
          <a:noFill/>
        </p:spPr>
        <p:txBody>
          <a:bodyPr wrap="square">
            <a:spAutoFit/>
          </a:bodyPr>
          <a:lstStyle/>
          <a:p>
            <a:pPr algn="r"/>
            <a:r>
              <a:rPr sz="900" b="0" i="0">
                <a:solidFill>
                  <a:srgbClr val="888888"/>
                </a:solidFill>
              </a:rPr>
              <a:t>Total: 55 min</a:t>
            </a:r>
          </a:p>
        </p:txBody>
      </p:sp>
      <p:sp>
        <p:nvSpPr>
          <p:cNvPr id="19" name="Rectangle 18"/>
          <p:cNvSpPr/>
          <p:nvPr/>
        </p:nvSpPr>
        <p:spPr>
          <a:xfrm>
            <a:off x="228600" y="5623560"/>
            <a:ext cx="789709" cy="50292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 y="5715000"/>
            <a:ext cx="716557" cy="320040"/>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228600" y="6163056"/>
            <a:ext cx="789709" cy="384048"/>
          </a:xfrm>
          <a:prstGeom prst="rect">
            <a:avLst/>
          </a:prstGeom>
          <a:noFill/>
        </p:spPr>
        <p:txBody>
          <a:bodyPr wrap="square">
            <a:spAutoFit/>
          </a:bodyPr>
          <a:lstStyle/>
          <a:p>
            <a:pPr algn="ctr"/>
            <a:r>
              <a:rPr sz="700" b="0" i="0">
                <a:solidFill>
                  <a:srgbClr val="212121"/>
                </a:solidFill>
              </a:rPr>
              <a:t>Bell
Ringer</a:t>
            </a:r>
          </a:p>
        </p:txBody>
      </p:sp>
      <p:sp>
        <p:nvSpPr>
          <p:cNvPr id="22" name="Rectangle 21"/>
          <p:cNvSpPr/>
          <p:nvPr/>
        </p:nvSpPr>
        <p:spPr>
          <a:xfrm>
            <a:off x="1018309" y="5623560"/>
            <a:ext cx="473825" cy="50292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4885" y="5715000"/>
            <a:ext cx="400673" cy="320040"/>
          </a:xfrm>
          <a:prstGeom prst="rect">
            <a:avLst/>
          </a:prstGeom>
          <a:noFill/>
        </p:spPr>
        <p:txBody>
          <a:bodyPr wrap="square">
            <a:spAutoFit/>
          </a:bodyPr>
          <a:lstStyle/>
          <a:p>
            <a:pPr algn="ctr"/>
            <a:r>
              <a:rPr sz="1100" b="1" i="0">
                <a:solidFill>
                  <a:srgbClr val="FFFFFF"/>
                </a:solidFill>
              </a:rPr>
              <a:t>3</a:t>
            </a:r>
          </a:p>
        </p:txBody>
      </p:sp>
      <p:sp>
        <p:nvSpPr>
          <p:cNvPr id="24" name="TextBox 23"/>
          <p:cNvSpPr txBox="1"/>
          <p:nvPr/>
        </p:nvSpPr>
        <p:spPr>
          <a:xfrm>
            <a:off x="1018309" y="6163056"/>
            <a:ext cx="473825" cy="384048"/>
          </a:xfrm>
          <a:prstGeom prst="rect">
            <a:avLst/>
          </a:prstGeom>
          <a:noFill/>
        </p:spPr>
        <p:txBody>
          <a:bodyPr wrap="square">
            <a:spAutoFit/>
          </a:bodyPr>
          <a:lstStyle/>
          <a:p>
            <a:pPr algn="ctr"/>
            <a:r>
              <a:rPr sz="700" b="0" i="0">
                <a:solidFill>
                  <a:srgbClr val="212121"/>
                </a:solidFill>
              </a:rPr>
              <a:t>Intro &amp;
Objectives</a:t>
            </a:r>
          </a:p>
        </p:txBody>
      </p:sp>
      <p:sp>
        <p:nvSpPr>
          <p:cNvPr id="25" name="Rectangle 24"/>
          <p:cNvSpPr/>
          <p:nvPr/>
        </p:nvSpPr>
        <p:spPr>
          <a:xfrm>
            <a:off x="1492134" y="5623560"/>
            <a:ext cx="1263534" cy="5029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8710" y="5715000"/>
            <a:ext cx="1190382" cy="320040"/>
          </a:xfrm>
          <a:prstGeom prst="rect">
            <a:avLst/>
          </a:prstGeom>
          <a:noFill/>
        </p:spPr>
        <p:txBody>
          <a:bodyPr wrap="square">
            <a:spAutoFit/>
          </a:bodyPr>
          <a:lstStyle/>
          <a:p>
            <a:pPr algn="ctr"/>
            <a:r>
              <a:rPr sz="1100" b="1" i="0">
                <a:solidFill>
                  <a:srgbClr val="FFFFFF"/>
                </a:solidFill>
              </a:rPr>
              <a:t>8</a:t>
            </a:r>
          </a:p>
        </p:txBody>
      </p:sp>
      <p:sp>
        <p:nvSpPr>
          <p:cNvPr id="27" name="TextBox 26"/>
          <p:cNvSpPr txBox="1"/>
          <p:nvPr/>
        </p:nvSpPr>
        <p:spPr>
          <a:xfrm>
            <a:off x="1492134" y="6163056"/>
            <a:ext cx="1263534" cy="384048"/>
          </a:xfrm>
          <a:prstGeom prst="rect">
            <a:avLst/>
          </a:prstGeom>
          <a:noFill/>
        </p:spPr>
        <p:txBody>
          <a:bodyPr wrap="square">
            <a:spAutoFit/>
          </a:bodyPr>
          <a:lstStyle/>
          <a:p>
            <a:pPr algn="ctr"/>
            <a:r>
              <a:rPr sz="700" b="0" i="0">
                <a:solidFill>
                  <a:srgbClr val="212121"/>
                </a:solidFill>
              </a:rPr>
              <a:t>Reading &amp;
Story</a:t>
            </a:r>
          </a:p>
        </p:txBody>
      </p:sp>
      <p:sp>
        <p:nvSpPr>
          <p:cNvPr id="28" name="Rectangle 27"/>
          <p:cNvSpPr/>
          <p:nvPr/>
        </p:nvSpPr>
        <p:spPr>
          <a:xfrm>
            <a:off x="2755669" y="5623560"/>
            <a:ext cx="789709"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92245" y="5715000"/>
            <a:ext cx="716557" cy="320040"/>
          </a:xfrm>
          <a:prstGeom prst="rect">
            <a:avLst/>
          </a:prstGeom>
          <a:noFill/>
        </p:spPr>
        <p:txBody>
          <a:bodyPr wrap="square">
            <a:spAutoFit/>
          </a:bodyPr>
          <a:lstStyle/>
          <a:p>
            <a:pPr algn="ctr"/>
            <a:r>
              <a:rPr sz="1100" b="1" i="0">
                <a:solidFill>
                  <a:srgbClr val="FFFFFF"/>
                </a:solidFill>
              </a:rPr>
              <a:t>5</a:t>
            </a:r>
          </a:p>
        </p:txBody>
      </p:sp>
      <p:sp>
        <p:nvSpPr>
          <p:cNvPr id="30" name="TextBox 29"/>
          <p:cNvSpPr txBox="1"/>
          <p:nvPr/>
        </p:nvSpPr>
        <p:spPr>
          <a:xfrm>
            <a:off x="2755669" y="6163056"/>
            <a:ext cx="789709" cy="384048"/>
          </a:xfrm>
          <a:prstGeom prst="rect">
            <a:avLst/>
          </a:prstGeom>
          <a:noFill/>
        </p:spPr>
        <p:txBody>
          <a:bodyPr wrap="square">
            <a:spAutoFit/>
          </a:bodyPr>
          <a:lstStyle/>
          <a:p>
            <a:pPr algn="ctr"/>
            <a:r>
              <a:rPr sz="700" b="0" i="0">
                <a:solidFill>
                  <a:srgbClr val="212121"/>
                </a:solidFill>
              </a:rPr>
              <a:t>Questions &amp;
Discussion</a:t>
            </a:r>
          </a:p>
        </p:txBody>
      </p:sp>
      <p:sp>
        <p:nvSpPr>
          <p:cNvPr id="31" name="Rectangle 30"/>
          <p:cNvSpPr/>
          <p:nvPr/>
        </p:nvSpPr>
        <p:spPr>
          <a:xfrm>
            <a:off x="3545378" y="5623560"/>
            <a:ext cx="631767" cy="502920"/>
          </a:xfrm>
          <a:prstGeom prst="rect">
            <a:avLst/>
          </a:prstGeom>
          <a:solidFill>
            <a:srgbClr val="80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81954" y="5715000"/>
            <a:ext cx="558615" cy="320040"/>
          </a:xfrm>
          <a:prstGeom prst="rect">
            <a:avLst/>
          </a:prstGeom>
          <a:noFill/>
        </p:spPr>
        <p:txBody>
          <a:bodyPr wrap="square">
            <a:spAutoFit/>
          </a:bodyPr>
          <a:lstStyle/>
          <a:p>
            <a:pPr algn="ctr"/>
            <a:r>
              <a:rPr sz="1100" b="1" i="0">
                <a:solidFill>
                  <a:srgbClr val="FFFFFF"/>
                </a:solidFill>
              </a:rPr>
              <a:t>4</a:t>
            </a:r>
          </a:p>
        </p:txBody>
      </p:sp>
      <p:sp>
        <p:nvSpPr>
          <p:cNvPr id="33" name="TextBox 32"/>
          <p:cNvSpPr txBox="1"/>
          <p:nvPr/>
        </p:nvSpPr>
        <p:spPr>
          <a:xfrm>
            <a:off x="3545378" y="6163056"/>
            <a:ext cx="631767" cy="384048"/>
          </a:xfrm>
          <a:prstGeom prst="rect">
            <a:avLst/>
          </a:prstGeom>
          <a:noFill/>
        </p:spPr>
        <p:txBody>
          <a:bodyPr wrap="square">
            <a:spAutoFit/>
          </a:bodyPr>
          <a:lstStyle/>
          <a:p>
            <a:pPr algn="ctr"/>
            <a:r>
              <a:rPr sz="700" b="0" i="0">
                <a:solidFill>
                  <a:srgbClr val="212121"/>
                </a:solidFill>
              </a:rPr>
              <a:t>Content</a:t>
            </a:r>
          </a:p>
        </p:txBody>
      </p:sp>
      <p:sp>
        <p:nvSpPr>
          <p:cNvPr id="34" name="Rectangle 33"/>
          <p:cNvSpPr/>
          <p:nvPr/>
        </p:nvSpPr>
        <p:spPr>
          <a:xfrm>
            <a:off x="4177145" y="5623560"/>
            <a:ext cx="3948545" cy="5029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13721" y="5715000"/>
            <a:ext cx="3875393" cy="320040"/>
          </a:xfrm>
          <a:prstGeom prst="rect">
            <a:avLst/>
          </a:prstGeom>
          <a:noFill/>
        </p:spPr>
        <p:txBody>
          <a:bodyPr wrap="square">
            <a:spAutoFit/>
          </a:bodyPr>
          <a:lstStyle/>
          <a:p>
            <a:pPr algn="ctr"/>
            <a:r>
              <a:rPr sz="1100" b="1" i="0">
                <a:solidFill>
                  <a:srgbClr val="FFFFFF"/>
                </a:solidFill>
              </a:rPr>
              <a:t>25</a:t>
            </a:r>
          </a:p>
        </p:txBody>
      </p:sp>
      <p:sp>
        <p:nvSpPr>
          <p:cNvPr id="36" name="TextBox 35"/>
          <p:cNvSpPr txBox="1"/>
          <p:nvPr/>
        </p:nvSpPr>
        <p:spPr>
          <a:xfrm>
            <a:off x="4177145" y="6163056"/>
            <a:ext cx="3948545" cy="384048"/>
          </a:xfrm>
          <a:prstGeom prst="rect">
            <a:avLst/>
          </a:prstGeom>
          <a:noFill/>
        </p:spPr>
        <p:txBody>
          <a:bodyPr wrap="square">
            <a:spAutoFit/>
          </a:bodyPr>
          <a:lstStyle/>
          <a:p>
            <a:pPr algn="ctr"/>
            <a:r>
              <a:rPr sz="700" b="0" i="0">
                <a:solidFill>
                  <a:srgbClr val="212121"/>
                </a:solidFill>
              </a:rPr>
              <a:t>Activity</a:t>
            </a:r>
          </a:p>
        </p:txBody>
      </p:sp>
      <p:sp>
        <p:nvSpPr>
          <p:cNvPr id="37" name="Rectangle 36"/>
          <p:cNvSpPr/>
          <p:nvPr/>
        </p:nvSpPr>
        <p:spPr>
          <a:xfrm>
            <a:off x="8125690" y="5623560"/>
            <a:ext cx="789709" cy="5029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2266" y="5715000"/>
            <a:ext cx="716557" cy="320040"/>
          </a:xfrm>
          <a:prstGeom prst="rect">
            <a:avLst/>
          </a:prstGeom>
          <a:noFill/>
        </p:spPr>
        <p:txBody>
          <a:bodyPr wrap="square">
            <a:spAutoFit/>
          </a:bodyPr>
          <a:lstStyle/>
          <a:p>
            <a:pPr algn="ctr"/>
            <a:r>
              <a:rPr sz="1100" b="1" i="0">
                <a:solidFill>
                  <a:srgbClr val="FFFFFF"/>
                </a:solidFill>
              </a:rPr>
              <a:t>5</a:t>
            </a:r>
          </a:p>
        </p:txBody>
      </p:sp>
      <p:sp>
        <p:nvSpPr>
          <p:cNvPr id="39" name="TextBox 38"/>
          <p:cNvSpPr txBox="1"/>
          <p:nvPr/>
        </p:nvSpPr>
        <p:spPr>
          <a:xfrm>
            <a:off x="8125690" y="6163056"/>
            <a:ext cx="789709" cy="384048"/>
          </a:xfrm>
          <a:prstGeom prst="rect">
            <a:avLst/>
          </a:prstGeom>
          <a:noFill/>
        </p:spPr>
        <p:txBody>
          <a:bodyPr wrap="square">
            <a:spAutoFit/>
          </a:bodyPr>
          <a:lstStyle/>
          <a:p>
            <a:pPr algn="ctr"/>
            <a:r>
              <a:rPr sz="700" b="0" i="0">
                <a:solidFill>
                  <a:srgbClr val="212121"/>
                </a:solidFill>
              </a:rPr>
              <a:t>Exit
Ticket</a:t>
            </a:r>
          </a:p>
        </p:txBody>
      </p:sp>
      <p:sp>
        <p:nvSpPr>
          <p:cNvPr id="40" name="Rectangle 39"/>
          <p:cNvSpPr/>
          <p:nvPr/>
        </p:nvSpPr>
        <p:spPr>
          <a:xfrm>
            <a:off x="0" y="6583680"/>
            <a:ext cx="9144000" cy="2743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8595360" cy="237744"/>
          </a:xfrm>
          <a:prstGeom prst="rect">
            <a:avLst/>
          </a:prstGeom>
          <a:noFill/>
        </p:spPr>
        <p:txBody>
          <a:bodyPr wrap="square">
            <a:spAutoFit/>
          </a:bodyPr>
          <a:lstStyle/>
          <a:p>
            <a:pPr algn="l"/>
            <a:r>
              <a:rPr sz="900" b="0" i="1">
                <a:solidFill>
                  <a:srgbClr val="212121"/>
                </a:solidFill>
              </a:rPr>
              <a:t>Note-taking support: Level 4 — Full independence (blank Cornell format)</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996619"/>
        </a:solidFill>
        <a:effectLst/>
      </p:bgPr>
    </p:bg>
    <p:spTree>
      <p:nvGrpSpPr>
        <p:cNvPr id="1" name=""/>
        <p:cNvGrpSpPr/>
        <p:nvPr/>
      </p:nvGrpSpPr>
      <p:grpSpPr/>
      <p:sp>
        <p:nvSpPr>
          <p:cNvPr id="2" name="Rectangle 1"/>
          <p:cNvSpPr/>
          <p:nvPr/>
        </p:nvSpPr>
        <p:spPr>
          <a:xfrm>
            <a:off x="0" y="0"/>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8229600" cy="502920"/>
          </a:xfrm>
          <a:prstGeom prst="rect">
            <a:avLst/>
          </a:prstGeom>
          <a:noFill/>
        </p:spPr>
        <p:txBody>
          <a:bodyPr wrap="square">
            <a:spAutoFit/>
          </a:bodyPr>
          <a:lstStyle/>
          <a:p>
            <a:pPr algn="ctr"/>
            <a:r>
              <a:rPr sz="1800" b="0" i="0">
                <a:solidFill>
                  <a:srgbClr val="F5E0B2"/>
                </a:solidFill>
              </a:rPr>
              <a:t>READING</a:t>
            </a:r>
          </a:p>
        </p:txBody>
      </p:sp>
      <p:sp>
        <p:nvSpPr>
          <p:cNvPr id="5" name="TextBox 4"/>
          <p:cNvSpPr txBox="1"/>
          <p:nvPr/>
        </p:nvSpPr>
        <p:spPr>
          <a:xfrm>
            <a:off x="457200" y="1463040"/>
            <a:ext cx="8229600" cy="1280160"/>
          </a:xfrm>
          <a:prstGeom prst="rect">
            <a:avLst/>
          </a:prstGeom>
          <a:noFill/>
        </p:spPr>
        <p:txBody>
          <a:bodyPr wrap="square">
            <a:spAutoFit/>
          </a:bodyPr>
          <a:lstStyle/>
          <a:p>
            <a:pPr algn="ctr"/>
            <a:r>
              <a:rPr sz="2800" b="1" i="0">
                <a:solidFill>
                  <a:srgbClr val="FFFFFF"/>
                </a:solidFill>
              </a:rPr>
              <a:t>The Art of Asking Good Questions</a:t>
            </a:r>
          </a:p>
        </p:txBody>
      </p:sp>
      <p:sp>
        <p:nvSpPr>
          <p:cNvPr id="6" name="TextBox 5"/>
          <p:cNvSpPr txBox="1"/>
          <p:nvPr/>
        </p:nvSpPr>
        <p:spPr>
          <a:xfrm>
            <a:off x="457200" y="2880360"/>
            <a:ext cx="8229600" cy="411480"/>
          </a:xfrm>
          <a:prstGeom prst="rect">
            <a:avLst/>
          </a:prstGeom>
          <a:noFill/>
        </p:spPr>
        <p:txBody>
          <a:bodyPr wrap="square">
            <a:spAutoFit/>
          </a:bodyPr>
          <a:lstStyle/>
          <a:p>
            <a:pPr algn="ctr"/>
            <a:r>
              <a:rPr sz="1100" b="0" i="1">
                <a:solidFill>
                  <a:srgbClr val="F5E0B2"/>
                </a:solidFill>
              </a:rPr>
              <a:t>Source: Adapted from research on dialogue, mentorship, and knowledge transfer</a:t>
            </a:r>
          </a:p>
        </p:txBody>
      </p:sp>
      <p:sp>
        <p:nvSpPr>
          <p:cNvPr id="7" name="Rectangle 6"/>
          <p:cNvSpPr/>
          <p:nvPr/>
        </p:nvSpPr>
        <p:spPr>
          <a:xfrm>
            <a:off x="1371600" y="3474720"/>
            <a:ext cx="6400800" cy="36576"/>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57600"/>
            <a:ext cx="8229600" cy="822960"/>
          </a:xfrm>
          <a:prstGeom prst="rect">
            <a:avLst/>
          </a:prstGeom>
          <a:noFill/>
        </p:spPr>
        <p:txBody>
          <a:bodyPr wrap="square">
            <a:spAutoFit/>
          </a:bodyPr>
          <a:lstStyle/>
          <a:p>
            <a:pPr algn="ctr"/>
            <a:r>
              <a:rPr sz="1300" b="0" i="0">
                <a:solidFill>
                  <a:srgbClr val="FFFFFF"/>
                </a:solidFill>
              </a:rPr>
              <a:t>As you read: annotate using your symbols
* = important   ?  = question   ! = surprising   → = connection   circle = vocab</a:t>
            </a:r>
          </a:p>
        </p:txBody>
      </p:sp>
      <p:sp>
        <p:nvSpPr>
          <p:cNvPr id="9" name="Rectangle 8">
            <a:hlinkClick r:id="rId2"/>
          </p:cNvPr>
          <p:cNvSpPr/>
          <p:nvPr/>
        </p:nvSpPr>
        <p:spPr>
          <a:xfrm>
            <a:off x="365760" y="4754880"/>
            <a:ext cx="2194560" cy="475488"/>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12121"/>
                </a:solidFill>
                <a:hlinkClick r:id="rId2"/>
              </a:rPr>
              <a:t>▶  Watch Video</a:t>
            </a:r>
          </a:p>
        </p:txBody>
      </p:sp>
      <p:sp>
        <p:nvSpPr>
          <p:cNvPr id="10" name="Rectangle 9"/>
          <p:cNvSpPr/>
          <p:nvPr/>
        </p:nvSpPr>
        <p:spPr>
          <a:xfrm>
            <a:off x="7772400" y="594360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27264" y="5980176"/>
            <a:ext cx="1115568" cy="292608"/>
          </a:xfrm>
          <a:prstGeom prst="rect">
            <a:avLst/>
          </a:prstGeom>
          <a:noFill/>
        </p:spPr>
        <p:txBody>
          <a:bodyPr wrap="square">
            <a:spAutoFit/>
          </a:bodyPr>
          <a:lstStyle/>
          <a:p>
            <a:pPr algn="ctr"/>
            <a:r>
              <a:rPr sz="1200" b="1" i="0">
                <a:solidFill>
                  <a:srgbClr val="FFFFFF"/>
                </a:solidFill>
              </a:rPr>
              <a:t>⏱ 8 min</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Art of Asking Good Questions  (p. 1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1</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You are about to have a rare opportunity: direct access to students who have already
done what you are about to do. They have survived the first weeks of 9th grade. They
have learned which habits worked and which backfired. They have navigated the social
landscape of Two Rivers, figured out how to manage a harder workload, and formed
opinions — through experience — about what they wish they had known. The quality of what
you learn from them depends almost entirely on the quality of the questions you ask.</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2</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Research on mentorship and knowledge transfer consistently shows that generic questions
produce generic answers. 'What is high school like?' will get you 'It's different.'
'What's harder than you expected and how did you deal with it?' will get you a story.
Stories are how humans transmit real knowledge. When a panelist tells you about the time
they bombed their first Geometry test and had to figure out how to recover, they are
giving you a map you can actually use.</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The Art of Asking Good Questions  (p. 2 of 2)</a:t>
            </a:r>
          </a:p>
        </p:txBody>
      </p:sp>
      <p:sp>
        <p:nvSpPr>
          <p:cNvPr id="4" name="Rectangle 3"/>
          <p:cNvSpPr/>
          <p:nvPr/>
        </p:nvSpPr>
        <p:spPr>
          <a:xfrm>
            <a:off x="182880" y="6217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40080"/>
            <a:ext cx="256032" cy="256032"/>
          </a:xfrm>
          <a:prstGeom prst="rect">
            <a:avLst/>
          </a:prstGeom>
          <a:noFill/>
        </p:spPr>
        <p:txBody>
          <a:bodyPr wrap="square">
            <a:spAutoFit/>
          </a:bodyPr>
          <a:lstStyle/>
          <a:p>
            <a:pPr algn="ctr"/>
            <a:r>
              <a:rPr sz="1100" b="1" i="0">
                <a:solidFill>
                  <a:srgbClr val="FFFFFF"/>
                </a:solidFill>
              </a:rPr>
              <a:t>3</a:t>
            </a:r>
          </a:p>
        </p:txBody>
      </p:sp>
      <p:sp>
        <p:nvSpPr>
          <p:cNvPr id="6" name="TextBox 5"/>
          <p:cNvSpPr txBox="1"/>
          <p:nvPr/>
        </p:nvSpPr>
        <p:spPr>
          <a:xfrm>
            <a:off x="548640" y="621792"/>
            <a:ext cx="8412480" cy="2423160"/>
          </a:xfrm>
          <a:prstGeom prst="rect">
            <a:avLst/>
          </a:prstGeom>
          <a:noFill/>
        </p:spPr>
        <p:txBody>
          <a:bodyPr wrap="square">
            <a:spAutoFit/>
          </a:bodyPr>
          <a:lstStyle/>
          <a:p>
            <a:pPr algn="l">
              <a:lnSpc>
                <a:spcPts val="1600"/>
              </a:lnSpc>
            </a:pPr>
            <a:r>
              <a:rPr sz="1150" b="0" i="0">
                <a:solidFill>
                  <a:srgbClr val="212121"/>
                </a:solidFill>
              </a:rPr>
              <a:t>The best questions share a few qualities. They are specific — they name a situation, a
course, or a challenge rather than asking about 'high school in general.' They invite
stories rather than opinions — 'Tell me about a time when...' almost always produces
more useful answers than 'What do you think about...'. They are honest — they reflect
something you genuinely want to know, not something you think sounds impressive. And
they follow up — if an answer is interesting, you ask 'Can you say more about that?'
rather than moving on.</a:t>
            </a:r>
          </a:p>
        </p:txBody>
      </p:sp>
      <p:sp>
        <p:nvSpPr>
          <p:cNvPr id="7" name="Rectangle 6"/>
          <p:cNvSpPr/>
          <p:nvPr/>
        </p:nvSpPr>
        <p:spPr>
          <a:xfrm>
            <a:off x="8869680" y="6217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78824" y="1170432"/>
            <a:ext cx="146304" cy="822960"/>
          </a:xfrm>
          <a:prstGeom prst="rect">
            <a:avLst/>
          </a:prstGeom>
          <a:noFill/>
        </p:spPr>
        <p:txBody>
          <a:bodyPr wrap="square">
            <a:spAutoFit/>
          </a:bodyPr>
          <a:lstStyle/>
          <a:p>
            <a:pPr algn="ctr"/>
            <a:r>
              <a:rPr sz="600" b="0" i="0">
                <a:solidFill>
                  <a:srgbClr val="888888"/>
                </a:solidFill>
              </a:rPr>
              <a:t>mark
here</a:t>
            </a:r>
          </a:p>
        </p:txBody>
      </p:sp>
      <p:sp>
        <p:nvSpPr>
          <p:cNvPr id="9" name="Rectangle 8"/>
          <p:cNvSpPr/>
          <p:nvPr/>
        </p:nvSpPr>
        <p:spPr>
          <a:xfrm>
            <a:off x="182880" y="3364992"/>
            <a:ext cx="292608" cy="2926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383280"/>
            <a:ext cx="256032" cy="256032"/>
          </a:xfrm>
          <a:prstGeom prst="rect">
            <a:avLst/>
          </a:prstGeom>
          <a:noFill/>
        </p:spPr>
        <p:txBody>
          <a:bodyPr wrap="square">
            <a:spAutoFit/>
          </a:bodyPr>
          <a:lstStyle/>
          <a:p>
            <a:pPr algn="ctr"/>
            <a:r>
              <a:rPr sz="1100" b="1" i="0">
                <a:solidFill>
                  <a:srgbClr val="FFFFFF"/>
                </a:solidFill>
              </a:rPr>
              <a:t>4</a:t>
            </a:r>
          </a:p>
        </p:txBody>
      </p:sp>
      <p:sp>
        <p:nvSpPr>
          <p:cNvPr id="11" name="TextBox 10"/>
          <p:cNvSpPr txBox="1"/>
          <p:nvPr/>
        </p:nvSpPr>
        <p:spPr>
          <a:xfrm>
            <a:off x="548640" y="3364992"/>
            <a:ext cx="8412480" cy="2423160"/>
          </a:xfrm>
          <a:prstGeom prst="rect">
            <a:avLst/>
          </a:prstGeom>
          <a:noFill/>
        </p:spPr>
        <p:txBody>
          <a:bodyPr wrap="square">
            <a:spAutoFit/>
          </a:bodyPr>
          <a:lstStyle/>
          <a:p>
            <a:pPr algn="l">
              <a:lnSpc>
                <a:spcPts val="1600"/>
              </a:lnSpc>
            </a:pPr>
            <a:r>
              <a:rPr sz="1150" b="0" i="0">
                <a:solidFill>
                  <a:srgbClr val="212121"/>
                </a:solidFill>
              </a:rPr>
              <a:t>You have prepared for this panel by reading, writing, planning, and thinking carefully
about your 9th grade year. Now your job is to listen actively: take notes on what
surprises you, what confirms what you already thought, and what makes you want to ask a
follow-up. Active listening — not passive hearing — turns a conversation into a resource
you can return to.</a:t>
            </a:r>
          </a:p>
        </p:txBody>
      </p:sp>
      <p:sp>
        <p:nvSpPr>
          <p:cNvPr id="12" name="Rectangle 11"/>
          <p:cNvSpPr/>
          <p:nvPr/>
        </p:nvSpPr>
        <p:spPr>
          <a:xfrm>
            <a:off x="8869680" y="3364992"/>
            <a:ext cx="164592" cy="2286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78824" y="3913632"/>
            <a:ext cx="146304" cy="822960"/>
          </a:xfrm>
          <a:prstGeom prst="rect">
            <a:avLst/>
          </a:prstGeom>
          <a:noFill/>
        </p:spPr>
        <p:txBody>
          <a:bodyPr wrap="square">
            <a:spAutoFit/>
          </a:bodyPr>
          <a:lstStyle/>
          <a:p>
            <a:pPr algn="ctr"/>
            <a:r>
              <a:rPr sz="600" b="0" i="0">
                <a:solidFill>
                  <a:srgbClr val="888888"/>
                </a:solidFill>
              </a:rPr>
              <a:t>mark
here</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Reading Questions — 'The Art of Asking Good Questions'</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Answer in complete sentences. Use evidence from the reading. Work independently first, then discuss.</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8" name="Rectangle 7"/>
          <p:cNvSpPr/>
          <p:nvPr/>
        </p:nvSpPr>
        <p:spPr>
          <a:xfrm>
            <a:off x="182880" y="1005840"/>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078992"/>
            <a:ext cx="292608" cy="347472"/>
          </a:xfrm>
          <a:prstGeom prst="rect">
            <a:avLst/>
          </a:prstGeom>
          <a:noFill/>
        </p:spPr>
        <p:txBody>
          <a:bodyPr wrap="square">
            <a:spAutoFit/>
          </a:bodyPr>
          <a:lstStyle/>
          <a:p>
            <a:pPr algn="l"/>
            <a:r>
              <a:rPr sz="1200" b="1" i="0">
                <a:solidFill>
                  <a:srgbClr val="996619"/>
                </a:solidFill>
              </a:rPr>
              <a:t>1.</a:t>
            </a:r>
          </a:p>
        </p:txBody>
      </p:sp>
      <p:sp>
        <p:nvSpPr>
          <p:cNvPr id="10" name="TextBox 9"/>
          <p:cNvSpPr txBox="1"/>
          <p:nvPr/>
        </p:nvSpPr>
        <p:spPr>
          <a:xfrm>
            <a:off x="594360" y="1060704"/>
            <a:ext cx="8229600" cy="402336"/>
          </a:xfrm>
          <a:prstGeom prst="rect">
            <a:avLst/>
          </a:prstGeom>
          <a:noFill/>
        </p:spPr>
        <p:txBody>
          <a:bodyPr wrap="square">
            <a:spAutoFit/>
          </a:bodyPr>
          <a:lstStyle/>
          <a:p>
            <a:pPr algn="l"/>
            <a:r>
              <a:rPr sz="1050" b="0" i="0">
                <a:solidFill>
                  <a:srgbClr val="212121"/>
                </a:solidFill>
              </a:rPr>
              <a:t>What is the difference between a generic question and a specific question? Give an example of
each using the student panel as context.</a:t>
            </a:r>
          </a:p>
        </p:txBody>
      </p:sp>
      <p:sp>
        <p:nvSpPr>
          <p:cNvPr id="11" name="Rectangle 10"/>
          <p:cNvSpPr/>
          <p:nvPr/>
        </p:nvSpPr>
        <p:spPr>
          <a:xfrm>
            <a:off x="182880" y="1527048"/>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600200"/>
            <a:ext cx="292608" cy="347472"/>
          </a:xfrm>
          <a:prstGeom prst="rect">
            <a:avLst/>
          </a:prstGeom>
          <a:noFill/>
        </p:spPr>
        <p:txBody>
          <a:bodyPr wrap="square">
            <a:spAutoFit/>
          </a:bodyPr>
          <a:lstStyle/>
          <a:p>
            <a:pPr algn="l"/>
            <a:r>
              <a:rPr sz="1200" b="1" i="0">
                <a:solidFill>
                  <a:srgbClr val="996619"/>
                </a:solidFill>
              </a:rPr>
              <a:t>2.</a:t>
            </a:r>
          </a:p>
        </p:txBody>
      </p:sp>
      <p:sp>
        <p:nvSpPr>
          <p:cNvPr id="13" name="TextBox 12"/>
          <p:cNvSpPr txBox="1"/>
          <p:nvPr/>
        </p:nvSpPr>
        <p:spPr>
          <a:xfrm>
            <a:off x="594360" y="1581912"/>
            <a:ext cx="8229600" cy="402336"/>
          </a:xfrm>
          <a:prstGeom prst="rect">
            <a:avLst/>
          </a:prstGeom>
          <a:noFill/>
        </p:spPr>
        <p:txBody>
          <a:bodyPr wrap="square">
            <a:spAutoFit/>
          </a:bodyPr>
          <a:lstStyle/>
          <a:p>
            <a:pPr algn="l"/>
            <a:r>
              <a:rPr sz="1050" b="0" i="0">
                <a:solidFill>
                  <a:srgbClr val="212121"/>
                </a:solidFill>
              </a:rPr>
              <a:t>Why do 'story-inviting' questions produce better answers than 'opinion' questions? Can you
think of a question that invites a story vs. one that invites an opinion?</a:t>
            </a:r>
          </a:p>
        </p:txBody>
      </p:sp>
      <p:sp>
        <p:nvSpPr>
          <p:cNvPr id="14" name="Rectangle 13"/>
          <p:cNvSpPr/>
          <p:nvPr/>
        </p:nvSpPr>
        <p:spPr>
          <a:xfrm>
            <a:off x="182880" y="2048255"/>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2121408"/>
            <a:ext cx="292608" cy="347472"/>
          </a:xfrm>
          <a:prstGeom prst="rect">
            <a:avLst/>
          </a:prstGeom>
          <a:noFill/>
        </p:spPr>
        <p:txBody>
          <a:bodyPr wrap="square">
            <a:spAutoFit/>
          </a:bodyPr>
          <a:lstStyle/>
          <a:p>
            <a:pPr algn="l"/>
            <a:r>
              <a:rPr sz="1200" b="1" i="0">
                <a:solidFill>
                  <a:srgbClr val="996619"/>
                </a:solidFill>
              </a:rPr>
              <a:t>3.</a:t>
            </a:r>
          </a:p>
        </p:txBody>
      </p:sp>
      <p:sp>
        <p:nvSpPr>
          <p:cNvPr id="16" name="TextBox 15"/>
          <p:cNvSpPr txBox="1"/>
          <p:nvPr/>
        </p:nvSpPr>
        <p:spPr>
          <a:xfrm>
            <a:off x="594360" y="2103120"/>
            <a:ext cx="8229600" cy="402336"/>
          </a:xfrm>
          <a:prstGeom prst="rect">
            <a:avLst/>
          </a:prstGeom>
          <a:noFill/>
        </p:spPr>
        <p:txBody>
          <a:bodyPr wrap="square">
            <a:spAutoFit/>
          </a:bodyPr>
          <a:lstStyle/>
          <a:p>
            <a:pPr algn="l"/>
            <a:r>
              <a:rPr sz="1050" b="0" i="0">
                <a:solidFill>
                  <a:srgbClr val="212121"/>
                </a:solidFill>
              </a:rPr>
              <a:t>The reading says the best questions are 'honest' — meaning they reflect something you genuinely
want to know. Write three questions that are genuinely honest for you right now about starting
high school.</a:t>
            </a:r>
          </a:p>
        </p:txBody>
      </p:sp>
      <p:sp>
        <p:nvSpPr>
          <p:cNvPr id="17" name="Rectangle 16"/>
          <p:cNvSpPr/>
          <p:nvPr/>
        </p:nvSpPr>
        <p:spPr>
          <a:xfrm>
            <a:off x="182880" y="2569463"/>
            <a:ext cx="8778240" cy="493776"/>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2642615"/>
            <a:ext cx="292608" cy="347472"/>
          </a:xfrm>
          <a:prstGeom prst="rect">
            <a:avLst/>
          </a:prstGeom>
          <a:noFill/>
        </p:spPr>
        <p:txBody>
          <a:bodyPr wrap="square">
            <a:spAutoFit/>
          </a:bodyPr>
          <a:lstStyle/>
          <a:p>
            <a:pPr algn="l"/>
            <a:r>
              <a:rPr sz="1200" b="1" i="0">
                <a:solidFill>
                  <a:srgbClr val="996619"/>
                </a:solidFill>
              </a:rPr>
              <a:t>4.</a:t>
            </a:r>
          </a:p>
        </p:txBody>
      </p:sp>
      <p:sp>
        <p:nvSpPr>
          <p:cNvPr id="19" name="TextBox 18"/>
          <p:cNvSpPr txBox="1"/>
          <p:nvPr/>
        </p:nvSpPr>
        <p:spPr>
          <a:xfrm>
            <a:off x="594360" y="2624327"/>
            <a:ext cx="8229600" cy="402336"/>
          </a:xfrm>
          <a:prstGeom prst="rect">
            <a:avLst/>
          </a:prstGeom>
          <a:noFill/>
        </p:spPr>
        <p:txBody>
          <a:bodyPr wrap="square">
            <a:spAutoFit/>
          </a:bodyPr>
          <a:lstStyle/>
          <a:p>
            <a:pPr algn="l"/>
            <a:r>
              <a:rPr sz="1050" b="0" i="0">
                <a:solidFill>
                  <a:srgbClr val="212121"/>
                </a:solidFill>
              </a:rPr>
              <a:t>What is active listening and how is it different from passive hearing? What will you do during
the panel to listen actively?</a:t>
            </a:r>
          </a:p>
        </p:txBody>
      </p:sp>
      <p:sp>
        <p:nvSpPr>
          <p:cNvPr id="20" name="Rectangle 19"/>
          <p:cNvSpPr/>
          <p:nvPr/>
        </p:nvSpPr>
        <p:spPr>
          <a:xfrm>
            <a:off x="182880" y="3090671"/>
            <a:ext cx="87782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163823"/>
            <a:ext cx="292608" cy="347472"/>
          </a:xfrm>
          <a:prstGeom prst="rect">
            <a:avLst/>
          </a:prstGeom>
          <a:noFill/>
        </p:spPr>
        <p:txBody>
          <a:bodyPr wrap="square">
            <a:spAutoFit/>
          </a:bodyPr>
          <a:lstStyle/>
          <a:p>
            <a:pPr algn="l"/>
            <a:r>
              <a:rPr sz="1200" b="1" i="0">
                <a:solidFill>
                  <a:srgbClr val="996619"/>
                </a:solidFill>
              </a:rPr>
              <a:t>5.</a:t>
            </a:r>
          </a:p>
        </p:txBody>
      </p:sp>
      <p:sp>
        <p:nvSpPr>
          <p:cNvPr id="22" name="TextBox 21"/>
          <p:cNvSpPr txBox="1"/>
          <p:nvPr/>
        </p:nvSpPr>
        <p:spPr>
          <a:xfrm>
            <a:off x="594360" y="3145535"/>
            <a:ext cx="8229600" cy="402336"/>
          </a:xfrm>
          <a:prstGeom prst="rect">
            <a:avLst/>
          </a:prstGeom>
          <a:noFill/>
        </p:spPr>
        <p:txBody>
          <a:bodyPr wrap="square">
            <a:spAutoFit/>
          </a:bodyPr>
          <a:lstStyle/>
          <a:p>
            <a:pPr algn="l"/>
            <a:r>
              <a:rPr sz="1050" b="0" i="0">
                <a:solidFill>
                  <a:srgbClr val="212121"/>
                </a:solidFill>
              </a:rPr>
              <a:t>After the panel: Write the most important thing you heard. What did a panelist say that
surprised you, confirmed your thinking, or changed how you are thinking about 9th grade?</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75704"/>
            <a:ext cx="9144000" cy="822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01168"/>
            <a:ext cx="1645920" cy="310896"/>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219456"/>
            <a:ext cx="1609344" cy="274320"/>
          </a:xfrm>
          <a:prstGeom prst="rect">
            <a:avLst/>
          </a:prstGeom>
          <a:noFill/>
        </p:spPr>
        <p:txBody>
          <a:bodyPr wrap="square">
            <a:spAutoFit/>
          </a:bodyPr>
          <a:lstStyle/>
          <a:p>
            <a:pPr algn="ctr"/>
            <a:r>
              <a:rPr sz="1100" b="1" i="0">
                <a:solidFill>
                  <a:srgbClr val="FFFFFF"/>
                </a:solidFill>
              </a:rPr>
              <a:t>▶  VIDEO</a:t>
            </a:r>
          </a:p>
        </p:txBody>
      </p:sp>
      <p:sp>
        <p:nvSpPr>
          <p:cNvPr id="6" name="TextBox 5"/>
          <p:cNvSpPr txBox="1"/>
          <p:nvPr/>
        </p:nvSpPr>
        <p:spPr>
          <a:xfrm>
            <a:off x="2194560" y="201168"/>
            <a:ext cx="6400800" cy="320040"/>
          </a:xfrm>
          <a:prstGeom prst="rect">
            <a:avLst/>
          </a:prstGeom>
          <a:noFill/>
        </p:spPr>
        <p:txBody>
          <a:bodyPr wrap="square">
            <a:spAutoFit/>
          </a:bodyPr>
          <a:lstStyle/>
          <a:p>
            <a:pPr algn="l"/>
            <a:r>
              <a:rPr sz="1100" b="0" i="0">
                <a:solidFill>
                  <a:srgbClr val="F5E0B2"/>
                </a:solidFill>
              </a:rPr>
              <a:t>Lesson 5.4</a:t>
            </a:r>
          </a:p>
        </p:txBody>
      </p:sp>
      <p:sp>
        <p:nvSpPr>
          <p:cNvPr id="7" name="TextBox 6"/>
          <p:cNvSpPr txBox="1"/>
          <p:nvPr/>
        </p:nvSpPr>
        <p:spPr>
          <a:xfrm>
            <a:off x="365760" y="658368"/>
            <a:ext cx="8412480" cy="1188720"/>
          </a:xfrm>
          <a:prstGeom prst="rect">
            <a:avLst/>
          </a:prstGeom>
          <a:noFill/>
        </p:spPr>
        <p:txBody>
          <a:bodyPr wrap="square">
            <a:spAutoFit/>
          </a:bodyPr>
          <a:lstStyle/>
          <a:p>
            <a:pPr algn="l"/>
            <a:r>
              <a:rPr sz="2600" b="1" i="0">
                <a:solidFill>
                  <a:srgbClr val="FFFFFF"/>
                </a:solidFill>
              </a:rPr>
              <a:t>How to Ask Better Questions — The Art of Curiosity</a:t>
            </a:r>
          </a:p>
        </p:txBody>
      </p:sp>
      <p:sp>
        <p:nvSpPr>
          <p:cNvPr id="8" name="TextBox 7"/>
          <p:cNvSpPr txBox="1"/>
          <p:nvPr/>
        </p:nvSpPr>
        <p:spPr>
          <a:xfrm>
            <a:off x="365760" y="1901952"/>
            <a:ext cx="8412480" cy="365760"/>
          </a:xfrm>
          <a:prstGeom prst="rect">
            <a:avLst/>
          </a:prstGeom>
          <a:noFill/>
        </p:spPr>
        <p:txBody>
          <a:bodyPr wrap="square">
            <a:spAutoFit/>
          </a:bodyPr>
          <a:lstStyle/>
          <a:p>
            <a:pPr algn="l"/>
            <a:r>
              <a:rPr sz="1300" b="0" i="1">
                <a:solidFill>
                  <a:srgbClr val="F5E0B2"/>
                </a:solidFill>
              </a:rPr>
              <a:t>TED-Ed  ·  approx. 5 min</a:t>
            </a:r>
          </a:p>
        </p:txBody>
      </p:sp>
      <p:sp>
        <p:nvSpPr>
          <p:cNvPr id="9" name="Rectangle 8"/>
          <p:cNvSpPr/>
          <p:nvPr/>
        </p:nvSpPr>
        <p:spPr>
          <a:xfrm>
            <a:off x="365760" y="2377440"/>
            <a:ext cx="8412480" cy="2743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87168"/>
            <a:ext cx="8412480"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011680" cy="329184"/>
          </a:xfrm>
          <a:prstGeom prst="rect">
            <a:avLst/>
          </a:prstGeom>
          <a:noFill/>
        </p:spPr>
        <p:txBody>
          <a:bodyPr wrap="square">
            <a:spAutoFit/>
          </a:bodyPr>
          <a:lstStyle/>
          <a:p>
            <a:pPr algn="l"/>
            <a:r>
              <a:rPr sz="1000" b="1" i="0">
                <a:solidFill>
                  <a:srgbClr val="996619"/>
                </a:solidFill>
              </a:rPr>
              <a:t>AS YOU WATCH —</a:t>
            </a:r>
          </a:p>
        </p:txBody>
      </p:sp>
      <p:sp>
        <p:nvSpPr>
          <p:cNvPr id="12" name="TextBox 11"/>
          <p:cNvSpPr txBox="1"/>
          <p:nvPr/>
        </p:nvSpPr>
        <p:spPr>
          <a:xfrm>
            <a:off x="548640" y="2834640"/>
            <a:ext cx="8046720" cy="566928"/>
          </a:xfrm>
          <a:prstGeom prst="rect">
            <a:avLst/>
          </a:prstGeom>
          <a:noFill/>
        </p:spPr>
        <p:txBody>
          <a:bodyPr wrap="square">
            <a:spAutoFit/>
          </a:bodyPr>
          <a:lstStyle/>
          <a:p>
            <a:pPr algn="l"/>
            <a:r>
              <a:rPr sz="1300" b="0" i="0">
                <a:solidFill>
                  <a:srgbClr val="FFFFFF"/>
                </a:solidFill>
              </a:rPr>
              <a:t>What is the one question technique they say gets the most useful answers?</a:t>
            </a:r>
          </a:p>
        </p:txBody>
      </p:sp>
      <p:sp>
        <p:nvSpPr>
          <p:cNvPr id="13" name="Rectangle 12"/>
          <p:cNvSpPr/>
          <p:nvPr/>
        </p:nvSpPr>
        <p:spPr>
          <a:xfrm>
            <a:off x="365760" y="3611880"/>
            <a:ext cx="8412480" cy="640080"/>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1463040" cy="256032"/>
          </a:xfrm>
          <a:prstGeom prst="rect">
            <a:avLst/>
          </a:prstGeom>
          <a:noFill/>
        </p:spPr>
        <p:txBody>
          <a:bodyPr wrap="square">
            <a:spAutoFit/>
          </a:bodyPr>
          <a:lstStyle/>
          <a:p>
            <a:pPr algn="l"/>
            <a:r>
              <a:rPr sz="900" b="1" i="0">
                <a:solidFill>
                  <a:srgbClr val="F5E0B2"/>
                </a:solidFill>
              </a:rPr>
              <a:t>ALSO TRY →</a:t>
            </a:r>
          </a:p>
        </p:txBody>
      </p:sp>
      <p:sp>
        <p:nvSpPr>
          <p:cNvPr id="15" name="Rectangle 14">
            <a:hlinkClick r:id="rId2"/>
          </p:cNvPr>
          <p:cNvSpPr/>
          <p:nvPr/>
        </p:nvSpPr>
        <p:spPr>
          <a:xfrm>
            <a:off x="2103120" y="3657600"/>
            <a:ext cx="6400800" cy="512064"/>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E0B2"/>
                </a:solidFill>
                <a:hlinkClick r:id="rId2"/>
              </a:rPr>
              <a:t>"Active Listening — The Skill Nobody Teaches"  |  Improvement Pill</a:t>
            </a:r>
          </a:p>
        </p:txBody>
      </p:sp>
      <p:sp>
        <p:nvSpPr>
          <p:cNvPr id="16" name="Rectangle 15">
            <a:hlinkClick r:id="rId3"/>
          </p:cNvPr>
          <p:cNvSpPr/>
          <p:nvPr/>
        </p:nvSpPr>
        <p:spPr>
          <a:xfrm>
            <a:off x="2743200" y="4480560"/>
            <a:ext cx="3657600" cy="749808"/>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hlinkClick r:id="rId3"/>
              </a:rPr>
              <a:t>▶  CLICK TO WATCH</a:t>
            </a:r>
          </a:p>
        </p:txBody>
      </p:sp>
      <p:sp>
        <p:nvSpPr>
          <p:cNvPr id="17" name="TextBox 16"/>
          <p:cNvSpPr txBox="1"/>
          <p:nvPr/>
        </p:nvSpPr>
        <p:spPr>
          <a:xfrm>
            <a:off x="365760" y="5394960"/>
            <a:ext cx="8412480" cy="365760"/>
          </a:xfrm>
          <a:prstGeom prst="rect">
            <a:avLst/>
          </a:prstGeom>
          <a:noFill/>
        </p:spPr>
        <p:txBody>
          <a:bodyPr wrap="square">
            <a:spAutoFit/>
          </a:bodyPr>
          <a:lstStyle/>
          <a:p>
            <a:pPr algn="ctr"/>
            <a:r>
              <a:rPr sz="1100" b="0" i="1">
                <a:solidFill>
                  <a:srgbClr val="F5E0B2"/>
                </a:solidFill>
              </a:rPr>
              <a:t>After watching: turn to a partner and answer the 'As You Watch' question in 60 seconds.</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Story: "The Question Worth Asking"  —  Lesson 5.4</a:t>
            </a:r>
          </a:p>
        </p:txBody>
      </p:sp>
      <p:sp>
        <p:nvSpPr>
          <p:cNvPr id="4" name="Rectangle 3"/>
          <p:cNvSpPr/>
          <p:nvPr/>
        </p:nvSpPr>
        <p:spPr>
          <a:xfrm>
            <a:off x="0" y="530352"/>
            <a:ext cx="9144000" cy="27432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557784"/>
            <a:ext cx="8686800" cy="219456"/>
          </a:xfrm>
          <a:prstGeom prst="rect">
            <a:avLst/>
          </a:prstGeom>
          <a:noFill/>
        </p:spPr>
        <p:txBody>
          <a:bodyPr wrap="square">
            <a:spAutoFit/>
          </a:bodyPr>
          <a:lstStyle/>
          <a:p>
            <a:pPr algn="l"/>
            <a:r>
              <a:rPr sz="1000" b="0" i="1">
                <a:solidFill>
                  <a:srgbClr val="F5E0B2"/>
                </a:solidFill>
              </a:rPr>
              <a:t>Characters:  Maya  ·  Jordan  ·  Priya  ·  Eli    |    Read together, then discuss.</a:t>
            </a:r>
          </a:p>
        </p:txBody>
      </p:sp>
      <p:sp>
        <p:nvSpPr>
          <p:cNvPr id="6" name="TextBox 5"/>
          <p:cNvSpPr txBox="1"/>
          <p:nvPr/>
        </p:nvSpPr>
        <p:spPr>
          <a:xfrm>
            <a:off x="228600" y="877824"/>
            <a:ext cx="8686800" cy="246888"/>
          </a:xfrm>
          <a:prstGeom prst="rect">
            <a:avLst/>
          </a:prstGeom>
          <a:noFill/>
        </p:spPr>
        <p:txBody>
          <a:bodyPr wrap="square">
            <a:spAutoFit/>
          </a:bodyPr>
          <a:lstStyle/>
          <a:p>
            <a:pPr algn="l">
              <a:lnSpc>
                <a:spcPts val="1500"/>
              </a:lnSpc>
            </a:pPr>
            <a:r>
              <a:rPr sz="1000" b="0" i="0">
                <a:solidFill>
                  <a:srgbClr val="212121"/>
                </a:solidFill>
              </a:rPr>
              <a:t>The student panel was tomorrow. Their teacher had asked them to each prepare three questions.</a:t>
            </a:r>
          </a:p>
        </p:txBody>
      </p:sp>
      <p:sp>
        <p:nvSpPr>
          <p:cNvPr id="7" name="TextBox 6"/>
          <p:cNvSpPr txBox="1"/>
          <p:nvPr/>
        </p:nvSpPr>
        <p:spPr>
          <a:xfrm>
            <a:off x="228600" y="1133856"/>
            <a:ext cx="8686800" cy="448056"/>
          </a:xfrm>
          <a:prstGeom prst="rect">
            <a:avLst/>
          </a:prstGeom>
          <a:noFill/>
        </p:spPr>
        <p:txBody>
          <a:bodyPr wrap="square">
            <a:spAutoFit/>
          </a:bodyPr>
          <a:lstStyle/>
          <a:p>
            <a:pPr algn="l">
              <a:lnSpc>
                <a:spcPts val="1500"/>
              </a:lnSpc>
            </a:pPr>
            <a:r>
              <a:rPr sz="1000" b="0" i="0">
                <a:solidFill>
                  <a:srgbClr val="212121"/>
                </a:solidFill>
              </a:rPr>
              <a:t>Jordan had written: What's your favorite class? and Is high school hard? He was working on the
third.</a:t>
            </a:r>
          </a:p>
        </p:txBody>
      </p:sp>
      <p:sp>
        <p:nvSpPr>
          <p:cNvPr id="8" name="TextBox 7"/>
          <p:cNvSpPr txBox="1"/>
          <p:nvPr/>
        </p:nvSpPr>
        <p:spPr>
          <a:xfrm>
            <a:off x="228600" y="1591056"/>
            <a:ext cx="8686800" cy="246888"/>
          </a:xfrm>
          <a:prstGeom prst="rect">
            <a:avLst/>
          </a:prstGeom>
          <a:noFill/>
        </p:spPr>
        <p:txBody>
          <a:bodyPr wrap="square">
            <a:spAutoFit/>
          </a:bodyPr>
          <a:lstStyle/>
          <a:p>
            <a:pPr algn="l">
              <a:lnSpc>
                <a:spcPts val="1500"/>
              </a:lnSpc>
            </a:pPr>
            <a:r>
              <a:rPr sz="1000" b="0" i="0">
                <a:solidFill>
                  <a:srgbClr val="212121"/>
                </a:solidFill>
              </a:rPr>
              <a:t>Maya had written six. She'd crossed out four of them for being too general.</a:t>
            </a:r>
          </a:p>
        </p:txBody>
      </p:sp>
      <p:sp>
        <p:nvSpPr>
          <p:cNvPr id="9" name="TextBox 8"/>
          <p:cNvSpPr txBox="1"/>
          <p:nvPr/>
        </p:nvSpPr>
        <p:spPr>
          <a:xfrm>
            <a:off x="228600" y="1847088"/>
            <a:ext cx="8686800" cy="246888"/>
          </a:xfrm>
          <a:prstGeom prst="rect">
            <a:avLst/>
          </a:prstGeom>
          <a:noFill/>
        </p:spPr>
        <p:txBody>
          <a:bodyPr wrap="square">
            <a:spAutoFit/>
          </a:bodyPr>
          <a:lstStyle/>
          <a:p>
            <a:pPr algn="l">
              <a:lnSpc>
                <a:spcPts val="1500"/>
              </a:lnSpc>
            </a:pPr>
            <a:r>
              <a:rPr sz="1000" b="0" i="0">
                <a:solidFill>
                  <a:srgbClr val="212121"/>
                </a:solidFill>
              </a:rPr>
              <a:t>Priya had written one. She'd been working on it for thirty minutes. It said:</a:t>
            </a:r>
          </a:p>
        </p:txBody>
      </p:sp>
      <p:sp>
        <p:nvSpPr>
          <p:cNvPr id="10" name="TextBox 9"/>
          <p:cNvSpPr txBox="1"/>
          <p:nvPr/>
        </p:nvSpPr>
        <p:spPr>
          <a:xfrm>
            <a:off x="228600" y="2103120"/>
            <a:ext cx="8686800" cy="448056"/>
          </a:xfrm>
          <a:prstGeom prst="rect">
            <a:avLst/>
          </a:prstGeom>
          <a:noFill/>
        </p:spPr>
        <p:txBody>
          <a:bodyPr wrap="square">
            <a:spAutoFit/>
          </a:bodyPr>
          <a:lstStyle/>
          <a:p>
            <a:pPr algn="l">
              <a:lnSpc>
                <a:spcPts val="1500"/>
              </a:lnSpc>
            </a:pPr>
            <a:r>
              <a:rPr sz="1050" b="0" i="1">
                <a:solidFill>
                  <a:srgbClr val="1A1A6E"/>
                </a:solidFill>
              </a:rPr>
              <a:t>Was there a moment in 9th grade where you felt like you were doing it wrong — and what did you
do?</a:t>
            </a:r>
          </a:p>
        </p:txBody>
      </p:sp>
      <p:sp>
        <p:nvSpPr>
          <p:cNvPr id="11" name="TextBox 10"/>
          <p:cNvSpPr txBox="1"/>
          <p:nvPr/>
        </p:nvSpPr>
        <p:spPr>
          <a:xfrm>
            <a:off x="228600" y="2560320"/>
            <a:ext cx="8686800" cy="246888"/>
          </a:xfrm>
          <a:prstGeom prst="rect">
            <a:avLst/>
          </a:prstGeom>
          <a:noFill/>
        </p:spPr>
        <p:txBody>
          <a:bodyPr wrap="square">
            <a:spAutoFit/>
          </a:bodyPr>
          <a:lstStyle/>
          <a:p>
            <a:pPr algn="l">
              <a:lnSpc>
                <a:spcPts val="1500"/>
              </a:lnSpc>
            </a:pPr>
            <a:r>
              <a:rPr sz="1050" b="0" i="1">
                <a:solidFill>
                  <a:srgbClr val="1A1A6E"/>
                </a:solidFill>
              </a:rPr>
              <a:t>Jordan read it over her shoulder. "That's a good one."</a:t>
            </a:r>
          </a:p>
        </p:txBody>
      </p:sp>
      <p:sp>
        <p:nvSpPr>
          <p:cNvPr id="12" name="TextBox 11"/>
          <p:cNvSpPr txBox="1"/>
          <p:nvPr/>
        </p:nvSpPr>
        <p:spPr>
          <a:xfrm>
            <a:off x="228600" y="2816352"/>
            <a:ext cx="8686800" cy="246888"/>
          </a:xfrm>
          <a:prstGeom prst="rect">
            <a:avLst/>
          </a:prstGeom>
          <a:noFill/>
        </p:spPr>
        <p:txBody>
          <a:bodyPr wrap="square">
            <a:spAutoFit/>
          </a:bodyPr>
          <a:lstStyle/>
          <a:p>
            <a:pPr algn="l">
              <a:lnSpc>
                <a:spcPts val="1500"/>
              </a:lnSpc>
            </a:pPr>
            <a:r>
              <a:rPr sz="1050" b="0" i="1">
                <a:solidFill>
                  <a:srgbClr val="1A1A6E"/>
                </a:solidFill>
              </a:rPr>
              <a:t>"It's too personal."</a:t>
            </a:r>
          </a:p>
        </p:txBody>
      </p:sp>
      <p:sp>
        <p:nvSpPr>
          <p:cNvPr id="13" name="TextBox 12"/>
          <p:cNvSpPr txBox="1"/>
          <p:nvPr/>
        </p:nvSpPr>
        <p:spPr>
          <a:xfrm>
            <a:off x="228600" y="3072384"/>
            <a:ext cx="8686800" cy="246888"/>
          </a:xfrm>
          <a:prstGeom prst="rect">
            <a:avLst/>
          </a:prstGeom>
          <a:noFill/>
        </p:spPr>
        <p:txBody>
          <a:bodyPr wrap="square">
            <a:spAutoFit/>
          </a:bodyPr>
          <a:lstStyle/>
          <a:p>
            <a:pPr algn="l">
              <a:lnSpc>
                <a:spcPts val="1500"/>
              </a:lnSpc>
            </a:pPr>
            <a:r>
              <a:rPr sz="1050" b="0" i="1">
                <a:solidFill>
                  <a:srgbClr val="1A1A6E"/>
                </a:solidFill>
              </a:rPr>
              <a:t>"That's what makes it good."</a:t>
            </a:r>
          </a:p>
        </p:txBody>
      </p:sp>
      <p:sp>
        <p:nvSpPr>
          <p:cNvPr id="14" name="TextBox 13"/>
          <p:cNvSpPr txBox="1"/>
          <p:nvPr/>
        </p:nvSpPr>
        <p:spPr>
          <a:xfrm>
            <a:off x="228600" y="3328416"/>
            <a:ext cx="8686800" cy="448056"/>
          </a:xfrm>
          <a:prstGeom prst="rect">
            <a:avLst/>
          </a:prstGeom>
          <a:noFill/>
        </p:spPr>
        <p:txBody>
          <a:bodyPr wrap="square">
            <a:spAutoFit/>
          </a:bodyPr>
          <a:lstStyle/>
          <a:p>
            <a:pPr algn="l">
              <a:lnSpc>
                <a:spcPts val="1500"/>
              </a:lnSpc>
            </a:pPr>
            <a:r>
              <a:rPr sz="1000" b="0" i="0">
                <a:solidFill>
                  <a:srgbClr val="212121"/>
                </a:solidFill>
              </a:rPr>
              <a:t>She read it again. She'd written it because she wanted the real answer. Not the answer a high
schooler gives in a presentation. The real one.</a:t>
            </a:r>
          </a:p>
        </p:txBody>
      </p:sp>
      <p:sp>
        <p:nvSpPr>
          <p:cNvPr id="15" name="TextBox 14"/>
          <p:cNvSpPr txBox="1"/>
          <p:nvPr/>
        </p:nvSpPr>
        <p:spPr>
          <a:xfrm>
            <a:off x="228600" y="3785616"/>
            <a:ext cx="8686800" cy="246888"/>
          </a:xfrm>
          <a:prstGeom prst="rect">
            <a:avLst/>
          </a:prstGeom>
          <a:noFill/>
        </p:spPr>
        <p:txBody>
          <a:bodyPr wrap="square">
            <a:spAutoFit/>
          </a:bodyPr>
          <a:lstStyle/>
          <a:p>
            <a:pPr algn="l">
              <a:lnSpc>
                <a:spcPts val="1500"/>
              </a:lnSpc>
            </a:pPr>
            <a:r>
              <a:rPr sz="1050" b="0" i="1">
                <a:solidFill>
                  <a:srgbClr val="1A1A6E"/>
                </a:solidFill>
              </a:rPr>
              <a:t>Eli had written: What do you wish someone had told you before 9th grade started?</a:t>
            </a:r>
          </a:p>
        </p:txBody>
      </p:sp>
      <p:sp>
        <p:nvSpPr>
          <p:cNvPr id="16" name="TextBox 15"/>
          <p:cNvSpPr txBox="1"/>
          <p:nvPr/>
        </p:nvSpPr>
        <p:spPr>
          <a:xfrm>
            <a:off x="228600" y="4041648"/>
            <a:ext cx="8686800" cy="246888"/>
          </a:xfrm>
          <a:prstGeom prst="rect">
            <a:avLst/>
          </a:prstGeom>
          <a:noFill/>
        </p:spPr>
        <p:txBody>
          <a:bodyPr wrap="square">
            <a:spAutoFit/>
          </a:bodyPr>
          <a:lstStyle/>
          <a:p>
            <a:pPr algn="l">
              <a:lnSpc>
                <a:spcPts val="1500"/>
              </a:lnSpc>
            </a:pPr>
            <a:r>
              <a:rPr sz="1050" b="0" i="1">
                <a:solidFill>
                  <a:srgbClr val="1A1A6E"/>
                </a:solidFill>
              </a:rPr>
              <a:t>"That's the same idea,"&lt;/i &gt;, Maya said, pointing. "You both want the honest version."</a:t>
            </a:r>
          </a:p>
        </p:txBody>
      </p:sp>
      <p:sp>
        <p:nvSpPr>
          <p:cNvPr id="17" name="TextBox 16"/>
          <p:cNvSpPr txBox="1"/>
          <p:nvPr/>
        </p:nvSpPr>
        <p:spPr>
          <a:xfrm>
            <a:off x="228600" y="4297680"/>
            <a:ext cx="8686800" cy="246888"/>
          </a:xfrm>
          <a:prstGeom prst="rect">
            <a:avLst/>
          </a:prstGeom>
          <a:noFill/>
        </p:spPr>
        <p:txBody>
          <a:bodyPr wrap="square">
            <a:spAutoFit/>
          </a:bodyPr>
          <a:lstStyle/>
          <a:p>
            <a:pPr algn="l">
              <a:lnSpc>
                <a:spcPts val="1500"/>
              </a:lnSpc>
            </a:pPr>
            <a:r>
              <a:rPr sz="1050" b="0" i="1">
                <a:solidFill>
                  <a:srgbClr val="1A1A6E"/>
                </a:solidFill>
              </a:rPr>
              <a:t>"What's yours?" Jordan asked her.</a:t>
            </a:r>
          </a:p>
        </p:txBody>
      </p:sp>
      <p:sp>
        <p:nvSpPr>
          <p:cNvPr id="18" name="TextBox 17"/>
          <p:cNvSpPr txBox="1"/>
          <p:nvPr/>
        </p:nvSpPr>
        <p:spPr>
          <a:xfrm>
            <a:off x="228600" y="4553712"/>
            <a:ext cx="8686800" cy="448056"/>
          </a:xfrm>
          <a:prstGeom prst="rect">
            <a:avLst/>
          </a:prstGeom>
          <a:noFill/>
        </p:spPr>
        <p:txBody>
          <a:bodyPr wrap="square">
            <a:spAutoFit/>
          </a:bodyPr>
          <a:lstStyle/>
          <a:p>
            <a:pPr algn="l">
              <a:lnSpc>
                <a:spcPts val="1500"/>
              </a:lnSpc>
            </a:pPr>
            <a:r>
              <a:rPr sz="1050" b="0" i="1">
                <a:solidFill>
                  <a:srgbClr val="1A1A6E"/>
                </a:solidFill>
              </a:rPr>
              <a:t>She showed him. How do you handle it when a course is harder than you expected and dropping it
isn't an option?</a:t>
            </a:r>
          </a:p>
        </p:txBody>
      </p:sp>
      <p:sp>
        <p:nvSpPr>
          <p:cNvPr id="19" name="TextBox 18"/>
          <p:cNvSpPr txBox="1"/>
          <p:nvPr/>
        </p:nvSpPr>
        <p:spPr>
          <a:xfrm>
            <a:off x="228600" y="5010912"/>
            <a:ext cx="8686800" cy="246888"/>
          </a:xfrm>
          <a:prstGeom prst="rect">
            <a:avLst/>
          </a:prstGeom>
          <a:noFill/>
        </p:spPr>
        <p:txBody>
          <a:bodyPr wrap="square">
            <a:spAutoFit/>
          </a:bodyPr>
          <a:lstStyle/>
          <a:p>
            <a:pPr algn="l">
              <a:lnSpc>
                <a:spcPts val="1500"/>
              </a:lnSpc>
            </a:pPr>
            <a:r>
              <a:rPr sz="1050" b="0" i="1">
                <a:solidFill>
                  <a:srgbClr val="1A1A6E"/>
                </a:solidFill>
              </a:rPr>
              <a:t>"Maya. That's a very specific question."</a:t>
            </a:r>
          </a:p>
        </p:txBody>
      </p:sp>
      <p:sp>
        <p:nvSpPr>
          <p:cNvPr id="20" name="TextBox 19"/>
          <p:cNvSpPr txBox="1"/>
          <p:nvPr/>
        </p:nvSpPr>
        <p:spPr>
          <a:xfrm>
            <a:off x="228600" y="5266944"/>
            <a:ext cx="8686800" cy="246888"/>
          </a:xfrm>
          <a:prstGeom prst="rect">
            <a:avLst/>
          </a:prstGeom>
          <a:noFill/>
        </p:spPr>
        <p:txBody>
          <a:bodyPr wrap="square">
            <a:spAutoFit/>
          </a:bodyPr>
          <a:lstStyle/>
          <a:p>
            <a:pPr algn="l">
              <a:lnSpc>
                <a:spcPts val="1500"/>
              </a:lnSpc>
            </a:pPr>
            <a:r>
              <a:rPr sz="1050" b="0" i="1">
                <a:solidFill>
                  <a:srgbClr val="1A1A6E"/>
                </a:solidFill>
              </a:rPr>
              <a:t>"I have a very specific fear."</a:t>
            </a:r>
          </a:p>
        </p:txBody>
      </p:sp>
      <p:sp>
        <p:nvSpPr>
          <p:cNvPr id="21" name="TextBox 20"/>
          <p:cNvSpPr txBox="1"/>
          <p:nvPr/>
        </p:nvSpPr>
        <p:spPr>
          <a:xfrm>
            <a:off x="228600" y="5522976"/>
            <a:ext cx="8686800" cy="448056"/>
          </a:xfrm>
          <a:prstGeom prst="rect">
            <a:avLst/>
          </a:prstGeom>
          <a:noFill/>
        </p:spPr>
        <p:txBody>
          <a:bodyPr wrap="square">
            <a:spAutoFit/>
          </a:bodyPr>
          <a:lstStyle/>
          <a:p>
            <a:pPr algn="l">
              <a:lnSpc>
                <a:spcPts val="1500"/>
              </a:lnSpc>
            </a:pPr>
            <a:r>
              <a:rPr sz="1000" b="0" i="0">
                <a:solidFill>
                  <a:srgbClr val="212121"/>
                </a:solidFill>
              </a:rPr>
              <a:t>A quiet moment. Four people with four questions, all of which were actually about the same
thing: what happens when it gets hard and you have to stay anyway.</a:t>
            </a:r>
          </a:p>
        </p:txBody>
      </p:sp>
      <p:sp>
        <p:nvSpPr>
          <p:cNvPr id="22" name="TextBox 21"/>
          <p:cNvSpPr txBox="1"/>
          <p:nvPr/>
        </p:nvSpPr>
        <p:spPr>
          <a:xfrm>
            <a:off x="228600" y="5980176"/>
            <a:ext cx="8686800" cy="246888"/>
          </a:xfrm>
          <a:prstGeom prst="rect">
            <a:avLst/>
          </a:prstGeom>
          <a:noFill/>
        </p:spPr>
        <p:txBody>
          <a:bodyPr wrap="square">
            <a:spAutoFit/>
          </a:bodyPr>
          <a:lstStyle/>
          <a:p>
            <a:pPr algn="l">
              <a:lnSpc>
                <a:spcPts val="1500"/>
              </a:lnSpc>
            </a:pPr>
            <a:r>
              <a:rPr sz="1000" b="0" i="0">
                <a:solidFill>
                  <a:srgbClr val="212121"/>
                </a:solidFill>
              </a:rPr>
              <a:t>Jordan looked at his two questions. "These are bad," he said.</a:t>
            </a:r>
          </a:p>
        </p:txBody>
      </p:sp>
      <p:sp>
        <p:nvSpPr>
          <p:cNvPr id="23" name="TextBox 22"/>
          <p:cNvSpPr txBox="1"/>
          <p:nvPr/>
        </p:nvSpPr>
        <p:spPr>
          <a:xfrm>
            <a:off x="228600" y="6236208"/>
            <a:ext cx="8686800" cy="246888"/>
          </a:xfrm>
          <a:prstGeom prst="rect">
            <a:avLst/>
          </a:prstGeom>
          <a:noFill/>
        </p:spPr>
        <p:txBody>
          <a:bodyPr wrap="square">
            <a:spAutoFit/>
          </a:bodyPr>
          <a:lstStyle/>
          <a:p>
            <a:pPr algn="l">
              <a:lnSpc>
                <a:spcPts val="1500"/>
              </a:lnSpc>
            </a:pPr>
            <a:r>
              <a:rPr sz="1050" b="0" i="1">
                <a:solidFill>
                  <a:srgbClr val="1A1A6E"/>
                </a:solidFill>
              </a:rPr>
              <a:t>"They're conversation starters," Priya said. "Not bad ones."</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Discussion Questions  —  "The Question Worth Asking"</a:t>
            </a:r>
          </a:p>
        </p:txBody>
      </p:sp>
      <p:sp>
        <p:nvSpPr>
          <p:cNvPr id="4" name="Rectangle 3"/>
          <p:cNvSpPr/>
          <p:nvPr/>
        </p:nvSpPr>
        <p:spPr>
          <a:xfrm>
            <a:off x="182880" y="594360"/>
            <a:ext cx="8778240" cy="320040"/>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630936"/>
            <a:ext cx="8503920" cy="246887"/>
          </a:xfrm>
          <a:prstGeom prst="rect">
            <a:avLst/>
          </a:prstGeom>
          <a:noFill/>
        </p:spPr>
        <p:txBody>
          <a:bodyPr wrap="square">
            <a:spAutoFit/>
          </a:bodyPr>
          <a:lstStyle/>
          <a:p>
            <a:pPr algn="l"/>
            <a:r>
              <a:rPr sz="1200" b="1" i="0">
                <a:solidFill>
                  <a:srgbClr val="FFFFFF"/>
                </a:solidFill>
              </a:rPr>
              <a:t>Discuss with a partner. Then write your best thinking in your workbook.</a:t>
            </a:r>
          </a:p>
        </p:txBody>
      </p:sp>
      <p:sp>
        <p:nvSpPr>
          <p:cNvPr id="6" name="Rectangle 5"/>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8 min</a:t>
            </a:r>
          </a:p>
        </p:txBody>
      </p:sp>
      <p:sp>
        <p:nvSpPr>
          <p:cNvPr id="8" name="Rectangle 7"/>
          <p:cNvSpPr/>
          <p:nvPr/>
        </p:nvSpPr>
        <p:spPr>
          <a:xfrm>
            <a:off x="182880" y="100584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005840"/>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133856"/>
            <a:ext cx="347472" cy="347472"/>
          </a:xfrm>
          <a:prstGeom prst="rect">
            <a:avLst/>
          </a:prstGeom>
          <a:noFill/>
        </p:spPr>
        <p:txBody>
          <a:bodyPr wrap="square">
            <a:spAutoFit/>
          </a:bodyPr>
          <a:lstStyle/>
          <a:p>
            <a:pPr algn="ctr"/>
            <a:r>
              <a:rPr sz="1300" b="1" i="0">
                <a:solidFill>
                  <a:srgbClr val="FFFFFF"/>
                </a:solidFill>
              </a:rPr>
              <a:t>1</a:t>
            </a:r>
          </a:p>
        </p:txBody>
      </p:sp>
      <p:sp>
        <p:nvSpPr>
          <p:cNvPr id="11" name="TextBox 10"/>
          <p:cNvSpPr txBox="1"/>
          <p:nvPr/>
        </p:nvSpPr>
        <p:spPr>
          <a:xfrm>
            <a:off x="640080" y="1078992"/>
            <a:ext cx="8229600" cy="512064"/>
          </a:xfrm>
          <a:prstGeom prst="rect">
            <a:avLst/>
          </a:prstGeom>
          <a:noFill/>
        </p:spPr>
        <p:txBody>
          <a:bodyPr wrap="square">
            <a:spAutoFit/>
          </a:bodyPr>
          <a:lstStyle/>
          <a:p>
            <a:pPr algn="l"/>
            <a:r>
              <a:rPr sz="1050" b="0" i="0">
                <a:solidFill>
                  <a:srgbClr val="212121"/>
                </a:solidFill>
              </a:rPr>
              <a:t>Priya's question is 'too personal' — but Jordan says that's what makes it good. Who is right,
and what makes a panel question worth asking?</a:t>
            </a:r>
          </a:p>
        </p:txBody>
      </p:sp>
      <p:sp>
        <p:nvSpPr>
          <p:cNvPr id="12" name="Rectangle 11"/>
          <p:cNvSpPr/>
          <p:nvPr/>
        </p:nvSpPr>
        <p:spPr>
          <a:xfrm>
            <a:off x="182880" y="1664208"/>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664208"/>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792224"/>
            <a:ext cx="347472" cy="347472"/>
          </a:xfrm>
          <a:prstGeom prst="rect">
            <a:avLst/>
          </a:prstGeom>
          <a:noFill/>
        </p:spPr>
        <p:txBody>
          <a:bodyPr wrap="square">
            <a:spAutoFit/>
          </a:bodyPr>
          <a:lstStyle/>
          <a:p>
            <a:pPr algn="ctr"/>
            <a:r>
              <a:rPr sz="1300" b="1" i="0">
                <a:solidFill>
                  <a:srgbClr val="FFFFFF"/>
                </a:solidFill>
              </a:rPr>
              <a:t>2</a:t>
            </a:r>
          </a:p>
        </p:txBody>
      </p:sp>
      <p:sp>
        <p:nvSpPr>
          <p:cNvPr id="15" name="TextBox 14"/>
          <p:cNvSpPr txBox="1"/>
          <p:nvPr/>
        </p:nvSpPr>
        <p:spPr>
          <a:xfrm>
            <a:off x="640080" y="1737360"/>
            <a:ext cx="8229600" cy="512064"/>
          </a:xfrm>
          <a:prstGeom prst="rect">
            <a:avLst/>
          </a:prstGeom>
          <a:noFill/>
        </p:spPr>
        <p:txBody>
          <a:bodyPr wrap="square">
            <a:spAutoFit/>
          </a:bodyPr>
          <a:lstStyle/>
          <a:p>
            <a:pPr algn="l"/>
            <a:r>
              <a:rPr sz="1050" b="0" i="0">
                <a:solidFill>
                  <a:srgbClr val="212121"/>
                </a:solidFill>
              </a:rPr>
              <a:t>Maya, Priya, and Eli's questions are all different ways of asking the same thing. What is
that shared underlying question?</a:t>
            </a:r>
          </a:p>
        </p:txBody>
      </p:sp>
      <p:sp>
        <p:nvSpPr>
          <p:cNvPr id="16" name="Rectangle 15"/>
          <p:cNvSpPr/>
          <p:nvPr/>
        </p:nvSpPr>
        <p:spPr>
          <a:xfrm>
            <a:off x="182880" y="2322576"/>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322576"/>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2450592"/>
            <a:ext cx="347472" cy="347472"/>
          </a:xfrm>
          <a:prstGeom prst="rect">
            <a:avLst/>
          </a:prstGeom>
          <a:noFill/>
        </p:spPr>
        <p:txBody>
          <a:bodyPr wrap="square">
            <a:spAutoFit/>
          </a:bodyPr>
          <a:lstStyle/>
          <a:p>
            <a:pPr algn="ctr"/>
            <a:r>
              <a:rPr sz="1300" b="1" i="0">
                <a:solidFill>
                  <a:srgbClr val="FFFFFF"/>
                </a:solidFill>
              </a:rPr>
              <a:t>3</a:t>
            </a:r>
          </a:p>
        </p:txBody>
      </p:sp>
      <p:sp>
        <p:nvSpPr>
          <p:cNvPr id="19" name="TextBox 18"/>
          <p:cNvSpPr txBox="1"/>
          <p:nvPr/>
        </p:nvSpPr>
        <p:spPr>
          <a:xfrm>
            <a:off x="640080" y="2395728"/>
            <a:ext cx="8229600" cy="512064"/>
          </a:xfrm>
          <a:prstGeom prst="rect">
            <a:avLst/>
          </a:prstGeom>
          <a:noFill/>
        </p:spPr>
        <p:txBody>
          <a:bodyPr wrap="square">
            <a:spAutoFit/>
          </a:bodyPr>
          <a:lstStyle/>
          <a:p>
            <a:pPr algn="l"/>
            <a:r>
              <a:rPr sz="1050" b="0" i="0">
                <a:solidFill>
                  <a:srgbClr val="212121"/>
                </a:solidFill>
              </a:rPr>
              <a:t>Jordan realizes his first two questions aren't what he actually wants to know. What does it
mean to ask an honest question — and why is that harder than it sounds?</a:t>
            </a:r>
          </a:p>
        </p:txBody>
      </p:sp>
      <p:sp>
        <p:nvSpPr>
          <p:cNvPr id="20" name="Rectangle 19"/>
          <p:cNvSpPr/>
          <p:nvPr/>
        </p:nvSpPr>
        <p:spPr>
          <a:xfrm>
            <a:off x="182880" y="2980944"/>
            <a:ext cx="8778240" cy="62179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980944"/>
            <a:ext cx="384048"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108960"/>
            <a:ext cx="347472" cy="347472"/>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40080" y="3054096"/>
            <a:ext cx="8229600" cy="512064"/>
          </a:xfrm>
          <a:prstGeom prst="rect">
            <a:avLst/>
          </a:prstGeom>
          <a:noFill/>
        </p:spPr>
        <p:txBody>
          <a:bodyPr wrap="square">
            <a:spAutoFit/>
          </a:bodyPr>
          <a:lstStyle/>
          <a:p>
            <a:pPr algn="l"/>
            <a:r>
              <a:rPr sz="1050" b="0" i="0">
                <a:solidFill>
                  <a:srgbClr val="212121"/>
                </a:solidFill>
              </a:rPr>
              <a:t>Write the one question you genuinely want to ask the student panel — the honest one, not the
one that sounds impressive. What's stopping you from asking it?</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Preparing Your Questions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Great questions lead to great answers. Before the panel begins, write down at least FIVE
questions you genuinely want answered by current Two Rivers students. Think about:
academics, social life, activities, what surprised them, what they wish they had known,
what advice they have for you. The best questions are specific, not generic. 'What's
high school like?' will get a vague answer. 'What did you do when you got your first bad
grade?' will get a real one.</a:t>
            </a:r>
          </a:p>
        </p:txBody>
      </p:sp>
      <p:sp>
        <p:nvSpPr>
          <p:cNvPr id="5" name="Rectangle 4"/>
          <p:cNvSpPr/>
          <p:nvPr/>
        </p:nvSpPr>
        <p:spPr>
          <a:xfrm>
            <a:off x="228600" y="4251960"/>
            <a:ext cx="8686800" cy="100584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1828800" cy="347472"/>
          </a:xfrm>
          <a:prstGeom prst="rect">
            <a:avLst/>
          </a:prstGeom>
          <a:noFill/>
        </p:spPr>
        <p:txBody>
          <a:bodyPr wrap="square">
            <a:spAutoFit/>
          </a:bodyPr>
          <a:lstStyle/>
          <a:p>
            <a:pPr algn="l"/>
            <a:r>
              <a:rPr sz="1100" b="1" i="0">
                <a:solidFill>
                  <a:srgbClr val="212121"/>
                </a:solidFill>
              </a:rPr>
              <a:t>Think-Pair-Share: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1">
                <a:solidFill>
                  <a:srgbClr val="212121"/>
                </a:solidFill>
              </a:rPr>
              <a:t>What is one thing you genuinely want to know from a current 9th grader — something you haven't heard anyone address yet?</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Panel Question Preparation  —  Lesson 5.4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25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Write 5 genuine questions for the student panel. Make them specific and story-inviting. Avoid yes/no questions. Think about what you REALLY want to know.</a:t>
            </a:r>
          </a:p>
        </p:txBody>
      </p:sp>
      <p:sp>
        <p:nvSpPr>
          <p:cNvPr id="7" name="Rectangle 6"/>
          <p:cNvSpPr/>
          <p:nvPr/>
        </p:nvSpPr>
        <p:spPr>
          <a:xfrm>
            <a:off x="182880" y="1783080"/>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783080"/>
            <a:ext cx="502920"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 y="1892807"/>
            <a:ext cx="457200" cy="402336"/>
          </a:xfrm>
          <a:prstGeom prst="rect">
            <a:avLst/>
          </a:prstGeom>
          <a:noFill/>
        </p:spPr>
        <p:txBody>
          <a:bodyPr wrap="square">
            <a:spAutoFit/>
          </a:bodyPr>
          <a:lstStyle/>
          <a:p>
            <a:pPr algn="ctr"/>
            <a:r>
              <a:rPr sz="1400" b="1" i="0">
                <a:solidFill>
                  <a:srgbClr val="FFFFFF"/>
                </a:solidFill>
              </a:rPr>
              <a:t>1</a:t>
            </a:r>
          </a:p>
        </p:txBody>
      </p:sp>
      <p:sp>
        <p:nvSpPr>
          <p:cNvPr id="10" name="TextBox 9"/>
          <p:cNvSpPr txBox="1"/>
          <p:nvPr/>
        </p:nvSpPr>
        <p:spPr>
          <a:xfrm>
            <a:off x="777240" y="1856231"/>
            <a:ext cx="2286000" cy="274320"/>
          </a:xfrm>
          <a:prstGeom prst="rect">
            <a:avLst/>
          </a:prstGeom>
          <a:noFill/>
        </p:spPr>
        <p:txBody>
          <a:bodyPr wrap="square">
            <a:spAutoFit/>
          </a:bodyPr>
          <a:lstStyle/>
          <a:p>
            <a:pPr algn="l"/>
            <a:r>
              <a:rPr sz="1000" b="0" i="1">
                <a:solidFill>
                  <a:srgbClr val="888888"/>
                </a:solidFill>
              </a:rPr>
              <a:t>My question:</a:t>
            </a:r>
          </a:p>
        </p:txBody>
      </p:sp>
      <p:sp>
        <p:nvSpPr>
          <p:cNvPr id="11" name="Rectangle 10"/>
          <p:cNvSpPr/>
          <p:nvPr/>
        </p:nvSpPr>
        <p:spPr>
          <a:xfrm>
            <a:off x="228600" y="2185416"/>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459736"/>
            <a:ext cx="8778240" cy="621792"/>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459736"/>
            <a:ext cx="502920"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2569464"/>
            <a:ext cx="457200" cy="402336"/>
          </a:xfrm>
          <a:prstGeom prst="rect">
            <a:avLst/>
          </a:prstGeom>
          <a:noFill/>
        </p:spPr>
        <p:txBody>
          <a:bodyPr wrap="square">
            <a:spAutoFit/>
          </a:bodyPr>
          <a:lstStyle/>
          <a:p>
            <a:pPr algn="ctr"/>
            <a:r>
              <a:rPr sz="1400" b="1" i="0">
                <a:solidFill>
                  <a:srgbClr val="FFFFFF"/>
                </a:solidFill>
              </a:rPr>
              <a:t>2</a:t>
            </a:r>
          </a:p>
        </p:txBody>
      </p:sp>
      <p:sp>
        <p:nvSpPr>
          <p:cNvPr id="15" name="TextBox 14"/>
          <p:cNvSpPr txBox="1"/>
          <p:nvPr/>
        </p:nvSpPr>
        <p:spPr>
          <a:xfrm>
            <a:off x="777240" y="2532888"/>
            <a:ext cx="2286000" cy="274320"/>
          </a:xfrm>
          <a:prstGeom prst="rect">
            <a:avLst/>
          </a:prstGeom>
          <a:noFill/>
        </p:spPr>
        <p:txBody>
          <a:bodyPr wrap="square">
            <a:spAutoFit/>
          </a:bodyPr>
          <a:lstStyle/>
          <a:p>
            <a:pPr algn="l"/>
            <a:r>
              <a:rPr sz="1000" b="0" i="1">
                <a:solidFill>
                  <a:srgbClr val="888888"/>
                </a:solidFill>
              </a:rPr>
              <a:t>My question:</a:t>
            </a:r>
          </a:p>
        </p:txBody>
      </p:sp>
      <p:sp>
        <p:nvSpPr>
          <p:cNvPr id="16" name="Rectangle 15"/>
          <p:cNvSpPr/>
          <p:nvPr/>
        </p:nvSpPr>
        <p:spPr>
          <a:xfrm>
            <a:off x="228600" y="2862072"/>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3136391"/>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136391"/>
            <a:ext cx="502920"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 y="3246120"/>
            <a:ext cx="457200" cy="402336"/>
          </a:xfrm>
          <a:prstGeom prst="rect">
            <a:avLst/>
          </a:prstGeom>
          <a:noFill/>
        </p:spPr>
        <p:txBody>
          <a:bodyPr wrap="square">
            <a:spAutoFit/>
          </a:bodyPr>
          <a:lstStyle/>
          <a:p>
            <a:pPr algn="ctr"/>
            <a:r>
              <a:rPr sz="1400" b="1" i="0">
                <a:solidFill>
                  <a:srgbClr val="FFFFFF"/>
                </a:solidFill>
              </a:rPr>
              <a:t>3</a:t>
            </a:r>
          </a:p>
        </p:txBody>
      </p:sp>
      <p:sp>
        <p:nvSpPr>
          <p:cNvPr id="20" name="TextBox 19"/>
          <p:cNvSpPr txBox="1"/>
          <p:nvPr/>
        </p:nvSpPr>
        <p:spPr>
          <a:xfrm>
            <a:off x="777240" y="3209544"/>
            <a:ext cx="2286000" cy="274320"/>
          </a:xfrm>
          <a:prstGeom prst="rect">
            <a:avLst/>
          </a:prstGeom>
          <a:noFill/>
        </p:spPr>
        <p:txBody>
          <a:bodyPr wrap="square">
            <a:spAutoFit/>
          </a:bodyPr>
          <a:lstStyle/>
          <a:p>
            <a:pPr algn="l"/>
            <a:r>
              <a:rPr sz="1000" b="0" i="1">
                <a:solidFill>
                  <a:srgbClr val="888888"/>
                </a:solidFill>
              </a:rPr>
              <a:t>My question:</a:t>
            </a:r>
          </a:p>
        </p:txBody>
      </p:sp>
      <p:sp>
        <p:nvSpPr>
          <p:cNvPr id="21" name="Rectangle 20"/>
          <p:cNvSpPr/>
          <p:nvPr/>
        </p:nvSpPr>
        <p:spPr>
          <a:xfrm>
            <a:off x="228600" y="3538727"/>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 y="3813048"/>
            <a:ext cx="8778240" cy="621792"/>
          </a:xfrm>
          <a:prstGeom prst="rect">
            <a:avLst/>
          </a:prstGeom>
          <a:solidFill>
            <a:srgbClr val="FD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3813048"/>
            <a:ext cx="502920"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1168" y="3922776"/>
            <a:ext cx="457200" cy="402336"/>
          </a:xfrm>
          <a:prstGeom prst="rect">
            <a:avLst/>
          </a:prstGeom>
          <a:noFill/>
        </p:spPr>
        <p:txBody>
          <a:bodyPr wrap="square">
            <a:spAutoFit/>
          </a:bodyPr>
          <a:lstStyle/>
          <a:p>
            <a:pPr algn="ctr"/>
            <a:r>
              <a:rPr sz="1400" b="1" i="0">
                <a:solidFill>
                  <a:srgbClr val="FFFFFF"/>
                </a:solidFill>
              </a:rPr>
              <a:t>4</a:t>
            </a:r>
          </a:p>
        </p:txBody>
      </p:sp>
      <p:sp>
        <p:nvSpPr>
          <p:cNvPr id="25" name="TextBox 24"/>
          <p:cNvSpPr txBox="1"/>
          <p:nvPr/>
        </p:nvSpPr>
        <p:spPr>
          <a:xfrm>
            <a:off x="777240" y="3886200"/>
            <a:ext cx="2286000" cy="274320"/>
          </a:xfrm>
          <a:prstGeom prst="rect">
            <a:avLst/>
          </a:prstGeom>
          <a:noFill/>
        </p:spPr>
        <p:txBody>
          <a:bodyPr wrap="square">
            <a:spAutoFit/>
          </a:bodyPr>
          <a:lstStyle/>
          <a:p>
            <a:pPr algn="l"/>
            <a:r>
              <a:rPr sz="1000" b="0" i="1">
                <a:solidFill>
                  <a:srgbClr val="888888"/>
                </a:solidFill>
              </a:rPr>
              <a:t>My question:</a:t>
            </a:r>
          </a:p>
        </p:txBody>
      </p:sp>
      <p:sp>
        <p:nvSpPr>
          <p:cNvPr id="26" name="Rectangle 25"/>
          <p:cNvSpPr/>
          <p:nvPr/>
        </p:nvSpPr>
        <p:spPr>
          <a:xfrm>
            <a:off x="228600" y="4215384"/>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 y="4489704"/>
            <a:ext cx="87782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 y="4489704"/>
            <a:ext cx="502920" cy="62179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4599432"/>
            <a:ext cx="457200" cy="402336"/>
          </a:xfrm>
          <a:prstGeom prst="rect">
            <a:avLst/>
          </a:prstGeom>
          <a:noFill/>
        </p:spPr>
        <p:txBody>
          <a:bodyPr wrap="square">
            <a:spAutoFit/>
          </a:bodyPr>
          <a:lstStyle/>
          <a:p>
            <a:pPr algn="ctr"/>
            <a:r>
              <a:rPr sz="1400" b="1" i="0">
                <a:solidFill>
                  <a:srgbClr val="FFFFFF"/>
                </a:solidFill>
              </a:rPr>
              <a:t>5</a:t>
            </a:r>
          </a:p>
        </p:txBody>
      </p:sp>
      <p:sp>
        <p:nvSpPr>
          <p:cNvPr id="30" name="TextBox 29"/>
          <p:cNvSpPr txBox="1"/>
          <p:nvPr/>
        </p:nvSpPr>
        <p:spPr>
          <a:xfrm>
            <a:off x="777240" y="4562856"/>
            <a:ext cx="2286000" cy="274320"/>
          </a:xfrm>
          <a:prstGeom prst="rect">
            <a:avLst/>
          </a:prstGeom>
          <a:noFill/>
        </p:spPr>
        <p:txBody>
          <a:bodyPr wrap="square">
            <a:spAutoFit/>
          </a:bodyPr>
          <a:lstStyle/>
          <a:p>
            <a:pPr algn="l"/>
            <a:r>
              <a:rPr sz="1000" b="0" i="1">
                <a:solidFill>
                  <a:srgbClr val="888888"/>
                </a:solidFill>
              </a:rPr>
              <a:t>My question:</a:t>
            </a:r>
          </a:p>
        </p:txBody>
      </p:sp>
      <p:sp>
        <p:nvSpPr>
          <p:cNvPr id="31" name="Rectangle 30"/>
          <p:cNvSpPr/>
          <p:nvPr/>
        </p:nvSpPr>
        <p:spPr>
          <a:xfrm>
            <a:off x="228600" y="48920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Panel Notes</a:t>
            </a:r>
          </a:p>
        </p:txBody>
      </p:sp>
      <p:sp>
        <p:nvSpPr>
          <p:cNvPr id="4" name="TextBox 3"/>
          <p:cNvSpPr txBox="1"/>
          <p:nvPr/>
        </p:nvSpPr>
        <p:spPr>
          <a:xfrm>
            <a:off x="228600" y="621792"/>
            <a:ext cx="8686800" cy="3474720"/>
          </a:xfrm>
          <a:prstGeom prst="rect">
            <a:avLst/>
          </a:prstGeom>
          <a:noFill/>
        </p:spPr>
        <p:txBody>
          <a:bodyPr wrap="square">
            <a:spAutoFit/>
          </a:bodyPr>
          <a:lstStyle/>
          <a:p>
            <a:pPr algn="l">
              <a:lnSpc>
                <a:spcPts val="1800"/>
              </a:lnSpc>
            </a:pPr>
            <a:r>
              <a:rPr sz="1300" b="0" i="0">
                <a:solidFill>
                  <a:srgbClr val="212121"/>
                </a:solidFill>
              </a:rPr>
              <a:t>Use this space to take notes during the student panel. Write the speaker's name (or
'Student A, B, C...') and the key ideas you want to remember.</a:t>
            </a:r>
          </a:p>
        </p:txBody>
      </p:sp>
      <p:sp>
        <p:nvSpPr>
          <p:cNvPr id="5" name="Rectangle 4"/>
          <p:cNvSpPr/>
          <p:nvPr/>
        </p:nvSpPr>
        <p:spPr>
          <a:xfrm>
            <a:off x="228600" y="4251960"/>
            <a:ext cx="8686800"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4297680"/>
            <a:ext cx="2011680" cy="347472"/>
          </a:xfrm>
          <a:prstGeom prst="rect">
            <a:avLst/>
          </a:prstGeom>
          <a:noFill/>
        </p:spPr>
        <p:txBody>
          <a:bodyPr wrap="square">
            <a:spAutoFit/>
          </a:bodyPr>
          <a:lstStyle/>
          <a:p>
            <a:pPr algn="l"/>
            <a:r>
              <a:rPr sz="1100" b="1" i="0">
                <a:solidFill>
                  <a:srgbClr val="996619"/>
                </a:solidFill>
              </a:rPr>
              <a:t>Key Idea to Note:</a:t>
            </a:r>
          </a:p>
        </p:txBody>
      </p:sp>
      <p:sp>
        <p:nvSpPr>
          <p:cNvPr id="7" name="TextBox 6"/>
          <p:cNvSpPr txBox="1"/>
          <p:nvPr/>
        </p:nvSpPr>
        <p:spPr>
          <a:xfrm>
            <a:off x="347472" y="4663440"/>
            <a:ext cx="8412480" cy="548640"/>
          </a:xfrm>
          <a:prstGeom prst="rect">
            <a:avLst/>
          </a:prstGeom>
          <a:noFill/>
        </p:spPr>
        <p:txBody>
          <a:bodyPr wrap="square">
            <a:spAutoFit/>
          </a:bodyPr>
          <a:lstStyle/>
          <a:p>
            <a:pPr algn="l"/>
            <a:r>
              <a:rPr sz="1100" b="0" i="0">
                <a:solidFill>
                  <a:srgbClr val="212121"/>
                </a:solidFill>
              </a:rPr>
              <a:t>The best questions invite stories, not opinions. 'Tell me about a time when...' almost always produces more useful answers.</a:t>
            </a:r>
          </a:p>
        </p:txBody>
      </p:sp>
      <p:sp>
        <p:nvSpPr>
          <p:cNvPr id="8" name="Rectangle 7"/>
          <p:cNvSpPr/>
          <p:nvPr/>
        </p:nvSpPr>
        <p:spPr>
          <a:xfrm>
            <a:off x="0" y="6565392"/>
            <a:ext cx="91440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83680"/>
            <a:ext cx="8686800" cy="256032"/>
          </a:xfrm>
          <a:prstGeom prst="rect">
            <a:avLst/>
          </a:prstGeom>
          <a:noFill/>
        </p:spPr>
        <p:txBody>
          <a:bodyPr wrap="square">
            <a:spAutoFit/>
          </a:bodyPr>
          <a:lstStyle/>
          <a:p>
            <a:pPr algn="l"/>
            <a:r>
              <a:rPr sz="900" b="0" i="1">
                <a:solidFill>
                  <a:srgbClr val="888888"/>
                </a:solidFill>
              </a:rPr>
              <a:t>📝  Write key ideas in your Cornell Notes — RIGHT column   |   Any questions? Add them to the LEFT column</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Activity: Student Panel Notes  —  Lesson 5.4</a:t>
            </a:r>
          </a:p>
        </p:txBody>
      </p:sp>
      <p:sp>
        <p:nvSpPr>
          <p:cNvPr id="4" name="Rectangle 3"/>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25 min</a:t>
            </a:r>
          </a:p>
        </p:txBody>
      </p:sp>
      <p:sp>
        <p:nvSpPr>
          <p:cNvPr id="6" name="TextBox 5"/>
          <p:cNvSpPr txBox="1"/>
          <p:nvPr/>
        </p:nvSpPr>
        <p:spPr>
          <a:xfrm>
            <a:off x="228600" y="594360"/>
            <a:ext cx="7315200" cy="1097280"/>
          </a:xfrm>
          <a:prstGeom prst="rect">
            <a:avLst/>
          </a:prstGeom>
          <a:noFill/>
        </p:spPr>
        <p:txBody>
          <a:bodyPr wrap="square">
            <a:spAutoFit/>
          </a:bodyPr>
          <a:lstStyle/>
          <a:p>
            <a:pPr algn="l"/>
            <a:r>
              <a:rPr sz="1100" b="0" i="1">
                <a:solidFill>
                  <a:srgbClr val="212121"/>
                </a:solidFill>
              </a:rPr>
              <a:t>Listen actively. Write the speaker's name and key ideas. Circle what surprises you. Star what you want to remember. Save your most important insight for the exit ticket.</a:t>
            </a:r>
          </a:p>
        </p:txBody>
      </p:sp>
      <p:sp>
        <p:nvSpPr>
          <p:cNvPr id="7" name="TextBox 6"/>
          <p:cNvSpPr txBox="1"/>
          <p:nvPr/>
        </p:nvSpPr>
        <p:spPr>
          <a:xfrm>
            <a:off x="228600" y="1783080"/>
            <a:ext cx="8686800" cy="3200400"/>
          </a:xfrm>
          <a:prstGeom prst="rect">
            <a:avLst/>
          </a:prstGeom>
          <a:noFill/>
        </p:spPr>
        <p:txBody>
          <a:bodyPr wrap="square">
            <a:spAutoFit/>
          </a:bodyPr>
          <a:lstStyle/>
          <a:p>
            <a:pPr algn="l"/>
            <a:r>
              <a:rPr sz="1200" b="0" i="0">
                <a:solidFill>
                  <a:srgbClr val="212121"/>
                </a:solidFill>
              </a:rPr>
              <a:t>Listen actively. Write the speaker's name and key ideas. Circle what surprises you. Star what you want to remember. Save your most important insight for the exit ticket.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DFAF4"/>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Exit Ticket  —  Lesson 5.4: TRHS Student Panel</a:t>
            </a:r>
          </a:p>
        </p:txBody>
      </p:sp>
      <p:sp>
        <p:nvSpPr>
          <p:cNvPr id="4" name="TextBox 3"/>
          <p:cNvSpPr txBox="1"/>
          <p:nvPr/>
        </p:nvSpPr>
        <p:spPr>
          <a:xfrm>
            <a:off x="228600" y="594360"/>
            <a:ext cx="4572000" cy="320040"/>
          </a:xfrm>
          <a:prstGeom prst="rect">
            <a:avLst/>
          </a:prstGeom>
          <a:noFill/>
        </p:spPr>
        <p:txBody>
          <a:bodyPr wrap="square">
            <a:spAutoFit/>
          </a:bodyPr>
          <a:lstStyle/>
          <a:p>
            <a:pPr algn="l"/>
            <a:r>
              <a:rPr sz="1100" b="0" i="1">
                <a:solidFill>
                  <a:srgbClr val="888888"/>
                </a:solidFill>
              </a:rPr>
              <a:t>Format: Synthesis Write</a:t>
            </a:r>
          </a:p>
        </p:txBody>
      </p:sp>
      <p:sp>
        <p:nvSpPr>
          <p:cNvPr id="5" name="Rectangle 4"/>
          <p:cNvSpPr/>
          <p:nvPr/>
        </p:nvSpPr>
        <p:spPr>
          <a:xfrm>
            <a:off x="7772400" y="594360"/>
            <a:ext cx="1234440" cy="365760"/>
          </a:xfrm>
          <a:prstGeom prst="rect">
            <a:avLst/>
          </a:prstGeom>
          <a:solidFill>
            <a:srgbClr val="C7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4" y="630936"/>
            <a:ext cx="1115568" cy="292608"/>
          </a:xfrm>
          <a:prstGeom prst="rect">
            <a:avLst/>
          </a:prstGeom>
          <a:noFill/>
        </p:spPr>
        <p:txBody>
          <a:bodyPr wrap="square">
            <a:spAutoFit/>
          </a:bodyPr>
          <a:lstStyle/>
          <a:p>
            <a:pPr algn="ctr"/>
            <a:r>
              <a:rPr sz="1200" b="1" i="0">
                <a:solidFill>
                  <a:srgbClr val="FFFFFF"/>
                </a:solidFill>
              </a:rPr>
              <a:t>⏱ 5 min</a:t>
            </a:r>
          </a:p>
        </p:txBody>
      </p:sp>
      <p:sp>
        <p:nvSpPr>
          <p:cNvPr id="7" name="Rectangle 6"/>
          <p:cNvSpPr/>
          <p:nvPr/>
        </p:nvSpPr>
        <p:spPr>
          <a:xfrm>
            <a:off x="228600" y="1005840"/>
            <a:ext cx="868680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78992"/>
            <a:ext cx="8412480" cy="1508760"/>
          </a:xfrm>
          <a:prstGeom prst="rect">
            <a:avLst/>
          </a:prstGeom>
          <a:noFill/>
        </p:spPr>
        <p:txBody>
          <a:bodyPr wrap="square">
            <a:spAutoFit/>
          </a:bodyPr>
          <a:lstStyle/>
          <a:p>
            <a:pPr algn="l"/>
            <a:r>
              <a:rPr sz="1200" b="0" i="0">
                <a:solidFill>
                  <a:srgbClr val="212121"/>
                </a:solidFill>
              </a:rPr>
              <a:t>Write a paragraph (5–7 sentences) in response to this prompt: What is the MOST important thing you heard from the panel today, and how will it change how you approach 9th grade? Be specific — reference what was actually said.</a:t>
            </a:r>
          </a:p>
        </p:txBody>
      </p:sp>
      <p:sp>
        <p:nvSpPr>
          <p:cNvPr id="9" name="Rectangle 8"/>
          <p:cNvSpPr/>
          <p:nvPr/>
        </p:nvSpPr>
        <p:spPr>
          <a:xfrm>
            <a:off x="228600" y="283464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324612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365760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4069080"/>
            <a:ext cx="8686800" cy="18288"/>
          </a:xfrm>
          <a:prstGeom prst="rect">
            <a:avLst/>
          </a:prstGeom>
          <a:solidFill>
            <a:srgbClr val="C8D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30352"/>
          </a:xfrm>
          <a:prstGeom prst="rect">
            <a:avLst/>
          </a:prstGeom>
          <a:solidFill>
            <a:srgbClr val="9966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64008"/>
            <a:ext cx="8778240" cy="438912"/>
          </a:xfrm>
          <a:prstGeom prst="rect">
            <a:avLst/>
          </a:prstGeom>
          <a:noFill/>
        </p:spPr>
        <p:txBody>
          <a:bodyPr wrap="square">
            <a:spAutoFit/>
          </a:bodyPr>
          <a:lstStyle/>
          <a:p>
            <a:pPr algn="l"/>
            <a:r>
              <a:rPr sz="1700" b="1" i="0">
                <a:solidFill>
                  <a:srgbClr val="FFFFFF"/>
                </a:solidFill>
              </a:rPr>
              <a:t>Unit 5 Post-Test  —  How Far Have You Come?</a:t>
            </a:r>
          </a:p>
        </p:txBody>
      </p:sp>
      <p:sp>
        <p:nvSpPr>
          <p:cNvPr id="4" name="TextBox 3"/>
          <p:cNvSpPr txBox="1"/>
          <p:nvPr/>
        </p:nvSpPr>
        <p:spPr>
          <a:xfrm>
            <a:off x="274320" y="640080"/>
            <a:ext cx="8595360" cy="2286000"/>
          </a:xfrm>
          <a:prstGeom prst="rect">
            <a:avLst/>
          </a:prstGeom>
          <a:noFill/>
        </p:spPr>
        <p:txBody>
          <a:bodyPr wrap="square">
            <a:spAutoFit/>
          </a:bodyPr>
          <a:lstStyle/>
          <a:p>
            <a:pPr algn="l"/>
            <a:r>
              <a:rPr sz="1250" b="0" i="0">
                <a:solidFill>
                  <a:srgbClr val="212121"/>
                </a:solidFill>
              </a:rPr>
              <a:t>Write a letter (at least two paragraphs) to an 8th grader who is about to take Warrior Prep next year. Tell them: what you learned in this course, what you would do differently if you could go back, your top three pieces of advice for transitioning to Two Rivers, and what you are most looking forward to in 9th grade.</a:t>
            </a:r>
          </a:p>
        </p:txBody>
      </p:sp>
      <p:sp>
        <p:nvSpPr>
          <p:cNvPr id="5" name="Rectangle 4"/>
          <p:cNvSpPr/>
          <p:nvPr/>
        </p:nvSpPr>
        <p:spPr>
          <a:xfrm>
            <a:off x="228600" y="3063240"/>
            <a:ext cx="8686800" cy="65836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3145536"/>
            <a:ext cx="8412480" cy="502920"/>
          </a:xfrm>
          <a:prstGeom prst="rect">
            <a:avLst/>
          </a:prstGeom>
          <a:noFill/>
        </p:spPr>
        <p:txBody>
          <a:bodyPr wrap="square">
            <a:spAutoFit/>
          </a:bodyPr>
          <a:lstStyle/>
          <a:p>
            <a:pPr algn="l"/>
            <a:r>
              <a:rPr sz="1100" b="0" i="1">
                <a:solidFill>
                  <a:srgbClr val="212121"/>
                </a:solidFill>
              </a:rPr>
              <a:t>TIP: Your Cornell Notes are your best resource. Use the vocabulary, the key ideas from the readings, and the activities from this unit to write a thorough, specific response.</a:t>
            </a:r>
          </a:p>
        </p:txBody>
      </p:sp>
      <p:sp>
        <p:nvSpPr>
          <p:cNvPr id="7" name="Rectangle 6"/>
          <p:cNvSpPr/>
          <p:nvPr/>
        </p:nvSpPr>
        <p:spPr>
          <a:xfrm>
            <a:off x="228600" y="3886200"/>
            <a:ext cx="8686800" cy="502920"/>
          </a:xfrm>
          <a:prstGeom prst="rect">
            <a:avLst/>
          </a:prstGeom>
          <a:solidFill>
            <a:srgbClr val="F5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950208"/>
            <a:ext cx="8412480" cy="384048"/>
          </a:xfrm>
          <a:prstGeom prst="rect">
            <a:avLst/>
          </a:prstGeom>
          <a:noFill/>
        </p:spPr>
        <p:txBody>
          <a:bodyPr wrap="square">
            <a:spAutoFit/>
          </a:bodyPr>
          <a:lstStyle/>
          <a:p>
            <a:pPr algn="l"/>
            <a:r>
              <a:rPr sz="1100" b="1" i="0">
                <a:solidFill>
                  <a:srgbClr val="212121"/>
                </a:solidFill>
              </a:rPr>
              <a:t>Growth Check: Compare your post-test to your pre-test. Circle 3 specific things you know now that you did not know at the start of this unit.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