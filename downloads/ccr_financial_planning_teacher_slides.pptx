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3D28"/>
        </a:solidFill>
        <a:effectLst/>
      </p:bgPr>
    </p:bg>
    <p:spTree>
      <p:nvGrpSpPr>
        <p:cNvPr id="1" name=""/>
        <p:cNvGrpSpPr/>
        <p:nvPr/>
      </p:nvGrpSpPr>
      <p:grpSpPr/>
      <p:sp>
        <p:nvSpPr>
          <p:cNvPr id="2" name="TextBox 1"/>
          <p:cNvSpPr txBox="1"/>
          <p:nvPr/>
        </p:nvSpPr>
        <p:spPr>
          <a:xfrm>
            <a:off x="731520" y="2103120"/>
            <a:ext cx="10698480" cy="1097280"/>
          </a:xfrm>
          <a:prstGeom prst="rect">
            <a:avLst/>
          </a:prstGeom>
          <a:noFill/>
        </p:spPr>
        <p:txBody>
          <a:bodyPr wrap="square">
            <a:spAutoFit/>
          </a:bodyPr>
          <a:lstStyle/>
          <a:p>
            <a:pPr algn="l"/>
            <a:r>
              <a:rPr sz="4400" b="1" i="0">
                <a:solidFill>
                  <a:srgbClr val="FFFFFF"/>
                </a:solidFill>
                <a:latin typeface="Calibri"/>
              </a:rPr>
              <a:t>College &amp; Career Financial Planning</a:t>
            </a:r>
          </a:p>
        </p:txBody>
      </p:sp>
      <p:sp>
        <p:nvSpPr>
          <p:cNvPr id="3" name="TextBox 2"/>
          <p:cNvSpPr txBox="1"/>
          <p:nvPr/>
        </p:nvSpPr>
        <p:spPr>
          <a:xfrm>
            <a:off x="731520" y="3200400"/>
            <a:ext cx="10698480" cy="548640"/>
          </a:xfrm>
          <a:prstGeom prst="rect">
            <a:avLst/>
          </a:prstGeom>
          <a:noFill/>
        </p:spPr>
        <p:txBody>
          <a:bodyPr wrap="square">
            <a:spAutoFit/>
          </a:bodyPr>
          <a:lstStyle/>
          <a:p>
            <a:pPr algn="l"/>
            <a:r>
              <a:rPr sz="2000" b="0" i="0">
                <a:solidFill>
                  <a:srgbClr val="F0C14B"/>
                </a:solidFill>
                <a:latin typeface="Calibri"/>
              </a:rPr>
              <a:t>ISD 197 — Two Rivers High School · Grades 11-12 · One Semester · 82 Days</a:t>
            </a:r>
          </a:p>
        </p:txBody>
      </p:sp>
      <p:sp>
        <p:nvSpPr>
          <p:cNvPr id="4" name="TextBox 3"/>
          <p:cNvSpPr txBox="1"/>
          <p:nvPr/>
        </p:nvSpPr>
        <p:spPr>
          <a:xfrm>
            <a:off x="731520" y="3840480"/>
            <a:ext cx="10698480" cy="548640"/>
          </a:xfrm>
          <a:prstGeom prst="rect">
            <a:avLst/>
          </a:prstGeom>
          <a:noFill/>
        </p:spPr>
        <p:txBody>
          <a:bodyPr wrap="square">
            <a:spAutoFit/>
          </a:bodyPr>
          <a:lstStyle/>
          <a:p>
            <a:pPr algn="l"/>
            <a:r>
              <a:rPr sz="1500" b="0" i="1">
                <a:solidFill>
                  <a:srgbClr val="FFFFFF"/>
                </a:solidFill>
                <a:latin typeface="Calibri"/>
              </a:rPr>
              <a:t>Teacher Slide Deck — one slide per lesson, 82 lessons total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5E3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0C14B"/>
                </a:solidFill>
                <a:latin typeface="Calibri"/>
              </a:rPr>
              <a:t>UNIT 1</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Financial Psychology &amp; Goal Setting</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What impacts my financial thinking?</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0C14B"/>
                </a:solidFill>
                <a:latin typeface="Calibri"/>
              </a:rPr>
              <a:t>Days 1–10 · 10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Financial Goals, Financial Thinking, Personal Bias, FOMO, Peer Pressure, S.M.A.R.T. Goals, Advertising Influence, Source Information/Credibility, Impulse Buying, Spending Plan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  ·  What Shapes the Way We Think About Money?</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financial thinking means and identify factors that shape it.</a:t>
            </a:r>
          </a:p>
          <a:p>
            <a:pPr>
              <a:spcAft>
                <a:spcPts val="600"/>
              </a:spcAft>
              <a:defRPr sz="1250">
                <a:solidFill>
                  <a:srgbClr val="1A1A1A"/>
                </a:solidFill>
                <a:latin typeface="Calibri"/>
              </a:defRPr>
            </a:pPr>
            <a:r>
              <a:t>•  I can describe why financial goals matter and give examples of short-, medium-, and long-term goals.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Financial Thinking: The pattern of beliefs, habits, and automatic reactions a person brings to money decisions, shaped by family, culture, media, and personal experience.</a:t>
            </a:r>
          </a:p>
          <a:p>
            <a:pPr>
              <a:spcAft>
                <a:spcPts val="600"/>
              </a:spcAft>
              <a:defRPr sz="1200">
                <a:solidFill>
                  <a:srgbClr val="1A1A1A"/>
                </a:solidFill>
                <a:latin typeface="Calibri"/>
              </a:defRPr>
            </a:pPr>
            <a:r>
              <a:t>•  Financial Goals: Specific, intentional outcomes you want your money to help you reach, as opposed to a vague wish.</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On a sticky note, write down one thing (a person, an experience, an ad, a habit) that has shaped how you think about spending or saving money. Be ready to share with a partner.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Banzai "What's Next for Me?" Reflection: Have students log in to the Banzai "What's Next for Me?" reflection tool (or use the paper version if devices aren't available) and complete the goal-identification section, naming one short-term and one long-term financial goal. Give them eight to ten minutes to work individually, then pair students up to share one goal and one reason it matters to them. Close by cold-calling two or three pairs to share out with the whole class.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This Course Starts With Psychology, Not Math</a:t>
            </a:r>
          </a:p>
          <a:p>
            <a:pPr>
              <a:spcAft>
                <a:spcPts val="600"/>
              </a:spcAft>
              <a:defRPr sz="1250">
                <a:solidFill>
                  <a:srgbClr val="1A1A1A"/>
                </a:solidFill>
                <a:latin typeface="Calibri"/>
              </a:defRPr>
            </a:pPr>
            <a:r>
              <a:t>•  What Is Financial Thinking?</a:t>
            </a:r>
          </a:p>
          <a:p>
            <a:pPr>
              <a:spcAft>
                <a:spcPts val="600"/>
              </a:spcAft>
              <a:defRPr sz="1250">
                <a:solidFill>
                  <a:srgbClr val="1A1A1A"/>
                </a:solidFill>
                <a:latin typeface="Calibri"/>
              </a:defRPr>
            </a:pPr>
            <a:r>
              <a:t>•  Financial Goals: The Destination</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long-term financial goal you have, and name one factor from today's warm-up (family habit, ad, social pressure, past experience) that might make it harder to reach.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Two Hundred Dollar Question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Marcus just got $200 in birthday money from his grandparents. He already has $40 saved toward a laptop he wants for his tech certificate program next year, which costs $250 total, and he's hoping to have it by the start of the school year, five months from now. This morning he also saw an ad for a limited-edition controller, $85, and two friends in his group chat already ordered one. Marcus feels a pull to buy it right now, before he even thinks about the laptop money. He has a part-time job that lets him save about $15 a week if he's disciplined about it. He hasn't decided anything yet, he's just sitting with his birthday money and the controller ad open in another tab.</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Have students calculate whether Marcus can still reach his $250 laptop goal within five months if he puts $150 of his birthday money toward it now and keeps saving $15 a week, versus what happens to the timeline if he spends $85 on the controller first. Then have them classify the laptop goal by timeframe (short-, medium-, or long-term) and name one specific factor from today's warm-up categories (family habit, ad, social pressure, past experience) that seems to be shaping Marcus's pull toward the controller.</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Categorize  (CAT-uh-guh-rize)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sort things into groups based on shared characteristics.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kategoria (accusation, statement) + English -ize (verb-forming suffix meaning 'to make or do')</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 you'll categorize your own financial goals as short-term, medium-term, or long-term based on how far away they 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  ·  Whose Voice Is In Your Head When You Spend?</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personal bias and explain how it affects money decisions.</a:t>
            </a:r>
          </a:p>
          <a:p>
            <a:pPr>
              <a:spcAft>
                <a:spcPts val="600"/>
              </a:spcAft>
              <a:defRPr sz="1250">
                <a:solidFill>
                  <a:srgbClr val="1A1A1A"/>
                </a:solidFill>
                <a:latin typeface="Calibri"/>
              </a:defRPr>
            </a:pPr>
            <a:r>
              <a:t>•  I can identify examples of bias in my own financial thinking.</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Personal Bias: An automatic mental shortcut that leans a money decision one way without full analysis of the facts.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Would you rather find $20 or avoid losing $20? Write your answer and why. There's no wrong answer, we're studying the reaction, not judging it.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Bias Spotting Gallery Walk: Post four or five scenario cards around the room, each describing a money decision (buying concert tickets on a credit card because it'll work out, skipping a savings app because a friend called it boring, buying a jacket because three people at school have the same one). In small groups, have students rotate to each card and write down which bias from today's lesson is most likely at play and why. Regroup as a class to compare answers and discuss any disagreements.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Is Personal Bias?</a:t>
            </a:r>
          </a:p>
          <a:p>
            <a:pPr>
              <a:spcAft>
                <a:spcPts val="600"/>
              </a:spcAft>
              <a:defRPr sz="1250">
                <a:solidFill>
                  <a:srgbClr val="1A1A1A"/>
                </a:solidFill>
                <a:latin typeface="Calibri"/>
              </a:defRPr>
            </a:pPr>
            <a:r>
              <a:t>•  Where Bias Comes From</a:t>
            </a:r>
          </a:p>
          <a:p>
            <a:pPr>
              <a:spcAft>
                <a:spcPts val="600"/>
              </a:spcAft>
              <a:defRPr sz="1250">
                <a:solidFill>
                  <a:srgbClr val="1A1A1A"/>
                </a:solidFill>
                <a:latin typeface="Calibri"/>
              </a:defRPr>
            </a:pPr>
            <a:r>
              <a:t>•  Common Money Biases Teens Have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Describe one money bias from today's lesson (optimism, comparison, reward, or present bias) that you recognize in yourself, using a real or realistic example.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Jordan's Sneaker Decision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Jordan just finished a brutal week: two exams, a closing shift that ran long, and an argument with a sibling. Scrolling through their phone before bed, Jordan sees that three people in their friend group have posted the same pair of limited-release sneakers, $140, over the last two days. Jordan doesn't need new shoes; their current pair has maybe a few months of wear left in them. But Jordan keeps thinking, 'I've had such a rough week, I deserve something good,' and also, 'everyone already has these, I'm going to be the only one who doesn't.' Jordan has $160 in their account, all of it earmarked for a car insurance payment due in ten days. There's no discussion with anyone yet, just Jordan, the shoes on screen, and a thumb hovering over the buy button at 11:40 p.m.</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Have students identify which specific bias (or biases) from today's lesson are showing up in Jordan's thinking, quoting the exact line of internal reasoning that reveals each one, then write two sentences of advice Jordan's future self might give before that thumb taps buy.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Analyze  (AN-uh-lyze)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break something down into its parts in order to understand it more fully.</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roots: ana- (up, throughout) + lyein (to loosen)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 you'll analyze your own past spending decisions to figure out which biases were really driving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  ·  Reading Day: The Shoes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examples of financial bias and FOMO in a realistic scenario.</a:t>
            </a:r>
          </a:p>
          <a:p>
            <a:pPr>
              <a:spcAft>
                <a:spcPts val="600"/>
              </a:spcAft>
              <a:defRPr sz="1250">
                <a:solidFill>
                  <a:srgbClr val="1A1A1A"/>
                </a:solidFill>
                <a:latin typeface="Calibri"/>
              </a:defRPr>
            </a:pPr>
            <a:r>
              <a:t>•  I can explain how defensiveness can be a signal that bias or FOMO is at play.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FOMO: Fear of Missing Out; the anxious feeling that everyone else is having an experience or owning something you are not, often fueled by social media.</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of a time you bought something because "everyone" had one or was doing it. How did you feel right before you bought it? How did you feel a week later?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Reading Circle: The Shoes: Read "The Shoes" as a class, either aloud with students following along or silently first, then aloud for key lines. In groups of three, have students discuss the comprehension questions that follow the reading, then return to a whole-class discussion connecting Maya's reaction to yesterday's bias lesson.</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Is FOMO?</a:t>
            </a:r>
          </a:p>
          <a:p>
            <a:pPr>
              <a:spcAft>
                <a:spcPts val="600"/>
              </a:spcAft>
              <a:defRPr sz="1250">
                <a:solidFill>
                  <a:srgbClr val="1A1A1A"/>
                </a:solidFill>
                <a:latin typeface="Calibri"/>
              </a:defRPr>
            </a:pPr>
            <a:r>
              <a:t>•  Reading the Warning Signs of FOMO</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Shoes</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Describe a moment (from the reading or your own life) where FOMO, rather than an actual need, drove a spending decision.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Fifteen-Minute Sale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flash-sale banner pops up on a student's phone: "2 items left, sale ends in 15 minutes." The item is a $65 hoodie the student has looked at twice before but never bought. Two of their followers already posted photos wearing it this week.</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In pairs, have students name at least two FOMO warning signs from today's mini-lesson (fast decision, dread/urgency instead of excitement, defensiveness) present in this fifteen-minute-sale setup, then decide together whether the pull to buy right now is real need or FOMO, and justify their answer in one sentence each.</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Infer  (in-FUR)</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figure out something not directly stated, using evidence and reasoning.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 (into) + ferre (to carry, to bring)</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Even though the text never says the word 'FOMO,' you can infer that Maya is feeling it from how fast she bought the shoes after seeing Jenna's post.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  ·  Peer Pressure and the Price Tag</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peer pressure in a financial context and distinguish it from FOMO.</a:t>
            </a:r>
          </a:p>
          <a:p>
            <a:pPr>
              <a:spcAft>
                <a:spcPts val="600"/>
              </a:spcAft>
              <a:defRPr sz="1250">
                <a:solidFill>
                  <a:srgbClr val="1A1A1A"/>
                </a:solidFill>
                <a:latin typeface="Calibri"/>
              </a:defRPr>
            </a:pPr>
            <a:r>
              <a:t>•  I can practice a strategy for responding to financial peer pressure.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Peer Pressure: A direct or indirect push from people around you to spend, save, or think about money a certain way.</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of a time a friend directly asked you to spend money you hadn't planned to spend (splitting a bill, chipping in for something). What did you do, and how did it feel in the moment?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Say This, Not That: In pairs, give students two or three peer-pressure scenario cards (splitting an expensive group order, chipping in for a gift beyond their budget, being asked to buy concert tickets they can't afford). Have each pair write a short, realistic response script for one scenario, then perform it briefly for another pair. Debrief as a class on which scripts felt natural versus stiff.</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Is Peer Pressure, Financially?</a:t>
            </a:r>
          </a:p>
          <a:p>
            <a:pPr>
              <a:spcAft>
                <a:spcPts val="600"/>
              </a:spcAft>
              <a:defRPr sz="1250">
                <a:solidFill>
                  <a:srgbClr val="1A1A1A"/>
                </a:solidFill>
                <a:latin typeface="Calibri"/>
              </a:defRPr>
            </a:pPr>
            <a:r>
              <a:t>•  Peer Pressure vs. FOMO</a:t>
            </a:r>
          </a:p>
          <a:p>
            <a:pPr>
              <a:spcAft>
                <a:spcPts val="600"/>
              </a:spcAft>
              <a:defRPr sz="1250">
                <a:solidFill>
                  <a:srgbClr val="1A1A1A"/>
                </a:solidFill>
                <a:latin typeface="Calibri"/>
              </a:defRPr>
            </a:pPr>
            <a:r>
              <a:t>•  Having a Script Ready</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Write one "script" sentence you could actually use the next time you feel peer pressure to spend money you hadn't planned to spend.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Group Chat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A'Liyah's phone buzzes six times in a row. The group chat for her cousin's graduation party has landed on a plan: everyone chips in $35 for a shared gift, a nice speaker, plus another $15 each for a group photo package from the venue. A'Liyah does the math fast: fifty dollars she hadn't planned on spending this week, on top of gas money she already owes her mom. Two people have already sent the thumbs-up emoji. A third writes, "assuming everyone's in, lol," and A'Liyah can feel the shape of the moment closing in before she's even decided anything. No one has asked her directly yet. It's just sitting there, three thumbs-up and a countdown of unspoken assumption, waiting for her reply.</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Have students write the text message A'Liyah could actually send back, using the lesson's script strategy, that responds honestly to the indirect group pressure without ghosting the chat, and have them label which parts of the scenario are peer pressure versus which parts (if any) are FOMO.</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Articulate  (ar-TIK-yuh-layt)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express an idea clearly and effectively in words.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articulus (small joint, connecting part) + -ate (verb-forming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good peer-pressure script lets you articulate your decision calmly instead of scrambling for words in the moment.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  ·  Setting Goals That Actually Work: S.M.A.R.T. Goals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each part of the S.M.A.R.T. goals framework.</a:t>
            </a:r>
          </a:p>
          <a:p>
            <a:pPr>
              <a:spcAft>
                <a:spcPts val="600"/>
              </a:spcAft>
              <a:defRPr sz="1250">
                <a:solidFill>
                  <a:srgbClr val="1A1A1A"/>
                </a:solidFill>
                <a:latin typeface="Calibri"/>
              </a:defRPr>
            </a:pPr>
            <a:r>
              <a:t>•  I can revise a vague financial goal into a full S.M.A.R.T. goal.</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S.M.A.R.T. Goals: A goal-setting framework requiring a goal to be Specific, Measurable, Achievable, Relevant, and Time-bound.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Write down a money goal you have right now, in one sentence, however vague or specific it is.</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S.M.A.R.T. Goals Worksheet: Have students take the vague money goal they wrote during today's warm-up and complete the S.M.A.R.T. Goals worksheet from the Banzai High School Personal Finance Workbook, filling in each of the five categories. Once finished, partner students up to trade worksheets and give each other feedback on whether the goal is truly measurable and time-bound, not just specific. Collect worksheets as a formative check.</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From Vague Wish to Real Goal</a:t>
            </a:r>
          </a:p>
          <a:p>
            <a:pPr>
              <a:spcAft>
                <a:spcPts val="600"/>
              </a:spcAft>
              <a:defRPr sz="1250">
                <a:solidFill>
                  <a:srgbClr val="1A1A1A"/>
                </a:solidFill>
                <a:latin typeface="Calibri"/>
              </a:defRPr>
            </a:pPr>
            <a:r>
              <a:t>•  The Five Parts of a S.M.A.R.T. Goal</a:t>
            </a:r>
          </a:p>
          <a:p>
            <a:pPr>
              <a:spcAft>
                <a:spcPts val="600"/>
              </a:spcAft>
              <a:defRPr sz="1250">
                <a:solidFill>
                  <a:srgbClr val="1A1A1A"/>
                </a:solidFill>
                <a:latin typeface="Calibri"/>
              </a:defRPr>
            </a:pPr>
            <a:r>
              <a:t>•  A Worked Example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Share your completed S.M.A.R.T. goal from today's worksheet: what is your specific number, and what is your deadline?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Six Months to a Certification Voucher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local coding bootcamp is offering a $300 discounted enrollment voucher, but it has to be paid in full six months from today to lock in the price. A student interested in the bootcamp currently has $0 saved toward it and earns $60 a week from a part-time job, most of which already goes toward gas and phone bill. They think they could realistically set aside $25 a week without straining their budget, but they haven't done the math on whether that actually gets them to $300 in time, and they haven't written down why the certificate matters to them or what happens if they fall short.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Have students calculate whether saving $25 a week gets the student to $300 within the six-month window (showing the math), then have them write the goal as a full S.M.A.R.T. statement, filling in all five parts, and flag whether the original $25-a-week plan needs to be adjusted to actually be Achievable and Time-bound.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Differentiate  (dif-uh-REN-shee-ayt)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identify and explain the distinct differences between two or more things.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dis- (apart) + ferre (to carry) + -ate (verb-forming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Being able to differentiate a Specific goal from a merely Measurable one helps you catch which part of your S.M.A.R.T. goal is still missing.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  ·  Reading Day: How Advertising Targets Teen Spending</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advertising techniques designed to influence teen spending.</a:t>
            </a:r>
          </a:p>
          <a:p>
            <a:pPr>
              <a:spcAft>
                <a:spcPts val="600"/>
              </a:spcAft>
              <a:defRPr sz="1250">
                <a:solidFill>
                  <a:srgbClr val="1A1A1A"/>
                </a:solidFill>
                <a:latin typeface="Calibri"/>
              </a:defRPr>
            </a:pPr>
            <a:r>
              <a:t>•  I can evaluate the credibility of a source of financial or product information.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Advertising Influence: The effect that marketing, sponsored content, and promotional messaging has on a person's wants and decisions, often without them noticing.</a:t>
            </a:r>
          </a:p>
          <a:p>
            <a:pPr>
              <a:spcAft>
                <a:spcPts val="600"/>
              </a:spcAft>
              <a:defRPr sz="1200">
                <a:solidFill>
                  <a:srgbClr val="1A1A1A"/>
                </a:solidFill>
                <a:latin typeface="Calibri"/>
              </a:defRPr>
            </a:pPr>
            <a:r>
              <a:t>•  Source Information/Credibility: The practice of judging whether information about money or a product actually deserves trust, based on who created it and what they gain.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of an ad that made you want to buy something you hadn't planned on buying. What specifically did the ad do to make you want it?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Spot the Technique: After reading "How Advertising Targets Teen Spending" as a class, show students two or three real or realistic ad examples (a countdown sale banner, an influencer post, an "as seen on" product page). In small groups, have them identify which technique from the reading (social proof, urgency/scarcity, influencer blur) each example uses and rate how credible the underlying source information actually is.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Is Advertising Influence?</a:t>
            </a:r>
          </a:p>
          <a:p>
            <a:pPr>
              <a:spcAft>
                <a:spcPts val="600"/>
              </a:spcAft>
              <a:defRPr sz="1250">
                <a:solidFill>
                  <a:srgbClr val="1A1A1A"/>
                </a:solidFill>
                <a:latin typeface="Calibri"/>
              </a:defRPr>
            </a:pPr>
            <a:r>
              <a:t>•  Evaluating Source Information and Credibility</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(Informational)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How Advertising Targets Teen Spending</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Describe one advertising technique from today's reading and one question you can ask yourself next time you feel pulled to buy something you saw advertised.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Sponsored Post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An influencer with 40,000 followers posts a video titled "How I Manifested My Savings Account" promoting a $60 online "money mindset" course. The video features testimonials from three followers, a countdown graphic saying enrollment closes in 48 hours, and a tiny gray "#ad" tag in the corner of the screen for the first two seconds. The influencer never explains what's actually inside the course, only that it "changed her relationship with money." A student watching the video feels genuinely moved and is considering signing up using money set aside for other things.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reading's three credibility questions (who wrote this, what do they gain, is there outside evidence), have students write a short paragraph evaluating whether this post is a credible source of financial information, citing at least two specific details from the scenario as evidence.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Evaluate  (ee-VAL-yoo-ayt)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judge the value, credibility, or quality of something based on evidence.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ex- (out) + valere (to be strong, to be worth) + -ate (verb-forming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Before trusting a sponsored post, evaluate the source using the three credibility questions from today's reading.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  ·  The Impulse Buy Autopsy</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impulse buying and identify its personal triggers.</a:t>
            </a:r>
          </a:p>
          <a:p>
            <a:pPr>
              <a:spcAft>
                <a:spcPts val="600"/>
              </a:spcAft>
              <a:defRPr sz="1250">
                <a:solidFill>
                  <a:srgbClr val="1A1A1A"/>
                </a:solidFill>
                <a:latin typeface="Calibri"/>
              </a:defRPr>
            </a:pPr>
            <a:r>
              <a:t>•  I can apply a pause strategy to slow down a spending decision.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Impulse Buying: Making a purchase with little or no planning, usually driven by an in-the-moment feeling rather than a spending plan or goal.</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Describe a recent purchase, small or large, that you made without really planning it. What happened right before you decided to buy it?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Impulse Buy Autopsy: Have students think of a real or realistic recent impulse purchase and complete an "autopsy" worksheet with three columns: the trigger (what happened right before), the feeling (what emotion was present), and the outcome (how they felt about it afterward, a day or a week later). In the final section, have them rewrite the decision using the pause strategy and note whether they think the outcome would have changed.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Is Impulse Buying?</a:t>
            </a:r>
          </a:p>
          <a:p>
            <a:pPr>
              <a:spcAft>
                <a:spcPts val="600"/>
              </a:spcAft>
              <a:defRPr sz="1250">
                <a:solidFill>
                  <a:srgbClr val="1A1A1A"/>
                </a:solidFill>
                <a:latin typeface="Calibri"/>
              </a:defRPr>
            </a:pPr>
            <a:r>
              <a:t>•  Why This Unit Built Up to This Word</a:t>
            </a:r>
          </a:p>
          <a:p>
            <a:pPr>
              <a:spcAft>
                <a:spcPts val="600"/>
              </a:spcAft>
              <a:defRPr sz="1250">
                <a:solidFill>
                  <a:srgbClr val="1A1A1A"/>
                </a:solidFill>
                <a:latin typeface="Calibri"/>
              </a:defRPr>
            </a:pPr>
            <a:r>
              <a:t>•  The Pause Strategy</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Describe one specific trigger (a feeling, situation, or influence) that tends to lead you toward impulse buying.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Checkout Line Math</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walks into a store planning to buy exactly one thing: a $12 birthday card for a friend. While waiting in the checkout line, they add a $6 phone charm from the impulse rack, then a $9 energy drink four-pack because it's "basically the same price as one at the vending machine anyway." Their planned budget for this errand was $15, cash they'd set aside from their last paycheck specifically for the card and nothing else.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Have students calculate the total actual spending versus the planned $15 budget, find the dollar amount of overspend, and then apply the 24-hour rule to decide which of the two impulse add-ons (if either) is worth buying today versus waiting on, explaining their reasoning.</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Critique  (kri-TEEK)</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assess something's strengths and weaknesses, pointing out specifically what worked and what didn't.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kritikos (able to discern or judge), from krinein (to separate, decide, judge)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In today's autopsy activity, you'll critique one of your own past purchases to see exactly where the decision went off track.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8  ·  Reading Day: What's a Major, Anyway?</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connect the unit's ideas about noticing outside influence to thinking about future career interests.</a:t>
            </a:r>
          </a:p>
          <a:p>
            <a:pPr>
              <a:spcAft>
                <a:spcPts val="600"/>
              </a:spcAft>
              <a:defRPr sz="1250">
                <a:solidFill>
                  <a:srgbClr val="1A1A1A"/>
                </a:solidFill>
                <a:latin typeface="Calibri"/>
              </a:defRPr>
            </a:pPr>
            <a:r>
              <a:t>•  I can explain why both personal interest and realistic income matter when considering a future path.</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Financial Goals: Specific, intentional outcomes you want your money to help you reach, as opposed to a vague wish.</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money were no object at all, what would you want to spend your time doing? Now, does your answer change if you imagine paying your own rent next year?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Interest vs. Income Quick-Sort: Give students a list of eight to ten career or field names. Individually, have them mark each one with a plus, minus, or neutral for personal interest, then separately for likely income level, without researching yet. In pairs, discuss which fields scored high on both, which scored high on only one, and connect back to the reading's idea that both interest and income deserve a voice in the decision, but neither should be the only voice.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This Reading Bridges Two Topics</a:t>
            </a:r>
          </a:p>
          <a:p>
            <a:pPr>
              <a:spcAft>
                <a:spcPts val="600"/>
              </a:spcAft>
              <a:defRPr sz="1250">
                <a:solidFill>
                  <a:srgbClr val="1A1A1A"/>
                </a:solidFill>
                <a:latin typeface="Calibri"/>
              </a:defRPr>
            </a:pPr>
            <a:r>
              <a:t>•  Interests and Income Both Matter</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What's a Major, Anyway?</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thing you're personally interested in, and one question you'd want answered about whether it could realistically support you financially.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Two Offers, One Decision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Tomas, a coworker of Priya's, has narrowed his college options down to two paths. The first is a two-year welding certificate program: he finds the work genuinely satisfying, hands-on and immediate, and the field pays well right out of school, but his uncle keeps calling it a "backup plan" and pushing him toward a four-year business degree instead, one Tomas finds mostly boring when he pictures the actual coursework. The second is that business degree, which Tomas admits he's only considering because his uncle brings it up at every family dinner and it would "make sense to everyone." Tomas hasn't told his uncle yet that he's leaning welding.</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Have students analyze the scenario using the reading's framework (personal interest AND realistic income, in that order) to write a two-to-three sentence recommendation for Tomas, explicitly naming which parts of his hesitation come from his own judgment versus outside pressure.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Prioritize  (pry-OR-uh-tize)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decide which of several things matters most and put them in order of importance.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prior (former, first, earlier) + -ize (verb-forming suffix meaning 'to make')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Deshawn has to prioritize his own genuine interest before he even gets to weighing income, instead of the other way around.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9  ·  Building Your First Spending Plan</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a spending plan and distinguish needs from wants.</a:t>
            </a:r>
          </a:p>
          <a:p>
            <a:pPr>
              <a:spcAft>
                <a:spcPts val="600"/>
              </a:spcAft>
              <a:defRPr sz="1250">
                <a:solidFill>
                  <a:srgbClr val="1A1A1A"/>
                </a:solidFill>
                <a:latin typeface="Calibri"/>
              </a:defRPr>
            </a:pPr>
            <a:r>
              <a:t>•  I can build a simple spending plan that connects to a personal financial goal.</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Spending Plan: A plan that lines up income against outgoing expenses by category (needs, wants, savings) so spending is decided on purpose rather than discovered after the fact.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List everything you spent money on in the last seven days, from memory, without checking your bank app or receipts.</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Build a Spending Plan: Using the Banzai High School Personal Finance Workbook's spending plan template, give students a sample teen income scenario (a set part-time paycheck amount). Have them sort a list of sample expenses into needs, wants, and savings, then calculate what's left over. Ask students to compare that leftover amount to the S.M.A.R.T. goal they wrote earlier in the unit and discuss whether their plan actually gets them there on schedule.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Is a Spending Plan?</a:t>
            </a:r>
          </a:p>
          <a:p>
            <a:pPr>
              <a:spcAft>
                <a:spcPts val="600"/>
              </a:spcAft>
              <a:defRPr sz="1250">
                <a:solidFill>
                  <a:srgbClr val="1A1A1A"/>
                </a:solidFill>
                <a:latin typeface="Calibri"/>
              </a:defRPr>
            </a:pPr>
            <a:r>
              <a:t>•  Needs vs. Wants</a:t>
            </a:r>
          </a:p>
          <a:p>
            <a:pPr>
              <a:spcAft>
                <a:spcPts val="600"/>
              </a:spcAft>
              <a:defRPr sz="1250">
                <a:solidFill>
                  <a:srgbClr val="1A1A1A"/>
                </a:solidFill>
                <a:latin typeface="Calibri"/>
              </a:defRPr>
            </a:pPr>
            <a:r>
              <a:t>•  Connecting the Plan to Your Goals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List one need and one want from your own life, and note which one currently gets more of your money.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One Paycheck, Four Categories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earns a $420 biweekly paycheck from a part-time retail job. Over the past two weeks, their actual spending looked like this: $60 on gas, $45 on their phone bill, $85 on eating out with friends, $30 on a streaming subscription split with siblings, $25 on a new hoodie, and $20 on miscellaneous snacks and small purchases. Nothing was set aside first for savings; whatever was left at the end just sat in the account.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Have students sort each of the six expenses into needs, wants, or savings, total each category, calculate what was actually left over after needs, and then determine how much of that leftover amount could have gone toward a $50-a-month S.M.A.R.T. goal if wants had been trimmed by 25 percent.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Allocate  (AL-uh-kayt)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distribute a limited resource, like money or time, for a specific purpose.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toward) + locare (to place), from locus (place)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spending plan works by helping you allocate each paycheck across needs, wants, and savings before you spend a dollar of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10  ·  Unit 1 Review &amp; Assessment: What Impacts My Financial Thinking?</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and apply all ten Unit 1 vocabulary terms in realistic scenarios.</a:t>
            </a:r>
          </a:p>
          <a:p>
            <a:pPr>
              <a:spcAft>
                <a:spcPts val="600"/>
              </a:spcAft>
              <a:defRPr sz="1250">
                <a:solidFill>
                  <a:srgbClr val="1A1A1A"/>
                </a:solidFill>
                <a:latin typeface="Calibri"/>
              </a:defRPr>
            </a:pPr>
            <a:r>
              <a:t>•  I can explain how bias, FOMO, peer pressure, and advertising interact to influence spending, and how S.M.A.R.T. goals and a spending plan counter that influence.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Financial Thinking: The whole unit's umbrella idea: the mental process, biases, and outside pressures behind every money decision you make.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Of all ten words we've learned this unit, which one do you think will matter most for your own life this year? Write one sentence explaining why.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Unit 1 Vocabulary Relay: Split the class into small teams. Read a scenario aloud (for example: a student sees a countdown sale timer, feels panicked, and buys a jacket their friend group already has) and have teams race to write down every Unit 1 vocabulary term that applies to that single scenario, explaining briefly how each one shows up. Award points for correct terms with a valid explanation, then transition into the Unit 1 Assessment.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Forces That Pull</a:t>
            </a:r>
          </a:p>
          <a:p>
            <a:pPr>
              <a:spcAft>
                <a:spcPts val="600"/>
              </a:spcAft>
              <a:defRPr sz="1250">
                <a:solidFill>
                  <a:srgbClr val="1A1A1A"/>
                </a:solidFill>
                <a:latin typeface="Calibri"/>
              </a:defRPr>
            </a:pPr>
            <a:r>
              <a:t>•  The Tools That Ground You</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Of all ten words from this unit, pick the one you think will matter most in your own life this year, and explain why in two to three sentences.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Full Scenario</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Three days before a concert, a student sees a countdown banner: "Only 6 tickets left, price goes up in 2 hours." Two friends have already bought theirs and are texting "you're still coming right??" The tickets are $95, money the student had been putting toward a S.M.A.R.T. goal of saving $400 for a car down payment by August, currently at $210 saved. The student feels a knot in their stomach at the thought of being the only one not there, and part of them thinks, "I've been so responsible lately, I deserve this."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Have students identify every Unit 1 vocabulary term present in this single scenario (at minimum: FOMO, peer pressure, advertising influence, personal bias, and the S.M.A.R.T. goal at risk), explain in one sentence each how it shows up, and then propose which specific tool from the unit (spending plan, the goal itself, source credibility, a script) the student should lean on to make the decision on purpose rather than on impulse.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Synthesize  (SIN-thuh-size)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combine separate pieces of information into a single, coherent understanding.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syn- (together) + tithenai (to place, to put)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Today's review asks you to synthesize all ten Unit 1 vocabulary terms into one explanation of what shapes financial thinking.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5E3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0C14B"/>
                </a:solidFill>
                <a:latin typeface="Calibri"/>
              </a:rPr>
              <a:t>UNIT 2</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Careers, Majors &amp; Earning Income</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How do I evaluate careers and college majors, and how will I earn income?</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0C14B"/>
                </a:solidFill>
                <a:latin typeface="Calibri"/>
              </a:rPr>
              <a:t>Days 11–19 · 9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Major, Minor, Area of Concentration, Career Field, Return on Investment (ROI), Certification, Licensing, Side Hustle, Career Pathway, Salary Expectations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11  ·  What Is a Career Field, Anyway?</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career field and career pathway.</a:t>
            </a:r>
          </a:p>
          <a:p>
            <a:pPr>
              <a:spcAft>
                <a:spcPts val="600"/>
              </a:spcAft>
              <a:defRPr sz="1250">
                <a:solidFill>
                  <a:srgbClr val="1A1A1A"/>
                </a:solidFill>
                <a:latin typeface="Calibri"/>
              </a:defRPr>
            </a:pPr>
            <a:r>
              <a:t>•  I can sort familiar jobs into broader career fields.</a:t>
            </a:r>
          </a:p>
          <a:p>
            <a:pPr>
              <a:spcAft>
                <a:spcPts val="600"/>
              </a:spcAft>
              <a:defRPr sz="1250">
                <a:solidFill>
                  <a:srgbClr val="1A1A1A"/>
                </a:solidFill>
                <a:latin typeface="Calibri"/>
              </a:defRPr>
            </a:pPr>
            <a:r>
              <a:t>•  I can identify at least one career field I want to explore further.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Career Field: A broad category of jobs that share similar skills, settings, or purposes, like healthcare or skilled trades.</a:t>
            </a:r>
          </a:p>
          <a:p>
            <a:pPr>
              <a:spcAft>
                <a:spcPts val="600"/>
              </a:spcAft>
              <a:defRPr sz="1200">
                <a:solidFill>
                  <a:srgbClr val="1A1A1A"/>
                </a:solidFill>
                <a:latin typeface="Calibri"/>
              </a:defRPr>
            </a:pPr>
            <a:r>
              <a:t>•  Career Pathway: A planned sequence of education, training, and experience that leads a person toward a career field.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List three jobs you've thought about having someday, even ones you're not fully sure about. What do those three jobs have in common, if anything?</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Banzai Career Field Quiz: Have students complete the Banzai Career Field Quiz individually on a laptop or Chromebook. Once finished, pair students up to compare their top three suggested career fields and discuss anything that surprised them. Circulate the room and ask each pair to name one job title and one possible pathway step connected to their top result.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Job Title vs. Career Field</a:t>
            </a:r>
          </a:p>
          <a:p>
            <a:pPr>
              <a:spcAft>
                <a:spcPts val="600"/>
              </a:spcAft>
              <a:defRPr sz="1250">
                <a:solidFill>
                  <a:srgbClr val="1A1A1A"/>
                </a:solidFill>
                <a:latin typeface="Calibri"/>
              </a:defRPr>
            </a:pPr>
            <a:r>
              <a:t>•  What a Career Pathway Looks Like</a:t>
            </a:r>
          </a:p>
          <a:p>
            <a:pPr>
              <a:spcAft>
                <a:spcPts val="600"/>
              </a:spcAft>
              <a:defRPr sz="1250">
                <a:solidFill>
                  <a:srgbClr val="1A1A1A"/>
                </a:solidFill>
                <a:latin typeface="Calibri"/>
              </a:defRPr>
            </a:pPr>
            <a:r>
              <a:t>•  Why Explore Fields Before Picking a Major</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career field the Banzai quiz suggested for you and one specific job title that could fall under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Aaliyah's Sudden Interest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Aaliyah has always said she wants to be a veterinarian -- one specific job title. During career week, a guest speaker talks about the broader animal-and-agricultural-science career field, explaining that vet techs, livestock nutritionists, and wildlife rehabilitators all share overlapping training in biology and animal care. Later that day, Aaliyah reads that vet school acceptance rates are extremely low nationally and that the schooling takes eight or more years, and she panics, telling her friends she might as well give up on animals entirely and pick something 'easier.' Her school counselor stops her before she can rewrite her whole future. The counselor points out that 'veterinarian' is just one job title inside a much wider career field, and that field includes several other realistic paths that use many of the same core skills and interests Aaliyah already has, some with far less extreme entry requirements than vet school. Aaliyah hadn't thought about the field as anything bigger than the one job she'd been fixated on since fourth grade.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difference between a job title and a career field, list two other job titles inside the same broader career field as 'veterinarian' that Aaliyah could research as backup or complementary options, and explain in 1-2 sentences why exploring the field, not just one job title, protects her from feeling stuck.</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Categorize  (KAT-uh-guh-ryze)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sort things into groups based on shared characteristics.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kategoria (statement, accusation) + -ize (verb-forming suffix meaning 'to make or do').</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Before choosing a job title, it helps to categorize jobs into the broader career fields they belong to, like healthcare or skilled trades.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12  ·  Major, Minor, or Something In Between</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the difference between a major, a minor, and an area of concentration.</a:t>
            </a:r>
          </a:p>
          <a:p>
            <a:pPr>
              <a:spcAft>
                <a:spcPts val="600"/>
              </a:spcAft>
              <a:defRPr sz="1250">
                <a:solidFill>
                  <a:srgbClr val="1A1A1A"/>
                </a:solidFill>
                <a:latin typeface="Calibri"/>
              </a:defRPr>
            </a:pPr>
            <a:r>
              <a:t>•  I can connect a career field to at least two possible majors.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Major: The primary subject area a college student focuses most of their coursework in, usually tied to a future career path.</a:t>
            </a:r>
          </a:p>
          <a:p>
            <a:pPr>
              <a:spcAft>
                <a:spcPts val="600"/>
              </a:spcAft>
              <a:defRPr sz="1200">
                <a:solidFill>
                  <a:srgbClr val="1A1A1A"/>
                </a:solidFill>
                <a:latin typeface="Calibri"/>
              </a:defRPr>
            </a:pPr>
            <a:r>
              <a:t>•  Minor: A secondary subject area a student studies in less depth than a major, often to add a skill or interest.</a:t>
            </a:r>
          </a:p>
          <a:p>
            <a:pPr>
              <a:spcAft>
                <a:spcPts val="600"/>
              </a:spcAft>
              <a:defRPr sz="1200">
                <a:solidFill>
                  <a:srgbClr val="1A1A1A"/>
                </a:solidFill>
                <a:latin typeface="Calibri"/>
              </a:defRPr>
            </a:pPr>
            <a:r>
              <a:t>•  Area of Concentration: A focused subset of study within a major that lets a student specialize even further.</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 could study literally anything for four years with zero worries about a job afterward, what would it be? Now check: does that subject show up on any 'in demand' or 'high paying' job list you've seen? Why might that be true or not true?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Major Mapping: In groups of three, have students pick one career field from yesterday's Banzai Career Field Quiz results and use the Banzai College &amp; Careers Workbook or a college website's list of majors to identify three possible majors connected to that field. Each group should note one major, one possible minor, and one possible area of concentration that could pair with it. Have one or two groups share their map with the class.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a Major Actually Is</a:t>
            </a:r>
          </a:p>
          <a:p>
            <a:pPr>
              <a:spcAft>
                <a:spcPts val="600"/>
              </a:spcAft>
              <a:defRPr sz="1250">
                <a:solidFill>
                  <a:srgbClr val="1A1A1A"/>
                </a:solidFill>
                <a:latin typeface="Calibri"/>
              </a:defRPr>
            </a:pPr>
            <a:r>
              <a:t>•  Minors and Areas of Concentration</a:t>
            </a:r>
          </a:p>
          <a:p>
            <a:pPr>
              <a:spcAft>
                <a:spcPts val="600"/>
              </a:spcAft>
              <a:defRPr sz="1250">
                <a:solidFill>
                  <a:srgbClr val="1A1A1A"/>
                </a:solidFill>
                <a:latin typeface="Calibri"/>
              </a:defRPr>
            </a:pPr>
            <a:r>
              <a:t>•  Matching Majors to Career Fields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Write down one major you'd consider and one minor or area of concentration that could pair well with it, and explain why in one sentence.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Mapping a Major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Marcus wants to work in the design career field and has narrowed his options to three possible majors at his target university. Graphic Design is a 120-credit major with no required minor, but it offers a UX Design area of concentration. Industrial Design is a 128-credit major that requires students to also complete a Business minor. Marketing is a 120-credit major that allows students to add a Graphic Design minor or a Brand Strategy area of concentration. Marcus knows he's most interested in designing user interfaces for apps and websites, and he's also curious about eventually running his own small design business someday, but he can only realistically handle one major, one minor or concentration, and doesn't want to overload his schedule with unrelated requirements.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Based on Marcus's specific interest in UX design and his side interest in someday running a business, recommend one major paired with one minor or area of concentration from the three options, and justify your recommendation in 2-3 sentences using details from the scenario.</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Differentiate  (dif-uh-REN-shee-ayt)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or point out the differences between two or more similar things.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dis- (apart) + ferre (to carry) + -ate (verb-forming suffix) -- literally 'to carry apart.'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Being able to differentiate a major from a minor and an area of concentration helps students build a more precise college plan.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13  ·  Finding Your Fit with Banzai and Soft Skills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why salary expectations should be based on research, not guessing.</a:t>
            </a:r>
          </a:p>
          <a:p>
            <a:pPr>
              <a:spcAft>
                <a:spcPts val="600"/>
              </a:spcAft>
              <a:defRPr sz="1250">
                <a:solidFill>
                  <a:srgbClr val="1A1A1A"/>
                </a:solidFill>
                <a:latin typeface="Calibri"/>
              </a:defRPr>
            </a:pPr>
            <a:r>
              <a:t>•  I can identify soft skills that matter across almost every career field.</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Salary Expectations: A realistic estimate of what a job typically pays, based on research rather than guesswork.</a:t>
            </a:r>
          </a:p>
          <a:p>
            <a:pPr>
              <a:spcAft>
                <a:spcPts val="600"/>
              </a:spcAft>
              <a:defRPr sz="1200">
                <a:solidFill>
                  <a:srgbClr val="1A1A1A"/>
                </a:solidFill>
                <a:latin typeface="Calibri"/>
              </a:defRPr>
            </a:pPr>
            <a:r>
              <a:t>•  Career Field: A broad category of jobs that share similar skills, settings, or purposes, like healthcare or skilled trades.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Guess: what do you think a first-year job in the career field you're most curious about actually pays per year? Write your guess down, we'll check it later.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Practicing Soft Skills Module + Banzai Career Field Quiz Revisit: Have students complete the 'Practicing Soft Skills' module, focusing on the communication and teamwork scenarios. Afterward, have them revisit their Banzai Career Field Quiz results from Day 11 and look up real starting salary expectations for their top field using the resource provided by the teacher. Ask students to write down one soft skill from the module they personally need to practice most for their top career field.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Guessing vs. Researching Salary</a:t>
            </a:r>
          </a:p>
          <a:p>
            <a:pPr>
              <a:spcAft>
                <a:spcPts val="600"/>
              </a:spcAft>
              <a:defRPr sz="1250">
                <a:solidFill>
                  <a:srgbClr val="1A1A1A"/>
                </a:solidFill>
                <a:latin typeface="Calibri"/>
              </a:defRPr>
            </a:pPr>
            <a:r>
              <a:t>•  Why Soft Skills Show Up in Every Field</a:t>
            </a:r>
          </a:p>
          <a:p>
            <a:pPr>
              <a:spcAft>
                <a:spcPts val="600"/>
              </a:spcAft>
              <a:defRPr sz="1250">
                <a:solidFill>
                  <a:srgbClr val="1A1A1A"/>
                </a:solidFill>
                <a:latin typeface="Calibri"/>
              </a:defRPr>
            </a:pPr>
            <a:r>
              <a:t>•  Combining the Two</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Compare your salary guess from the warm-up to the real number you found today. Were you close, and what surprised you?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Three Guesses, Three Reveals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Three students guess the starting salary for three career fields before looking anything up. Deja guesses a registered nurse starts at $85,000; the real average is $61,000. Tomás guesses a graphic designer starts at $70,000; the real average is $48,000. Priya guesses a licensed electrician starts at $35,000; the real average is $52,000. Each guess came from somewhere: a TV show, a relative's story, or a vague assumption about how 'easy' or 'hard' a job seems, not from any actual research.</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the dollar difference and the percent difference between each student's guess and the real number, then identify whose guess was the least accurate and propose one real source (not a guess) they could check next time before forming a salary expectation.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Substantiate  (sub-STAN-shee-ayt)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support a claim or idea with real evidence instead of assumption.</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sub- (under) + stare (to stand) + -ate -- literally 'to make something stand underneath a claim.'</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Instead of guessing, students learned to substantiate their salary expectations with real labor data.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14  ·  The Fund: Doing the Math on a Major</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Return on Investment (ROI) as it applies to choosing a major.</a:t>
            </a:r>
          </a:p>
          <a:p>
            <a:pPr>
              <a:spcAft>
                <a:spcPts val="600"/>
              </a:spcAft>
              <a:defRPr sz="1250">
                <a:solidFill>
                  <a:srgbClr val="1A1A1A"/>
                </a:solidFill>
                <a:latin typeface="Calibri"/>
              </a:defRPr>
            </a:pPr>
            <a:r>
              <a:t>•  I can explain why passion alone isn't a complete plan for choosing a major.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Return on Investment (ROI): A comparison of what something costs against what it is expected to earn or pay back over time.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two majors cost roughly the same to complete, but one leads to jobs paying $15,000 more per year on average, does that automatically make it the 'better' choice? Why or why not?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Reading Response: The Fund: Have students read today's installment of 'The Fund' independently or aloud as a class. Afterward, in pairs, students identify the two majors Maya is comparing and list one ROI factor she considers for each. Discuss as a class: what did Priya wish she'd known, and do students agree with her advice?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ROI Isn't Just for Stocks</a:t>
            </a:r>
          </a:p>
          <a:p>
            <a:pPr>
              <a:spcAft>
                <a:spcPts val="600"/>
              </a:spcAft>
              <a:defRPr sz="1250">
                <a:solidFill>
                  <a:srgbClr val="1A1A1A"/>
                </a:solidFill>
                <a:latin typeface="Calibri"/>
              </a:defRPr>
            </a:pPr>
            <a:r>
              <a:t>•  Passion Matters, But It's Not the Whole Plan</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Fund, Episode 3: Doing the Math</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ROI factor beyond salary that you would want to research before picking a major.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Music vs. the Paycheck</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Denny wants to major in music production purely because he loves it. He hasn't looked up average starting pay for production jobs, how many production jobs exist within driving distance of home, or how many other music production graduates are competing for those same jobs each year. He's assuming passion alone will work itself out.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only today's idea about passion versus ROI (not Maya and Priya's story), list two specific pieces of information Denny should research before committing to this major, and explain briefly how each piece would factor into an ROI comparison.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Evaluate  (ee-VAL-yoo-ayt)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judge the value or worth of something by examining it carefully.</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 (out) + valere (to be strong, be worth) + -ate -- literally 'to draw out the worth of something.'</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Maya had to evaluate two majors by weighing their cost against their likely earnings, not just her feelings about each one.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15  ·  Calculating ROI on a Major</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calculate a basic ROI comparison between two education paths using cost and salary data.</a:t>
            </a:r>
          </a:p>
          <a:p>
            <a:pPr>
              <a:spcAft>
                <a:spcPts val="600"/>
              </a:spcAft>
              <a:defRPr sz="1250">
                <a:solidFill>
                  <a:srgbClr val="1A1A1A"/>
                </a:solidFill>
                <a:latin typeface="Calibri"/>
              </a:defRPr>
            </a:pPr>
            <a:r>
              <a:t>•  I can explain how certification programs fit into an ROI comparison.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Return on Investment (ROI): A comparison of what something costs against what it is expected to earn or pay back over time.</a:t>
            </a:r>
          </a:p>
          <a:p>
            <a:pPr>
              <a:spcAft>
                <a:spcPts val="600"/>
              </a:spcAft>
              <a:defRPr sz="1200">
                <a:solidFill>
                  <a:srgbClr val="1A1A1A"/>
                </a:solidFill>
                <a:latin typeface="Calibri"/>
              </a:defRPr>
            </a:pPr>
            <a:r>
              <a:t>•  Certification: A credential earned by passing a test or short program that proves a specific job skill, without requiring a full degree.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certification program costs $6,000 and takes one year, and leads to a job paying $48,000 a year, how would you compare that to a $60,000, four-year degree leading to a job paying $55,000 a year? What questions would you need answered first?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ROI Comparison Worksheet: Using sample cost and salary figures from the Banzai College &amp; Careers Workbook, have students work in pairs to complete an ROI comparison worksheet for two paths into the same career field: one four-year degree option and one certification option. Each pair should calculate rough total cost, note the time to completion, and record the estimated starting salary for both, then write one sentence stating which option they'd choose and why. Bring the class back together to share a few contrasting answers.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Basic ROI Comparison</a:t>
            </a:r>
          </a:p>
          <a:p>
            <a:pPr>
              <a:spcAft>
                <a:spcPts val="600"/>
              </a:spcAft>
              <a:defRPr sz="1250">
                <a:solidFill>
                  <a:srgbClr val="1A1A1A"/>
                </a:solidFill>
                <a:latin typeface="Calibri"/>
              </a:defRPr>
            </a:pPr>
            <a:r>
              <a:t>•  Where Certification Fits In</a:t>
            </a:r>
          </a:p>
          <a:p>
            <a:pPr>
              <a:spcAft>
                <a:spcPts val="600"/>
              </a:spcAft>
              <a:defRPr sz="1250">
                <a:solidFill>
                  <a:srgbClr val="1A1A1A"/>
                </a:solidFill>
                <a:latin typeface="Calibri"/>
              </a:defRPr>
            </a:pPr>
            <a:r>
              <a:t>•  ROI Isn't Just Dollars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In your own words, explain why 'time' counts as part of the cost when calculating ROI on an education path.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Run the Numbers: HVAC vs. Biology</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An HVAC certification program costs $7,500 total, takes 10 months to complete, and leads to an average starting salary of $46,000 a year. A Biology degree costs $52,000 total, takes 4 years to complete, and leads to an average starting salary of $38,000 a year in an entry-level biology-related job (many higher-paying biology roles require additional schooling beyond the bachelor's degree).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the cost per year of training for each path (total cost divided by time to completion), compare that number to each path's starting salary, and write one sentence stating which path shows the stronger early ROI based only on these numbers.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Analyze  (AN-uh-lyze)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break something down into parts to understand it better.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ana- (up, throughout) + lyein (to loosen) -- literally 'to loosen something up throughout its parts.'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had to analyze the cost, time, and starting salary of two education paths before deciding which had the stronger ROI.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16  ·  What Actually Determines Starting Salary</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at least three factors, beyond a college degree, that affect starting salary.</a:t>
            </a:r>
          </a:p>
          <a:p>
            <a:pPr>
              <a:spcAft>
                <a:spcPts val="600"/>
              </a:spcAft>
              <a:defRPr sz="1250">
                <a:solidFill>
                  <a:srgbClr val="1A1A1A"/>
                </a:solidFill>
                <a:latin typeface="Calibri"/>
              </a:defRPr>
            </a:pPr>
            <a:r>
              <a:t>•  I can explain the role licensing plays in some career fields' pay.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Licensing: Official government permission required to legally work in certain jobs, usually earned by passing exams and meeting set requirements.</a:t>
            </a:r>
          </a:p>
          <a:p>
            <a:pPr>
              <a:spcAft>
                <a:spcPts val="600"/>
              </a:spcAft>
              <a:defRPr sz="1200">
                <a:solidFill>
                  <a:srgbClr val="1A1A1A"/>
                </a:solidFill>
                <a:latin typeface="Calibri"/>
              </a:defRPr>
            </a:pPr>
            <a:r>
              <a:t>•  Certification: A credential earned by passing a test or short program that proves a specific job skill, without requiring a full degree.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True or false: the amount of money a job pays is mostly determined by how many years of school the job requires. Be ready to defend your answer with a reason.</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Salary Factor Investigation: After reading, assign each student or pair a career field and have them research whether it requires a certification, a license, both, or neither, using the resource links provided. Ask students to record the typical starting salary alongside whichever credential requirements they found. Bring the class together to chart results on the board, grouping fields by whether licensing appeared to correlate with higher starting pay.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It's Not Just Years of School</a:t>
            </a:r>
          </a:p>
          <a:p>
            <a:pPr>
              <a:spcAft>
                <a:spcPts val="600"/>
              </a:spcAft>
              <a:defRPr sz="1250">
                <a:solidFill>
                  <a:srgbClr val="1A1A1A"/>
                </a:solidFill>
                <a:latin typeface="Calibri"/>
              </a:defRPr>
            </a:pPr>
            <a:r>
              <a:t>•  Licensing as a Salary Factor</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(Informational)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What Actually Determines Starting Salary</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Choose one career field we've discussed and explain which salary factor from today's reading matters most for that field.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Why Does She Make More?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Two graduates both finished a 2-year program and both work full-time. Graduate A is a licensed practical nurse in a mid-size city, earning $52,000 a year. Graduate B has a retail management certificate and works in a small rural town, earning $34,000 a year. Someone assumes the only reason for the $18,000 gap is that 'healthcare just pays more than retail,' full stop.</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List at least three specific factors from today's reading (demand, location, licensing, industry) that could help explain the pay gap between Graduate A and Graduate B, and explain how each factor applies to this specific pair of jobs.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Synthesize  (SIN-thuh-syze)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combine separate pieces of information into one overall understanding.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syn- (together) + tithenai (to place) -- literally 'to place things together.'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had to synthesize demand, location, licensing, and industry into one explanation for why two similar jobs pay differently.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17  ·  Certifications, Licenses, and Side Hustles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compare certification and licensing pathways for a career field of my choice.</a:t>
            </a:r>
          </a:p>
          <a:p>
            <a:pPr>
              <a:spcAft>
                <a:spcPts val="600"/>
              </a:spcAft>
              <a:defRPr sz="1250">
                <a:solidFill>
                  <a:srgbClr val="1A1A1A"/>
                </a:solidFill>
                <a:latin typeface="Calibri"/>
              </a:defRPr>
            </a:pPr>
            <a:r>
              <a:t>•  I can explain how a side hustle can build income and skills before or during a career.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Licensing: Official government permission required to legally work in certain jobs, usually earned by passing exams and meeting set requirements.</a:t>
            </a:r>
          </a:p>
          <a:p>
            <a:pPr>
              <a:spcAft>
                <a:spcPts val="600"/>
              </a:spcAft>
              <a:defRPr sz="1200">
                <a:solidFill>
                  <a:srgbClr val="1A1A1A"/>
                </a:solidFill>
                <a:latin typeface="Calibri"/>
              </a:defRPr>
            </a:pPr>
            <a:r>
              <a:t>•  Side Hustle: Paid work someone does in addition to a main job or school, often flexible and built around an existing skill.</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Do you, or does someone you know, do any paid work outside of a regular job or school, like selling something, tutoring, or freelance work online? What skill does that work actually use?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Certification vs. Licensing Research + Side Hustle Pitch: In small groups, assign each group a career field and have them research whether it requires certification, licensing, both, or neither, recording the steps and approximate time/cost for each using the Banzai College &amp; Careers Workbook or provided resource links. Then have each student individually brainstorm one realistic side hustle idea based on a skill they already have, and write two sentences on what career field it could help them explore or which resume skill it could build. Invite a few volunteers to pitch their side hustle idea to the class.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Certification and Licensing Pathways, Side by Side</a:t>
            </a:r>
          </a:p>
          <a:p>
            <a:pPr>
              <a:spcAft>
                <a:spcPts val="600"/>
              </a:spcAft>
              <a:defRPr sz="1250">
                <a:solidFill>
                  <a:srgbClr val="1A1A1A"/>
                </a:solidFill>
                <a:latin typeface="Calibri"/>
              </a:defRPr>
            </a:pPr>
            <a:r>
              <a:t>•  What a Side Hustle Actually Is</a:t>
            </a:r>
          </a:p>
          <a:p>
            <a:pPr>
              <a:spcAft>
                <a:spcPts val="600"/>
              </a:spcAft>
              <a:defRPr sz="1250">
                <a:solidFill>
                  <a:srgbClr val="1A1A1A"/>
                </a:solidFill>
                <a:latin typeface="Calibri"/>
              </a:defRPr>
            </a:pPr>
            <a:r>
              <a:t>•  Side Hustles and Career Pathways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For a career field you're interested in, does it require licensing, certification, both, or neither? How did you find out?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Side Hustle or Overtime?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Renata is deciding between two ways to spend her extra hours each week. Option one: pick up extra shifts at her part-time retail job, which pays a guaranteed $14/hour but has nothing to do with her target career field of veterinary work. Option two: start a small pet-sitting side hustle in her neighborhood, which pays less per hour right now but gives her direct hands-on animal-handling experience that could become a resume-builder or reference when she applies to vet tech certification programs later.</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Decide which option better serves Renata's long-term career pathway, the extra retail shifts or the pet-sitting side hustle, and justify your answer using at least one idea from today's lesson about what side hustles can do besides earn immediate cash.</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Justify  (JUS-tuh-fye)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give solid reasons that support a decision or claim.</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justus (just, lawful, right) + facere (to make) -- literally 'to make right.'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Renata had to justify her choice between two options using more than just which one paid better per hour.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18  ·  The Fund: Two Years, Four Years, or Something Else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why acceptance and placement rates don't tell the whole story about a school.</a:t>
            </a:r>
          </a:p>
          <a:p>
            <a:pPr>
              <a:spcAft>
                <a:spcPts val="600"/>
              </a:spcAft>
              <a:defRPr sz="1250">
                <a:solidFill>
                  <a:srgbClr val="1A1A1A"/>
                </a:solidFill>
                <a:latin typeface="Calibri"/>
              </a:defRPr>
            </a:pPr>
            <a:r>
              <a:t>•  I can identify at least one question to ask when comparing a 2-year and a 4-year school.</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Career Pathway: A planned sequence of education, training, and experience that leads a person toward a career field.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When you picture a '2-year school' versus a '4-year school,' what assumptions do you already have about each one? Where do you think those assumptions came from?</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Reading Response: The Fund: Have students read today's installment of 'The Fund.' In pairs, ask students to identify one number Deshawn is fixated on and explain, in their own words, what Maya says is missing from that number alone. Preview for students that Unit 3 will dig much deeper into comparing 2-year, 4-year, public, and private schools using real data.</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A Number Doesn't Tell the Whole Story</a:t>
            </a:r>
          </a:p>
          <a:p>
            <a:pPr>
              <a:spcAft>
                <a:spcPts val="600"/>
              </a:spcAft>
              <a:defRPr sz="1250">
                <a:solidFill>
                  <a:srgbClr val="1A1A1A"/>
                </a:solidFill>
                <a:latin typeface="Calibri"/>
              </a:defRPr>
            </a:pPr>
            <a:r>
              <a:t>•  2-Year and 4-Year Paths Can Lead to the Same Place</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Fund, Episode 4: Two Years, Four Years</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question, besides acceptance rate, you'd want answered before comparing a 2-year and a 4-year program.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Grandpa's One Number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At dinner, Deshawn's grandfather keeps insisting that 'back in his day' the only number that mattered about a school was whether it was hard to get into. He's skeptical of Deshawn considering a 2-year technical welding program instead of a 'real' four-year college, because a 2-year program 'doesn't sound as impressive.' Deshawn wants to explain what he learned about placement rate without sounding like he's arguing just to argue.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Write 2-3 sentences of dialogue Deshawn could actually say to his grandfather that uses the difference between acceptance rate and placement rate to explain why the 2-year program might be the stronger choice for his specific goal.</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Critique  (kri-TEEK)</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judge the strengths and weaknesses of something, not just praise or dismiss it.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kritikos (able to discern or judge), from krinein (to judge, decide).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Deshawn learned to critique a single number, like acceptance rate, instead of accepting it as the whole picture.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19  ·  Building Your Career Pathway Plan</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combine career field, major, ROI, and credential research into one career pathway plan.</a:t>
            </a:r>
          </a:p>
          <a:p>
            <a:pPr>
              <a:spcAft>
                <a:spcPts val="600"/>
              </a:spcAft>
              <a:defRPr sz="1250">
                <a:solidFill>
                  <a:srgbClr val="1A1A1A"/>
                </a:solidFill>
                <a:latin typeface="Calibri"/>
              </a:defRPr>
            </a:pPr>
            <a:r>
              <a:t>•  I can identify a side hustle or next step I can realistically start now.</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Career Pathway: A planned sequence of education, training, and experience that leads a person toward a career field.</a:t>
            </a:r>
          </a:p>
          <a:p>
            <a:pPr>
              <a:spcAft>
                <a:spcPts val="600"/>
              </a:spcAft>
              <a:defRPr sz="1200">
                <a:solidFill>
                  <a:srgbClr val="1A1A1A"/>
                </a:solidFill>
                <a:latin typeface="Calibri"/>
              </a:defRPr>
            </a:pPr>
            <a:r>
              <a:t>•  Side Hustle: Paid work someone does in addition to a main job or school, often flexible and built around an existing skill.</a:t>
            </a:r>
          </a:p>
          <a:p>
            <a:pPr>
              <a:spcAft>
                <a:spcPts val="600"/>
              </a:spcAft>
              <a:defRPr sz="1200">
                <a:solidFill>
                  <a:srgbClr val="1A1A1A"/>
                </a:solidFill>
                <a:latin typeface="Calibri"/>
              </a:defRPr>
            </a:pPr>
            <a:r>
              <a:t>•  Salary Expectations: A realistic estimate of what a job typically pays, based on research rather than guesswork.</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In one sentence, without overthinking it: what career field are you leaning toward right now, and what's one piece of evidence (not a feeling) that supports it?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My Career Pathway Plan: Have students complete a one-page 'My Career Pathway Plan' using notes and research gathered across the unit: chosen career field, one or two possible majors or certification/licensing routes, an ROI note comparing at least two options, a researched salary expectation, and one side hustle or immediate next step. Allow time to pair up and give each other feedback before the plans are turned in.</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Putting the Pieces Together</a:t>
            </a:r>
          </a:p>
          <a:p>
            <a:pPr>
              <a:spcAft>
                <a:spcPts val="600"/>
              </a:spcAft>
              <a:defRPr sz="1250">
                <a:solidFill>
                  <a:srgbClr val="1A1A1A"/>
                </a:solidFill>
                <a:latin typeface="Calibri"/>
              </a:defRPr>
            </a:pPr>
            <a:r>
              <a:t>•  What Belongs in a Pathway Plan</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What is the one next step from your Career Pathway Plan you could realistically start within the next month?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19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Build the One-Pager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set of research notes has been collected for a fictional student's career pathway plan, but they're all jumbled together in one messy paragraph: career field is skilled trades, specifically welding; a welding certification costs $9,000 and takes 10 months; the average starting salary for a certified welder in this state is $54,000 a year; the state doesn't require a license for this job, but it does require passing a certification exam; and the student already has a small side hustle doing metal-repair jobs for neighbors on weekends.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Sort these jumbled notes correctly into the five parts of a Career Pathway Plan (career field, major/certification route, ROI note, salary expectation, next step), the same way you're organizing your own plan today.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Articulate  (ar-TIK-yoo-layt)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clearly explain or express an idea, especially one made up of several connected parts.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articulus (small joint, connecting part) + -ate -- literally 'to join together clearly, piece by piece.'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The final activity asked students to articulate their entire career pathway plan in just a few clear sentences.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B5E3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0C14B"/>
                </a:solidFill>
                <a:latin typeface="Calibri"/>
              </a:rPr>
              <a:t>UNIT 3</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Selecting a College &amp; Financial Systems</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What criteria matter when evaluating post-secondary options and the banking system?</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0C14B"/>
                </a:solidFill>
                <a:latin typeface="Calibri"/>
              </a:rPr>
              <a:t>Days 20–28 · 9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Private (institution), Public (institution), 2-Year College, 4-Year College, Acceptance Rate, Graduation Rate, Placement Rate, Tuition, Scholarships (Merit vs. Need-Based Aid), Sticker Price, Room &amp; Board, Fees, Banking, Checking vs. Savings Account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20  ·  Public, Private, 2-Year, or 4-Year: The Big Four Categories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public, private, 2-year, and 4-year colleges.</a:t>
            </a:r>
          </a:p>
          <a:p>
            <a:pPr>
              <a:spcAft>
                <a:spcPts val="600"/>
              </a:spcAft>
              <a:defRPr sz="1250">
                <a:solidFill>
                  <a:srgbClr val="1A1A1A"/>
                </a:solidFill>
                <a:latin typeface="Calibri"/>
              </a:defRPr>
            </a:pPr>
            <a:r>
              <a:t>•  I can compare the general tradeoffs between these four institution types.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Public (institution): A college or university that receives significant funding from state tax dollars, usually resulting in lower tuition for in-state students.</a:t>
            </a:r>
          </a:p>
          <a:p>
            <a:pPr>
              <a:spcAft>
                <a:spcPts val="600"/>
              </a:spcAft>
              <a:defRPr sz="1200">
                <a:solidFill>
                  <a:srgbClr val="1A1A1A"/>
                </a:solidFill>
                <a:latin typeface="Calibri"/>
              </a:defRPr>
            </a:pPr>
            <a:r>
              <a:t>•  Private (institution): A college or university funded mainly through tuition, its own endowment, and donations rather than state tax dollars.</a:t>
            </a:r>
          </a:p>
          <a:p>
            <a:pPr>
              <a:spcAft>
                <a:spcPts val="600"/>
              </a:spcAft>
              <a:defRPr sz="1200">
                <a:solidFill>
                  <a:srgbClr val="1A1A1A"/>
                </a:solidFill>
                <a:latin typeface="Calibri"/>
              </a:defRPr>
            </a:pPr>
            <a:r>
              <a:t>•  2-Year College: A community or technical college awarding associate degrees and career certificates, typically completed in two years of full-time study.</a:t>
            </a:r>
          </a:p>
          <a:p>
            <a:pPr>
              <a:spcAft>
                <a:spcPts val="600"/>
              </a:spcAft>
              <a:defRPr sz="1200">
                <a:solidFill>
                  <a:srgbClr val="1A1A1A"/>
                </a:solidFill>
                <a:latin typeface="Calibri"/>
              </a:defRPr>
            </a:pPr>
            <a:r>
              <a:t>•  4-Year College: A college or university awarding bachelor's degrees, typically completed in about four years of full-time study.</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Name one thing you assume about a 'private school,' even if you've never set foot in one. Where do you think that assumption came from?</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Banzai Sort: Categorize the Campus: Open the Banzai College &amp; Careers Workbook sorting activity and drag each of the eight sample schools into its correct box: Public 2-Year, Public 4-Year, Private 2-Year, Private 4-Year. In pairs, have students pick one school from each box and name one thing they'd want to know before applying there. Debrief as a class: which category had the most surprises?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Public vs. Private, in Plain Terms</a:t>
            </a:r>
          </a:p>
          <a:p>
            <a:pPr>
              <a:spcAft>
                <a:spcPts val="600"/>
              </a:spcAft>
              <a:defRPr sz="1250">
                <a:solidFill>
                  <a:srgbClr val="1A1A1A"/>
                </a:solidFill>
                <a:latin typeface="Calibri"/>
              </a:defRPr>
            </a:pPr>
            <a:r>
              <a:t>•  2-Year vs. 4-Year: What You're Actually Signing Up For</a:t>
            </a:r>
          </a:p>
          <a:p>
            <a:pPr>
              <a:spcAft>
                <a:spcPts val="600"/>
              </a:spcAft>
              <a:defRPr sz="1250">
                <a:solidFill>
                  <a:srgbClr val="1A1A1A"/>
                </a:solidFill>
                <a:latin typeface="Calibri"/>
              </a:defRPr>
            </a:pPr>
            <a:r>
              <a:t>•  Why the Category Isn't the Whole Story</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In your own words, what's the difference between a 2-year and a 4-year college, and why might a student choose one over the other?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Group Chat Debate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In a group chat, Priya's younger cousin Nadia texts, 'private school = fancy and automatically better, that's just facts,' while another friend, Owen, fires back, 'public just means basically free, so why would anyone pay for private.' A third friend sends a laughing emoji and changes the subject before anyone actually checks whether either claim is true. Nadia and Owen keep arguing for ten more messages, each one repeating the same unchecked assumption a different way, neither one mentioning tuition, aid, or program quality at all.</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Identify the incorrect assumption in Nadia's message and the incorrect assumption in Owen's message, then rewrite one of the two messages so it reflects an accurate understanding of what 'public' or 'private' actually means.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Differentiate  (dif-uh-REN-shee-ayt)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or point out the differences between two or more similar things.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dis- (apart) + ferre (to carry) + -ate (verb-forming suffix) -- literally 'to carry apart.'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had to differentiate a public 4-year university from a private 2-year college using more than just gut assumptions.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21  ·  Reading the Numbers: Acceptance, Graduation, and Placement Rates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acceptance rate, graduation rate, and placement rate.</a:t>
            </a:r>
          </a:p>
          <a:p>
            <a:pPr>
              <a:spcAft>
                <a:spcPts val="600"/>
              </a:spcAft>
              <a:defRPr sz="1250">
                <a:solidFill>
                  <a:srgbClr val="1A1A1A"/>
                </a:solidFill>
                <a:latin typeface="Calibri"/>
              </a:defRPr>
            </a:pPr>
            <a:r>
              <a:t>•  I can explain why a single rate, by itself, doesn't tell you if a school is a good fit.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Acceptance Rate: The percentage of applicants a school admits in a given year.</a:t>
            </a:r>
          </a:p>
          <a:p>
            <a:pPr>
              <a:spcAft>
                <a:spcPts val="600"/>
              </a:spcAft>
              <a:defRPr sz="1200">
                <a:solidFill>
                  <a:srgbClr val="1A1A1A"/>
                </a:solidFill>
                <a:latin typeface="Calibri"/>
              </a:defRPr>
            </a:pPr>
            <a:r>
              <a:t>•  Graduation Rate: The percentage of students who complete their degree within a set timeframe, such as four or six years.</a:t>
            </a:r>
          </a:p>
          <a:p>
            <a:pPr>
              <a:spcAft>
                <a:spcPts val="600"/>
              </a:spcAft>
              <a:defRPr sz="1200">
                <a:solidFill>
                  <a:srgbClr val="1A1A1A"/>
                </a:solidFill>
                <a:latin typeface="Calibri"/>
              </a:defRPr>
            </a:pPr>
            <a:r>
              <a:t>•  Placement Rate: The percentage of a school's graduates who land a job in their field, further schooling, or another positive outcome within a set time after finishing.</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School A accepts 90% of applicants and School B accepts 10%, which school is 'better'? Write down your gut answer -- we'll test it today.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Case File: Match the Student to the Numbers: Hand out two-school case study cards in the style of the Banzai College &amp; Careers Workbook: School A has a low acceptance rate and high graduation rate; School B has a high acceptance rate and a strong placement rate in a two-year welding program. Students read a short student profile and decide which school fits that student's actual goals, using the three rates as evidence. Groups defend their choice to the class in under a minute.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Acceptance Rate: The Front Door Number</a:t>
            </a:r>
          </a:p>
          <a:p>
            <a:pPr>
              <a:spcAft>
                <a:spcPts val="600"/>
              </a:spcAft>
              <a:defRPr sz="1250">
                <a:solidFill>
                  <a:srgbClr val="1A1A1A"/>
                </a:solidFill>
                <a:latin typeface="Calibri"/>
              </a:defRPr>
            </a:pPr>
            <a:r>
              <a:t>•  Graduation Rate: Do Students Actually Finish?</a:t>
            </a:r>
          </a:p>
          <a:p>
            <a:pPr>
              <a:spcAft>
                <a:spcPts val="600"/>
              </a:spcAft>
              <a:defRPr sz="1250">
                <a:solidFill>
                  <a:srgbClr val="1A1A1A"/>
                </a:solidFill>
                <a:latin typeface="Calibri"/>
              </a:defRPr>
            </a:pPr>
            <a:r>
              <a:t>•  Placement Rate: What Happens After Graduation</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Pick one of the three rates from today (acceptance, graduation, or placement) and explain one thing it can tell you, and one thing it can't.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Which School Fits the Goal?</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wants to become a dental hygienist and is comparing two schools. Riverside Community College has a 98% acceptance rate, a 41% two-year graduation rate, and a 93% placement rate specifically within its dental hygiene program. Crestwood University has a 22% acceptance rate, an 89% four-year graduation rate, and a 75% placement rate counting any job a graduate holds, not just jobs in their field of study.</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specific numbers given for each school, decide which school is the stronger fit for this student's specific goal (not which school is 'better' overall), and write 2-3 sentences explaining which rate(s) mattered most for this decision and which mattered least.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Interpret  (in-TER-prit)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explain the meaning of something, especially data or a text, in your own words.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inter- (between) + pres, related to pretium (price, value) -- from interpres, 'a go-between, negotiator, translator.'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had to interpret three different college statistics instead of taking any single number at face value.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22  ·  What College Really Costs: Tuition and Sticker Price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tuition and sticker price and explain the difference between them.</a:t>
            </a:r>
          </a:p>
          <a:p>
            <a:pPr>
              <a:spcAft>
                <a:spcPts val="600"/>
              </a:spcAft>
              <a:defRPr sz="1250">
                <a:solidFill>
                  <a:srgbClr val="1A1A1A"/>
                </a:solidFill>
                <a:latin typeface="Calibri"/>
              </a:defRPr>
            </a:pPr>
            <a:r>
              <a:t>•  I can identify why a school's sticker price is not necessarily what a family pays.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Tuition: The price a school charges specifically for instruction, usually billed per credit hour or per semester.</a:t>
            </a:r>
          </a:p>
          <a:p>
            <a:pPr>
              <a:spcAft>
                <a:spcPts val="600"/>
              </a:spcAft>
              <a:defRPr sz="1200">
                <a:solidFill>
                  <a:srgbClr val="1A1A1A"/>
                </a:solidFill>
                <a:latin typeface="Calibri"/>
              </a:defRPr>
            </a:pPr>
            <a:r>
              <a:t>•  Sticker Price: The full published cost of attending a school for a year before any financial aid is applied.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Guess: what do you think one year of tuition at a public in-state university costs? Write down a number. We'll check how close you were.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Banzai Cost of College Lookup: Using the Banzai 'Cost of College' module, have students look up the published sticker price for three schools of their choice: one public in-state, one public out-of-state, and one private. Students record all three prices on a comparison chart and circle which line item (tuition, room and board, or fees) makes up the biggest share of the total at each school. Discuss as a class why the totals vary so much.</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Tuition: The Cost of the Classes Themselves</a:t>
            </a:r>
          </a:p>
          <a:p>
            <a:pPr>
              <a:spcAft>
                <a:spcPts val="600"/>
              </a:spcAft>
              <a:defRPr sz="1250">
                <a:solidFill>
                  <a:srgbClr val="1A1A1A"/>
                </a:solidFill>
                <a:latin typeface="Calibri"/>
              </a:defRPr>
            </a:pPr>
            <a:r>
              <a:t>•  Sticker Price: The Number That Scares Everyone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In one sentence, explain the difference between tuition and sticker price.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Sticker Price Math</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public in-state school lists $9,400 in tuition and a $19,000 total sticker price. A private school lists $31,000 in tuition and a $46,500 total sticker price. Both totals include room and board, fees, books, and estimated personal expenses on top of tuition.</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the dollar amount and the percentage of the total sticker price that is NOT tuition at each school, then write one sentence explaining which school's non-tuition costs make up the bigger share of the total.</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Infer  (in-FER)</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draw a reasonable conclusion based on evidence rather than being told directly.</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 (into) + ferre (to carry, bring) -- literally 'to carry a conclusion into view from evidence.'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From the tuition and sticker price numbers, students had to infer how much of each school's total cost was going toward things besides instruction.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23  ·  The Rest of the Bill: Room, Board, and Fees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room and board and give examples of common college fees.</a:t>
            </a:r>
          </a:p>
          <a:p>
            <a:pPr>
              <a:spcAft>
                <a:spcPts val="600"/>
              </a:spcAft>
              <a:defRPr sz="1250">
                <a:solidFill>
                  <a:srgbClr val="1A1A1A"/>
                </a:solidFill>
                <a:latin typeface="Calibri"/>
              </a:defRPr>
            </a:pPr>
            <a:r>
              <a:t>•  I can build a rough total cost of attendance for a sample student.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Room &amp; Board: The combined cost of on-campus housing and a meal plan.</a:t>
            </a:r>
          </a:p>
          <a:p>
            <a:pPr>
              <a:spcAft>
                <a:spcPts val="600"/>
              </a:spcAft>
              <a:defRPr sz="1200">
                <a:solidFill>
                  <a:srgbClr val="1A1A1A"/>
                </a:solidFill>
                <a:latin typeface="Calibri"/>
              </a:defRPr>
            </a:pPr>
            <a:r>
              <a:t>•  Fees: Mandatory charges on top of tuition that cover specific services, such as technology, activities, or health services.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 moved out for college, what's one cost you'd have to pay that you don't think about now because your family covers it?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Build the Bill: Cost of Attendance Worksheet: Give students the Banzai Cost of College worksheet with a sample student's tuition number already filled in from yesterday's lookup. Students add estimated room and board and a standard fee amount to calculate that student's full cost of attendance. Compare totals across the class and discuss which cost category surprised people most.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Room &amp; Board: Where You Sleep and What You Eat</a:t>
            </a:r>
          </a:p>
          <a:p>
            <a:pPr>
              <a:spcAft>
                <a:spcPts val="600"/>
              </a:spcAft>
              <a:defRPr sz="1250">
                <a:solidFill>
                  <a:srgbClr val="1A1A1A"/>
                </a:solidFill>
                <a:latin typeface="Calibri"/>
              </a:defRPr>
            </a:pPr>
            <a:r>
              <a:t>•  Fees: The Charges Hiding Behind Tuition</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Add tuition, room and board, and fees together in your head for a hypothetical school. What single number surprised you most as you built 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Building Deshawn's Total</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Deshawn is building his own cost of attendance. His tuition is $10,200 a year. A shared double dorm room costs $6,800 a year. A full meal plan costs $4,900 a year. His mandatory fees are: a $350 technology fee, a $150 activity fee, and a $275 health fee.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Add up all of Deshawn's costs into one total cost of attendance, identify which single line item is the largest, and explain one realistic way Deshawn could reduce that specific cost.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Allocate  (AL-uh-kayt)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assign a specific amount or share of something, like money, for a particular purpose.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 locare (to place), from locus (place) -- literally 'to place to' or 'assign.'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Deshawn had to allocate his total cost of attendance across tuition, room and board, and fees to see where his money would actually go.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24  ·  Reading Day: Sticker Shock</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using Maya's story, the difference between sticker price and what a family actually pays after aid.</a:t>
            </a:r>
          </a:p>
          <a:p>
            <a:pPr>
              <a:spcAft>
                <a:spcPts val="600"/>
              </a:spcAft>
              <a:defRPr sz="1250">
                <a:solidFill>
                  <a:srgbClr val="1A1A1A"/>
                </a:solidFill>
                <a:latin typeface="Calibri"/>
              </a:defRPr>
            </a:pPr>
            <a:r>
              <a:t>•  I can identify at least one reason college costs can look different from what a family expects.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Sticker Price: The full published cost of attending a school for a year before any financial aid is applied.</a:t>
            </a:r>
          </a:p>
          <a:p>
            <a:pPr>
              <a:spcAft>
                <a:spcPts val="600"/>
              </a:spcAft>
              <a:defRPr sz="1200">
                <a:solidFill>
                  <a:srgbClr val="1A1A1A"/>
                </a:solidFill>
                <a:latin typeface="Calibri"/>
              </a:defRPr>
            </a:pPr>
            <a:r>
              <a:t>•  Scholarships (Merit vs. Need-Based Aid): Money awarded to help pay for college; merit-based aid rewards achievement like grades or talent, while need-based aid is awarded based on a family's financial situation.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Have you or anyone you know ever seen a price for something (a car, a concert ticket, tuition) that turned out to be very different from what actually got paid? What happened?</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Read &amp; React: The Fund, Installment 5: Students read 'Sticker Shock' independently or as a class read-aloud, then discuss the comprehension questions in table groups before a whole-class share-out. Ask one volunteer group to estimate, out loud, what percentage discount Priya describes getting off the sticker price.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Before You Read: What to Watch For</a:t>
            </a:r>
          </a:p>
          <a:p>
            <a:pPr>
              <a:spcAft>
                <a:spcPts val="600"/>
              </a:spcAft>
              <a:defRPr sz="1250">
                <a:solidFill>
                  <a:srgbClr val="1A1A1A"/>
                </a:solidFill>
                <a:latin typeface="Calibri"/>
              </a:defRPr>
            </a:pPr>
            <a:r>
              <a:t>•  A Quick Vocabulary Refresher</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Fund, Episode 5: Sticker Shock</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In one sentence, explain the difference between sticker price and net price using Maya's tour as an example.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Second-Guessing the Folder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named Corbin sees a sticker price of $28,000 on a college brochure and, unlike Maya, decides on the spot not to even apply, assuming he could never afford it. He never checks the average net price listed on the same page, and he never fills out any aid application at all.</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In 2-3 sentences, explain what Corbin should do differently before ruling the school out, using what you learned today about the difference between sticker price and net price.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Rationale  (rash-uh-NAL)</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The set of reasons behind a decision or system.</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ratio (reasoning, calculation), from reri (to think, calculate) + -al (adjective/noun-forming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Understanding the rationale behind why colleges can't print one universal price helped Maya feel less panicked by the sticker price.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25  ·  Merit vs. Need: How Scholarships and Aid Actually Work</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distinguish merit-based aid from need-based aid.</a:t>
            </a:r>
          </a:p>
          <a:p>
            <a:pPr>
              <a:spcAft>
                <a:spcPts val="600"/>
              </a:spcAft>
              <a:defRPr sz="1250">
                <a:solidFill>
                  <a:srgbClr val="1A1A1A"/>
                </a:solidFill>
                <a:latin typeface="Calibri"/>
              </a:defRPr>
            </a:pPr>
            <a:r>
              <a:t>•  I can explain how scholarships and grants turn a sticker price into a net price.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Scholarships (Merit vs. Need-Based Aid): Money awarded to help pay for college; merit-based aid rewards achievement like grades or talent, while need-based aid is awarded based on a family's financial situation.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Priya told Maya she got money for her grades AND money because of her family's income. Which type of aid do you think is easier for a student to influence? Why?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Banzai Paying for College: Build a Package: In the Banzai 'Paying for College' module, have students plug in a sample family's income and a sample student's GPA and test scores to see an estimated aid package, then calculate the resulting net price against the sticker price from earlier in the week. Pairs compare how much the net price changed and identify whether the biggest shift came from merit aid or need-based aid.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Merit-Based Aid: Rewarded for Achievement</a:t>
            </a:r>
          </a:p>
          <a:p>
            <a:pPr>
              <a:spcAft>
                <a:spcPts val="600"/>
              </a:spcAft>
              <a:defRPr sz="1250">
                <a:solidFill>
                  <a:srgbClr val="1A1A1A"/>
                </a:solidFill>
                <a:latin typeface="Calibri"/>
              </a:defRPr>
            </a:pPr>
            <a:r>
              <a:t>•  Need-Based Aid: Based on What a Family Can Pay</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If you were advising a student on how to increase their merit aid chances before senior year, what's one concrete thing you'd tell them to work 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Two Students, Two Packages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school's sticker price is $32,000 a year. Student A has a 3.9 GPA and qualifies for a $9,000 merit scholarship, plus their family's income qualifies them for a $6,000 need-based grant. Student B has a 3.1 GPA and qualifies for a $2,000 merit scholarship, but their family's income qualifies them for a $14,000 need-based grant.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Student A's and Student B's final net price after subtracting their combined aid from the sticker price, then explain in one sentence why two students at the same school can end up paying such different amounts.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Categorize  (KAT-uh-guh-ryze)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sort things into groups based on shared characteristics.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kategoria (statement, accusation) + -ize (verb-forming suffix meaning 'to make or do').</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had to categorize Student A and Student B's aid into merit-based and need-based before calculating each net price.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26  ·  Reading Day: What the Numbers Really Mean</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why a single statistic about a college can be misleading without context.</a:t>
            </a:r>
          </a:p>
          <a:p>
            <a:pPr>
              <a:spcAft>
                <a:spcPts val="600"/>
              </a:spcAft>
              <a:defRPr sz="1250">
                <a:solidFill>
                  <a:srgbClr val="1A1A1A"/>
                </a:solidFill>
                <a:latin typeface="Calibri"/>
              </a:defRPr>
            </a:pPr>
            <a:r>
              <a:t>•  I can use acceptance rate, graduation rate, placement rate, and cost data together to evaluate a school.</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Graduation Rate: The percentage of students who complete their degree within a set timeframe, such as four or six years.</a:t>
            </a:r>
          </a:p>
          <a:p>
            <a:pPr>
              <a:spcAft>
                <a:spcPts val="600"/>
              </a:spcAft>
              <a:defRPr sz="1200">
                <a:solidFill>
                  <a:srgbClr val="1A1A1A"/>
                </a:solidFill>
                <a:latin typeface="Calibri"/>
              </a:defRPr>
            </a:pPr>
            <a:r>
              <a:t>•  Placement Rate: The percentage of a school's graduates who land a job in their field, further schooling, or another positive outcome within a set time after finishing.</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A friend tells you, 'Don't go to that school, it only has a 40% graduation rate.' What questions would you want to ask before believing that's a reason to rule it out?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Annotate &amp; Debate: Students read the informational text individually, annotating at least three numbers with a follow-up question in the margin. In small groups, students compare annotations and debate which one number from the whole unit is most likely to mislead a family making a real decision, and why.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Numbers Need Context</a:t>
            </a:r>
          </a:p>
          <a:p>
            <a:pPr>
              <a:spcAft>
                <a:spcPts val="600"/>
              </a:spcAft>
              <a:defRPr sz="1250">
                <a:solidFill>
                  <a:srgbClr val="1A1A1A"/>
                </a:solidFill>
                <a:latin typeface="Calibri"/>
              </a:defRPr>
            </a:pPr>
            <a:r>
              <a:t>•  Reading Strategy: Annotate for the Trap</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(Informational)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Public vs. Private, 2-Year vs. 4-Year: What the Numbers Really Mean</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Pick one statistic from this unit (acceptance, graduation, or placement rate) and write one follow-up question you'd now ask before trusting it.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Misleading Flyer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for-profit trade school's recruiting flyer boasts '90% PLACEMENT RATE!' in huge letters, with no explanation anywhere of what counts as 'placement.' A prospective student, Wren, is ready to sign up for the program based on that one number alone, without asking anything else.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Write down two follow-up questions Wren should ask the school before trusting the 90% placement rate number, based on today's reading.</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Critique  (kri-TEEK)</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judge the strengths and weaknesses of something, not just praise or dismiss it.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kritikos (able to discern or judge), from krinein (to judge, decide).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Wren needed to critique the flyer's '90% placement rate' claim instead of accepting it at face value.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27  ·  Opening the Vault: How Banking Works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the basic role banks and credit unions play in personal finance.</a:t>
            </a:r>
          </a:p>
          <a:p>
            <a:pPr>
              <a:spcAft>
                <a:spcPts val="600"/>
              </a:spcAft>
              <a:defRPr sz="1250">
                <a:solidFill>
                  <a:srgbClr val="1A1A1A"/>
                </a:solidFill>
                <a:latin typeface="Calibri"/>
              </a:defRPr>
            </a:pPr>
            <a:r>
              <a:t>•  I can identify key features to look for when choosing a bank.</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Banking: The system of storing, moving, and managing money through an institution like a bank or credit union.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Do you (or your family) use a bank or credit union? What's one thing you already know about how it works?</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Banzai Banking Simulation: Have students complete the Banzai 'Banking' simulation, which walks them through opening a virtual account, making deposits and withdrawals, and avoiding common bank fees like overdrafts. After the simulation, students write down one fee the simulation warned them about that they hadn't thought of before.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Banking Actually Is</a:t>
            </a:r>
          </a:p>
          <a:p>
            <a:pPr>
              <a:spcAft>
                <a:spcPts val="600"/>
              </a:spcAft>
              <a:defRPr sz="1250">
                <a:solidFill>
                  <a:srgbClr val="1A1A1A"/>
                </a:solidFill>
                <a:latin typeface="Calibri"/>
              </a:defRPr>
            </a:pPr>
            <a:r>
              <a:t>•  Why This Matters Before College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fee or feature you'd specifically check for before opening a bank account for college.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Choosing Between Two Accounts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moving to a college 12 miles from the nearest branch of Bank A is comparing two options. Bank A is a for-profit bank charging a $6/month fee unless a $500 minimum balance is maintained, with free ATMs only at its own branches, and a solid mobile app. Bank B is a credit union with no monthly fee, a small one-time membership requirement, refunds of up to $10/month in outside ATM fees anywhere, and an older, clunkier mobile app.</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Decide which account, Bank A or Bank B, makes more sense for this student, and justify the choice using at least two specific features mentioned in the scenario.</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Evaluate  (ee-VAL-yoo-ayt)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judge the value or worth of something by examining it carefully.</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 (out) + valere (to be strong, be worth) + -ate -- literally 'to draw out the worth of something.'</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Choosing a bank meant students had to evaluate fees, ATM access, and app quality together, not just pick the most familiar name.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28  ·  Checking vs. Savings: Choosing the Right Account and Writing a Check</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distinguish a checking account from a savings account by purpose and features.</a:t>
            </a:r>
          </a:p>
          <a:p>
            <a:pPr>
              <a:spcAft>
                <a:spcPts val="600"/>
              </a:spcAft>
              <a:defRPr sz="1250">
                <a:solidFill>
                  <a:srgbClr val="1A1A1A"/>
                </a:solidFill>
                <a:latin typeface="Calibri"/>
              </a:defRPr>
            </a:pPr>
            <a:r>
              <a:t>•  I can correctly fill out a check for a real-world scenario.</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Checking vs. Savings Account: A checking account is built for frequent everyday transactions with easy access to funds; a savings account is built to hold money for later and typically earns more interest.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Have you ever seen someone, a parent or a movie character, write a paper check? What do you think all those lines and blanks are actually for?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Check-Writing Practice: Distribute blank practice checks from the Banzai High School Personal Finance Workbook. Give students a scenario, for example paying $485.00 for a security deposit on a first apartment, and have them correctly fill out the date, payee, numeric amount, written amount, memo, and signature lines. Swap checks with a partner to check that the numeric and written amounts match and catch any errors before 'depositing.'</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Checking Accounts: Money in Motion</a:t>
            </a:r>
          </a:p>
          <a:p>
            <a:pPr>
              <a:spcAft>
                <a:spcPts val="600"/>
              </a:spcAft>
              <a:defRPr sz="1250">
                <a:solidFill>
                  <a:srgbClr val="1A1A1A"/>
                </a:solidFill>
                <a:latin typeface="Calibri"/>
              </a:defRPr>
            </a:pPr>
            <a:r>
              <a:t>•  Savings Accounts: Money That Waits</a:t>
            </a:r>
          </a:p>
          <a:p>
            <a:pPr>
              <a:spcAft>
                <a:spcPts val="600"/>
              </a:spcAft>
              <a:defRPr sz="1250">
                <a:solidFill>
                  <a:srgbClr val="1A1A1A"/>
                </a:solidFill>
                <a:latin typeface="Calibri"/>
              </a:defRPr>
            </a:pPr>
            <a:r>
              <a:t>•  Anatomy of a Check</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If you got a $200 gift right now, how much would you put in checking versus savings, and why?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Splitting the $200</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receives a $200 birthday gift. They already have $340 in checking and $150 in savings. They have a $60 phone bill due in five days, and they're saving toward a $600 pair of concert tickets a few months from now.</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Decide how much of the $200 gift to put in checking versus savings given the upcoming $60 bill and the longer-term $600 goal, and justify the split in 1-2 sentences using the 'spend from checking, save in savings' rule from today's lesson.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Prioritize  (pry-OR-uh-tyze)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decide what matters most and put things in order of importance.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prior (former, earlier, first) + -ize -- literally 'to make something first.'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Splitting the birthday money meant weighing the upcoming phone bill against the longer-term concert ticket goal and deciding what to prioritize.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B5E3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0C14B"/>
                </a:solidFill>
                <a:latin typeface="Calibri"/>
              </a:rPr>
              <a:t>UNIT 4</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Applying for College</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What is the process for applying to college?</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0C14B"/>
                </a:solidFill>
                <a:latin typeface="Calibri"/>
              </a:rPr>
              <a:t>Days 29–43 · 15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Common App, Naviance, Essays, Letters of Recommendation, Application Fees, Direct Admissions, Early Decision, Early Action, Waitlist, Holistic Review, Supplemental Essay, Application Deadline, Portfolio, Transcript Request, Standardized-Test-Optional Policy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29  ·  Applying for College: Where Do I Even Start?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describe the main steps in the college application process, in order.</a:t>
            </a:r>
          </a:p>
          <a:p>
            <a:pPr>
              <a:spcAft>
                <a:spcPts val="600"/>
              </a:spcAft>
              <a:defRPr sz="1250">
                <a:solidFill>
                  <a:srgbClr val="1A1A1A"/>
                </a:solidFill>
                <a:latin typeface="Calibri"/>
              </a:defRPr>
            </a:pPr>
            <a:r>
              <a:t>•  I can explain what the Common App and Naviance are and how they work together.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Common App: A single online application that lets students apply to hundreds of participating colleges using one shared form instead of filling out a separate application for every school.</a:t>
            </a:r>
          </a:p>
          <a:p>
            <a:pPr>
              <a:spcAft>
                <a:spcPts val="600"/>
              </a:spcAft>
              <a:defRPr sz="1200">
                <a:solidFill>
                  <a:srgbClr val="1A1A1A"/>
                </a:solidFill>
                <a:latin typeface="Calibri"/>
              </a:defRPr>
            </a:pPr>
            <a:r>
              <a:t>•  Naviance: A college and career planning platform many high schools use to track applications, request transcripts and letters of recommendation, and communicate with counselors.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On a scale of 1 to 10, how ready do you feel to start applying to colleges or programs this fall? Write your number and one sentence explaining why.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Common App &amp; Naviance Scavenger Hunt: Pass out the Common App / Naviance screenshot packet (or open the demo accounts on classroom computers) as part of this week's College Knowledge Month kickoff. In pairs, students race to find five specific things: where activities are entered, where a supplemental essay would appear, where to add a college to a Naviance list, where transcript requests are made, and where application status shows up. First pair to find all five and explain them to the teacher wins first pick of seats for the next essay-writing lesson.</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Process, Zoomed Out</a:t>
            </a:r>
          </a:p>
          <a:p>
            <a:pPr>
              <a:spcAft>
                <a:spcPts val="600"/>
              </a:spcAft>
              <a:defRPr sz="1250">
                <a:solidFill>
                  <a:srgbClr val="1A1A1A"/>
                </a:solidFill>
                <a:latin typeface="Calibri"/>
              </a:defRPr>
            </a:pPr>
            <a:r>
              <a:t>•  What the Common App Actually Is</a:t>
            </a:r>
          </a:p>
          <a:p>
            <a:pPr>
              <a:spcAft>
                <a:spcPts val="600"/>
              </a:spcAft>
              <a:defRPr sz="1250">
                <a:solidFill>
                  <a:srgbClr val="1A1A1A"/>
                </a:solidFill>
                <a:latin typeface="Calibri"/>
              </a:defRPr>
            </a:pPr>
            <a:r>
              <a:t>•  Naviance: Your Application Home Base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task from today's overview that you personally need to start on first, and when you plan to do it.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29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Where Did My Essay Go?</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named Priya finishes typing her Common App essay draft late Sunday night and hits save. On Monday, her counselor emails her, confused, saying Naviance still shows no colleges added to her list and no transcript request has been submitted. Priya is confident she 'did everything' because her essay is saved in the Common App. She scrolls through both platforms, increasingly frustrated: her Common App account shows her essay and activities list, filled out and complete, but the school list is at zero, and her Naviance account shows her counselor's info but no connection back to the Common App at all. She realizes she never linked the two accounts together, and she isn't sure which platform is supposed to handle which task, or whether anything she's already done is actually in danger of being lost.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In pairs, list exactly which tasks belong in the Common App versus which belong in Naviance, then write Priya two or three concrete next steps she should take today to get her application process back on track.</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Sequence  (SEE-kwens)</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A specific order in which a series of steps or events happen, where the order matters.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sequi (to follow) + -ence (noun-forming suffix) - literally 'a following.'</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 you learned the sequence of the college application process, from building a list to tracking decisions.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30  ·  Building Your College List &amp; Beating the Deadline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build a balanced college list with reach, target, and likely schools.</a:t>
            </a:r>
          </a:p>
          <a:p>
            <a:pPr>
              <a:spcAft>
                <a:spcPts val="600"/>
              </a:spcAft>
              <a:defRPr sz="1250">
                <a:solidFill>
                  <a:srgbClr val="1A1A1A"/>
                </a:solidFill>
                <a:latin typeface="Calibri"/>
              </a:defRPr>
            </a:pPr>
            <a:r>
              <a:t>•  I can explain why application deadlines vary and how to track multiple deadlines at once.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Application Deadline: The date by which every required part of a college application must be submitted in order for the application to be considered.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of a time you missed a deadline for something (an assignment, a permission slip, a sign-up). What went wrong, and what would you do differently?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Build Your List Worksheet: Hand out the College List worksheet and have students sort at least four to six schools they're genuinely considering into reach, target, and likely categories using data from Naviance's scattergram tool. Students then fill in each school's actual application deadline and plan type (Early Decision, Early Action, Regular, or rolling) from the school's own admissions website. Circulate to check that every list has at least one likely school before students finish.</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Reach, Target, Likely</a:t>
            </a:r>
          </a:p>
          <a:p>
            <a:pPr>
              <a:spcAft>
                <a:spcPts val="600"/>
              </a:spcAft>
              <a:defRPr sz="1250">
                <a:solidFill>
                  <a:srgbClr val="1A1A1A"/>
                </a:solidFill>
                <a:latin typeface="Calibri"/>
              </a:defRPr>
            </a:pPr>
            <a:r>
              <a:t>•  Why Deadlines Aren't All the Same</a:t>
            </a:r>
          </a:p>
          <a:p>
            <a:pPr>
              <a:spcAft>
                <a:spcPts val="600"/>
              </a:spcAft>
              <a:defRPr sz="1250">
                <a:solidFill>
                  <a:srgbClr val="1A1A1A"/>
                </a:solidFill>
                <a:latin typeface="Calibri"/>
              </a:defRPr>
            </a:pPr>
            <a:r>
              <a:t>•  Tracking Deadlines Without Losing Your Mind</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List one reach, one target, and one likely school you're considering, and write down each one's application deadline.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Six-School Deadline Board</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You are building your own application tracker for six schools you're seriously considering. School A (a reach) uses Early Decision with a November 1 deadline. School B (a target) uses Early Action, due November 15. School C (a target) uses rolling admission with no fixed date, but financial aid priority ends December 1. School D (a likely school) has a Regular Decision deadline of January 15. School E (a reach) requires two supplemental essays on top of the main essay, due January 1. School F (a likely school) has rolling admission with no stated cutoff at all. Today's date, for this simulation, is October 1. You have letters of recommendation still in progress for four of the six schools, and you haven't started the two required supplemental essays for School 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Build a week-by-week order of operations from October 1 through January 15 showing what you'd work on first, second, and so on, and explain in one sentence why you sequenced it that way.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Prioritize  (pry-OR-uh-tyze)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decide the order of importance of a group of tasks so the most urgent or important ones get handled first.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prior (former, earlier) + -itize (verb-forming suffix, 'to make into').</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Building a reach/target/likely list means prioritizing which deadlines to track first.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31  ·  Early Decision, Early Action, or Regular?</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compare Early Decision, Early Action, and Regular Decision application plans.</a:t>
            </a:r>
          </a:p>
          <a:p>
            <a:pPr>
              <a:spcAft>
                <a:spcPts val="600"/>
              </a:spcAft>
              <a:defRPr sz="1250">
                <a:solidFill>
                  <a:srgbClr val="1A1A1A"/>
                </a:solidFill>
                <a:latin typeface="Calibri"/>
              </a:defRPr>
            </a:pPr>
            <a:r>
              <a:t>•  I can decide which application plan fits a given student's situation and explain why.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Early Decision: A binding application plan where a student applies to one college early and agrees in advance to enroll there if accepted and the financial aid offer is workable.</a:t>
            </a:r>
          </a:p>
          <a:p>
            <a:pPr>
              <a:spcAft>
                <a:spcPts val="600"/>
              </a:spcAft>
              <a:defRPr sz="1200">
                <a:solidFill>
                  <a:srgbClr val="1A1A1A"/>
                </a:solidFill>
                <a:latin typeface="Calibri"/>
              </a:defRPr>
            </a:pPr>
            <a:r>
              <a:t>•  Early Action: A non-binding application plan where a student applies and receives a decision early, but is not required to commit to attending if accepted.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Would you rather commit early to one option to reduce uncertainty, or keep your options open even if it means waiting longer? Explain your choice in 2-3 sentences.</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Which Plan Fits? Case Study Sort: Give small groups four short student profiles (a student who is 100 percent sure of their top choice, a student who needs to compare financial aid offers, a student whose grades are still improving senior fall, and a student who hasn't decided on a major or school yet). Groups match each profile to Early Decision, Early Action, or Regular Decision and justify their reasoning to the class. Push back if a group picks ED for a student who says they need to compare financial aid.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Early Decision: Binding and Serious</a:t>
            </a:r>
          </a:p>
          <a:p>
            <a:pPr>
              <a:spcAft>
                <a:spcPts val="600"/>
              </a:spcAft>
              <a:defRPr sz="1250">
                <a:solidFill>
                  <a:srgbClr val="1A1A1A"/>
                </a:solidFill>
                <a:latin typeface="Calibri"/>
              </a:defRPr>
            </a:pPr>
            <a:r>
              <a:t>•  Early Action: Early Answer, No Strings</a:t>
            </a:r>
          </a:p>
          <a:p>
            <a:pPr>
              <a:spcAft>
                <a:spcPts val="600"/>
              </a:spcAft>
              <a:defRPr sz="1250">
                <a:solidFill>
                  <a:srgbClr val="1A1A1A"/>
                </a:solidFill>
                <a:latin typeface="Calibri"/>
              </a:defRPr>
            </a:pPr>
            <a:r>
              <a:t>•  Regular Decision: The Default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Based on your own situation right now, which application plan would you choose for your top-choice school, and why?</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Jordan's Dilemma</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Jordan has one clear top-choice school, a mid-sized university with a strong theater program Jordan has wanted to attend since freshman year. Jordan's grades are solid, and a campus visit last spring confirmed the feeling is mutual - the theater faculty even remembered Jordan's name from an audition workshop. But Jordan's family's financial situation changed over the summer after a parent's hours were cut at work, and nobody in the family has run the school's net price calculator yet to see what financial aid might actually look like. Jordan's counselor mentioned that this school's Early Decision round tends to slightly favor applicants, and the deadline is only three weeks away. Jordan is torn: applying Early Decision could improve the odds of getting into the dream school, but Jordan won't be able to compare financial aid offers from any other school before deciding.</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Decide whether Jordan should apply Early Decision, Early Action elsewhere, or Regular Decision, and write a 3-4 sentence justification for your recommendation that specifically addresses the financial aid risk.</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Justify  (JUS-tuh-fy)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give solid reasons that show a choice or decision is correct or reasonable.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justus (fair, lawful) + -ficare/-fy (to make) - literally 'to make right.'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Groups had to justify why a given student profile fit Early Decision, Early Action, or Regular Decision.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32  ·  Letters of Recommendation &amp; Requesting Your Transcript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makes a strong request for a letter of recommendation.</a:t>
            </a:r>
          </a:p>
          <a:p>
            <a:pPr>
              <a:spcAft>
                <a:spcPts val="600"/>
              </a:spcAft>
              <a:defRPr sz="1250">
                <a:solidFill>
                  <a:srgbClr val="1A1A1A"/>
                </a:solidFill>
                <a:latin typeface="Calibri"/>
              </a:defRPr>
            </a:pPr>
            <a:r>
              <a:t>•  I can complete the steps needed to request an official transcript be sent to a college.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Letters of Recommendation: Written statements from teachers, counselors, or other adults who know a student well, describing the student's character, growth, and potential.</a:t>
            </a:r>
          </a:p>
          <a:p>
            <a:pPr>
              <a:spcAft>
                <a:spcPts val="600"/>
              </a:spcAft>
              <a:defRPr sz="1200">
                <a:solidFill>
                  <a:srgbClr val="1A1A1A"/>
                </a:solidFill>
                <a:latin typeface="Calibri"/>
              </a:defRPr>
            </a:pPr>
            <a:r>
              <a:t>•  Transcript Request: The formal process of asking a school counselor or registrar to send an official record of a student's grades and courses to a college.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of a teacher or coach who knows you well. What's one specific thing about you or your work ethic that they could speak to that a transcript alone wouldn't show?</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Letter Request Role-Play &amp; Transcript Request Practice: Have students practice, in pairs, a 30-second in-person ask for a letter of recommendation, then swap roles and give each other feedback using a simple checklist (specific reason given, enough notice, resume offered). Then walk the whole class through submitting a mock transcript request in the Naviance demo account, checking off each required field together on the projector.</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Recommendation Letters Matter</a:t>
            </a:r>
          </a:p>
          <a:p>
            <a:pPr>
              <a:spcAft>
                <a:spcPts val="600"/>
              </a:spcAft>
              <a:defRPr sz="1250">
                <a:solidFill>
                  <a:srgbClr val="1A1A1A"/>
                </a:solidFill>
                <a:latin typeface="Calibri"/>
              </a:defRPr>
            </a:pPr>
            <a:r>
              <a:t>•  How to Ask (the Right Way)</a:t>
            </a:r>
          </a:p>
          <a:p>
            <a:pPr>
              <a:spcAft>
                <a:spcPts val="600"/>
              </a:spcAft>
              <a:defRPr sz="1250">
                <a:solidFill>
                  <a:srgbClr val="1A1A1A"/>
                </a:solidFill>
                <a:latin typeface="Calibri"/>
              </a:defRPr>
            </a:pPr>
            <a:r>
              <a:t>•  Requesting Your Transcript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the specific teacher or adult you would ask for a letter of recommendation and one reason you'd give them for asking.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Hallway Ask</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Tariq had rehearsed the sentence in his head all morning, but standing outside Ms. Okafor's classroom before the bell, all of it evaporated. "Hey, um, so I need a recommendation letter, if that's okay?" he finally said, backpack straps twisted in his hands. Ms. Okafor set down the stack of papers she was carrying. "Sure. When's it due?" Tariq blinked. He hadn't actually checked. "Soon, I think? I'll double check." She nodded slowly, the kind of nod that meant she'd file this under 'vague' in her head. "Send me the specific deadline and one paragraph about why you're asking me, not just that you need a letter from someone. That'll help me write something real instead of something generic." Tariq thanked her and speed walked to first period, already pulling up Naviance on his phone to actually check the date, and realizing he had no idea what he'd even say in that paragraph she'd asked for.</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Write the paragraph Ms. Okafor asked Tariq for, explaining specifically why he is asking her for a letter, as if you were Tariq, then note the one thing he should have done differently before approaching her.</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Advocate  (AD-vuh-kayt)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speak up in support of yourself or someone else.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 vocare (to call) - literally 'one called to someone's aid.'</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Asking a teacher for a letter of recommendation the right way is a form of advocating for yourself.</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33  ·  The Fund: All-Nighter</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the real-world consequences of procrastinating on application tasks.</a:t>
            </a:r>
          </a:p>
          <a:p>
            <a:pPr>
              <a:spcAft>
                <a:spcPts val="600"/>
              </a:spcAft>
              <a:defRPr sz="1250">
                <a:solidFill>
                  <a:srgbClr val="1A1A1A"/>
                </a:solidFill>
                <a:latin typeface="Calibri"/>
              </a:defRPr>
            </a:pPr>
            <a:r>
              <a:t>•  I can connect today's reading to strategies for managing essay and recommendation deadlines.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Essays: The personal statement a student writes as part of a college application, giving admissions officers a sense of who the student is beyond grades and test scores.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Have you ever pulled an all-nighter or waited until the last minute on something important? What happened, and would you do it again?</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Read &amp; Discuss: Installment 6: Have students read the graphic novel installment individually or in pairs reading dialogue aloud, then discuss the comprehension questions as a class, drawing direct connections to yesterday's lesson on requesting letters of recommendation early.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Picking Up Where We Left Off</a:t>
            </a:r>
          </a:p>
          <a:p>
            <a:pPr>
              <a:spcAft>
                <a:spcPts val="600"/>
              </a:spcAft>
              <a:defRPr sz="1250">
                <a:solidFill>
                  <a:srgbClr val="1A1A1A"/>
                </a:solidFill>
                <a:latin typeface="Calibri"/>
              </a:defRPr>
            </a:pPr>
            <a:r>
              <a:t>•  Reading Comics as a Text</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(Graphic Novel)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Fund, Installment 6: All-Nighter</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specific thing you will do differently, based on Deshawn and Maya's all-nighter, so you don't end up in the same situation.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Missing Confirmation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It's 9 PM, two days before your Regular Decision deadline. You check Naviance and see your transcript request status still says 'pending' instead of 'sent,' even though you submitted the request three weeks ago. You're not sure if this is a normal processing delay or if something actually went wrong.</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Write the exact message you would send, and to whom (counselor, registrar, or both), to resolve this within the next 24 hours instead of waiting passively until the deadline.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Anticipate  (an-TIS-uh-payt)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expect or prepare for something before it happens.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ante- (before) + capere (to take) - literally 'to take beforehand.'</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If Deshawn had anticipated that Coach Reyes needed a firm deadline, he could have avoided the all-nighter scramble.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34  ·  Writing the Common App Personal Essay</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what admissions officers are actually looking for in a personal essay.</a:t>
            </a:r>
          </a:p>
          <a:p>
            <a:pPr>
              <a:spcAft>
                <a:spcPts val="600"/>
              </a:spcAft>
              <a:defRPr sz="1250">
                <a:solidFill>
                  <a:srgbClr val="1A1A1A"/>
                </a:solidFill>
                <a:latin typeface="Calibri"/>
              </a:defRPr>
            </a:pPr>
            <a:r>
              <a:t>•  I can draft an opening paragraph for my own Common App essay.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Essays: The personal statement a student writes as part of a college application, giving admissions officers a sense of who the student is beyond grades and test scores.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 had to describe yourself using one small, specific moment from your life, instead of a list of achievements, what moment would you choose?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First Line, Real Moment: Have students brainstorm three small, specific real-life moments (not achievements) for two minutes, then pick one and draft just an opening paragraph, aiming for a concrete scene instead of a general statement. Ask two or three volunteers to read their opening lines aloud and have the class guess what the essay's real topic might be, based only on that specific scene.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the Essay Is Actually For</a:t>
            </a:r>
          </a:p>
          <a:p>
            <a:pPr>
              <a:spcAft>
                <a:spcPts val="600"/>
              </a:spcAft>
              <a:defRPr sz="1250">
                <a:solidFill>
                  <a:srgbClr val="1A1A1A"/>
                </a:solidFill>
                <a:latin typeface="Calibri"/>
              </a:defRPr>
            </a:pPr>
            <a:r>
              <a:t>•  The Prompts Are Flexible on Purpose</a:t>
            </a:r>
          </a:p>
          <a:p>
            <a:pPr>
              <a:spcAft>
                <a:spcPts val="600"/>
              </a:spcAft>
              <a:defRPr sz="1250">
                <a:solidFill>
                  <a:srgbClr val="1A1A1A"/>
                </a:solidFill>
                <a:latin typeface="Calibri"/>
              </a:defRPr>
            </a:pPr>
            <a:r>
              <a:t>•  Show, Don't Summarize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Write one true, specific sentence describing a real moment from your life that you could build an essay around.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Two Drafts, One Topic</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named Alex is trying to decide between two possible essay openings. The first: "I have always been passionate about helping others, which is why I volunteer at the animal shelter, play three sports, and tutor younger students every week" - a broad list of activities, all things already visible on Alex's activities section. The second: a single scene from one Tuesday afternoon at the animal shelter when a dog nobody wanted to adopt, an old, anxious rescue named Biscuit, finally let Alex clip on a leash without flinching for the first time after six weeks of Alex showing up, sitting quietly nearby, and doing nothing but waiting. Alex likes the first draft because it 'shows everything I've done,' but a friend who read both said the second one is the one that actually sounds like Alex.</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Explain which draft is the stronger start for a Common App essay and why, referencing today's 'show, don't summarize' idea, then rewrite the weaker draft's opening sentence as one specific, scene-based sentence instead.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Convey  (kun-VAY)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communicate or express an idea, feeling, or meaning to someone else.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com- (together) + via (way, road) - literally 'to carry along a path.'</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strong personal essay conveys who a student is through one specific, real moment instead of a list of achievements.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35  ·  Essay Workshop: Peer Feedback That Actually Helps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give specific, useful feedback on a peer's essay draft.</a:t>
            </a:r>
          </a:p>
          <a:p>
            <a:pPr>
              <a:spcAft>
                <a:spcPts val="600"/>
              </a:spcAft>
              <a:defRPr sz="1250">
                <a:solidFill>
                  <a:srgbClr val="1A1A1A"/>
                </a:solidFill>
                <a:latin typeface="Calibri"/>
              </a:defRPr>
            </a:pPr>
            <a:r>
              <a:t>•  I can revise my own essay draft based on feedback I received.</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Essays: The personal statement a student writes as part of a college application, giving admissions officers a sense of who the student is beyond grades and test scores.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of a time someone gave you feedback that actually helped you improve something. What made that feedback useful instead of just discouraging?</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Essay Workshop Circles: Put students in groups of three, have each student silently read the other two drafts and jot answers to the three feedback questions on a sticky note, then go around the circle sharing feedback out loud one person at a time while the writer only listens and takes notes, no defending or explaining. Give the last ten minutes for individual silent revision based on what they heard.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Vague Feedback Doesn't Help</a:t>
            </a:r>
          </a:p>
          <a:p>
            <a:pPr>
              <a:spcAft>
                <a:spcPts val="600"/>
              </a:spcAft>
              <a:defRPr sz="1250">
                <a:solidFill>
                  <a:srgbClr val="1A1A1A"/>
                </a:solidFill>
                <a:latin typeface="Calibri"/>
              </a:defRPr>
            </a:pPr>
            <a:r>
              <a:t>•  The Three-Question Feedback Method</a:t>
            </a:r>
          </a:p>
          <a:p>
            <a:pPr>
              <a:spcAft>
                <a:spcPts val="600"/>
              </a:spcAft>
              <a:defRPr sz="1250">
                <a:solidFill>
                  <a:srgbClr val="1A1A1A"/>
                </a:solidFill>
                <a:latin typeface="Calibri"/>
              </a:defRPr>
            </a:pPr>
            <a:r>
              <a:t>•  Revising Without Losing Your Voice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specific change you're making to your essay draft based on feedback you received today.</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Workshop the Stranger's Draft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You're handed this anonymous essay opening in workshop: "Throughout my life, I have learned many valuable lessons about hard work, dedication, and perseverance, which have shaped who I am as a person today and will continue to guide me as I pursue my goals in college and beyond." The writer is proud of this opening and believes it 'covers everything important' right away. Using today's three-question method, you need to give this writer real, specific feedback rather than vague praise or vague criticism.</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Answer the three workshop questions (what is this essay actually about, where did you feel connected, where did you get confused or lose interest) for this specific opening, and write one concrete suggestion for a more specific first sentence.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Critique  (krih-TEEK)</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A careful, detailed evaluation of something's strengths and weaknesses, meant to help it improve.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kritikos (able to judge or discern), from krinein (to separate, to judge).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During the essay workshop, students learned to critique a peer's draft using three specific questions instead of vague praise.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36  ·  Supplemental Essays: The 'Why Us?' Question</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 supplemental essay is and why colleges require them.</a:t>
            </a:r>
          </a:p>
          <a:p>
            <a:pPr>
              <a:spcAft>
                <a:spcPts val="600"/>
              </a:spcAft>
              <a:defRPr sz="1250">
                <a:solidFill>
                  <a:srgbClr val="1A1A1A"/>
                </a:solidFill>
                <a:latin typeface="Calibri"/>
              </a:defRPr>
            </a:pPr>
            <a:r>
              <a:t>•  I can draft a strong 'why this school' supplemental essay for one college on my list.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Supplemental Essay: An additional short essay some colleges require beyond the main Common App essay, often asking why the student wants to attend that specific school.</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friend asked you 'why do you actually want to go to that school?' and you couldn't say 'because it's a good school,' what would you really say?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Supplemental Essay Research Sprint: Have students pick one college from their own list and spend 15 minutes researching that school's specific programs, courses, or clubs using the school's actual website, jotting down at least three specific details they could use in a 'why this school' essay. Students then draft a rough opening paragraph using at least one specific detail, and share with a partner to check whether it sounds like it could apply to any school or clearly names their one specific choice.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One More Essay (or Five More)</a:t>
            </a:r>
          </a:p>
          <a:p>
            <a:pPr>
              <a:spcAft>
                <a:spcPts val="600"/>
              </a:spcAft>
              <a:defRPr sz="1250">
                <a:solidFill>
                  <a:srgbClr val="1A1A1A"/>
                </a:solidFill>
                <a:latin typeface="Calibri"/>
              </a:defRPr>
            </a:pPr>
            <a:r>
              <a:t>•  The 'Why This School' Trap</a:t>
            </a:r>
          </a:p>
          <a:p>
            <a:pPr>
              <a:spcAft>
                <a:spcPts val="600"/>
              </a:spcAft>
              <a:defRPr sz="1250">
                <a:solidFill>
                  <a:srgbClr val="1A1A1A"/>
                </a:solidFill>
                <a:latin typeface="Calibri"/>
              </a:defRPr>
            </a:pPr>
            <a:r>
              <a:t>•  Research Before You Write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specific, real detail (a class, program, professor, or club) you could use in a supplemental essay for a school on your list.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Fix the Generic 'Why Us'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student's supplemental essay draft for a university reads: "I want to attend this school because it has a beautiful campus, a great reputation, and amazing opportunities for students like me. I know I would thrive in this environment and take advantage of everything it has to offer." Every sentence could be copy-pasted into a supplemental essay for almost any other college in the country, and the admissions reader would have no way to tell this student actually researched the school.</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a school's actual website (your own list works fine), find two specific, real details - a class, professor, program, or tradition - and rewrite this paragraph so it could only apply to that one specific school.</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Differentiate  (dif-uh-REN-shee-ayt)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or show how two or more things are different from each other.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differre (to carry apart, to differ) + -ate (verb-forming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strong supplemental essay differentiates one specific college from every other school on a student's list.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37  ·  Inside the Common App: How Holistic Review Actually Works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holistic review means and how it differs from a purely numbers-based process.</a:t>
            </a:r>
          </a:p>
          <a:p>
            <a:pPr>
              <a:spcAft>
                <a:spcPts val="600"/>
              </a:spcAft>
              <a:defRPr sz="1250">
                <a:solidFill>
                  <a:srgbClr val="1A1A1A"/>
                </a:solidFill>
                <a:latin typeface="Calibri"/>
              </a:defRPr>
            </a:pPr>
            <a:r>
              <a:t>•  I can identify which parts of my own application feed into a holistic review.</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Holistic Review: An admissions approach that evaluates a student's whole profile - grades, essays, activities, recommendations, and personal context - rather than ranking applicants by a single number.</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college could only look at ONE thing to decide whether to admit you - your GPA, your essay, or your activities list - which would you want it to be, and why?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Reader's Chair: Give students an anonymized one-page mock application snapshot (GPA, one activity description, one essay excerpt, one context note) and have them role-play as an admissions reader using holistic review, discussing in small groups what stands out and what questions they'd still have. Debrief as a class on how their read of the same student changed depending on which piece of the application they focused on first.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Not Just a Numbers Game</a:t>
            </a:r>
          </a:p>
          <a:p>
            <a:pPr>
              <a:spcAft>
                <a:spcPts val="600"/>
              </a:spcAft>
              <a:defRPr sz="1250">
                <a:solidFill>
                  <a:srgbClr val="1A1A1A"/>
                </a:solidFill>
                <a:latin typeface="Calibri"/>
              </a:defRPr>
            </a:pPr>
            <a:r>
              <a:t>•  What 'Context' Actually Means</a:t>
            </a:r>
          </a:p>
          <a:p>
            <a:pPr>
              <a:spcAft>
                <a:spcPts val="600"/>
              </a:spcAft>
              <a:defRPr sz="1250">
                <a:solidFill>
                  <a:srgbClr val="1A1A1A"/>
                </a:solidFill>
                <a:latin typeface="Calibri"/>
              </a:defRPr>
            </a:pPr>
            <a:r>
              <a:t>•  Why This Should Change How You Apply</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(Informational)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Inside the Common App: How Holistic Review Actually Works</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part of your own application (essay, activity, GPA, letter) that you think tells an important part of your story, and explain why.</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Same GPA, Different Story</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Two applicants both have a 3.5 GPA. Applicant One took the most rigorous courses available at a well-resourced school and worked no outside job. Applicant Two took a slightly less rigorous course load at an under-resourced school while working 20 hours a week to help support their family, and still found time to write a strong essay about that experience.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what you learned about holistic review, explain in 2-3 sentences whether these two applicants' identical GPAs should be read the same way by an admissions committee, and why.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Evaluate  (ih-VAL-yoo-ayt)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judge the value, quality, or significance of something by carefully examining it.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 (out) + valere (to be strong, to be worth) + -ate - literally 'to draw out the worth of.'</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Admissions officers evaluate a student's whole application together instead of relying on one single number.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38  ·  Application Fees and Fee Waivers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application fees typically cost and why they exist.</a:t>
            </a:r>
          </a:p>
          <a:p>
            <a:pPr>
              <a:spcAft>
                <a:spcPts val="600"/>
              </a:spcAft>
              <a:defRPr sz="1250">
                <a:solidFill>
                  <a:srgbClr val="1A1A1A"/>
                </a:solidFill>
                <a:latin typeface="Calibri"/>
              </a:defRPr>
            </a:pPr>
            <a:r>
              <a:t>•  I can identify how a student qualifies for and requests an application fee waiver.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Application Fees: The charge, often $50 to $90, a college requires to process an application; many colleges will waive this fee for students with documented financial need.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applying to one college costs around $75, and you wanted to apply to eight schools, do the quick math: what's the total, and does that number surprise you?</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Fee Waiver Walkthrough &amp; Budget Math: Have students calculate the total application fee cost for the college list they built earlier in the unit, then walk through, on the projector, exactly where the fee waiver checkbox and counselor-confirmation step appear in the Common App. Discuss as a class why a fee waiver doesn't affect how an application is reviewed, addressing any hesitation students might feel about requesting one.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Application Fees Actually Cost</a:t>
            </a:r>
          </a:p>
          <a:p>
            <a:pPr>
              <a:spcAft>
                <a:spcPts val="600"/>
              </a:spcAft>
              <a:defRPr sz="1250">
                <a:solidFill>
                  <a:srgbClr val="1A1A1A"/>
                </a:solidFill>
                <a:latin typeface="Calibri"/>
              </a:defRPr>
            </a:pPr>
            <a:r>
              <a:t>•  Fee Waivers Exist for a Reason</a:t>
            </a:r>
          </a:p>
          <a:p>
            <a:pPr>
              <a:spcAft>
                <a:spcPts val="600"/>
              </a:spcAft>
              <a:defRPr sz="1250">
                <a:solidFill>
                  <a:srgbClr val="1A1A1A"/>
                </a:solidFill>
                <a:latin typeface="Calibri"/>
              </a:defRPr>
            </a:pPr>
            <a:r>
              <a:t>•  Requesting a Waiver Without Embarrassment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Calculate the total application fee cost for your own college list, and note whether a fee waiver might apply to your situation.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Budgeting Eight Applications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is applying to eight schools with these application fees: $75, $80, $50, $90, $65, $75, $85, and $60. The student's family qualifies for a fee waiver based on documented financial need, but the student feels unsure about asking and is considering just paying full price at three of the schools they're 'most serious about' and skipping the rest to save money.</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the total cost of all eight application fees, then calculate how much would be saved with a full fee waiver, and write a recommendation for what this student should actually do and why.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Allocate  (AL-uh-kayt)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set aside or distribute a specific amount of something, like money or time, for a particular purpose.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 locare (to place) - literally 'to place toward' a purpose.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family applying to eight schools needs to allocate several hundred dollars for application fees, or look into waivers.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39  ·  Direct Admissions &amp; Test-Optional Policies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how direct admissions programs work and how they differ from traditional applications.</a:t>
            </a:r>
          </a:p>
          <a:p>
            <a:pPr>
              <a:spcAft>
                <a:spcPts val="600"/>
              </a:spcAft>
              <a:defRPr sz="1250">
                <a:solidFill>
                  <a:srgbClr val="1A1A1A"/>
                </a:solidFill>
                <a:latin typeface="Calibri"/>
              </a:defRPr>
            </a:pPr>
            <a:r>
              <a:t>•  I can decide whether submitting standardized test scores makes sense for my own application.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Direct Admissions: A newer admissions approach where a college or state program reviews a student's information, like GPA, in advance and proactively offers admission before the student formally applies.</a:t>
            </a:r>
          </a:p>
          <a:p>
            <a:pPr>
              <a:spcAft>
                <a:spcPts val="600"/>
              </a:spcAft>
              <a:defRPr sz="1200">
                <a:solidFill>
                  <a:srgbClr val="1A1A1A"/>
                </a:solidFill>
                <a:latin typeface="Calibri"/>
              </a:defRPr>
            </a:pPr>
            <a:r>
              <a:t>•  Standardized-Test-Optional Policy: A college admissions policy that lets applicants decide for themselves whether to submit SAT or ACT scores as part of their application.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college offered you admission before you even applied, based only on your GPA, would you trust that offer? Why or why not?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Direct Admissions &amp; Test-Optional Decision Chart: Present two or three real-style scenarios (a student who received a direct admissions offer with an unfamiliar program name, a student whose test score is below their GPA's typical range, one above it) and have small groups decide what each student should do next and why, referencing today's mini-lesson. Have groups justify their decisions to the class, pushing them to explain reasoning rather than just guessing.</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How Direct Admissions Flips the Process</a:t>
            </a:r>
          </a:p>
          <a:p>
            <a:pPr>
              <a:spcAft>
                <a:spcPts val="600"/>
              </a:spcAft>
              <a:defRPr sz="1250">
                <a:solidFill>
                  <a:srgbClr val="1A1A1A"/>
                </a:solidFill>
                <a:latin typeface="Calibri"/>
              </a:defRPr>
            </a:pPr>
            <a:r>
              <a:t>•  The Upside and the Catch</a:t>
            </a:r>
          </a:p>
          <a:p>
            <a:pPr>
              <a:spcAft>
                <a:spcPts val="600"/>
              </a:spcAft>
              <a:defRPr sz="1250">
                <a:solidFill>
                  <a:srgbClr val="1A1A1A"/>
                </a:solidFill>
                <a:latin typeface="Calibri"/>
              </a:defRPr>
            </a:pPr>
            <a:r>
              <a:t>•  Should You Submit Test Scores?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If your test scores are below your GPA's typical range at a test-optional school, would you submit them? Explain your reasoning in one or two sentences.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39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Submit or Skip?</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Riley has a 3.8 GPA in mostly honors-level courses, strong essays, and glowing recommendation letters, but a superscored ACT of 21, noticeably below the average for Riley's top-choice school, which is test-optional. Riley's cousin insists 'you should always submit scores just to be thorough,' but Riley isn't sure that's actually good advice for this specific situation.</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today's rule of thumb about test-optional policies, decide whether Riley should submit the ACT score to this specific school, and justify your answer using details from Riley's actual profile.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Assess  (uh-SES)</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consider and judge the nature, quality, or value of something before deciding what to do.</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 sedere (to sit) - originally 'to sit beside' a judge to help set a value.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had to assess whether their own test scores were a strong reflection of their ability before deciding whether to submit them.</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40  ·  The Fund: The Waitlist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 waitlist decision actually means and does not mean.</a:t>
            </a:r>
          </a:p>
          <a:p>
            <a:pPr>
              <a:spcAft>
                <a:spcPts val="600"/>
              </a:spcAft>
              <a:defRPr sz="1250">
                <a:solidFill>
                  <a:srgbClr val="1A1A1A"/>
                </a:solidFill>
                <a:latin typeface="Calibri"/>
              </a:defRPr>
            </a:pPr>
            <a:r>
              <a:t>•  I can identify healthy next steps a student can take after being waitlisted.</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Waitlist: A list of qualified applicants a college may offer admission to later, after enrolled students confirm their spots and the college knows how much space remains.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Describe a time you had to wait for news that mattered to you, without knowing the answer yet. How did you handle the uncertainty?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Read &amp; Discuss: Installment 7: Have students read the installment silently, then discuss in small groups how Deshawn's initial reaction compares to what Mr. Alvarez and Maya tell him, before coming back together to connect it to today's mini-lesson on what a waitlist decision really means.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Picking Up Where We Left Off</a:t>
            </a:r>
          </a:p>
          <a:p>
            <a:pPr>
              <a:spcAft>
                <a:spcPts val="600"/>
              </a:spcAft>
              <a:defRPr sz="1250">
                <a:solidFill>
                  <a:srgbClr val="1A1A1A"/>
                </a:solidFill>
                <a:latin typeface="Calibri"/>
              </a:defRPr>
            </a:pPr>
            <a:r>
              <a:t>•  What a Waitlist Actually Is</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Fund, Installment 7: The Waitlist</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If you were in Deshawn's position, which of Mr. Alvarez's suggested actions would you do first, and why?</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Text From a Friend</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Right after class, a friend who wasn't in Financial Planning today texts you: "just got waitlisted and I don't even know what that means, is it a rejection??" You have about two minutes before your friend needs to head into their next class and wants a real answer, not just sympathy.</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Write the exact text message reply you would send, in three sentences or fewer, that accurately explains what a waitlist decision means and one concrete next step your friend should take.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Interpret  (in-TUR-prit)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explain or work out the meaning of something that isn't immediately obvious.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interpres (a go-between, one who explains between two parties) + -et.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Deshawn had to learn to interpret his waitlist decision correctly instead of assuming it meant an automatic no.</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41  ·  Making Sense of Waitlists and Deferrals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outline the realistic next steps a student can take after a waitlist decision.</a:t>
            </a:r>
          </a:p>
          <a:p>
            <a:pPr>
              <a:spcAft>
                <a:spcPts val="600"/>
              </a:spcAft>
              <a:defRPr sz="1250">
                <a:solidFill>
                  <a:srgbClr val="1A1A1A"/>
                </a:solidFill>
                <a:latin typeface="Calibri"/>
              </a:defRPr>
            </a:pPr>
            <a:r>
              <a:t>•  I can evaluate whether an update letter to a waitlisting college is appropriate and effective.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Waitlist: A list of qualified applicants a college may offer admission to later, after enrolled students confirm their spots and the college knows how much space remains.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Yesterday we read about Deshawn getting waitlisted. If you were coaching a friend through the exact same situation, what's the first piece of advice you'd give them?</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Draft a Letter of Continued Interest: Have students draft a short, three-to-five-sentence letter of continued interest for a hypothetical waitlisted scenario, including one specific update and one honest reason for continued interest, then trade with a partner to check whether it reads as specific and genuine versus generic and desperate. Discuss as a class what separates the two.</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Realistic Odds</a:t>
            </a:r>
          </a:p>
          <a:p>
            <a:pPr>
              <a:spcAft>
                <a:spcPts val="600"/>
              </a:spcAft>
              <a:defRPr sz="1250">
                <a:solidFill>
                  <a:srgbClr val="1A1A1A"/>
                </a:solidFill>
                <a:latin typeface="Calibri"/>
              </a:defRPr>
            </a:pPr>
            <a:r>
              <a:t>•  Confirm a Real Plan First</a:t>
            </a:r>
          </a:p>
          <a:p>
            <a:pPr>
              <a:spcAft>
                <a:spcPts val="600"/>
              </a:spcAft>
              <a:defRPr sz="1250">
                <a:solidFill>
                  <a:srgbClr val="1A1A1A"/>
                </a:solidFill>
                <a:latin typeface="Calibri"/>
              </a:defRPr>
            </a:pPr>
            <a:r>
              <a:t>•  Should You Send an Update Letter?</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Write one specific, genuine sentence you could include in a letter of continued interest for a hypothetical waitlisted school.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Draft It, Then Cut It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You've been waitlisted at a school and want to send a letter of continued interest. You have three true updates to choose from: (1) your fall semester grades came in and your GPA went up slightly, (2) you were named team captain of a club you've been in for two years, (3) you attended a virtual info session hosted by the school last month. You only have room for one specific update plus one sentence of genuine continued interest before the letter starts sounding long and desperate instead of brief and sincere.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Choose which one update is strongest for this letter and explain why, then draft the full three-to-five-sentence letter using that update and one honest reason you'd still enroll if accepted.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Substantiate  (sub-STAN-shee-ayt)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support a claim or statement with real evidence or specific facts.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sub- (under) + stare (to stand) + -ate - literally 'to make something stand under' with support.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strong letter of continued interest substantiates a student's continued interest with one real, specific update, not just enthusiasm.</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42  ·  Portfolios: Applying With Your Work</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 portfolio is and which kinds of programs typically require one.</a:t>
            </a:r>
          </a:p>
          <a:p>
            <a:pPr>
              <a:spcAft>
                <a:spcPts val="600"/>
              </a:spcAft>
              <a:defRPr sz="1250">
                <a:solidFill>
                  <a:srgbClr val="1A1A1A"/>
                </a:solidFill>
                <a:latin typeface="Calibri"/>
              </a:defRPr>
            </a:pPr>
            <a:r>
              <a:t>•  I can identify the key elements of a strong portfolio submission.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Portfolio: A collected set of work samples, such as art, design, writing, or film, that some college programs require applicants to submit in addition to their application.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 had to submit ten pieces of your own work, from any area (art, writing, video, music, coding, design), to show who you are, what would you choose and why?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Portfolio Curation Practice: Have students (using real or placeholder examples of their own creative, technical, or written work) practice narrowing a stack of 15-20 sample pieces down to a curated 8-10, explaining out loud to a partner why each keeper made the cut and each cut piece didn't. Discuss as a class how this curation process is similar to picking the one true topic for a personal essay.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a Portfolio Adds</a:t>
            </a:r>
          </a:p>
          <a:p>
            <a:pPr>
              <a:spcAft>
                <a:spcPts val="600"/>
              </a:spcAft>
              <a:defRPr sz="1250">
                <a:solidFill>
                  <a:srgbClr val="1A1A1A"/>
                </a:solidFill>
                <a:latin typeface="Calibri"/>
              </a:defRPr>
            </a:pPr>
            <a:r>
              <a:t>•  Curated, Not Complete</a:t>
            </a:r>
          </a:p>
          <a:p>
            <a:pPr>
              <a:spcAft>
                <a:spcPts val="600"/>
              </a:spcAft>
              <a:defRPr sz="1250">
                <a:solidFill>
                  <a:srgbClr val="1A1A1A"/>
                </a:solidFill>
                <a:latin typeface="Calibri"/>
              </a:defRPr>
            </a:pPr>
            <a:r>
              <a:t>•  Process Matters as Much as the Final Piece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If you had to cut your own work down to eight pieces for a portfolio, what's one piece you'd definitely keep and one you'd cut, and why?</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Cutting Room Floor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Nina spread all eighteen photographs from her photography portfolio across the kitchen table, one more time, for what felt like the tenth night in a row. Her younger brother wandered in for a snack and pointed at a photo near the edge, a blurry, half-cropped shot of their grandmother's hands kneading dough. "That one's bad, though. It's not even in focus." "I know," Nina said. "But it's the only one that's actually about something instead of just looking nice." She pulled two technically perfect sunset photos out of the pile instead, the kind she knew reviewers had probably seen five hundred times already, and set the blurry hands photo firmly in the 'keep' stack. Her brother shrugged and left with his snack, unconvinced, and Nina kept sorting, trying to get eighteen down to ten.</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Explain, using today's mini-lesson, why Nina's choice to keep the imperfect photo and cut the polished sunset photos is a defensible curation decision, and identify one risk with her approach.</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Discern  (dih-SURN)</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or notice the difference between things, often ones that aren't obviously different.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dis- (apart) + cernere (to separate, to sift) - literally 'to separate apart.'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Curating a portfolio means learning to discern which pieces show real range and skill and which ones weaken the set.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43  ·  Unit Wrap-Up: Your Application Season Checklist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which parts of the college application process I've completed and which remain.</a:t>
            </a:r>
          </a:p>
          <a:p>
            <a:pPr>
              <a:spcAft>
                <a:spcPts val="600"/>
              </a:spcAft>
              <a:defRPr sz="1250">
                <a:solidFill>
                  <a:srgbClr val="1A1A1A"/>
                </a:solidFill>
                <a:latin typeface="Calibri"/>
              </a:defRPr>
            </a:pPr>
            <a:r>
              <a:t>•  I can build a personal, deadline-ordered checklist to carry into the rest of application season.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Application Deadline: The date by which every required part of a college application must be submitted in order for the application to be considered.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Out of everything we've covered in this unit, Common App and Naviance, essays, letters of recommendation, deadlines, waitlists, portfolios, what's the one thing you feel least prepared for right now?</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Build Your Personal Application Checklist: Have students build a final, deadline-ordered personal checklist covering every school on their list from earlier in the unit, marking what's complete (essay drafted, letters requested, transcript requested, fee paid or waived) and what's still outstanding, using Naviance to confirm actual status. Close by having a few students share one item they're proud of finishing and one they're prioritizing next.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Whole Process, Reviewed</a:t>
            </a:r>
          </a:p>
          <a:p>
            <a:pPr>
              <a:spcAft>
                <a:spcPts val="600"/>
              </a:spcAft>
              <a:defRPr sz="1250">
                <a:solidFill>
                  <a:srgbClr val="1A1A1A"/>
                </a:solidFill>
                <a:latin typeface="Calibri"/>
              </a:defRPr>
            </a:pPr>
            <a:r>
              <a:t>•  What 'Done' Actually Looks Like</a:t>
            </a:r>
          </a:p>
          <a:p>
            <a:pPr>
              <a:spcAft>
                <a:spcPts val="600"/>
              </a:spcAft>
              <a:defRPr sz="1250">
                <a:solidFill>
                  <a:srgbClr val="1A1A1A"/>
                </a:solidFill>
                <a:latin typeface="Calibri"/>
              </a:defRPr>
            </a:pPr>
            <a:r>
              <a:t>•  Holding Uncertainty Well</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Write down the single next task on your personal checklist, and the date you plan to complete it by.</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Final Audit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With three weeks left before your earliest deadline, you sit down to actually audit your own application status across every school on your list, instead of just assuming things are fine. When you check carefully, you find: one school still shows your transcript request as 'pending,' one supplemental essay is still an unfinished rough draft, one letter of recommendation shows as 'requested' but not 'sent,' and you never actually confirmed whether one of your schools offers a fee waiver you might qualify for.</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Rank these four outstanding items in the order you would tackle them this week, and explain your reasoning for putting one item first and one item last.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Synthesize  (SIN-thuh-syze)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combine separate pieces of information into one connected, organized whole.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syn- (together) + tithenai (to place) - literally 'to place together.'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Today's checklist asks you to synthesize everything from this unit - essays, letters, deadlines, fees - into one personal plan.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B5E3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0C14B"/>
                </a:solidFill>
                <a:latin typeface="Calibri"/>
              </a:rPr>
              <a:t>UNIT 5</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Financial Aid</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What types of financial aid are available and which are best for me?</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0C14B"/>
                </a:solidFill>
                <a:latin typeface="Calibri"/>
              </a:rPr>
              <a:t>Days 44–48 · 5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FAFSA, CSS Profile, Scholarships (Merit, Need-Based), Grants, Work-Study, Parent/Student Contribution, Expected Family Contribution (EFC)/Student Aid Index (SAI)</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44  ·  What Is Financial Aid? Grants, Scholarships, and the Big Picture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distinguish between the major categories of financial aid: grants, scholarships, work-study, and loans.</a:t>
            </a:r>
          </a:p>
          <a:p>
            <a:pPr>
              <a:spcAft>
                <a:spcPts val="600"/>
              </a:spcAft>
              <a:defRPr sz="1250">
                <a:solidFill>
                  <a:srgbClr val="1A1A1A"/>
                </a:solidFill>
                <a:latin typeface="Calibri"/>
              </a:defRPr>
            </a:pPr>
            <a:r>
              <a:t>•  I can explain the difference between merit-based and need-based scholarships.</a:t>
            </a:r>
          </a:p>
          <a:p>
            <a:pPr>
              <a:spcAft>
                <a:spcPts val="600"/>
              </a:spcAft>
              <a:defRPr sz="1250">
                <a:solidFill>
                  <a:srgbClr val="1A1A1A"/>
                </a:solidFill>
                <a:latin typeface="Calibri"/>
              </a:defRPr>
            </a:pPr>
            <a:r>
              <a:t>•  I can explain why the FAFSA is the starting point for almost every type of financial aid.</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FAFSA: The Free Application for Federal Student Aid; the form nearly every college-bound student fills out to qualify for federal and state financial aid, plus most college-based aid.</a:t>
            </a:r>
          </a:p>
          <a:p>
            <a:pPr>
              <a:spcAft>
                <a:spcPts val="600"/>
              </a:spcAft>
              <a:defRPr sz="1200">
                <a:solidFill>
                  <a:srgbClr val="1A1A1A"/>
                </a:solidFill>
                <a:latin typeface="Calibri"/>
              </a:defRPr>
            </a:pPr>
            <a:r>
              <a:t>•  Scholarships (Merit, Need-Based): Money for college that does not have to be repaid; merit scholarships reward achievement, need-based scholarships are awarded based on a family's financial situation.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 could get money for college that you never have to pay back, versus money you have to pay back later with interest, which would you go after first? Why don't more students go after the free money first?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Banzai "Cost of College" Module: Have students log into the Banzai "Cost of College" module and run the simulation comparing sticker price at two or three schools they are personally considering. Ask them to note which cost categories (tuition, room and board, fees) surprised them most, and where they think financial aid could realistically close the gap. Debrief as a whole class, comparing a few students' numbers on the board.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Financial Aid Is an Umbrella Term</a:t>
            </a:r>
          </a:p>
          <a:p>
            <a:pPr>
              <a:spcAft>
                <a:spcPts val="600"/>
              </a:spcAft>
              <a:defRPr sz="1250">
                <a:solidFill>
                  <a:srgbClr val="1A1A1A"/>
                </a:solidFill>
                <a:latin typeface="Calibri"/>
              </a:defRPr>
            </a:pPr>
            <a:r>
              <a:t>•  Where It All Starts: The FAFSA</a:t>
            </a:r>
          </a:p>
          <a:p>
            <a:pPr>
              <a:spcAft>
                <a:spcPts val="600"/>
              </a:spcAft>
              <a:defRPr sz="1250">
                <a:solidFill>
                  <a:srgbClr val="1A1A1A"/>
                </a:solidFill>
                <a:latin typeface="Calibri"/>
              </a:defRPr>
            </a:pPr>
            <a:r>
              <a:t>•  Merit vs. Need: Two Different Questions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In one sentence, explain the difference between a merit-based scholarship and a need-based scholarship.</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Six Weeks, Limited Hours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It's the first week of senior year, and a school counselor tells a group of students they realistically have about six hours a week to spend on financial aid work between now and winter break, on top of homework, sports, and jobs. In front of them are four possible uses of that time: filling out the FAFSA (required for almost all aid, takes a few hours total), applying to three local merit scholarships with short essays (a few hours each, competitive but based on grades they already have), applying to two need-based community scholarships requiring a family financial summary (moderate time, no essay), and researching which of their target colleges require the CSS Profile (quick, but only matters if it turns out one does). Every student in the room has the same six hours a week, but different families, grades, and target schools, so the same order of operations will not work for all of them.</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only the four categories described, write a week-by-week order in which you would tackle them and explain your reasoning for what goes first, second, third, and fourth, assuming you are a student planning to apply to at least one private college.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Differentiate  (dif-uh-REN-shee-ate)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or show the difference between two or more things that might otherwise seem similar.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dis- (apart) + ferre (to carry) + -ate (verb-forming suffix) — literally 'to carry apart.'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Being able to differentiate between a merit scholarship and a need-based scholarship helps you know which parts of your application to focus on strengthening.</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45  ·  Filling Out the FAFSA: What It Actually Asks For</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the categories of information the FAFSA collects from students and parents.</a:t>
            </a:r>
          </a:p>
          <a:p>
            <a:pPr>
              <a:spcAft>
                <a:spcPts val="600"/>
              </a:spcAft>
              <a:defRPr sz="1250">
                <a:solidFill>
                  <a:srgbClr val="1A1A1A"/>
                </a:solidFill>
                <a:latin typeface="Calibri"/>
              </a:defRPr>
            </a:pPr>
            <a:r>
              <a:t>•  I can explain what the Expected Family Contribution / Student Aid Index (EFC/SAI) represents.</a:t>
            </a:r>
          </a:p>
          <a:p>
            <a:pPr>
              <a:spcAft>
                <a:spcPts val="600"/>
              </a:spcAft>
              <a:defRPr sz="1250">
                <a:solidFill>
                  <a:srgbClr val="1A1A1A"/>
                </a:solidFill>
                <a:latin typeface="Calibri"/>
              </a:defRPr>
            </a:pPr>
            <a:r>
              <a:t>•  I can distinguish between the parent contribution and the student contribution within a family's overall aid picture.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Expected Family Contribution (EFC)/Student Aid Index (SAI): A number generated from FAFSA information that colleges use to estimate how much financial need a student has; it is an index for comparing aid eligibility, not a literal bill a family receives.</a:t>
            </a:r>
          </a:p>
          <a:p>
            <a:pPr>
              <a:spcAft>
                <a:spcPts val="600"/>
              </a:spcAft>
              <a:defRPr sz="1200">
                <a:solidFill>
                  <a:srgbClr val="1A1A1A"/>
                </a:solidFill>
                <a:latin typeface="Calibri"/>
              </a:defRPr>
            </a:pPr>
            <a:r>
              <a:t>•  Parent/Student Contribution: The portions of the amount a family is expected to contribute toward college costs that come from parent resources versus the student's own income and assets.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Guess: what percentage of the FAFSA questions do you think are about the student, versus about the student's parents? Write your guess before we look at the real form.</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Mock FAFSA Family Profile + Banzai "Paying for College": Give student pairs a mock family financial profile card (income, household size, one student savings balance) and have them predict whether the family's SAI would go up or down if one detail changed, such as a second sibling starting college or the student's savings account growing. Then have them check their prediction using the aid estimator tool inside the Banzai "Paying for College" module with the same mock numbers.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Inside the FAFSA Form</a:t>
            </a:r>
          </a:p>
          <a:p>
            <a:pPr>
              <a:spcAft>
                <a:spcPts val="600"/>
              </a:spcAft>
              <a:defRPr sz="1250">
                <a:solidFill>
                  <a:srgbClr val="1A1A1A"/>
                </a:solidFill>
                <a:latin typeface="Calibri"/>
              </a:defRPr>
            </a:pPr>
            <a:r>
              <a:t>•  From FAFSA to a Number: EFC/SAI</a:t>
            </a:r>
          </a:p>
          <a:p>
            <a:pPr>
              <a:spcAft>
                <a:spcPts val="600"/>
              </a:spcAft>
              <a:defRPr sz="1250">
                <a:solidFill>
                  <a:srgbClr val="1A1A1A"/>
                </a:solidFill>
                <a:latin typeface="Calibri"/>
              </a:defRPr>
            </a:pPr>
            <a:r>
              <a:t>•  Two Contributions, One Household</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Explain in your own words why the SAI is described as an index rather than a bill.</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Two Households, Same Income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Household A reports $70,000 in income, one child in college, and $2,000 in the student's own savings account. Household B also reports $70,000 in income, but has two children in college at the same time and $10,000 sitting in the student's own savings account from a part-time job and graduation gifts. Both households have the same parent assets otherwise. Students use a simplified version of the SAI logic from today's mini-lesson: more family members in college at once generally lowers the parent-side contribution, since the same income is being stretched across more students, while student savings and income are counted toward the SAI at a noticeably higher rate than parent savings.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Predict which household will likely end up with a lower SAI, explain which two factors are driving the difference, and propose one legal change Household B's student could make before senior year that might affect their number.</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Interpret  (in-TUR-prit)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explain the meaning of something, especially something that isn't stated in plain, simple terms.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inter- (between) + pretium (price, value) — originally one who explains value or meaning between two parties.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Learning to interpret the SAI correctly means understanding it as an index for comparison, not as the literal dollar amount a family will be billed.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46  ·  The Fund: Maya and the FAFSA Kitchen Table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why the FAFSA requires parent financial information, not just student information.</a:t>
            </a:r>
          </a:p>
          <a:p>
            <a:pPr>
              <a:spcAft>
                <a:spcPts val="600"/>
              </a:spcAft>
              <a:defRPr sz="1250">
                <a:solidFill>
                  <a:srgbClr val="1A1A1A"/>
                </a:solidFill>
                <a:latin typeface="Calibri"/>
              </a:defRPr>
            </a:pPr>
            <a:r>
              <a:t>•  I can describe the emotional and logistical challenges families sometimes face completing the FAFSA.</a:t>
            </a:r>
          </a:p>
          <a:p>
            <a:pPr>
              <a:spcAft>
                <a:spcPts val="600"/>
              </a:spcAft>
              <a:defRPr sz="1250">
                <a:solidFill>
                  <a:srgbClr val="1A1A1A"/>
                </a:solidFill>
                <a:latin typeface="Calibri"/>
              </a:defRPr>
            </a:pPr>
            <a:r>
              <a:t>•  I can name the CSS Profile as an additional form some colleges require beyond the FAFSA.</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CSS Profile: A more detailed financial aid form run by the College Board, required by some, mostly private, colleges in addition to the FAFSA, used to award their own institutional aid money.</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Have you ever had to share something private, like grades or family money stuff, with an adult outside your family and felt weird about it? What made it feel okay, or not okay?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FAFSA Document Checklist Scavenger Hunt: In pairs, have students use the general FAFSA information-category list, without using any real personal data, to build a checklist of documents a typical family would need to gather: tax returns, W-2s, bank statements, and records of untaxed income. Ask pairs to discuss, like Maya's family did in today's reading, why colleges want this much detail rather than simply asking a family to state their income in one sentence.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Parents Are Part of the Form</a:t>
            </a:r>
          </a:p>
          <a:p>
            <a:pPr>
              <a:spcAft>
                <a:spcPts val="600"/>
              </a:spcAft>
              <a:defRPr sz="1250">
                <a:solidFill>
                  <a:srgbClr val="1A1A1A"/>
                </a:solidFill>
                <a:latin typeface="Calibri"/>
              </a:defRPr>
            </a:pPr>
            <a:r>
              <a:t>•  A Second Form for Some Schools: The CSS Profile</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Fund: Kitchen Table</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piece of information the FAFSA asks for and explain, in one sentence, why colleges need it.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Whose Numbers Count?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Jordan's parents divorced three years ago. Jordan lives with their mom most of the year but spends every other weekend and most of the summer with their dad, who has a significantly higher income. When it's time to fill out the FAFSA, Jordan assumes both parents' incomes need to be reported, since both are legally still Jordan's parents. Jordan's mom says only the parent Jordan lived with more over the past year counts for the FAFSA, but mentions that if Jordan applies anywhere that requires the CSS Profile, the rules might be different and could ask about the other parent's finances too.</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Explain whether Jordan's mom is describing the FAFSA rule accurately, and identify what additional information Jordan would need to find out about a specific college's CSS Profile requirements before assuming the same rule applies there.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Perspective  (per-SPEK-tiv)</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A particular way of viewing or understanding a situation, often shaped by someone's own experience.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per- (through) + specere (to look) — literally 'a looking through.'</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Maya's mom's perspective on the FAFSA, that it feels like handing a stranger her whole financial life, is different from Maya's more practical perspective on the same form.</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47  ·  Two Forms, One Goal: FAFSA vs. CSS Profile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why some colleges require the CSS Profile in addition to the FAFSA.</a:t>
            </a:r>
          </a:p>
          <a:p>
            <a:pPr>
              <a:spcAft>
                <a:spcPts val="600"/>
              </a:spcAft>
              <a:defRPr sz="1250">
                <a:solidFill>
                  <a:srgbClr val="1A1A1A"/>
                </a:solidFill>
                <a:latin typeface="Calibri"/>
              </a:defRPr>
            </a:pPr>
            <a:r>
              <a:t>•  I can identify which types of institutions typically require the CSS Profile.</a:t>
            </a:r>
          </a:p>
          <a:p>
            <a:pPr>
              <a:spcAft>
                <a:spcPts val="600"/>
              </a:spcAft>
              <a:defRPr sz="1250">
                <a:solidFill>
                  <a:srgbClr val="1A1A1A"/>
                </a:solidFill>
                <a:latin typeface="Calibri"/>
              </a:defRPr>
            </a:pPr>
            <a:r>
              <a:t>•  I can define grants and explain how they differ from scholarships and loans.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Grants: Money for college that does not have to be repaid, awarded based on financial need, usually funded by the federal government, a state, or a college itself.</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Before today's reading, guess: do you think every college in the country uses the same financial aid form, or do some colleges use extra forms? Why might that be?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Which Form Do I Need? + Banzai "Paying for College": Give student pairs a stack of college name cards mixing public universities, private colleges known for requiring the CSS Profile, and community colleges, and have them sort each into "FAFSA only" or "FAFSA plus CSS Profile" based on what they can find on that college's own financial aid page. Then have students check two or three schools they are personally considering inside the Banzai "Paying for College" module to confirm which forms those schools actually require.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FAFSA, Reviewed</a:t>
            </a:r>
          </a:p>
          <a:p>
            <a:pPr>
              <a:spcAft>
                <a:spcPts val="600"/>
              </a:spcAft>
              <a:defRPr sz="1250">
                <a:solidFill>
                  <a:srgbClr val="1A1A1A"/>
                </a:solidFill>
                <a:latin typeface="Calibri"/>
              </a:defRPr>
            </a:pPr>
            <a:r>
              <a:t>•  The CSS Profile, Explained</a:t>
            </a:r>
          </a:p>
          <a:p>
            <a:pPr>
              <a:spcAft>
                <a:spcPts val="600"/>
              </a:spcAft>
              <a:defRPr sz="1250">
                <a:solidFill>
                  <a:srgbClr val="1A1A1A"/>
                </a:solidFill>
                <a:latin typeface="Calibri"/>
              </a:defRPr>
            </a:pPr>
            <a:r>
              <a:t>•  Grants: A Third Kind of Free Money</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(Informational)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FAFSA vs. CSS Profile: Why Two Forms Exist and Who Needs Which One</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Explain in one or two sentences how you would find out whether a college you're interested in requires the CSS Profile in addition to the FAFSA.</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Closing the Gap With Grants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public university's total cost of attendance is $24,500 for the year. A student's FAFSA results qualify them for a federal Pell Grant of $6,895 and a state grant of $3,200, both of which are gift aid that never has to be repaid. The student's family, based on their SAI, is expected to contribute $9,000 from their own resources for the year.</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how much of the $24,500 cost is still uncovered after the grants and the family contribution are applied, and explain whether that remaining gap would most likely need to be filled by scholarships, work-study, loans, or some mix, based on what you know so far about each type of aid.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Categorize  (KAT-uh-gor-yze)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sort things into groups based on shared characteristics.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kata- (down, against) + agoreuein (to declare publicly, speak in the assembly) — the root of 'category,' a class or division something is sorted into.</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Today's activity asks you to categorize colleges as 'FAFSA only' or 'FAFSA plus CSS Profile' based on what each school's aid office actually requires.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48  ·  Work-Study, Award Letters, and Building Your Aid Package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how work-study jobs function and how they differ from a regular part-time job.</a:t>
            </a:r>
          </a:p>
          <a:p>
            <a:pPr>
              <a:spcAft>
                <a:spcPts val="600"/>
              </a:spcAft>
              <a:defRPr sz="1250">
                <a:solidFill>
                  <a:srgbClr val="1A1A1A"/>
                </a:solidFill>
                <a:latin typeface="Calibri"/>
              </a:defRPr>
            </a:pPr>
            <a:r>
              <a:t>•  I can describe how grants, scholarships, work-study, and loans combine into a full financial aid package.</a:t>
            </a:r>
          </a:p>
          <a:p>
            <a:pPr>
              <a:spcAft>
                <a:spcPts val="600"/>
              </a:spcAft>
              <a:defRPr sz="1250">
                <a:solidFill>
                  <a:srgbClr val="1A1A1A"/>
                </a:solidFill>
                <a:latin typeface="Calibri"/>
              </a:defRPr>
            </a:pPr>
            <a:r>
              <a:t>•  I can evaluate a sample financial aid award letter to identify which parts are free money versus money to repay.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Work-Study: A federally funded program that provides part-time campus jobs to help students earn money toward college costs while enrolled.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financial aid award letter said you were getting $20,000 in total aid, what's the very first question you'd want answered before getting excited about that number?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Banzai "Paying for College" Award Letter Breakdown: Have students complete the Banzai "Paying for College" module simulation, entering a sample award letter to see the automatic breakdown between grants, scholarships, work-study, and loans. Ask each student to calculate what percentage of their sample package is free money versus borrowed money, and to flag anything that looks like a red flag, such as loans making up more than half the offer.</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Work-Study Actually Is</a:t>
            </a:r>
          </a:p>
          <a:p>
            <a:pPr>
              <a:spcAft>
                <a:spcPts val="600"/>
              </a:spcAft>
              <a:defRPr sz="1250">
                <a:solidFill>
                  <a:srgbClr val="1A1A1A"/>
                </a:solidFill>
                <a:latin typeface="Calibri"/>
              </a:defRPr>
            </a:pPr>
            <a:r>
              <a:t>•  Building the Full Aid Package</a:t>
            </a:r>
          </a:p>
          <a:p>
            <a:pPr>
              <a:spcAft>
                <a:spcPts val="600"/>
              </a:spcAft>
              <a:defRPr sz="1250">
                <a:solidFill>
                  <a:srgbClr val="1A1A1A"/>
                </a:solidFill>
                <a:latin typeface="Calibri"/>
              </a:defRPr>
            </a:pPr>
            <a:r>
              <a:t>•  Reading an Award Letter Like a Pro</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Looking back at the whole unit, name one piece of financial aid you would prioritize applying for first and explain why.</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Two Envelopes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Deshawn gets two thin envelopes on the same afternoon, both award letters. The first, from a four-year university, lists $18,000 in total aid: $4,000 Pell Grant, $2,000 institutional scholarship, $2,000 work-study, and $10,000 in loans. The second, from a smaller college with a higher sticker price, lists $22,000 in total aid: $9,000 in grants, $6,000 in merit scholarships, $2,000 work-study, and $5,000 in loans. Deshawn's first reaction is to text his mom, "22 beats 18, easy choice," before he's looked at anything besides the total dollar amount at the top of each letter.</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Recalculate what portion of each award letter is gift aid (grants and scholarships) versus money that must be earned or repaid, and write a two-sentence text back to Deshawn explaining which offer is actually the stronger deal and why the totals alone were misleading him.</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Evaluate  (ee-VAL-yoo-ate)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judge the value, quality, or significance of something.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 (out) + valere (to be strong, be worth) — literally 'to draw out the worth of something.'</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 evaluate a financial aid award letter fairly, you have to look past the total number and check how much is gift aid versus loans.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1B5E3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0C14B"/>
                </a:solidFill>
                <a:latin typeface="Calibri"/>
              </a:rPr>
              <a:t>UNIT 6</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College Budgeting, Taxes &amp; Credit</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What are the costs and considerations as a college student, and how do taxes/credit work?</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0C14B"/>
                </a:solidFill>
                <a:latin typeface="Calibri"/>
              </a:rPr>
              <a:t>Days 49–57 · 9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Pay Stub, FICA, Medicare, Medicaid, State Tax, Local Tax, Federal Tax, Filing Taxes, Rent, Utilities, Cost of Living, Credit, Credit History, FICO Score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49  ·  Decoding Your Pay Stub</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the difference between gross pay and net pay on a pay stub.</a:t>
            </a:r>
          </a:p>
          <a:p>
            <a:pPr>
              <a:spcAft>
                <a:spcPts val="600"/>
              </a:spcAft>
              <a:defRPr sz="1250">
                <a:solidFill>
                  <a:srgbClr val="1A1A1A"/>
                </a:solidFill>
                <a:latin typeface="Calibri"/>
              </a:defRPr>
            </a:pPr>
            <a:r>
              <a:t>•  I can locate FICA withholding on a real pay stub and explain what it is.</a:t>
            </a:r>
          </a:p>
          <a:p>
            <a:pPr>
              <a:spcAft>
                <a:spcPts val="600"/>
              </a:spcAft>
              <a:defRPr sz="1250">
                <a:solidFill>
                  <a:srgbClr val="1A1A1A"/>
                </a:solidFill>
                <a:latin typeface="Calibri"/>
              </a:defRPr>
            </a:pPr>
            <a:r>
              <a:t>•  I can explain why the paycheck you receive is smaller than the number you were promised.</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Pay Stub: The document attached to or included with a paycheck that shows gross pay, deductions, and net pay for a pay period.</a:t>
            </a:r>
          </a:p>
          <a:p>
            <a:pPr>
              <a:spcAft>
                <a:spcPts val="600"/>
              </a:spcAft>
              <a:defRPr sz="1200">
                <a:solidFill>
                  <a:srgbClr val="1A1A1A"/>
                </a:solidFill>
                <a:latin typeface="Calibri"/>
              </a:defRPr>
            </a:pPr>
            <a:r>
              <a:t>•  FICA: The Federal Insurance Contributions Act tax, automatically withheld from paychecks, that funds Social Security and Medicare.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You get hired at $15/hour and work a 20-hour week. Before you even see a paycheck, guess: how much of that $300 do you think actually lands in your bank account? Write your guess and one reason for it.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Ed Teach's First Pay Stub: Project or hand out a sample pay stub for a worker named Ed Teach, showing his gross pay, a FICA deduction line, and his net pay. In pairs, have students circle the gross pay, circle the net pay, and box the FICA line, then calculate what percentage of Ed's gross pay disappeared before it reached his bank account. Bring the class back together and compare answers, asking one pair to explain their math out loud.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Gross Pay vs. Net Pay</a:t>
            </a:r>
          </a:p>
          <a:p>
            <a:pPr>
              <a:spcAft>
                <a:spcPts val="600"/>
              </a:spcAft>
              <a:defRPr sz="1250">
                <a:solidFill>
                  <a:srgbClr val="1A1A1A"/>
                </a:solidFill>
                <a:latin typeface="Calibri"/>
              </a:defRPr>
            </a:pPr>
            <a:r>
              <a:t>•  What a Pay Stub Actually Shows</a:t>
            </a:r>
          </a:p>
          <a:p>
            <a:pPr>
              <a:spcAft>
                <a:spcPts val="600"/>
              </a:spcAft>
              <a:defRPr sz="1250">
                <a:solidFill>
                  <a:srgbClr val="1A1A1A"/>
                </a:solidFill>
                <a:latin typeface="Calibri"/>
              </a:defRPr>
            </a:pPr>
            <a:r>
              <a:t>•  FICA: The Line Nobody Explains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In your own words, what is FICA, and where does that money go?</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49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Build Your Own Pay Stub</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takes a part-time job at $14/hour and works 18 hours in a pay period. Before touching a calculator, they guess their check will be for roughly $250. Using only what today's lesson covered, gross pay is hours times hourly rate, and FICA is a flat 7.65% of gross pay taken out before the check is issued (no other deductions apply yet, since state and federal tax haven't been covered).</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the student's exact gross pay, the exact dollar amount taken out for FICA, and the resulting net pay, then state in one sentence how far off the $250 guess was and why.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Analyze  (AN-uh-lyze)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break something down into its parts in order to understand it more fully.</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ana- (up, throughout) + lyein (to loosen) — literally 'to loosen up' into separate pieces.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 analyze Ed Teach's pay stub, you have to separate the gross pay, the FICA line, and the net pay instead of just looking at the final number.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50  ·  FICA Deep Dive: Medicare and Medicaid</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distinguish between Medicare and Medicaid and who each one serves.</a:t>
            </a:r>
          </a:p>
          <a:p>
            <a:pPr>
              <a:spcAft>
                <a:spcPts val="600"/>
              </a:spcAft>
              <a:defRPr sz="1250">
                <a:solidFill>
                  <a:srgbClr val="1A1A1A"/>
                </a:solidFill>
                <a:latin typeface="Calibri"/>
              </a:defRPr>
            </a:pPr>
            <a:r>
              <a:t>•  I can calculate the Social Security and Medicare portions of a FICA withholding.</a:t>
            </a:r>
          </a:p>
          <a:p>
            <a:pPr>
              <a:spcAft>
                <a:spcPts val="600"/>
              </a:spcAft>
              <a:defRPr sz="1250">
                <a:solidFill>
                  <a:srgbClr val="1A1A1A"/>
                </a:solidFill>
                <a:latin typeface="Calibri"/>
              </a:defRPr>
            </a:pPr>
            <a:r>
              <a:t>•  I can explain why paying into these programs now can matter to me later.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Medicare: A federal health insurance program mainly for people 65 and older, funded through FICA withholding.</a:t>
            </a:r>
          </a:p>
          <a:p>
            <a:pPr>
              <a:spcAft>
                <a:spcPts val="600"/>
              </a:spcAft>
              <a:defRPr sz="1200">
                <a:solidFill>
                  <a:srgbClr val="1A1A1A"/>
                </a:solidFill>
                <a:latin typeface="Calibri"/>
              </a:defRPr>
            </a:pPr>
            <a:r>
              <a:t>•  Medicaid: A federal and state program that provides health coverage for people with low income; funded by general tax revenue, not FICA.</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Quick guess: Medicare and Medicaid sound almost identical. Before today's lesson, jot down what you think each one does and who you think uses each one.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Splitting Ed Teach's FICA: Return to Ed Teach's pay stub from yesterday. Have students calculate the exact dollar amounts of his Social Security (6.2%) and Medicare (1.45%) withholding separately, then check that they add up to his total FICA line. Give each pair a second sample stub with a different gross pay amount and have them repeat the calculation, then compare across the room to confirm the percentages stay constant even when the dollar amount changes.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Splitting the FICA Line</a:t>
            </a:r>
          </a:p>
          <a:p>
            <a:pPr>
              <a:spcAft>
                <a:spcPts val="600"/>
              </a:spcAft>
              <a:defRPr sz="1250">
                <a:solidFill>
                  <a:srgbClr val="1A1A1A"/>
                </a:solidFill>
                <a:latin typeface="Calibri"/>
              </a:defRPr>
            </a:pPr>
            <a:r>
              <a:t>•  Medicare: What It Actually Is</a:t>
            </a:r>
          </a:p>
          <a:p>
            <a:pPr>
              <a:spcAft>
                <a:spcPts val="600"/>
              </a:spcAft>
              <a:defRPr sz="1250">
                <a:solidFill>
                  <a:srgbClr val="1A1A1A"/>
                </a:solidFill>
                <a:latin typeface="Calibri"/>
              </a:defRPr>
            </a:pPr>
            <a:r>
              <a:t>•  Medicaid: A Different Program Entirely</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Explain one key difference between Medicare and Medicaid to someone who has never heard of either program.</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Paycheck With a Question Mark</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worker's gross pay for a period is $640. Their pay stub shows a single combined FICA line of $48.96, with no breakdown into Social Security and Medicare separately. The worker wants to double-check this number is accurate rather than trusting the software blindly, but has only the two percentages from today's lesson to work with: Social Security at 6.2% and Medicare at 1.45%.</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the Social Security portion and the Medicare portion of the $640 gross pay separately, add them together, and state whether the $48.96 FICA line on the stub is correct or contains an error.</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Distinguish  (dis-TING-gwish)</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the difference between two things that are easily confused.</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dis- (apart) + stinguere (to prick, mark) — literally 'to mark apart from one another.'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It's easy to distinguish Medicare from Medicaid once you remember one is funded by FICA and tied to age, while the other is funded by general tax revenue and tied to income.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51  ·  Reading Your First Pay Stub, Line by Line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label every major section of a standard pay stub.</a:t>
            </a:r>
          </a:p>
          <a:p>
            <a:pPr>
              <a:spcAft>
                <a:spcPts val="600"/>
              </a:spcAft>
              <a:defRPr sz="1250">
                <a:solidFill>
                  <a:srgbClr val="1A1A1A"/>
                </a:solidFill>
                <a:latin typeface="Calibri"/>
              </a:defRPr>
            </a:pPr>
            <a:r>
              <a:t>•  I can explain the purpose of federal, state, and local tax withholding lines.</a:t>
            </a:r>
          </a:p>
          <a:p>
            <a:pPr>
              <a:spcAft>
                <a:spcPts val="600"/>
              </a:spcAft>
              <a:defRPr sz="1250">
                <a:solidFill>
                  <a:srgbClr val="1A1A1A"/>
                </a:solidFill>
                <a:latin typeface="Calibri"/>
              </a:defRPr>
            </a:pPr>
            <a:r>
              <a:t>•  I can identify where year-to-date totals appear on a pay stub and why they matter.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State Tax: Income tax withheld and paid to the state a person works or lives in; rates and rules vary by state.</a:t>
            </a:r>
          </a:p>
          <a:p>
            <a:pPr>
              <a:spcAft>
                <a:spcPts val="600"/>
              </a:spcAft>
              <a:defRPr sz="1200">
                <a:solidFill>
                  <a:srgbClr val="1A1A1A"/>
                </a:solidFill>
                <a:latin typeface="Calibri"/>
              </a:defRPr>
            </a:pPr>
            <a:r>
              <a:t>•  Federal Tax: Income tax withheld and paid to the U.S. federal government, based on income and filing status.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Before you read today: how many different "taxes" do you think can show up on a single pay stub? List as many as you can guess in 30 seconds.</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Guided Pay Stub Annotation: Project a blank pay stub template on the board and, using Ed Teach's filled-in stub as the annotated reference, walk through it line by line as a class: earnings, gross pay, FICA, federal tax, state tax, other deductions, net pay, and YTD totals. Have students label their own blank copy as you go, then in pairs quiz each other by pointing to a line and asking "what is this and why is it here?"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There Are Multiple Tax Lines</a:t>
            </a:r>
          </a:p>
          <a:p>
            <a:pPr>
              <a:spcAft>
                <a:spcPts val="600"/>
              </a:spcAft>
              <a:defRPr sz="1250">
                <a:solidFill>
                  <a:srgbClr val="1A1A1A"/>
                </a:solidFill>
                <a:latin typeface="Calibri"/>
              </a:defRPr>
            </a:pPr>
            <a:r>
              <a:t>•  Federal and State Tax Withholding</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(Informational)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Reading Your First Pay Stub Line by Line</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List the four sections of a pay stub in the order they typically appear, from top to bottom.</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Stub With a Local Tax Surprise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moves from a small town with no local tax to a bigger city for a summer job and is confused when their first pay stub there has an extra deduction line labeled 'local tax' that their friend's stub, from a job in the small town, doesn't have. Both students have the exact same gross pay and the same federal tax withholding, and both pay state tax at the same rate since they live in the same state.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Explain to the confused student, using the structure from today's reading, why their stub has a line their friend's doesn't, and identify which section of the pay stub (earnings, deductions, net pay, or YTD) that local tax line belongs in.</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Synthesize  (SIN-thuh-syze)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combine separate pieces of information into a single, connected understanding.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syn- (together) + tithenai (to place) — literally 'to place together.'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Reading a pay stub means learning to synthesize several separate lines, earnings, FICA, taxes, and YTD totals, into one clear picture of your pay.</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52  ·  The Fund: The First Paycheck</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how FICA and tax withholding show up in a real first paycheck.</a:t>
            </a:r>
          </a:p>
          <a:p>
            <a:pPr>
              <a:spcAft>
                <a:spcPts val="600"/>
              </a:spcAft>
              <a:defRPr sz="1250">
                <a:solidFill>
                  <a:srgbClr val="1A1A1A"/>
                </a:solidFill>
                <a:latin typeface="Calibri"/>
              </a:defRPr>
            </a:pPr>
            <a:r>
              <a:t>•  I can explain why payroll withholding isn't a mistake or a scam.</a:t>
            </a:r>
          </a:p>
          <a:p>
            <a:pPr>
              <a:spcAft>
                <a:spcPts val="600"/>
              </a:spcAft>
              <a:defRPr sz="1250">
                <a:solidFill>
                  <a:srgbClr val="1A1A1A"/>
                </a:solidFill>
                <a:latin typeface="Calibri"/>
              </a:defRPr>
            </a:pPr>
            <a:r>
              <a:t>•  I can connect payroll deductions to the public programs and services they fund.</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Local Tax: Income tax withheld by some cities or counties in addition to federal and state tax, used to fund local services.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Recall installment 8: Maya and her mom sat down to fill out the FAFSA together, and it got tense over how invasive the questions felt. Today's reading has a different money problem: cash that disappears before it's even in your hand. Predict: what do you think Deshawn's first reaction to his paycheck will be?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Deshawn's Next Paycheck: After the reading, give students a second, slightly different pay stub scenario for Deshawn - a different number of hours and a small local tax line added in. Have them calculate his gross pay, FICA, federal tax, state tax, local tax, and net pay, then in pairs discuss: which deduction surprised Deshawn most in the story, and why might that be different from which one surprises them most?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Local Tax: The Smallest, Most Confusing Line</a:t>
            </a:r>
          </a:p>
          <a:p>
            <a:pPr>
              <a:spcAft>
                <a:spcPts val="600"/>
              </a:spcAft>
              <a:defRPr sz="1250">
                <a:solidFill>
                  <a:srgbClr val="1A1A1A"/>
                </a:solidFill>
                <a:latin typeface="Calibri"/>
              </a:defRPr>
            </a:pPr>
            <a:r>
              <a:t>•  Withholding Isn't a Trick</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Fund, Installment 9: The First Paycheck</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Deshawn says, "I still don't like it." Referring to withholding, what would you tell him to help him feel less blindsided by his next paycheck?</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Explaining It to Someone Else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friend who just got their first job texts you a photo of their pay stub with the caption 'is this a mistake?? they took like $30 out and I don't get it.' Their gross pay for the period was $400, and the deductions listed are FICA and federal tax only (their job is in a state and city with no state or local income tax).</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only FICA's flat 7.65% rate (the exact federal tax amount isn't needed), write a two- or three-sentence text back explaining what part of that roughly $30 is FICA, what it funds, and why it isn't a mistake.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Rationale  (rash-uh-NAL)</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The set of reasons or logical basis behind a decision, rule, or system.</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ratio (reason, calculation) + -al (adjective/noun-forming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Once Priya explains the rationale behind FICA and tax withholding, Deshawn understands his paycheck is smaller on purpose, not by mistake.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53  ·  Filing Taxes and the Form W-4</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"filing taxes" means and why nearly every worker has to do it.</a:t>
            </a:r>
          </a:p>
          <a:p>
            <a:pPr>
              <a:spcAft>
                <a:spcPts val="600"/>
              </a:spcAft>
              <a:defRPr sz="1250">
                <a:solidFill>
                  <a:srgbClr val="1A1A1A"/>
                </a:solidFill>
                <a:latin typeface="Calibri"/>
              </a:defRPr>
            </a:pPr>
            <a:r>
              <a:t>•  I can complete a basic Form W-4 and explain how it affects paycheck withholding.</a:t>
            </a:r>
          </a:p>
          <a:p>
            <a:pPr>
              <a:spcAft>
                <a:spcPts val="600"/>
              </a:spcAft>
              <a:defRPr sz="1250">
                <a:solidFill>
                  <a:srgbClr val="1A1A1A"/>
                </a:solidFill>
                <a:latin typeface="Calibri"/>
              </a:defRPr>
            </a:pPr>
            <a:r>
              <a:t>•  I can identify what documents a worker needs when filing taxes.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Filing Taxes: The yearly process of reporting income to the government and reconciling how much tax was actually owed versus what was withheld.</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True or false, with your reasoning: if your employer already withholds taxes from your paycheck all year, you still have to do something called "filing taxes" every spring.</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Completing Ed Teach's W-4: Hand out a simplified Form W-4 scenario for Ed Teach: single, one job, no dependents. Walk students through filling it out step by step as a class. Then give a second scenario where Ed picks up a second job, and have students discuss in pairs how that might change what he fills in and why the form recommends updating it when your situation changes.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"Filing Taxes" Actually Means</a:t>
            </a:r>
          </a:p>
          <a:p>
            <a:pPr>
              <a:spcAft>
                <a:spcPts val="600"/>
              </a:spcAft>
              <a:defRPr sz="1250">
                <a:solidFill>
                  <a:srgbClr val="1A1A1A"/>
                </a:solidFill>
                <a:latin typeface="Calibri"/>
              </a:defRPr>
            </a:pPr>
            <a:r>
              <a:t>•  The Form W-4: Setting Withholding in Advance</a:t>
            </a:r>
          </a:p>
          <a:p>
            <a:pPr>
              <a:spcAft>
                <a:spcPts val="600"/>
              </a:spcAft>
              <a:defRPr sz="1250">
                <a:solidFill>
                  <a:srgbClr val="1A1A1A"/>
                </a:solidFill>
                <a:latin typeface="Calibri"/>
              </a:defRPr>
            </a:pPr>
            <a:r>
              <a:t>•  What You Need to File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In one or two sentences, explain the difference between what a Form W-4 does and what "filing taxes" does.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Refund or Owe?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Over the course of the year, a worker's employer withheld $2,150 in federal tax from their paychecks based on the Form W-4 they filled out at hire. When tax season arrives, the worker calculates their actual total federal tax owed for the year, based on their real income, to be $1,890.</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Determine whether this worker will receive a refund or owe additional money when they file, calculate the exact amount, and explain in one sentence what about their W-4 might have caused the difference between what was withheld and what was actually owed.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Reconcile  (REK-un-syle)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make two sets of figures or accounts match up and agree with each other.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re- (again) + conciliare (to bring together, unite) — literally 'to bring together again.'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Filing taxes is really just an annual chance to reconcile what was withheld from your paychecks against what you actually owed.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54  ·  Rent, Utilities, and the Cost of Independence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rent and utilities and list common utility categories.</a:t>
            </a:r>
          </a:p>
          <a:p>
            <a:pPr>
              <a:spcAft>
                <a:spcPts val="600"/>
              </a:spcAft>
              <a:defRPr sz="1250">
                <a:solidFill>
                  <a:srgbClr val="1A1A1A"/>
                </a:solidFill>
                <a:latin typeface="Calibri"/>
              </a:defRPr>
            </a:pPr>
            <a:r>
              <a:t>•  I can calculate a realistic monthly housing cost that includes utilities, not just rent.</a:t>
            </a:r>
          </a:p>
          <a:p>
            <a:pPr>
              <a:spcAft>
                <a:spcPts val="600"/>
              </a:spcAft>
              <a:defRPr sz="1250">
                <a:solidFill>
                  <a:srgbClr val="1A1A1A"/>
                </a:solidFill>
                <a:latin typeface="Calibri"/>
              </a:defRPr>
            </a:pPr>
            <a:r>
              <a:t>•  I can explain why the advertised rent number is never the whole story.</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Rent: A regular payment, usually monthly, made to a landlord in exchange for the right to live in a property.</a:t>
            </a:r>
          </a:p>
          <a:p>
            <a:pPr>
              <a:spcAft>
                <a:spcPts val="600"/>
              </a:spcAft>
              <a:defRPr sz="1200">
                <a:solidFill>
                  <a:srgbClr val="1A1A1A"/>
                </a:solidFill>
                <a:latin typeface="Calibri"/>
              </a:defRPr>
            </a:pPr>
            <a:r>
              <a:t>•  Utilities: Essential services for a home such as electricity, gas, water, trash, and internet, which may or may not be included in rent.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Quick estimate: if you moved into your own one-bedroom apartment today, what's the ONE monthly cost besides rent that you think would surprise you the most? Why?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Rent Plus: What's the Real Number?: Give each pair three realistic apartment listings - vary rent price and whether utilities are included, and provide typical local utility cost estimates for the ones that aren't included. Have students calculate the true total monthly housing cost for each listing, then rank the three from cheapest to most expensive overall. Debrief by asking which listing looked cheapest at first glance and whether that changed once utilities were factored in.</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Counts as Rent</a:t>
            </a:r>
          </a:p>
          <a:p>
            <a:pPr>
              <a:spcAft>
                <a:spcPts val="600"/>
              </a:spcAft>
              <a:defRPr sz="1250">
                <a:solidFill>
                  <a:srgbClr val="1A1A1A"/>
                </a:solidFill>
                <a:latin typeface="Calibri"/>
              </a:defRPr>
            </a:pPr>
            <a:r>
              <a:t>•  Utilities: The Costs Hiding Behind the Rent Number</a:t>
            </a:r>
          </a:p>
          <a:p>
            <a:pPr>
              <a:spcAft>
                <a:spcPts val="600"/>
              </a:spcAft>
              <a:defRPr sz="1250">
                <a:solidFill>
                  <a:srgbClr val="1A1A1A"/>
                </a:solidFill>
                <a:latin typeface="Calibri"/>
              </a:defRPr>
            </a:pPr>
            <a:r>
              <a:t>•  Reading a Listing Like a Renter, Not a Browser</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two utilities you would need to budget for separately if a rental listing said "utilities not included," and estimate what you think each might cost per month.</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Two Listings, One Decision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Listing A advertises rent of $825/month with utilities not included; a look at typical local utility costs suggests electricity, gas, water, and internet would add roughly $195/month. Listing B advertises rent of $975/month with all utilities included except internet, which typically runs about $60/month on its own.</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the true total monthly housing cost for each listing, state which one is actually cheaper overall, and explain what the difference would be over a full 12-month lease.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Estimate  (ES-tuh-mate)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make a careful, reasoned guess at an amount based on available information, even without an exact number.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aestimare (to value, appraise).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Since a listing doesn't always state the exact utility cost, renters have to estimate it using typical local prices before comparing two apartments fairly.</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55  ·  Cost of Living Simulation: Little Rock vs. Portland</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cost of living and explain why the same salary doesn't stretch the same everywhere.</a:t>
            </a:r>
          </a:p>
          <a:p>
            <a:pPr>
              <a:spcAft>
                <a:spcPts val="600"/>
              </a:spcAft>
              <a:defRPr sz="1250">
                <a:solidFill>
                  <a:srgbClr val="1A1A1A"/>
                </a:solidFill>
                <a:latin typeface="Calibri"/>
              </a:defRPr>
            </a:pPr>
            <a:r>
              <a:t>•  I can compare housing, groceries, and transportation costs across two real cities.</a:t>
            </a:r>
          </a:p>
          <a:p>
            <a:pPr>
              <a:spcAft>
                <a:spcPts val="600"/>
              </a:spcAft>
              <a:defRPr sz="1250">
                <a:solidFill>
                  <a:srgbClr val="1A1A1A"/>
                </a:solidFill>
                <a:latin typeface="Calibri"/>
              </a:defRPr>
            </a:pPr>
            <a:r>
              <a:t>•  I can explain how cost of living should factor into a job or college location decision.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Cost of Living: The amount of money needed to cover basic expenses like housing, food, and transportation in a specific place.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job offered you $45,000 a year in Little Rock, Arkansas, and a different job offered you $52,000 a year in Portland, Oregon, which one would actually let you live more comfortably? Guess, then explain your gut reasoning.</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Cost of Living Simulation: Little Rock vs. Portland: Run the class's Cost of Living budget simulation using the same hypothetical entry-level salary for both Little Rock, Arkansas and Portland, Oregon. In small groups, students work through each city's estimated housing, grocery, transportation, and utility costs to see what's actually left over at the end of the month in each location. Each group presents which city they'd choose and defends their reasoning with specific numbers from the simulation.</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Cost of Living Actually Measures</a:t>
            </a:r>
          </a:p>
          <a:p>
            <a:pPr>
              <a:spcAft>
                <a:spcPts val="600"/>
              </a:spcAft>
              <a:defRPr sz="1250">
                <a:solidFill>
                  <a:srgbClr val="1A1A1A"/>
                </a:solidFill>
                <a:latin typeface="Calibri"/>
              </a:defRPr>
            </a:pPr>
            <a:r>
              <a:t>•  Same Salary, Very Different Reality</a:t>
            </a:r>
          </a:p>
          <a:p>
            <a:pPr>
              <a:spcAft>
                <a:spcPts val="600"/>
              </a:spcAft>
              <a:defRPr sz="1250">
                <a:solidFill>
                  <a:srgbClr val="1A1A1A"/>
                </a:solidFill>
                <a:latin typeface="Calibri"/>
              </a:defRPr>
            </a:pPr>
            <a:r>
              <a:t>•  Why This Should Shape Real Decisions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Based on today's simulation, which city would you choose and why? Use at least one specific number from the simulation to support your answer.</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Offer Letter Dilemma</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Amara, a recent graduate, gets two job offers on the same day: one for $58,000/year in her hometown, where she already knows rent for a one-bedroom runs about $900/month, and one for $68,000/year in a much bigger city three states away, where she's heard rent for something similar could be closer to $1,800/month, though she hasn't actually confirmed that number. Her family keeps telling her to 'just take the bigger salary,' but Amara remembers today's simulation and isn't sure the bigger number is automatically the better deal.</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Identify what specific information Amara still needs to gather before she can fairly compare these two offers, and explain, using what the Little Rock/Portland simulation showed, why comparing the two salary numbers alone would be misleading.</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Prioritize  (pry-OR-uh-tyze)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decide which things matter most and should be addressed or considered first.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prior (former, first) + -ize (to make or do) — literally 'to make first.'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When comparing job offers in different cities, it helps to prioritize housing costs first, since that's usually the biggest swing in cost of living.</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56  ·  The Fund: The Budget That Didn't Add Up</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common blind spots people have when estimating cost of living.</a:t>
            </a:r>
          </a:p>
          <a:p>
            <a:pPr>
              <a:spcAft>
                <a:spcPts val="600"/>
              </a:spcAft>
              <a:defRPr sz="1250">
                <a:solidFill>
                  <a:srgbClr val="1A1A1A"/>
                </a:solidFill>
                <a:latin typeface="Calibri"/>
              </a:defRPr>
            </a:pPr>
            <a:r>
              <a:t>•  I can explain why a first budget attempt is a draft, not a final answer.</a:t>
            </a:r>
          </a:p>
          <a:p>
            <a:pPr>
              <a:spcAft>
                <a:spcPts val="600"/>
              </a:spcAft>
              <a:defRPr sz="1250">
                <a:solidFill>
                  <a:srgbClr val="1A1A1A"/>
                </a:solidFill>
                <a:latin typeface="Calibri"/>
              </a:defRPr>
            </a:pPr>
            <a:r>
              <a:t>•  I can connect a fictional budgeting mistake to my own future planning.</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Credit: The ability to borrow money or access goods/services now with an agreement to pay later, based on trust that you'll repay.</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Recall installment 9: Deshawn was annoyed by his shrinking paycheck once FICA and taxes came out. Today, Maya runs into a similar kind of surprise, but with a different set of numbers. Predict: what do you think she forgot to account for when she built her "living on my own" budget?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My Own "Living on My Own" Budget: Have students build a one-month "if I lived on my own" budget using the city they chose in yesterday's Cost of Living Simulation, including rent, utilities, groceries, and transportation. Ask them to identify at least one place where their own budget might not add up the way Maya's didn't, and to write one sentence about how they'd revise it.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Common Budgeting Blind Spots</a:t>
            </a:r>
          </a:p>
          <a:p>
            <a:pPr>
              <a:spcAft>
                <a:spcPts val="600"/>
              </a:spcAft>
              <a:defRPr sz="1250">
                <a:solidFill>
                  <a:srgbClr val="1A1A1A"/>
                </a:solidFill>
                <a:latin typeface="Calibri"/>
              </a:defRPr>
            </a:pPr>
            <a:r>
              <a:t>•  A Budget Is a Draft, Not a Failure</a:t>
            </a:r>
          </a:p>
          <a:p>
            <a:pPr>
              <a:spcAft>
                <a:spcPts val="600"/>
              </a:spcAft>
              <a:defRPr sz="1250">
                <a:solidFill>
                  <a:srgbClr val="1A1A1A"/>
                </a:solidFill>
                <a:latin typeface="Calibri"/>
              </a:defRPr>
            </a:pPr>
            <a:r>
              <a:t>•  Where Credit Can Fit In (Carefully)</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Fund, Installment 10: The Budget That Didn't Add Up</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cost you personally would be most likely to forget or underestimate if you built a real "living on my own" budget, and why.</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$60 Gap</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finishes a one-month budget for living on their own next year and finds it's short by $60 after every expense is added up: rent, utilities, groceries, transportation, and a small amount for renter's insurance. Two options are on the table: put the $60 gap on a credit card each month and pay it off slowly, or go back and cut $60 somewhere else in the budget, most likely from the grocery line, which was already estimated a little high.</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Decide which option is the better fix for a first-draft student budget like this one, and justify your choice using what the mini-lesson said about budgets being drafts and credit being a real decision, not a free pass.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Anticipate  (an-TIS-uh-payt)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expect or plan for something before it actually happens.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ante- (before) + capere (to take) — literally 'to take beforehand.'</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Maya's first budget fell short because she didn't anticipate costs like the security deposit and renter's insurance until she was already building the spreadsheet.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57  ·  Credit, Credit History, and Your FICO Score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credit is and why lenders care about credit history.</a:t>
            </a:r>
          </a:p>
          <a:p>
            <a:pPr>
              <a:spcAft>
                <a:spcPts val="600"/>
              </a:spcAft>
              <a:defRPr sz="1250">
                <a:solidFill>
                  <a:srgbClr val="1A1A1A"/>
                </a:solidFill>
                <a:latin typeface="Calibri"/>
              </a:defRPr>
            </a:pPr>
            <a:r>
              <a:t>•  I can identify the main factors that make up a FICO Score.</a:t>
            </a:r>
          </a:p>
          <a:p>
            <a:pPr>
              <a:spcAft>
                <a:spcPts val="600"/>
              </a:spcAft>
              <a:defRPr sz="1250">
                <a:solidFill>
                  <a:srgbClr val="1A1A1A"/>
                </a:solidFill>
                <a:latin typeface="Calibri"/>
              </a:defRPr>
            </a:pPr>
            <a:r>
              <a:t>•  I can describe at least two responsible ways to start building credit.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Credit History: A record of how a person has borrowed and repaid money over time, used by lenders to judge risk.</a:t>
            </a:r>
          </a:p>
          <a:p>
            <a:pPr>
              <a:spcAft>
                <a:spcPts val="600"/>
              </a:spcAft>
              <a:defRPr sz="1200">
                <a:solidFill>
                  <a:srgbClr val="1A1A1A"/>
                </a:solidFill>
                <a:latin typeface="Calibri"/>
              </a:defRPr>
            </a:pPr>
            <a:r>
              <a:t>•  FICO Score: A three-digit number, typically 300-850, that summarizes a person's credit risk based on their credit history.</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On a scale of 1-10, how confident are you that you understand what a "credit score" actually measures? Write your number and your best guess at what it's based on.</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FICO Fundamentals, Units 1-3: Have students work individually or in pairs through FICO Fundamentals Units 1-3, covering types of credit, FICO Score categories, and establishing credit, completing the built-in checkpoint questions as they go. Debrief as a class on Unit 3's methods for safely establishing credit for the first time, such as a secured credit card, becoming an authorized user, or a credit-builder loan, and discuss which approach students think they might realistically use first.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Credit Really Is</a:t>
            </a:r>
          </a:p>
          <a:p>
            <a:pPr>
              <a:spcAft>
                <a:spcPts val="600"/>
              </a:spcAft>
              <a:defRPr sz="1250">
                <a:solidFill>
                  <a:srgbClr val="1A1A1A"/>
                </a:solidFill>
                <a:latin typeface="Calibri"/>
              </a:defRPr>
            </a:pPr>
            <a:r>
              <a:t>•  Credit History: The Record That Follows You</a:t>
            </a:r>
          </a:p>
          <a:p>
            <a:pPr>
              <a:spcAft>
                <a:spcPts val="600"/>
              </a:spcAft>
              <a:defRPr sz="1250">
                <a:solidFill>
                  <a:srgbClr val="1A1A1A"/>
                </a:solidFill>
                <a:latin typeface="Calibri"/>
              </a:defRPr>
            </a:pPr>
            <a:r>
              <a:t>•  The FICO Score: Turning History Into a Number</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In your own words, explain the difference between credit, credit history, and a FICO Score.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First Credit Card</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Priya finally tells Deshawn and Maya the story she'd been putting off: her first credit card, opened the summer before college with a $500 limit. She used it for gas and a few dinners out, then missed the due date twice in her first four months, not because she couldn't pay, but because she genuinely forgot the date existed. "Two late payments doesn't sound like much," she tells them, "but that's on my credit history now, for years, even though I've paid on time every month since." She pulls up her FICO Score on her phone, then covers the screen with her hand before either of them can see the number.</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Explain, using today's lesson, why Priya's two early late payments still matter even though her recent payment history is perfect, and identify one specific FICO factor from the mini-lesson that her later on-time payments would be helping to rebuild.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Mitigate  (MIT-uh-gate)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make a risk, problem, or negative effect less severe over time.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mitis (soft, gentle) + agere (to do, act) — literally 'to make gentle.'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Priya can mitigate the damage from her early late payments by building a long stretch of on-time payments, since length of credit history and recent behavior both factor into a FICO Score.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1B5E3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0C14B"/>
                </a:solidFill>
                <a:latin typeface="Calibri"/>
              </a:rPr>
              <a:t>UNIT 7</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Career Readiness &amp; Risk Management</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How do I apply for and land a job, and what risks (insurance, debt) do I need to manage?</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0C14B"/>
                </a:solidFill>
                <a:latin typeface="Calibri"/>
              </a:rPr>
              <a:t>Days 58–71 · 14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Resume, Cover Letter, CV (Curriculum Vitae), References, Interview, Emergency Fund, Insurance, Healthcare, Life Insurance, Disability Insurance, Renter's/Homeowner's Insurance, Mortgage, W-4, Bankruptcy</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58  ·  Building Your First Resume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the key sections every resume needs.</a:t>
            </a:r>
          </a:p>
          <a:p>
            <a:pPr>
              <a:spcAft>
                <a:spcPts val="600"/>
              </a:spcAft>
              <a:defRPr sz="1250">
                <a:solidFill>
                  <a:srgbClr val="1A1A1A"/>
                </a:solidFill>
                <a:latin typeface="Calibri"/>
              </a:defRPr>
            </a:pPr>
            <a:r>
              <a:t>•  I can explain how to tailor a resume to a specific job posting.</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Resume: A short document, usually one page, that summarizes your work experience, education, and skills for a job application.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about everything you've done in the last two years, including school clubs, jobs, chores, and volunteering. If you had to sell yourself to a stranger in one sentence, what would you say?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Resume Builder: Draft 1: Have students open the Banzai College &amp; Careers Workbook resume template and fill in contact info, a two-sentence summary, education, and at least two experience entries (paid job, volunteer work, or school leadership all count). Circulate to help students turn vague entries like 'worked at store' into specific ones like 'processed transactions and restocked shelves for a 40-hour week.' Students should leave with a rough but complete Draft 1, not a finished product.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a Resume Actually Does</a:t>
            </a:r>
          </a:p>
          <a:p>
            <a:pPr>
              <a:spcAft>
                <a:spcPts val="600"/>
              </a:spcAft>
              <a:defRPr sz="1250">
                <a:solidFill>
                  <a:srgbClr val="1A1A1A"/>
                </a:solidFill>
                <a:latin typeface="Calibri"/>
              </a:defRPr>
            </a:pPr>
            <a:r>
              <a:t>•  The Sections That Matter</a:t>
            </a:r>
          </a:p>
          <a:p>
            <a:pPr>
              <a:spcAft>
                <a:spcPts val="600"/>
              </a:spcAft>
              <a:defRPr sz="1250">
                <a:solidFill>
                  <a:srgbClr val="1A1A1A"/>
                </a:solidFill>
                <a:latin typeface="Calibri"/>
              </a:defRPr>
            </a:pPr>
            <a:r>
              <a:t>•  Tailoring Beats Templates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Write one bullet point from your Draft 1 resume that uses a specific number or detail instead of a vague description.</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Fixing the Vague Resume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named Carlos is applying for a job at a hardware store that posted these requirements: 'Must be comfortable handling cash, working with customers, and lifting up to 40 pounds.' His current resume draft has three bullet points under his last job at a smoothie shop: 'Worked at the counter,' 'Was good with customers,' and 'Did other stuff as needed.' Carlos actually ran the register alone during weekend rushes, handled an average of $600 in sales per shift, trained two new employees on the blender station, and restocked 50-pound bags of ice and produce from the walk-in cooler. None of that real experience shows up in his current bullet points, even though it directly matches what the hardware store is asking for. His draft is currently a strong match for the job on paper, but it doesn't read that way because the wording is so generic that it could describe almost any part-time job.</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Rewrite Carlos's three vague bullet points into specific ones that use real numbers or details and match the hardware store's posted requirements (cash handling, customer service, lifting). Then explain in one sentence why the rewritten version is more likely to get him an interview.</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Prioritize  (pry-OR-ih-tyze)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decide which things matter most and put them in order of importance, doing or listing the most important first.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prior (former, first, earlier) + -itize (verb-forming suffix meaning 'to make or treat as').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When building her resume, Maya had to prioritize her coffee shop experience over an old babysitting job from middle school.</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59  ·  Cover Letters That Don't Get Skipped</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the purpose of a cover letter and how it differs from a resume.</a:t>
            </a:r>
          </a:p>
          <a:p>
            <a:pPr>
              <a:spcAft>
                <a:spcPts val="600"/>
              </a:spcAft>
              <a:defRPr sz="1250">
                <a:solidFill>
                  <a:srgbClr val="1A1A1A"/>
                </a:solidFill>
                <a:latin typeface="Calibri"/>
              </a:defRPr>
            </a:pPr>
            <a:r>
              <a:t>•  I can draft a cover letter with a clear opening, body, and closing.</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Cover Letter: A one-page letter that introduces you to an employer and explains why you're a good fit for one specific job.</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stranger read only your resume, what would they NOT know about you that actually matters for getting hired?</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Cover Letter Workshop: Give students a realistic job posting (retail, food service, or entry-level office work) and have them draft a three-paragraph cover letter using the opening/body/closing structure. Pair students to peer-review using a checklist: does it name the job, connect real experience to the posting, and avoid restating the resume? Have at least two pairs share one strong sentence from their draft with the class.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Why Cover Letters Still Matter</a:t>
            </a:r>
          </a:p>
          <a:p>
            <a:pPr>
              <a:spcAft>
                <a:spcPts val="600"/>
              </a:spcAft>
              <a:defRPr sz="1250">
                <a:solidFill>
                  <a:srgbClr val="1A1A1A"/>
                </a:solidFill>
                <a:latin typeface="Calibri"/>
              </a:defRPr>
            </a:pPr>
            <a:r>
              <a:t>•  The Three-Part Structure</a:t>
            </a:r>
          </a:p>
          <a:p>
            <a:pPr>
              <a:spcAft>
                <a:spcPts val="600"/>
              </a:spcAft>
              <a:defRPr sz="1250">
                <a:solidFill>
                  <a:srgbClr val="1A1A1A"/>
                </a:solidFill>
                <a:latin typeface="Calibri"/>
              </a:defRPr>
            </a:pPr>
            <a:r>
              <a:t>•  Common Mistakes to Avoid</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Write the opening sentence of a cover letter for a job you'd actually want, naming the position specifically.</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59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Optional Doesn't Mean Skip It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local veterinary clinic posted an opening for a part-time receptionist. The listing says a cover letter is 'optional but appreciated.' Two students, Amir and Destiny, both apply. Amir decides the cover letter is optional, so he skips it and sends only his resume, which lists his experience walking dogs for neighbors and working the front counter at a smoothie shop. Destiny writes a short cover letter mentioning that she's volunteered at an animal shelter for a year, that she specifically chose to apply here because she wants clinic experience before studying to become a vet tech, and that she's comfortable handling a busy front desk and nervous pet owners at the same time. Both resumes list similar amounts of customer-service experience. The clinic manager has fourteen applications to get through in one afternoon and only has time to carefully read the ones that seem to actually want this specific job.</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Decide which applicant, Amir or Destiny, is more likely to get called for an interview, and explain your reasoning in two to three sentences using specifics from the scenario. Then write one sentence Amir could have added to a cover letter that would have used his real experience the way Destiny did.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Articulate  (ar-TIK-yoo-layt)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express an idea clearly and effectively in words.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articulus (small joint, part) + -ate (verb suffix) — originally 'to divide into distinct joints or parts,' now 'to speak clearly.'</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 strong cover letter articulates exactly why your specific experience matches what this one employer needs.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60  ·  CVs, References, and Your Paper Trail</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how a CV differs from a resume and when each is used.</a:t>
            </a:r>
          </a:p>
          <a:p>
            <a:pPr>
              <a:spcAft>
                <a:spcPts val="600"/>
              </a:spcAft>
              <a:defRPr sz="1250">
                <a:solidFill>
                  <a:srgbClr val="1A1A1A"/>
                </a:solidFill>
                <a:latin typeface="Calibri"/>
              </a:defRPr>
            </a:pPr>
            <a:r>
              <a:t>•  I can build a professional reference sheet and draft a respectful way to ask someone to be a reference.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CV (Curriculum Vitae): A longer, more detailed history of your education and experience, used mainly for academic, research, or medical positions rather than typical jobs.</a:t>
            </a:r>
          </a:p>
          <a:p>
            <a:pPr>
              <a:spcAft>
                <a:spcPts val="600"/>
              </a:spcAft>
              <a:defRPr sz="1200">
                <a:solidFill>
                  <a:srgbClr val="1A1A1A"/>
                </a:solidFill>
                <a:latin typeface="Calibri"/>
              </a:defRPr>
            </a:pPr>
            <a:r>
              <a:t>•  References: People who know your work and can vouch for you when an employer checks your background before hiring you.</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an employer called one adult in your life right now to ask 'is this student reliable?', who would you want them to call, and why?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Reference Sheet Builder: Have students draft a formatted reference sheet listing three realistic references (name, relationship, phone or email, one sentence on why this person can speak to their work), matching the same header style as their resume. Then have students draft a two-to-three sentence message they could actually send to ask someone to be a reference. Volunteers share their ask message aloud for class feedback on tone.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CV vs. Resume: Not the Same Thing</a:t>
            </a:r>
          </a:p>
          <a:p>
            <a:pPr>
              <a:spcAft>
                <a:spcPts val="600"/>
              </a:spcAft>
              <a:defRPr sz="1250">
                <a:solidFill>
                  <a:srgbClr val="1A1A1A"/>
                </a:solidFill>
                <a:latin typeface="Calibri"/>
              </a:defRPr>
            </a:pPr>
            <a:r>
              <a:t>•  Choosing Real References</a:t>
            </a:r>
          </a:p>
          <a:p>
            <a:pPr>
              <a:spcAft>
                <a:spcPts val="600"/>
              </a:spcAft>
              <a:defRPr sz="1250">
                <a:solidFill>
                  <a:srgbClr val="1A1A1A"/>
                </a:solidFill>
                <a:latin typeface="Calibri"/>
              </a:defRPr>
            </a:pPr>
            <a:r>
              <a:t>•  Asking Without It Being Awkward</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real person you could ask to be a reference and one specific strength you'd want them to mention.</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Asking Coach Reyes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Nadia stared at her phone for a full five minutes before typing anything. She was applying for a summer job at the rec center, and the application had a blank line that just said 'Reference Name and Phone Number.' She wanted to list Coach Reyes, who'd coached her JV volleyball team for two seasons and had once covered for her when she showed up late after a family emergency, no questions asked, just told her to get on the court. But texting a coach outside of practice felt different than talking to him in the gym. She typed 'hey' and deleted it. She typed 'Coach Reyes I need a favor' and deleted that too, worried it sounded demanding. Finally she wrote out something slower: who she was applying to, what the job was, and why she thought he'd be a fair person to speak to her reliability, especially since he'd seen her show up for practice even on her worst weeks. She read it twice, hovered over send, and finally tapped it before she could talk herself out of it again.</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Write the actual text message Nadia sends to Coach Reyes, in two to three sentences, following the pattern from today's mini-lesson: explain the job, ask permission, and thank him either way.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Differentiate  (dif-uh-REN-shee-ayt)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or show the difference between two or more things.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dis- (apart) + ferre (to carry) + -ate — literally 'to carry apart,' i.e., to separate and distinguish.</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Today's lesson helps you differentiate between a resume, a CV, and a reference sheet so you know when to use each one.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61  ·  Resume Myths That Cost Interviews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common resume myths that can actually hurt an application.</a:t>
            </a:r>
          </a:p>
          <a:p>
            <a:pPr>
              <a:spcAft>
                <a:spcPts val="600"/>
              </a:spcAft>
              <a:defRPr sz="1250">
                <a:solidFill>
                  <a:srgbClr val="1A1A1A"/>
                </a:solidFill>
                <a:latin typeface="Calibri"/>
              </a:defRPr>
            </a:pPr>
            <a:r>
              <a:t>•  I can audit my own resume draft against real hiring practices instead of assumptions.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Resume: A short document, usually one page, that summarizes your work experience, education, and skills for a job application.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Where did you first learn 'the rules' for what a resume is supposed to look like? Do you know if that advice was actually accurate?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Myth-Busting Resume Audit: After the reading, have students pull out their Draft 1 resume from Day 58 and check it line by line against the myths listed in the reading. Students should mark anything that reflects an outdated myth (an objective statement, 'references available upon request,' unnecessary personal details) and revise those lines. Circulate and spot-check a few resumes for one specific improvement made during the audit.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Advice Isn't Always Accurate</a:t>
            </a:r>
          </a:p>
          <a:p>
            <a:pPr>
              <a:spcAft>
                <a:spcPts val="600"/>
              </a:spcAft>
              <a:defRPr sz="1250">
                <a:solidFill>
                  <a:srgbClr val="1A1A1A"/>
                </a:solidFill>
                <a:latin typeface="Calibri"/>
              </a:defRPr>
            </a:pPr>
            <a:r>
              <a:t>•  Why This Matters Before You Apply Anywhere</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(Informational)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Resume Myths That Cost Interviews</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specific change you made (or will make) to your Draft 1 resume based on today's reading.</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Audit This Stranger's Resume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Below is a summary of a sample resume turned in by a fictional applicant named Sam, who is applying for a part-time job at a plant nursery: Sam's resume opens with the line 'Objective: To obtain a position where I can utilize my skills and grow as a person.' It runs two full pages and lists nine jobs, including a lemonade stand from age eleven. Halfway down page one, in a bright green shadowed font different from the rest of the text, it says 'References available upon request.' The actual nursery-relevant experience, six months watering and restocking plants at a neighbor's greenhouse, is buried on page two under a job stacking chairs at a wedding venue for one weekend two years ago. Sam clearly has relevant experience for this job. It's just impossible to find quickly, because the resume follows nearly every myth from today's reading at once.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List the four specific myths Sam's resume follows, using evidence from the scenario for each one. Then write the single most important fix Sam should make first, and explain why that fix matters more than the others.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Evaluate  (ee-VAL-yoo-ayt)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judge the value, accuracy, or quality of something.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 (out) + valere (to be strong, be worth) + -ate — literally 'to draw out the worth of' something.</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had to evaluate their own Draft 1 resume against real hiring practices instead of outdated advice.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62  ·  Interview Prep: What They're Really Asking</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common interview question types and what employers are really trying to learn.</a:t>
            </a:r>
          </a:p>
          <a:p>
            <a:pPr>
              <a:spcAft>
                <a:spcPts val="600"/>
              </a:spcAft>
              <a:defRPr sz="1250">
                <a:solidFill>
                  <a:srgbClr val="1A1A1A"/>
                </a:solidFill>
                <a:latin typeface="Calibri"/>
              </a:defRPr>
            </a:pPr>
            <a:r>
              <a:t>•  I can use the STAR method to structure a clear, specific interview answer.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Interview: A conversation where an employer asks you questions in person, on the phone, or over video to decide if you're the right fit for a job.</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When someone asks 'tell me about yourself' in a job interview, what do you think they're actually trying to find out?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Mock Interview Question Bank: Using the Banzai College &amp; Careers interview module or a printed question bank, have students select three common interview questions and draft STAR-method answers using real experiences (a job, a group project, a sport, a family responsibility). Pair students to practice asking and answering one question aloud, timing each answer to under 90 seconds. Debrief as a class on what made an answer feel clear versus rambling.</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Behind the Question</a:t>
            </a:r>
          </a:p>
          <a:p>
            <a:pPr>
              <a:spcAft>
                <a:spcPts val="600"/>
              </a:spcAft>
              <a:defRPr sz="1250">
                <a:solidFill>
                  <a:srgbClr val="1A1A1A"/>
                </a:solidFill>
                <a:latin typeface="Calibri"/>
              </a:defRPr>
            </a:pPr>
            <a:r>
              <a:t>•  The STAR Method</a:t>
            </a:r>
          </a:p>
          <a:p>
            <a:pPr>
              <a:spcAft>
                <a:spcPts val="600"/>
              </a:spcAft>
              <a:defRPr sz="1250">
                <a:solidFill>
                  <a:srgbClr val="1A1A1A"/>
                </a:solidFill>
                <a:latin typeface="Calibri"/>
              </a:defRPr>
            </a:pPr>
            <a:r>
              <a:t>•  Questions to Ask Them</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Write a two-sentence STAR-method 'Result' for one real experience you could use in an interview.</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Ninety-Second Answer Builder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Set up a timed simulation using three interview question cards drawn at random: (1) 'Tell me about a time you dealt with a difficult customer or classmate,' (2) 'Describe a time you had to learn something quickly,' (3) 'Tell me about a time you made a mistake at work or school and how you fixed it.' Each student draws one card and has exactly four minutes to build a STAR outline on scratch paper using a real experience, then exactly ninety seconds to deliver the answer out loud to a partner without reading it word for word. A visible classroom timer manages both phases so the time pressure feels real, mirroring an actual interview setting where rambling costs you and organization saves you.</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Draw one of the three question cards, build a STAR outline (Situation, Task, Action, Result) in four minutes using a real experience, then deliver it to a partner in under ninety seconds. Partners time each other and give one piece of feedback: was the answer organized, or did it start to ramble?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Substantiate  (sub-STAN-shee-ayt)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provide evidence or specific details that support and prove a claim.</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sub- (under) + stare (to stand) + -ate — literally 'to make something stand under' a claim, i.e., support it.</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The STAR method helps you substantiate 'I'm a hard worker' with a specific situation, action, and result.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63  ·  When Interviews Go Sideways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identify signs of interview nervousness (rambling, off-topic answers) and how to reset in the moment.</a:t>
            </a:r>
          </a:p>
          <a:p>
            <a:pPr>
              <a:spcAft>
                <a:spcPts val="600"/>
              </a:spcAft>
              <a:defRPr sz="1250">
                <a:solidFill>
                  <a:srgbClr val="1A1A1A"/>
                </a:solidFill>
                <a:latin typeface="Calibri"/>
              </a:defRPr>
            </a:pPr>
            <a:r>
              <a:t>•  I can apply feedback from a mock interview to improve a real answer.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Interview: A conversation where an employer asks you questions in person, on the phone, or over video to decide if you're the right fit for a job.</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Have you ever gotten so nervous talking to someone that you kept talking instead of stopping? What usually happens right after you realize it?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Debrief Like Mr. Alvarez: After the reading, pair students and have one read aloud a rambling 'tell me about yourself' answer (provide a sample script or let them improvise badly on purpose) while the partner plays Mr. Alvarez, redirecting with one specific question, the same way he does in the comic. Switch roles. Then have each student rewrite their own STAR answer from Day 62 to be tighter and more specific based on the redirect they received.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Nerves Are Normal, Rambling Is Fixable</a:t>
            </a:r>
          </a:p>
          <a:p>
            <a:pPr>
              <a:spcAft>
                <a:spcPts val="600"/>
              </a:spcAft>
              <a:defRPr sz="1250">
                <a:solidFill>
                  <a:srgbClr val="1A1A1A"/>
                </a:solidFill>
                <a:latin typeface="Calibri"/>
              </a:defRPr>
            </a:pPr>
            <a:r>
              <a:t>•  Reading Today's Comic</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(Graphic Novel)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Fund, Installment 11: Mock Interview, Real Nerves</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Rewrite Maya's rambling opening line as a tight, one-sentence Situation using the STAR method.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Transcript That Went Off the Rails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career counselor keeps an anonymized transcript excerpt from a real mock interview she ran last year with a different student, called 'J' in her notes. Question: 'Tell me about a time you worked as part of a team.' J's answer: 'Um, so, teams are like, really important I think, and I've been on a lot of teams, like my soccer team and also group projects and honestly I think I'm a pretty good teammate because I show up and I don't complain much, well sometimes I complain, but not like a lot, and one time on my soccer team we lost a big game and it was rough but we came back the next season and did better, coach said we grew a lot as a team that year...' The answer ran for almost two full minutes and never named one specific action J actually took.</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Identify exactly where J's answer stops being specific and starts rambling. Then rewrite J's answer as a tight STAR response (Situation, Task, Action, Result) in four sentences or fewer, inventing one plausible specific detail (like what J actually did during the soccer comeback) to fill the gap.</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Mitigate  (MIT-ih-gayt)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make a problem, risk, or negative effect less severe.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mitis (soft, mild) + agere (to do, act) — literally 'to make mild.'</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Having a STAR structure ready helps mitigate the rambling that nervousness can cause in a real interview.</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64  ·  After the Interview: Following Up and Closing the Loop</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write a professional follow-up message after an interview.</a:t>
            </a:r>
          </a:p>
          <a:p>
            <a:pPr>
              <a:spcAft>
                <a:spcPts val="600"/>
              </a:spcAft>
              <a:defRPr sz="1250">
                <a:solidFill>
                  <a:srgbClr val="1A1A1A"/>
                </a:solidFill>
                <a:latin typeface="Calibri"/>
              </a:defRPr>
            </a:pPr>
            <a:r>
              <a:t>•  I can explain how to evaluate a job offer beyond just the pay rate.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References: People who know your work and can vouch for you when an employer checks your background before hiring you.</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of a time someone did something small after a big interaction (a text, a note, a follow-up) that made a good impression on you. What was it?</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Thank-You Note and Offer Checklist: Give students a realistic post-interview scenario card (the interview went well, went okay, or they're unsure). Have them draft a three-sentence thank-you email appropriate to that scenario. Then hand out an 'evaluate the offer' checklist covering pay, schedule, distance, and growth, and have students rank which factors matter most to them personally, with a short written justification.</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Follow-Up Is Part of the Interview</a:t>
            </a:r>
          </a:p>
          <a:p>
            <a:pPr>
              <a:spcAft>
                <a:spcPts val="600"/>
              </a:spcAft>
              <a:defRPr sz="1250">
                <a:solidFill>
                  <a:srgbClr val="1A1A1A"/>
                </a:solidFill>
                <a:latin typeface="Calibri"/>
              </a:defRPr>
            </a:pPr>
            <a:r>
              <a:t>•  Reading a Job Offer Beyond the Number</a:t>
            </a:r>
          </a:p>
          <a:p>
            <a:pPr>
              <a:spcAft>
                <a:spcPts val="600"/>
              </a:spcAft>
              <a:defRPr sz="1250">
                <a:solidFill>
                  <a:srgbClr val="1A1A1A"/>
                </a:solidFill>
                <a:latin typeface="Calibri"/>
              </a:defRPr>
            </a:pPr>
            <a:r>
              <a:t>•  If References Get Contacted</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List the top two factors, besides pay, that would matter most to you when deciding whether to accept a job offer.</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Two Offers, One Decision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After two separate interviews, a student named Priya (no relation to Maya's sister) gets two job offers on the same day. Offer A: a grocery store eight minutes from her house, $13.50 an hour, 12 hours a week, mostly weekday afternoon shifts that fit around soccer practice. Offer B: a downtown clothing store, $15.25 an hour, 18 hours a week, but shifts are almost entirely on weekends and the commute is 35 minutes each way by bus, which costs $4 round trip. She has to respond to both employers within 48 hours. Offer B pays more per hour and offers more total hours, but the schedule conflicts with soccer season, and after subtracting bus fare and travel time, the effective value of each shift drops.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the actual weekly take-home difference between the two offers after accounting for Offer B's bus fare (assume she works 4 shifts a week at Offer B). Then decide which offer you'd recommend Priya accept, factoring in schedule and travel time as well as pay, and justify your recommendation in three to four sentences.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Negotiate  (nih-GOH-shee-ayt)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discuss something in order to reach an agreement or a fair outcome.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neg- (not) + otium (leisure, ease) + -ate — literally 'to not be at leisure,' i.e., to conduct business.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Evaluating a job offer sometimes means being ready to negotiate the start date or the hourly wage before accepting.</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65  ·  Why Everyone Needs an Emergency Fund</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an emergency fund is and why it matters even on a small income.</a:t>
            </a:r>
          </a:p>
          <a:p>
            <a:pPr>
              <a:spcAft>
                <a:spcPts val="600"/>
              </a:spcAft>
              <a:defRPr sz="1250">
                <a:solidFill>
                  <a:srgbClr val="1A1A1A"/>
                </a:solidFill>
                <a:latin typeface="Calibri"/>
              </a:defRPr>
            </a:pPr>
            <a:r>
              <a:t>•  I can calculate a basic emergency fund savings goal from a sample budget.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Emergency Fund: Money set aside in an easy-to-access savings account to cover unexpected costs like car repairs, medical bills, or a lost job.</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your phone screen cracked or your car needed a $300 repair tomorrow, where would that money actually come from right now?</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Emergency Fund Goal Calculator: Using the Banzai savings module or a printed worksheet, give students a sample monthly budget (rent, groceries, utilities, phone, transportation). Have them calculate one month of essential expenses, then multiply to find a 3-month and 6-month emergency fund target. Have students set a personal 'starter goal' (between $500-$1,000) and calculate how many weeks of saving a realistic amount would take to reach it.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Counts as an Emergency</a:t>
            </a:r>
          </a:p>
          <a:p>
            <a:pPr>
              <a:spcAft>
                <a:spcPts val="600"/>
              </a:spcAft>
              <a:defRPr sz="1250">
                <a:solidFill>
                  <a:srgbClr val="1A1A1A"/>
                </a:solidFill>
                <a:latin typeface="Calibri"/>
              </a:defRPr>
            </a:pPr>
            <a:r>
              <a:t>•  How Much Is Enough</a:t>
            </a:r>
          </a:p>
          <a:p>
            <a:pPr>
              <a:spcAft>
                <a:spcPts val="600"/>
              </a:spcAft>
              <a:defRPr sz="1250">
                <a:solidFill>
                  <a:srgbClr val="1A1A1A"/>
                </a:solidFill>
                <a:latin typeface="Calibri"/>
              </a:defRPr>
            </a:pPr>
            <a:r>
              <a:t>•  Where the Money Should Sit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Using your own realistic monthly expenses, what would a starter emergency fund goal of $500-$1,000 mean in terms of weeks of saving for you?</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Build the $750 Cushion</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sets a starter emergency fund goal of $750. Right now, they can realistically set aside $35 a week from a part-time job. Halfway through the plan, their hours get cut for one month to only $20 a week of available savings before returning to $35 a week. Partway through, an unplanned $60 expense (a required school fee) also has to come out of the fund before it's even finished growing, resetting the running total back down. Students must track the running total week by week, adjusting for the temporary cut in savings and the mid-plan withdrawal, to see how a real emergency fund rarely grows in a perfectly straight line.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a running total, calculate how many total weeks it takes to reach $750, given: $35/week for the first 6 weeks, $20/week for the next 4 weeks (the hours-cut month), a $60 emergency withdrawal after week 10, then back to $35/week until the goal is reached. Show the running total at each stage and state the final week number.</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Allocate  (AL-oh-kayt)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set aside or assign a specific amount of something (often money) for a particular purpose.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 locare (to place) — literally 'to place to' a specific purpose.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Before she can build an emergency fund, Maya has to allocate a specific dollar amount from each paycheck toward it.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66  ·  Insurance Basics: Spreading Out Risk</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how insurance works using the concepts of premium, deductible, and risk pooling.</a:t>
            </a:r>
          </a:p>
          <a:p>
            <a:pPr>
              <a:spcAft>
                <a:spcPts val="600"/>
              </a:spcAft>
              <a:defRPr sz="1250">
                <a:solidFill>
                  <a:srgbClr val="1A1A1A"/>
                </a:solidFill>
                <a:latin typeface="Calibri"/>
              </a:defRPr>
            </a:pPr>
            <a:r>
              <a:t>•  I can compare basic health insurance plans using cost factors like premium and deductible.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Insurance: A contract where you pay a regular amount, called a premium, so a company helps cover your costs if something bad happens.</a:t>
            </a:r>
          </a:p>
          <a:p>
            <a:pPr>
              <a:spcAft>
                <a:spcPts val="600"/>
              </a:spcAft>
              <a:defRPr sz="1200">
                <a:solidFill>
                  <a:srgbClr val="1A1A1A"/>
                </a:solidFill>
                <a:latin typeface="Calibri"/>
              </a:defRPr>
            </a:pPr>
            <a:r>
              <a:t>•  Healthcare: Insurance coverage that helps pay for medical costs like doctor visits, prescriptions, and hospital stays.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Why do you think people pay money every month for insurance they might never actually need to use?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Health Insurance Costs Worksheet: Distribute the Health Insurance Costs worksheet showing two or three sample health plans with different premiums, deductibles, and out-of-pocket maximums. Have students calculate the total yearly cost of each plan under a 'low usage' scenario (one checkup) and a 'high usage' scenario (an unexpected surgery or ER visit), then decide which plan makes more sense for each scenario and explain why.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Basic Idea Behind Insurance</a:t>
            </a:r>
          </a:p>
          <a:p>
            <a:pPr>
              <a:spcAft>
                <a:spcPts val="600"/>
              </a:spcAft>
              <a:defRPr sz="1250">
                <a:solidFill>
                  <a:srgbClr val="1A1A1A"/>
                </a:solidFill>
                <a:latin typeface="Calibri"/>
              </a:defRPr>
            </a:pPr>
            <a:r>
              <a:t>•  Premiums, Deductibles, and Out-of-Pocket Costs</a:t>
            </a:r>
          </a:p>
          <a:p>
            <a:pPr>
              <a:spcAft>
                <a:spcPts val="600"/>
              </a:spcAft>
              <a:defRPr sz="1250">
                <a:solidFill>
                  <a:srgbClr val="1A1A1A"/>
                </a:solidFill>
                <a:latin typeface="Calibri"/>
              </a:defRPr>
            </a:pPr>
            <a:r>
              <a:t>•  Healthcare Insurance Specifically</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Based on the Health Insurance Costs worksheet, which sample plan would you choose and why, considering both low- and high-usage scenarios?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Two Plans, One Choice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Deshawn's older cousin Marcus just started his first full-time job and has to pick between two health plans during open enrollment. Plan A has a $60 monthly premium and a $3,000 deductible. Plan B has a $140 monthly premium and a $500 deductible. Marcus is 22, generally healthy, sees a doctor about once a year for a routine checkup, and has never had a major medical expense. But he also plays in a competitive adult soccer league twice a week, and one of his teammates tore his ACL last season, requiring surgery that cost over $20,000 before insurance. Marcus has to decide by Friday, and he only has about $800 in savings right now.</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Marcus's total yearly cost under Plan A and Plan B for a low-usage year (just the annual checkup) and for a high-usage year (a $20,000 injury like his teammate's). Then recommend which plan Marcus should choose given his soccer league and his current $800 savings cushion, and explain your reasoning.</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Rationale  (rash-uh-NAL)</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The set of reasons or logical basis behind a decision or choice.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ratio (reason, calculation, reckoning) + -alis (adjective-forming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Explain your rationale for choosing the lower-premium health plan versus the lower-deductible one.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67  ·  Life and Disability Insurance: Protecting Income and Family</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life insurance and disability insurance protect against.</a:t>
            </a:r>
          </a:p>
          <a:p>
            <a:pPr>
              <a:spcAft>
                <a:spcPts val="600"/>
              </a:spcAft>
              <a:defRPr sz="1250">
                <a:solidFill>
                  <a:srgbClr val="1A1A1A"/>
                </a:solidFill>
                <a:latin typeface="Calibri"/>
              </a:defRPr>
            </a:pPr>
            <a:r>
              <a:t>•  I can recommend an appropriate type of insurance for a given life situation.</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Life Insurance: Insurance that pays a sum of money to the people who depend on you financially if you die.</a:t>
            </a:r>
          </a:p>
          <a:p>
            <a:pPr>
              <a:spcAft>
                <a:spcPts val="600"/>
              </a:spcAft>
              <a:defRPr sz="1200">
                <a:solidFill>
                  <a:srgbClr val="1A1A1A"/>
                </a:solidFill>
                <a:latin typeface="Calibri"/>
              </a:defRPr>
            </a:pPr>
            <a:r>
              <a:t>•  Disability Insurance: Insurance that replaces part of your income if an injury or illness keeps you from working.</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a parent or guardian in your household suddenly couldn't work for six months, what would happen to your family's bills?</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Insurance Needs Case Studies: Give students four brief case-study cards (a single 22-year-old with no dependents, a single parent of two working full time, a couple where one person is the sole income earner, a retired couple with grown kids). In small groups, have students decide which types of insurance from this unit each person most needs and justify their reasoning. Groups share one case study and their recommendation with the class.</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Life Insurance: For the People Who Depend on You</a:t>
            </a:r>
          </a:p>
          <a:p>
            <a:pPr>
              <a:spcAft>
                <a:spcPts val="600"/>
              </a:spcAft>
              <a:defRPr sz="1250">
                <a:solidFill>
                  <a:srgbClr val="1A1A1A"/>
                </a:solidFill>
                <a:latin typeface="Calibri"/>
              </a:defRPr>
            </a:pPr>
            <a:r>
              <a:t>•  Disability Insurance: Protecting the Paycheck Itself</a:t>
            </a:r>
          </a:p>
          <a:p>
            <a:pPr>
              <a:spcAft>
                <a:spcPts val="600"/>
              </a:spcAft>
              <a:defRPr sz="1250">
                <a:solidFill>
                  <a:srgbClr val="1A1A1A"/>
                </a:solidFill>
                <a:latin typeface="Calibri"/>
              </a:defRPr>
            </a:pPr>
            <a:r>
              <a:t>•  Matching Insurance to Life Stage</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Pick one life stage (new job, new home, new baby) and explain which insurance type from today becomes more important at that stage.</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Realistic Fiction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Conversation at the Kitchen Table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Six months after their daughter was born, Renata and Kofi sat at the kitchen table with a stack of mail neither of them wanted to open, including a letter from Kofi's job about 'optional employee benefits enrollment.' "We never had to think about this before," Kofi said, sliding the paper across to Renata. "It's just been the two of us for years." Renata didn't look up from feeding the baby. "It's not just the two of us anymore, though. If something happened to you at the warehouse, or to me, we'd both need this to actually cover rent, not just the funeral." Kofi rubbed his eyes. "I make almost all our income right now since you're on leave. If I got hurt and couldn't work for a few months, we'd burn through savings in, what, six weeks?" Renata finally looked up. "That's disability insurance's whole job, right? And this letter says life insurance is only nine dollars a paycheck extra. We weren't thinking about this a year ago because we didn't need to. Now we do."</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Based on Renata and Kofi's situation, explain which two types of insurance from today's lesson they should prioritize enrolling in and why, using specific details from their conversation (one income earner, a new dependent, limited savings).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Categorize  (KAT-ih-guh-ryze)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sort things into groups based on shared characteristics.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kategoria (accusation, statement, category) + -ize (verb-forming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You can categorize insurance needs by life stage: a single teenager needs different coverage than a parent supporting a family.</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68  ·  When the Safety Net Isn't There Yet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how the absence of an emergency fund can turn a small problem into a debt spiral.</a:t>
            </a:r>
          </a:p>
          <a:p>
            <a:pPr>
              <a:spcAft>
                <a:spcPts val="600"/>
              </a:spcAft>
              <a:defRPr sz="1250">
                <a:solidFill>
                  <a:srgbClr val="1A1A1A"/>
                </a:solidFill>
                <a:latin typeface="Calibri"/>
              </a:defRPr>
            </a:pPr>
            <a:r>
              <a:t>•  I can identify at least one habit change that helps prevent a credit card balance from growing out of control.</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Emergency Fund: Money set aside in an easy-to-access savings account to cover unexpected costs like car repairs, medical bills, or a lost job.</a:t>
            </a:r>
          </a:p>
          <a:p>
            <a:pPr>
              <a:spcAft>
                <a:spcPts val="600"/>
              </a:spcAft>
              <a:defRPr sz="1200">
                <a:solidFill>
                  <a:srgbClr val="1A1A1A"/>
                </a:solidFill>
                <a:latin typeface="Calibri"/>
              </a:defRPr>
            </a:pPr>
            <a:r>
              <a:t>•  Insurance: A contract where you pay a regular amount, called a premium, so a company helps cover your costs if something bad happens.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Has a small unexpected cost ever snowballed into a bigger problem for you or someone you know? What made it grow?</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Discussion: What Would Have Changed the Outcome?: After the reading, have students discuss in small groups: at what point in Priya's story could an emergency fund, or renter's insurance, have changed what happened? Then have each student write down one specific financial habit (from Priya's story or their own life) they want to build before they're in a similar situation, and why.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How Small Problems Become Debt Spirals</a:t>
            </a:r>
          </a:p>
          <a:p>
            <a:pPr>
              <a:spcAft>
                <a:spcPts val="600"/>
              </a:spcAft>
              <a:defRPr sz="1250">
                <a:solidFill>
                  <a:srgbClr val="1A1A1A"/>
                </a:solidFill>
                <a:latin typeface="Calibri"/>
              </a:defRPr>
            </a:pPr>
            <a:r>
              <a:t>•  Reading Today's Installment</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Fund, Installment 12: The Balance That Wouldn't Go Down</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specific habit from Priya's story you want to start before you're in a similar situation.</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Watching the Snowball Grow</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separate, shorter numbers problem to run alongside today's reading: a $600 credit card balance sits unpaid at a 24% annual interest rate (2% per month, applied to the remaining balance for simplicity). If only the minimum payment of $30 a month is made, and no new charges are added, the balance barely moves for the first few months because most of the payment goes toward interest rather than the principal.</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Starting from a $600 balance at 2% monthly interest, calculate the new balance after each of the first three months if only the $30 minimum payment is made each month (add 2% interest to the balance, then subtract the $30 payment). Report the balance after month 1, month 2, and month 3, and explain in one sentence why the balance is shrinking so slowly.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Analyze  (AN-uh-lyze)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examine something closely, breaking it into parts to understand how it works.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ana- (up, throughout) + lyein (to loosen) — literally 'to loosen up,' i.e., break apart to examine.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Analyze Priya's story to find the exact moment a manageable cost turned into a growing debt problem.</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69  ·  Renter's Insurance and Signing a Lease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renter's and homeowner's insurance actually cover.</a:t>
            </a:r>
          </a:p>
          <a:p>
            <a:pPr>
              <a:spcAft>
                <a:spcPts val="600"/>
              </a:spcAft>
              <a:defRPr sz="1250">
                <a:solidFill>
                  <a:srgbClr val="1A1A1A"/>
                </a:solidFill>
                <a:latin typeface="Calibri"/>
              </a:defRPr>
            </a:pPr>
            <a:r>
              <a:t>•  I can identify insurance-related clauses and other key terms in a sample lease.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Renter's/Homeowner's Insurance: Insurance that covers your belongings and protects you financially if someone is injured in a home you rent or own.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your apartment flooded tomorrow and ruined your clothes, furniture, and laptop, whose insurance do you think would pay for that: yours, or the landlord's?</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Signing a Lease: Distribute a realistic sample lease document (or use the Signing a Lease activity handout) and have students work in pairs to find and highlight five key terms: rent amount and due date, lease length, early termination penalty, repair responsibility, and any renter's insurance requirement clause. Then have students estimate a monthly renter's insurance cost for the unit described and add it to a basic monthly housing budget from the sample lease.</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The Landlord's Policy Doesn't Cover You</a:t>
            </a:r>
          </a:p>
          <a:p>
            <a:pPr>
              <a:spcAft>
                <a:spcPts val="600"/>
              </a:spcAft>
              <a:defRPr sz="1250">
                <a:solidFill>
                  <a:srgbClr val="1A1A1A"/>
                </a:solidFill>
                <a:latin typeface="Calibri"/>
              </a:defRPr>
            </a:pPr>
            <a:r>
              <a:t>•  What Renter's Insurance Actually Covers</a:t>
            </a:r>
          </a:p>
          <a:p>
            <a:pPr>
              <a:spcAft>
                <a:spcPts val="600"/>
              </a:spcAft>
              <a:defRPr sz="1250">
                <a:solidFill>
                  <a:srgbClr val="1A1A1A"/>
                </a:solidFill>
                <a:latin typeface="Calibri"/>
              </a:defRPr>
            </a:pPr>
            <a:r>
              <a:t>•  Reading a Lease Before Signing</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(Informational)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Why Renters Need Insurance Too</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clause you'd specifically look for before signing a real lease, and explain why it matters to you.</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69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Is Eighteen Dollars Worth It?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recent graduate named Theo just moved into his first apartment and is deciding whether to buy renter's insurance for $18 a month, which is not required by his lease. He estimates the total value of his belongings, laptop, bike, clothes, a secondhand couch, a TV, and a gaming console, at around $3,200. He tells his roommate, 'What are the odds something actually happens? That's over $200 a year for basically nothing.' His roommate points out that their building had a kitchen fire two units down last year, and that Theo's lease makes him personally responsible if a guest gets hurt in his apartment and decides to pursue a claim.</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what $18 a month adds up to over one year. Then, using the numbers in the scenario (the $3,200 in belongings and the neighboring unit's fire), decide whether you'd recommend Theo buy the renter's insurance, and explain your reasoning in three sentences referencing both the cost and the risk.</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Interpret  (in-TER-prit)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explain or figure out the meaning of something, especially something written in unfamiliar or technical language.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inter- (between) + pres (agent, negotiator) — an interpreter originally stood 'between' two parties to explain meaning.</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Students practiced how to interpret an insurance-requirement clause buried in a sample lease's fine print.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70  ·  Mortgages and Your Paycheck: The W-4</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the basic terms involved in a mortgage.</a:t>
            </a:r>
          </a:p>
          <a:p>
            <a:pPr>
              <a:spcAft>
                <a:spcPts val="600"/>
              </a:spcAft>
              <a:defRPr sz="1250">
                <a:solidFill>
                  <a:srgbClr val="1A1A1A"/>
                </a:solidFill>
                <a:latin typeface="Calibri"/>
              </a:defRPr>
            </a:pPr>
            <a:r>
              <a:t>•  I can explain the purpose of a W-4 form and how it affects paycheck withholding.</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Mortgage: A large loan used to buy a home, paid back over a long term, usually 15 to 30 years, with interest.</a:t>
            </a:r>
          </a:p>
          <a:p>
            <a:pPr>
              <a:spcAft>
                <a:spcPts val="600"/>
              </a:spcAft>
              <a:defRPr sz="1200">
                <a:solidFill>
                  <a:srgbClr val="1A1A1A"/>
                </a:solidFill>
                <a:latin typeface="Calibri"/>
              </a:defRPr>
            </a:pPr>
            <a:r>
              <a:t>•  W-4: A tax form you fill out for your employer that tells them how much money to withhold from your paycheck for taxes.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When you eventually get a full-time paycheck, do you think the amount on your check will be higher or lower than your actual hourly wage times your hours? Why?</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Paycheck Deduction and W-4 Practice: Using the FICO Fundamentals or Banzai paycheck calculator, have students fill out a sample W-4 form with a realistic scenario (single, no dependents, one job) and then use a paycheck calculator to estimate take-home pay from a given hourly wage and hours worked. Have students compare two scenarios (claiming zero vs. one dependent, if applicable) to see how the withholding choice changes the paycheck amount.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a Mortgage Actually Is</a:t>
            </a:r>
          </a:p>
          <a:p>
            <a:pPr>
              <a:spcAft>
                <a:spcPts val="600"/>
              </a:spcAft>
              <a:defRPr sz="1250">
                <a:solidFill>
                  <a:srgbClr val="1A1A1A"/>
                </a:solidFill>
                <a:latin typeface="Calibri"/>
              </a:defRPr>
            </a:pPr>
            <a:r>
              <a:t>•  The W-4: Setting Up Your Withholding</a:t>
            </a:r>
          </a:p>
          <a:p>
            <a:pPr>
              <a:spcAft>
                <a:spcPts val="600"/>
              </a:spcAft>
              <a:defRPr sz="1250">
                <a:solidFill>
                  <a:srgbClr val="1A1A1A"/>
                </a:solidFill>
                <a:latin typeface="Calibri"/>
              </a:defRPr>
            </a:pPr>
            <a:r>
              <a:t>•  Connecting the W-4 to Your Actual Paycheck</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Explain in one or two sentences why the number on a job offer isn't the same as what shows up in your bank account.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Same Wage, Different Withholding</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Two new employees, both hired at $17 an hour for a 30-hour work week, fill out their W-4 forms differently on their first day. Employee A checks the box for extra withholding, wanting to guarantee a refund at tax time, which results in roughly 22% of gross pay withheld total (federal, state, and FICA combined). Employee B fills out the form to withhold closer to the accurate minimum needed, resulting in about 17% of gross pay withheld total. Both employees work the exact same hours for four straight weeks, so their gross pay is identical every week; only the withholding percentage differs based on their W-4 choices.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each employee's weekly gross pay, then calculate their weekly take-home (net) pay after withholding, using 22% for Employee A and 17% for Employee B. Find the total dollar difference in take-home pay between the two employees over the four-week period, and explain in one sentence what happens to Employee A's extra withheld money.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Infer  (in-FUR)</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figure out something that isn't directly stated, using clues and reasoning.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 (into) + ferre (to carry) — literally 'to carry into' a conclusion.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From the W-4 choices on the worksheet, students had to infer why the two paychecks came out to different take-home amounts.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71  ·  Bankruptcy: The Last Resort, and Unit 7 Wrap-Up</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what bankruptcy is and the long-term consequences of filing.</a:t>
            </a:r>
          </a:p>
          <a:p>
            <a:pPr>
              <a:spcAft>
                <a:spcPts val="600"/>
              </a:spcAft>
              <a:defRPr sz="1250">
                <a:solidFill>
                  <a:srgbClr val="1A1A1A"/>
                </a:solidFill>
                <a:latin typeface="Calibri"/>
              </a:defRPr>
            </a:pPr>
            <a:r>
              <a:t>•  I can connect the career-readiness and risk-management skills from this unit into one overall picture.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Bankruptcy: A legal process for people or businesses who cannot pay what they owe, which can wipe out or restructure debt but seriously damages credit for years.</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Why do you think 'declaring bankruptcy' is often talked about as a last resort instead of a normal financial tool?</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Risk Management Reflection and Unit Review: Have students complete a two-column review sheet: one column titled 'Getting Hired' (resume, cover letter, CV, references, interview) and one titled 'Managing Risk' (emergency fund, insurance types, W-4, bankruptcy), writing one key takeaway per term from the unit. Then have students write a short paragraph connecting the two columns, using at least one example from Maya, Deshawn, or Priya's storyline this unit. Collect as a study tool for the unit assessment.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Bankruptcy Actually Is</a:t>
            </a:r>
          </a:p>
          <a:p>
            <a:pPr>
              <a:spcAft>
                <a:spcPts val="600"/>
              </a:spcAft>
              <a:defRPr sz="1250">
                <a:solidFill>
                  <a:srgbClr val="1A1A1A"/>
                </a:solidFill>
                <a:latin typeface="Calibri"/>
              </a:defRPr>
            </a:pPr>
            <a:r>
              <a:t>•  Why This Unit Builds Toward Avoiding It</a:t>
            </a:r>
          </a:p>
          <a:p>
            <a:pPr>
              <a:spcAft>
                <a:spcPts val="600"/>
              </a:spcAft>
              <a:defRPr sz="1250">
                <a:solidFill>
                  <a:srgbClr val="1A1A1A"/>
                </a:solidFill>
                <a:latin typeface="Calibri"/>
              </a:defRPr>
            </a:pPr>
            <a:r>
              <a:t>•  Bringing the Two Threads Together</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In one or two sentences, explain how the career-readiness skills and the risk-management skills from this unit work together, not separately.</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Is This a Bankruptcy Situation, or Something Else?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financial counselor is asked to review two situations in the same week. Case 1: a 24-year-old with $4,000 in credit card debt from a series of unplanned car repairs and one uninsured emergency room visit, who has a steady job and could realistically pay it off in 18 months with a tighter budget and no new charges. Case 2: a small business owner whose shop flooded with no insurance, who owes $85,000 to suppliers and a bank loan, has no realistic way to repay it from future income, and is being sued by multiple creditors at once. The counselor has to decide which case might actually call for bankruptcy as an option and which one just calls for better budgeting and debt payoff habits.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Decide which of the two cases is a genuine candidate for considering bankruptcy and which one is not, and explain your reasoning using the definition and consequences of bankruptcy from today's lesson. For the case that is NOT a bankruptcy situation, name one specific step from this unit (emergency fund, insurance, budgeting) that could have prevented it.</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Synthesize  (SIN-thuh-syze)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combine separate pieces of information or ideas into one connected whole.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syn- (together) + tithenai (to put, place) — literally 'to put together.'</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The unit review asks you to synthesize the career-readiness skills and the risk-management skills into one connected picture.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1B5E3C"/>
        </a:solidFill>
        <a:effectLst/>
      </p:bgPr>
    </p:bg>
    <p:spTree>
      <p:nvGrpSpPr>
        <p:cNvPr id="1" name=""/>
        <p:cNvGrpSpPr/>
        <p:nvPr/>
      </p:nvGrpSpPr>
      <p:grpSpPr/>
      <p:sp>
        <p:nvSpPr>
          <p:cNvPr id="2" name="TextBox 1"/>
          <p:cNvSpPr txBox="1"/>
          <p:nvPr/>
        </p:nvSpPr>
        <p:spPr>
          <a:xfrm>
            <a:off x="731520" y="914400"/>
            <a:ext cx="10698480" cy="457200"/>
          </a:xfrm>
          <a:prstGeom prst="rect">
            <a:avLst/>
          </a:prstGeom>
          <a:noFill/>
        </p:spPr>
        <p:txBody>
          <a:bodyPr wrap="square">
            <a:spAutoFit/>
          </a:bodyPr>
          <a:lstStyle/>
          <a:p>
            <a:pPr algn="l"/>
            <a:r>
              <a:rPr sz="1800" b="1" i="0">
                <a:solidFill>
                  <a:srgbClr val="F0C14B"/>
                </a:solidFill>
                <a:latin typeface="Calibri"/>
              </a:rPr>
              <a:t>UNIT 8</a:t>
            </a:r>
          </a:p>
        </p:txBody>
      </p:sp>
      <p:sp>
        <p:nvSpPr>
          <p:cNvPr id="3" name="TextBox 2"/>
          <p:cNvSpPr txBox="1"/>
          <p:nvPr/>
        </p:nvSpPr>
        <p:spPr>
          <a:xfrm>
            <a:off x="731520" y="1371600"/>
            <a:ext cx="10698480" cy="1097280"/>
          </a:xfrm>
          <a:prstGeom prst="rect">
            <a:avLst/>
          </a:prstGeom>
          <a:noFill/>
        </p:spPr>
        <p:txBody>
          <a:bodyPr wrap="square">
            <a:spAutoFit/>
          </a:bodyPr>
          <a:lstStyle/>
          <a:p>
            <a:pPr algn="l"/>
            <a:r>
              <a:rPr sz="3600" b="1" i="0">
                <a:solidFill>
                  <a:srgbClr val="FFFFFF"/>
                </a:solidFill>
                <a:latin typeface="Calibri"/>
              </a:rPr>
              <a:t>Investing, Growth &amp; Certification Review</a:t>
            </a:r>
          </a:p>
        </p:txBody>
      </p:sp>
      <p:sp>
        <p:nvSpPr>
          <p:cNvPr id="4" name="TextBox 3"/>
          <p:cNvSpPr txBox="1"/>
          <p:nvPr/>
        </p:nvSpPr>
        <p:spPr>
          <a:xfrm>
            <a:off x="731520" y="2468880"/>
            <a:ext cx="10698480" cy="731520"/>
          </a:xfrm>
          <a:prstGeom prst="rect">
            <a:avLst/>
          </a:prstGeom>
          <a:noFill/>
        </p:spPr>
        <p:txBody>
          <a:bodyPr wrap="square">
            <a:spAutoFit/>
          </a:bodyPr>
          <a:lstStyle/>
          <a:p>
            <a:pPr algn="l"/>
            <a:r>
              <a:rPr sz="1800" b="0" i="1">
                <a:solidFill>
                  <a:srgbClr val="FFFFFF"/>
                </a:solidFill>
                <a:latin typeface="Calibri"/>
              </a:rPr>
              <a:t>What investment options maximize financial resources, and am I ready for the GFL exam?</a:t>
            </a:r>
          </a:p>
        </p:txBody>
      </p:sp>
      <p:sp>
        <p:nvSpPr>
          <p:cNvPr id="5" name="TextBox 4"/>
          <p:cNvSpPr txBox="1"/>
          <p:nvPr/>
        </p:nvSpPr>
        <p:spPr>
          <a:xfrm>
            <a:off x="731520" y="3291840"/>
            <a:ext cx="10698480" cy="457200"/>
          </a:xfrm>
          <a:prstGeom prst="rect">
            <a:avLst/>
          </a:prstGeom>
          <a:noFill/>
        </p:spPr>
        <p:txBody>
          <a:bodyPr wrap="square">
            <a:spAutoFit/>
          </a:bodyPr>
          <a:lstStyle/>
          <a:p>
            <a:pPr algn="l"/>
            <a:r>
              <a:rPr sz="1400" b="0" i="0">
                <a:solidFill>
                  <a:srgbClr val="F0C14B"/>
                </a:solidFill>
                <a:latin typeface="Calibri"/>
              </a:rPr>
              <a:t>Days 72–82 · 11 lessons</a:t>
            </a:r>
          </a:p>
        </p:txBody>
      </p:sp>
      <p:sp>
        <p:nvSpPr>
          <p:cNvPr id="6" name="TextBox 5"/>
          <p:cNvSpPr txBox="1"/>
          <p:nvPr/>
        </p:nvSpPr>
        <p:spPr>
          <a:xfrm>
            <a:off x="731520" y="3931920"/>
            <a:ext cx="10698480" cy="2011680"/>
          </a:xfrm>
          <a:prstGeom prst="rect">
            <a:avLst/>
          </a:prstGeom>
          <a:noFill/>
        </p:spPr>
        <p:txBody>
          <a:bodyPr wrap="square">
            <a:spAutoFit/>
          </a:bodyPr>
          <a:lstStyle/>
          <a:p>
            <a:pPr algn="l"/>
            <a:r>
              <a:rPr sz="1300" b="0" i="0">
                <a:solidFill>
                  <a:srgbClr val="FFFFFF"/>
                </a:solidFill>
                <a:latin typeface="Calibri"/>
              </a:rPr>
              <a:t>Vocabulary bank: Risk, Reward, Stocks, Bonds, Mutual Funds, Crypto(currency), Liquidity, Growth, Compound Interest, 401(k), Roth IRA, Diversification, Dividend</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72  ·  Risk and Reward: The Foundation of Investing</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the relationship between risk and reward in investing.</a:t>
            </a:r>
          </a:p>
          <a:p>
            <a:pPr>
              <a:spcAft>
                <a:spcPts val="600"/>
              </a:spcAft>
              <a:defRPr sz="1250">
                <a:solidFill>
                  <a:srgbClr val="1A1A1A"/>
                </a:solidFill>
                <a:latin typeface="Calibri"/>
              </a:defRPr>
            </a:pPr>
            <a:r>
              <a:t>•  I can identify my own risk tolerance based on age, goals, and timeline.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Risk: The chance that an investment could lose value or not perform the way you hoped.</a:t>
            </a:r>
          </a:p>
          <a:p>
            <a:pPr>
              <a:spcAft>
                <a:spcPts val="600"/>
              </a:spcAft>
              <a:defRPr sz="1200">
                <a:solidFill>
                  <a:srgbClr val="1A1A1A"/>
                </a:solidFill>
                <a:latin typeface="Calibri"/>
              </a:defRPr>
            </a:pPr>
            <a:r>
              <a:t>•  Reward: The potential gain or payoff you could earn from an investment or financial decision.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Would you rather have a guaranteed $50 today, or a coin-flip chance at $150? Write down your choice and explain why in one sentence.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The Risk Ladder: Give each student a set of five cards labeled Savings Account, Bonds, Mutual Fund, Stocks, and Cryptocurrency. Have students physically arrange the cards on their desk from lowest risk to highest risk based on gut instinct before any instruction on those specific tools. Collect a quick class tally on the board, then tell students they'll revisit this exact ranking at the end of the unit to see what's changed.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Is Risk?</a:t>
            </a:r>
          </a:p>
          <a:p>
            <a:pPr>
              <a:spcAft>
                <a:spcPts val="600"/>
              </a:spcAft>
              <a:defRPr sz="1250">
                <a:solidFill>
                  <a:srgbClr val="1A1A1A"/>
                </a:solidFill>
                <a:latin typeface="Calibri"/>
              </a:defRPr>
            </a:pPr>
            <a:r>
              <a:t>•  What Is Reward?</a:t>
            </a:r>
          </a:p>
          <a:p>
            <a:pPr>
              <a:spcAft>
                <a:spcPts val="600"/>
              </a:spcAft>
              <a:defRPr sz="1250">
                <a:solidFill>
                  <a:srgbClr val="1A1A1A"/>
                </a:solidFill>
                <a:latin typeface="Calibri"/>
              </a:defRPr>
            </a:pPr>
            <a:r>
              <a:t>•  The Risk-Reward Tradeoff</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In one or two sentences, describe your own risk tolerance right now and one factor (age, goals, savings cushion) that shapes it.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Three Envelopes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At the front of the room, a teacher presents three sealed envelopes, each representing a different investment choice for $100 of pretend money. Envelope A is labeled 'Guaranteed': open it and you get exactly $80, no chance involved. Envelope B is labeled 'Coin Flip': there's a 50% chance of getting $200 and a 50% chance of getting $0. Envelope C is labeled 'Long Shot': there's a 10% chance of getting $1,000 and a 90% chance of getting $0. Before anything is opened, every student has to commit in writing to one envelope and explain why, based on their own risk tolerance, not on guessing which envelope will actually win today. The exercise isn't really about the money in the envelope. It's about noticing that three very different, reasonable people in the same room can look at the exact same three options and land on three completely different, defensible choices.</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the expected value of each envelope (multiply each outcome by its probability and add the results together). Then choose which envelope you personally would pick if this were real money, and explain your choice in two to three sentences using your own risk tolerance, not just the expected value number.</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Assess  (uh-SES)</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consider something in order to judge its value, condition, or importance.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ad- (to) + sedere (to sit) — originally described a judge who would 'sit beside' to determine a case.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Before choosing where to put your money, you have to assess how much risk you're actually comfortable taking on.</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73  ·  Stocks and Bonds: Owning vs. Lending</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the difference between owning a stock and holding a bond.</a:t>
            </a:r>
          </a:p>
          <a:p>
            <a:pPr>
              <a:spcAft>
                <a:spcPts val="600"/>
              </a:spcAft>
              <a:defRPr sz="1250">
                <a:solidFill>
                  <a:srgbClr val="1A1A1A"/>
                </a:solidFill>
                <a:latin typeface="Calibri"/>
              </a:defRPr>
            </a:pPr>
            <a:r>
              <a:t>•  I can read the basic parts of a stock chart, including ticker symbol and price movement.</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Stocks: A share of ownership in a company; stock value rises and falls with how the company (and the market) performs.</a:t>
            </a:r>
          </a:p>
          <a:p>
            <a:pPr>
              <a:spcAft>
                <a:spcPts val="600"/>
              </a:spcAft>
              <a:defRPr sz="1200">
                <a:solidFill>
                  <a:srgbClr val="1A1A1A"/>
                </a:solidFill>
                <a:latin typeface="Calibri"/>
              </a:defRPr>
            </a:pPr>
            <a:r>
              <a:t>•  Bonds: A loan you make to a company or government that pays you back with interest over a set period of time.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 lend a friend $20 and they pay you back $22 next month, is that more like owning part of their business, or more like a loan? Explain.</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Stock Chart Basics (Banzai): Have students complete the Banzai 'Stock Chart Basics' module in pairs, identifying the ticker symbol, the highest and lowest price shown, and the overall trend direction for two sample companies. Afterward, each pair picks one company and writes a two-sentence pitch for why they would or would not invest in it based only on the chart. Share a few pitches out loud and discuss what the chart does and doesn't tell you.</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Stocks: You Become a Part Owner</a:t>
            </a:r>
          </a:p>
          <a:p>
            <a:pPr>
              <a:spcAft>
                <a:spcPts val="600"/>
              </a:spcAft>
              <a:defRPr sz="1250">
                <a:solidFill>
                  <a:srgbClr val="1A1A1A"/>
                </a:solidFill>
                <a:latin typeface="Calibri"/>
              </a:defRPr>
            </a:pPr>
            <a:r>
              <a:t>•  Bonds: You Become a Lender</a:t>
            </a:r>
          </a:p>
          <a:p>
            <a:pPr>
              <a:spcAft>
                <a:spcPts val="600"/>
              </a:spcAft>
              <a:defRPr sz="1250">
                <a:solidFill>
                  <a:srgbClr val="1A1A1A"/>
                </a:solidFill>
                <a:latin typeface="Calibri"/>
              </a:defRPr>
            </a:pPr>
            <a:r>
              <a:t>•  Reading a Basic Stock Chart</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In your own words, explain the difference between owning a stock and holding a bond.</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73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One Year, Two Investments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student invests $500 in a single company's stock at the start of the year. By year's end, the stock's price has dropped 12%, and the company didn't pay a dividend that year. A second student invests $500 in a corporate bond paying 5% annual interest, and at year's end the bond pays that interest and returns the original $500 in full since it hasn't matured yet. Both students started with the exact same amount of money on the exact same day. One of them is frustrated after watching market news all year expecting the stock to recover, while the other barely thought about their bond after buying it.</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the dollar value each student's investment is worth at the end of the year. Then explain, using what you know about stocks versus bonds, why one investment's value could swing so much more than the other's over the exact same twelve months.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Differentiate  (dif-uh-REN-shee-ayt)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recognize or show the difference between two or more things.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dis- (apart) + ferre (to carry) + -ate — literally 'to carry apart,' i.e., to separate and distinguish.</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Today's lesson helps you differentiate between owning a stock and holding a bond.</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74  ·  Mutual Funds, Diversification, and Crypto: Spreading (or Not Spreading) Risk</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how a mutual fund works and why it can reduce risk.</a:t>
            </a:r>
          </a:p>
          <a:p>
            <a:pPr>
              <a:spcAft>
                <a:spcPts val="600"/>
              </a:spcAft>
              <a:defRPr sz="1250">
                <a:solidFill>
                  <a:srgbClr val="1A1A1A"/>
                </a:solidFill>
                <a:latin typeface="Calibri"/>
              </a:defRPr>
            </a:pPr>
            <a:r>
              <a:t>•  I can describe cryptocurrency and explain why it is considered high-risk.</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Mutual Funds: A pooled investment that buys many different stocks and/or bonds at once, managed by a professional fund manager.</a:t>
            </a:r>
          </a:p>
          <a:p>
            <a:pPr>
              <a:spcAft>
                <a:spcPts val="600"/>
              </a:spcAft>
              <a:defRPr sz="1200">
                <a:solidFill>
                  <a:srgbClr val="1A1A1A"/>
                </a:solidFill>
                <a:latin typeface="Calibri"/>
              </a:defRPr>
            </a:pPr>
            <a:r>
              <a:t>•  Diversification: Spreading money across different types of investments to reduce overall risk.</a:t>
            </a:r>
          </a:p>
          <a:p>
            <a:pPr>
              <a:spcAft>
                <a:spcPts val="600"/>
              </a:spcAft>
              <a:defRPr sz="1200">
                <a:solidFill>
                  <a:srgbClr val="1A1A1A"/>
                </a:solidFill>
                <a:latin typeface="Calibri"/>
              </a:defRPr>
            </a:pPr>
            <a:r>
              <a:t>•  Crypto(currency): A digital currency, like Bitcoin, that is not controlled by a government or bank and can be extremely volatile in value.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Would you rather own one single slice of pizza from one restaurant, or one small slice from ten different restaurants? What does that have to do with investing?</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Build a Portfolio: Give each student a hypothetical $1,000 to allocate across four buckets: Stocks, Bonds, Mutual Fund, and Crypto, using a simple worksheet or pie-chart handout. Students must write one sentence justifying each allocation, referencing the risk tolerance they identified in the Day 72 Risk Ladder activity. Have a few students share contrasting portfolios and discuss why two students with different risk tolerances might split the same $1,000 very differently.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Mutual Funds: Buying a Basket, Not One Item</a:t>
            </a:r>
          </a:p>
          <a:p>
            <a:pPr>
              <a:spcAft>
                <a:spcPts val="600"/>
              </a:spcAft>
              <a:defRPr sz="1250">
                <a:solidFill>
                  <a:srgbClr val="1A1A1A"/>
                </a:solidFill>
                <a:latin typeface="Calibri"/>
              </a:defRPr>
            </a:pPr>
            <a:r>
              <a:t>•  Diversification: Don't Put All Your Eggs in One Basket</a:t>
            </a:r>
          </a:p>
          <a:p>
            <a:pPr>
              <a:spcAft>
                <a:spcPts val="600"/>
              </a:spcAft>
              <a:defRPr sz="1250">
                <a:solidFill>
                  <a:srgbClr val="1A1A1A"/>
                </a:solidFill>
                <a:latin typeface="Calibri"/>
              </a:defRPr>
            </a:pPr>
            <a:r>
              <a:t>•  Cryptocurrency: High Risk, High Attention</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Based on today's Build a Portfolio activity, what is one change you'd make to your allocation if your risk tolerance were the opposite of what it actually is?</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74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Jamal's All-In Bet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Jamal, a college freshman, gets a $2,000 graduation gift from his grandparents. Excited after watching videos about a cryptocurrency that had tripled in value over the past few months, he puts the entire $2,000 into that one coin in a single transaction, expecting it to keep climbing. Three weeks later, the coin drops 40% in value after a single piece of bad news spreads online, and Jamal checks his account to find it's now worth $1,200. He calls his older cousin, upset, saying he 'did everything right' because he researched the coin online for two days before buying. His cousin, who took this same financial literacy course last year, asks him one question before saying anything else: 'How much of that $2,000 did you put anywhere else?'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Explain what Jamal's cousin is getting at with her question, using the concept of diversification. Then describe specifically how Jamal could have structured his original $2,000 differently to reduce his risk while still investing some of it in crypto if he wanted to.</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Mitigate  (MIT-ih-gayt)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make a problem, risk, or negative effect less severe.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mitis (soft, mild) + agere (to do, act) — literally 'to make mild.'</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Spreading your $1,000 across several investment types is one way to mitigate the risk of any single one losing value.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75  ·  Risk, Reward, and Liquidity: Where Should Your Money Sit?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define liquidity and explain why it matters when choosing where to keep money.</a:t>
            </a:r>
          </a:p>
          <a:p>
            <a:pPr>
              <a:spcAft>
                <a:spcPts val="600"/>
              </a:spcAft>
              <a:defRPr sz="1250">
                <a:solidFill>
                  <a:srgbClr val="1A1A1A"/>
                </a:solidFill>
                <a:latin typeface="Calibri"/>
              </a:defRPr>
            </a:pPr>
            <a:r>
              <a:t>•  I can rank common accounts and investments from most to least liquid.</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Liquidity: How quickly and easily an asset can be turned into usable cash without losing value.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If your car broke down tomorrow and you needed $400 fast, where would that money come from? Would it be easy or hard to get to?</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The Liquidity Ladder Discussion: After the reading, have students rank six items from most liquid to least liquid: cash, a checking account, a savings account, a bond, a stock, and a house. Run this as a quick think-pair-share, then reveal the generally accepted order and discuss any disagreements. Ask students to connect this back to the Risk Ladder from Day 72, noting that liquid does not always mean low-risk or vice versa.</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What Is Liquidity?</a:t>
            </a:r>
          </a:p>
          <a:p>
            <a:pPr>
              <a:spcAft>
                <a:spcPts val="600"/>
              </a:spcAft>
              <a:defRPr sz="1250">
                <a:solidFill>
                  <a:srgbClr val="1A1A1A"/>
                </a:solidFill>
                <a:latin typeface="Calibri"/>
              </a:defRPr>
            </a:pPr>
            <a:r>
              <a:t>•  Why Liquidity Matters Alongside Risk and Reward</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(Informational)</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Risk, Reward, and Liquidity: How to Think About Where Your Money Sits</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one thing you own or one account you have, and explain where it would fall on the liquidity spectrum.</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75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2 A.M. Emergency</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recent graduate gets a call at 2 a.m.: a family member needs $1,500 sent immediately for an emergency medical copay. She has access to $1,500 spread across three places: $400 in a checking account, $600 in a retirement account she can't touch until age 59½ without a steep tax penalty, and $500 in a brokerage account holding stock she'd have to sell, which could take a day or two to actually turn into usable cash and might sell for less than she paid if the market happens to dip that day.</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Rank her three sources of money from most liquid to least liquid, explaining your reasoning for each. Then recommend which combination of sources she should actually use tonight to get as close to $1,500 in usable cash as fast as possible, and explain any tradeoff involved.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Prioritize  (pry-OR-ih-tyze)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decide which things matter most and put them in order of importance, doing or listing the most important first.</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prior (former, first, earlier) + -itize (verb-forming suffix meaning 'to make or treat as').</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When deciding where to keep an emergency fund, you have to prioritize quick access over a slightly higher interest rate.</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76  ·  The Fund, Part 13: Decisions and Growth (Series Finale)</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connect the ideas of risk, reward, and growth to a real long-term life decision.</a:t>
            </a:r>
          </a:p>
          <a:p>
            <a:pPr>
              <a:spcAft>
                <a:spcPts val="600"/>
              </a:spcAft>
              <a:defRPr sz="1250">
                <a:solidFill>
                  <a:srgbClr val="1A1A1A"/>
                </a:solidFill>
                <a:latin typeface="Calibri"/>
              </a:defRPr>
            </a:pPr>
            <a:r>
              <a:t>•  I can evaluate how a decision made today can compound into different outcomes over time.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Growth: An increase in the value of money or an investment over time.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Think back to Day 68's installment of The Fund, when Priya talked about her credit card scare. What's one thing you remember about how she fixed her habits?</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Graphing Two Paths: After reading today's finale, have students sketch two simple line graphs on one grid: one representing Maya's certification-program path and one representing the state-school path, with time on the x-axis and 'financial and career growth' on the y-axis, based only on reasonable guesses. There's no single correct answer, the point is the reasoning. Discuss as a class why two thoughtful people could draw these lines differently.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Big Decisions Are Like Investments</a:t>
            </a:r>
          </a:p>
          <a:p>
            <a:pPr>
              <a:spcAft>
                <a:spcPts val="600"/>
              </a:spcAft>
              <a:defRPr sz="1250">
                <a:solidFill>
                  <a:srgbClr val="1A1A1A"/>
                </a:solidFill>
                <a:latin typeface="Calibri"/>
              </a:defRPr>
            </a:pPr>
            <a:r>
              <a:t>•  Growth Takes Different Shapes</a:t>
            </a:r>
          </a:p>
        </p:txBody>
      </p:sp>
      <p:sp>
        <p:nvSpPr>
          <p:cNvPr id="13" name="TextBox 12"/>
          <p:cNvSpPr txBox="1"/>
          <p:nvPr/>
        </p:nvSpPr>
        <p:spPr>
          <a:xfrm>
            <a:off x="6309360" y="2514600"/>
            <a:ext cx="5486400" cy="320040"/>
          </a:xfrm>
          <a:prstGeom prst="rect">
            <a:avLst/>
          </a:prstGeom>
          <a:noFill/>
        </p:spPr>
        <p:txBody>
          <a:bodyPr wrap="square">
            <a:spAutoFit/>
          </a:bodyPr>
          <a:lstStyle/>
          <a:p>
            <a:pPr algn="l"/>
            <a:r>
              <a:rPr sz="1500" b="1" i="0">
                <a:solidFill>
                  <a:srgbClr val="0F3D28"/>
                </a:solidFill>
                <a:latin typeface="Calibri"/>
              </a:rPr>
              <a:t>Reading (Realistic Fiction)</a:t>
            </a:r>
          </a:p>
        </p:txBody>
      </p:sp>
      <p:sp>
        <p:nvSpPr>
          <p:cNvPr id="14" name="TextBox 13"/>
          <p:cNvSpPr txBox="1"/>
          <p:nvPr/>
        </p:nvSpPr>
        <p:spPr>
          <a:xfrm>
            <a:off x="6309360" y="2880360"/>
            <a:ext cx="5486400" cy="548640"/>
          </a:xfrm>
          <a:prstGeom prst="rect">
            <a:avLst/>
          </a:prstGeom>
          <a:noFill/>
        </p:spPr>
        <p:txBody>
          <a:bodyPr wrap="square">
            <a:spAutoFit/>
          </a:bodyPr>
          <a:lstStyle/>
          <a:p>
            <a:pPr algn="l"/>
            <a:r>
              <a:rPr sz="1200" b="0" i="1">
                <a:solidFill>
                  <a:srgbClr val="1A1A1A"/>
                </a:solidFill>
                <a:latin typeface="Calibri"/>
              </a:rPr>
              <a:t>The Fund, Part 13: What Maya Decided</a:t>
            </a:r>
          </a:p>
        </p:txBody>
      </p:sp>
      <p:sp>
        <p:nvSpPr>
          <p:cNvPr id="15" name="TextBox 14"/>
          <p:cNvSpPr txBox="1"/>
          <p:nvPr/>
        </p:nvSpPr>
        <p:spPr>
          <a:xfrm>
            <a:off x="6309360" y="356616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6" name="TextBox 15"/>
          <p:cNvSpPr txBox="1"/>
          <p:nvPr/>
        </p:nvSpPr>
        <p:spPr>
          <a:xfrm>
            <a:off x="6309360" y="3931920"/>
            <a:ext cx="5486400" cy="457200"/>
          </a:xfrm>
          <a:prstGeom prst="rect">
            <a:avLst/>
          </a:prstGeom>
          <a:noFill/>
        </p:spPr>
        <p:txBody>
          <a:bodyPr wrap="square">
            <a:spAutoFit/>
          </a:bodyPr>
          <a:lstStyle/>
          <a:p>
            <a:pPr algn="l"/>
            <a:r>
              <a:rPr sz="1200" b="0" i="0">
                <a:solidFill>
                  <a:srgbClr val="1A1A1A"/>
                </a:solidFill>
                <a:latin typeface="Calibri"/>
              </a:rPr>
              <a:t>3 question(s) — see student workbook for full text</a:t>
            </a:r>
          </a:p>
        </p:txBody>
      </p:sp>
      <p:sp>
        <p:nvSpPr>
          <p:cNvPr id="17" name="Rectangle 16"/>
          <p:cNvSpPr/>
          <p:nvPr/>
        </p:nvSpPr>
        <p:spPr>
          <a:xfrm>
            <a:off x="6309360" y="448056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In one sentence, explain why Mr. Alvarez says the risk-reward-growth-liquidity framework matters beyond just investing money.</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76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Elena's Two Acceptance Letters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Elena got into a competitive four-year university that will cost about $28,000 a year after aid, and she also got accepted into a two-year medical-assistant certificate program that costs $9,000 total and could have her working, and earning, within 14 months. The four-year path could lead to a higher-paying career eventually, but it also means four more years without full-time income and a much bigger total cost. The certificate path gets her earning sooner with far less debt, but her long-term earning ceiling in that specific field is lower than some careers the four-year degree could open up. Elena has to decide within two weeks, and she keeps changing her mind depending on which relative she talked to most recently.</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risk, reward, growth, and liquidity framework from this unit, write out one specific tradeoff for each of Elena's two options. Then state which path you would recommend for her specifically, using the numbers given, and acknowledge one real downside of the option you picked.</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Reconcile  (REK-uhn-syle)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bring two seemingly different or conflicting things into agreement with each other.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re- (again) + conciliare (to bring together, unite) — literally 'to bring together again.'</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Maya has to reconcile the faster income of a certification program with the potentially higher long-term growth of a four-year degree.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77  ·  Compound Interest: Time Is Your Best Asset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explain how compound interest works.</a:t>
            </a:r>
          </a:p>
          <a:p>
            <a:pPr>
              <a:spcAft>
                <a:spcPts val="600"/>
              </a:spcAft>
              <a:defRPr sz="1250">
                <a:solidFill>
                  <a:srgbClr val="1A1A1A"/>
                </a:solidFill>
                <a:latin typeface="Calibri"/>
              </a:defRPr>
            </a:pPr>
            <a:r>
              <a:t>•  I can calculate and compare the impact of starting to invest earlier versus later.</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Compound Interest: Interest calculated on both the original amount saved or invested and on the interest that has already been added to it.</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Would you rather receive $1,000 today, or a penny that doubles every day for 30 days? Guess which is worth more before you do the math.</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Compound Interest Calculator Challenge: Using a compound interest calculator (paper formula sheet or online calculator, teacher's choice), have students run two scenarios side by side: investing $150 a month starting at age 18 versus starting at age 28, both stopping contributions at age 65 with the same estimated annual return. Students record the final totals for both scenarios and calculate the dollar difference. Discuss as a class why the gap is so much larger than most students expect.</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Simple Interest vs. Compound Interest</a:t>
            </a:r>
          </a:p>
          <a:p>
            <a:pPr>
              <a:spcAft>
                <a:spcPts val="600"/>
              </a:spcAft>
              <a:defRPr sz="1250">
                <a:solidFill>
                  <a:srgbClr val="1A1A1A"/>
                </a:solidFill>
                <a:latin typeface="Calibri"/>
              </a:defRPr>
            </a:pPr>
            <a:r>
              <a:t>•  Why Starting Early Matters So Much</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Based on today's calculator challenge, what is one specific number (a dollar amount or difference) that surprised you, and why?</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77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Ten Years, Same Monthly Amount</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Two friends, Tasha and Miguel, each decide to invest $150 a month at an estimated 7% average annual return until they turn 65. Tasha starts at age 20. Miguel starts at age 30, ten years later, but otherwise invests the exact same $150 a month at the exact same 7% return. Using a compound interest calculator or the standard compound interest formula, students project the very different final balances this ten-year head start produces, even though both friends contribute the same monthly amount for the entire time each of them is investing.</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a compound interest calculator (or the formula A = P(1 + r/n)^(nt) applied to monthly contributions), estimate each friend's balance at age 65. Calculate the dollar difference between Tasha's and Miguel's final balances, and explain in your own words where that extra money actually came from.</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Quantify  (KWAHN-tih-fy)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express or measure something as a specific, exact amount or number.</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quantus (how much, how great) + -fy (verb suffix meaning 'to make').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The calculator challenge asks you to quantify exactly how many extra dollars ten years of compounding is worth.</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78  ·  Retirement Accounts and Dividends: 401(k) vs. Roth IRA</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compare how a 401(k) and a Roth IRA are taxed and funded.</a:t>
            </a:r>
          </a:p>
          <a:p>
            <a:pPr>
              <a:spcAft>
                <a:spcPts val="600"/>
              </a:spcAft>
              <a:defRPr sz="1250">
                <a:solidFill>
                  <a:srgbClr val="1A1A1A"/>
                </a:solidFill>
                <a:latin typeface="Calibri"/>
              </a:defRPr>
            </a:pPr>
            <a:r>
              <a:t>•  I can explain what a dividend is and how it can factor into an investment choice.</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401(k): An employer-sponsored retirement account, often with pre-tax contributions and sometimes an employer match.</a:t>
            </a:r>
          </a:p>
          <a:p>
            <a:pPr>
              <a:spcAft>
                <a:spcPts val="600"/>
              </a:spcAft>
              <a:defRPr sz="1200">
                <a:solidFill>
                  <a:srgbClr val="1A1A1A"/>
                </a:solidFill>
                <a:latin typeface="Calibri"/>
              </a:defRPr>
            </a:pPr>
            <a:r>
              <a:t>•  Roth IRA: An individual retirement account funded with after-tax money, where qualified withdrawals in retirement are tax-free.</a:t>
            </a:r>
          </a:p>
          <a:p>
            <a:pPr>
              <a:spcAft>
                <a:spcPts val="600"/>
              </a:spcAft>
              <a:defRPr sz="1200">
                <a:solidFill>
                  <a:srgbClr val="1A1A1A"/>
                </a:solidFill>
                <a:latin typeface="Calibri"/>
              </a:defRPr>
            </a:pPr>
            <a:r>
              <a:t>•  Dividend: A portion of a company's profit paid out to shareholders, usually on a regular schedule.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Would you rather pay taxes on money now, while you're young and earning less, or later, once you're older and possibly earning more? Explain your gut answer.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401(k) vs. Roth IRA Comparison Worksheet: Give students a side-by-side worksheet comparing a 401(k) and a Roth IRA across four categories: who offers the account, when taxes are paid, whether an employer match is possible, and how withdrawals are taxed in retirement. In pairs, have students fill it out using today's mini-lesson, then apply it to a scenario: a first job with a 3% employer 401(k) match versus opening a Roth IRA on their own, and decide which they'd prioritize first and why.</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401(k): Employer-Sponsored and Often Pre-Tax</a:t>
            </a:r>
          </a:p>
          <a:p>
            <a:pPr>
              <a:spcAft>
                <a:spcPts val="600"/>
              </a:spcAft>
              <a:defRPr sz="1250">
                <a:solidFill>
                  <a:srgbClr val="1A1A1A"/>
                </a:solidFill>
                <a:latin typeface="Calibri"/>
              </a:defRPr>
            </a:pPr>
            <a:r>
              <a:t>•  Roth IRA: Individual and After-Tax</a:t>
            </a:r>
          </a:p>
          <a:p>
            <a:pPr>
              <a:spcAft>
                <a:spcPts val="600"/>
              </a:spcAft>
              <a:defRPr sz="1250">
                <a:solidFill>
                  <a:srgbClr val="1A1A1A"/>
                </a:solidFill>
                <a:latin typeface="Calibri"/>
              </a:defRPr>
            </a:pPr>
            <a:r>
              <a:t>•  Dividends: Getting Paid to Hold a Stock</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If your first job offered both a 401(k) with a partial employer match and the option to open a Roth IRA, which would you prioritize first, and why?</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78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Leaving Money on the Table</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new employee earns $40,000 a year and is eligible for a 401(k) with a 4% employer match, meaning the company will match up to 4% of her salary if she contributes at least that much herself. She decides to contribute only 2% of her salary because she wants more take-home pay right now, not realizing her employer will only match what she actually puts in.</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the dollar amount of employer match she is receiving at a 2% personal contribution, and calculate the dollar amount she could be receiving if she contributed the full 4%. Find the dollar amount of free employer match she is giving up each year by under-contributing, and explain in one sentence why financial advisors call this 'leaving money on the table.'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Contrast  (KAHN-trast)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compare two things in order to highlight their differences.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contra (against) + stare (to stand) — literally 'to stand against,' i.e., set side by side to show difference.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The worksheet asks you to contrast how a 401(k) and a Roth IRA are each taxed and funded.</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79  ·  GFL Review Day 1: Concepts &amp; Critical Thinking + Personal Financial Priorities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apply supply-and-demand reasoning and basic stock chart reading to sample GFL-style questions.</a:t>
            </a:r>
          </a:p>
          <a:p>
            <a:pPr>
              <a:spcAft>
                <a:spcPts val="600"/>
              </a:spcAft>
              <a:defRPr sz="1250">
                <a:solidFill>
                  <a:srgbClr val="1A1A1A"/>
                </a:solidFill>
                <a:latin typeface="Calibri"/>
              </a:defRPr>
            </a:pPr>
            <a:r>
              <a:t>•  I can identify examples of financial psychology and practice a negotiation scenario tied to personal financial priorities.</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Risk: The chance that an investment could lose value or not perform the way you hoped.</a:t>
            </a:r>
          </a:p>
          <a:p>
            <a:pPr>
              <a:spcAft>
                <a:spcPts val="600"/>
              </a:spcAft>
              <a:defRPr sz="1200">
                <a:solidFill>
                  <a:srgbClr val="1A1A1A"/>
                </a:solidFill>
                <a:latin typeface="Calibri"/>
              </a:defRPr>
            </a:pPr>
            <a:r>
              <a:t>•  Reward: The potential gain or payoff you could earn from an investment or financial decision.</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The YouScience GFL exam has five domains. Today and over the next three days, we review all of them before the practice exam. Which domain do you feel most confident about right now, and which one worries you?</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Two-Station Review: Supply &amp; Demand / Stock Charts and Bargain Shopping Negotiation: Split the class into two groups that rotate through two stations after 15 minutes each. Station 1: students complete Banzai's 'Supply, Demand, and You' practice questions alongside a quick stock chart re-read, identifying trend direction and ticker basics. Station 2: students pair up for a 'Bargain Shopping' negotiation role-play, one plays a buyer trying to negotiate a lower price on a used item, the other plays a seller, then they swap roles and debrief what worked.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Meet the GFL Blueprint</a:t>
            </a:r>
          </a:p>
          <a:p>
            <a:pPr>
              <a:spcAft>
                <a:spcPts val="600"/>
              </a:spcAft>
              <a:defRPr sz="1250">
                <a:solidFill>
                  <a:srgbClr val="1A1A1A"/>
                </a:solidFill>
                <a:latin typeface="Calibri"/>
              </a:defRPr>
            </a:pPr>
            <a:r>
              <a:t>•  Concepts &amp; Critical Thinking (8%)</a:t>
            </a:r>
          </a:p>
          <a:p>
            <a:pPr>
              <a:spcAft>
                <a:spcPts val="600"/>
              </a:spcAft>
              <a:defRPr sz="1250">
                <a:solidFill>
                  <a:srgbClr val="1A1A1A"/>
                </a:solidFill>
                <a:latin typeface="Calibri"/>
              </a:defRPr>
            </a:pPr>
            <a:r>
              <a:t>•  Personal Financial Priorities (11%)</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Rate your confidence (1-5) on today's two domains, Concepts &amp; Critical Thinking and Personal Financial Priorities, and name one thing you'd like to review again before the practice exam.</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79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Countdown Timer</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While scrolling on her phone, a student sees an ad for a jacket originally priced at $60, now marked down to $40, with a bright red countdown timer reading 'fourteen minutes left!' She wasn't planning to buy a jacket today and doesn't need one right now, but the timer and the crossed-out original price make her feel like she has to decide immediately or lose the deal forever. She adds it to her cart within thirty seconds of seeing the ad, worried that if she closes the app to think it over, the deal will disappear.</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Identify the specific financial psychology concept (from today's GFL review) at work in this scenario, and explain exactly which details in the ad are designed to trigger it. Then suggest one specific habit she could use next time to slow down before an impulse purchase like this one.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Categorize  (KAT-ih-guh-ryze)</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sort things into groups based on shared characteristics.</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Greek kategoria (accusation, statement, category) + -ize (verb-forming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Part of GFL review is learning to categorize a specific exam question under the correct one of the five domains.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80  ·  GFL Review Day 2: Income &amp; Career Preparation + Saving &amp; Investment</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apply resume, interview, and paycheck-deduction knowledge to sample GFL-style questions.</a:t>
            </a:r>
          </a:p>
          <a:p>
            <a:pPr>
              <a:spcAft>
                <a:spcPts val="600"/>
              </a:spcAft>
              <a:defRPr sz="1250">
                <a:solidFill>
                  <a:srgbClr val="1A1A1A"/>
                </a:solidFill>
                <a:latin typeface="Calibri"/>
              </a:defRPr>
            </a:pPr>
            <a:r>
              <a:t>•  I can solve compound interest and 401(k)/Roth IRA comparison problems similar to what the GFL exam will ask.</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Compound Interest: Interest calculated on both the original amount saved or invested and on the interest that has already been added to it.</a:t>
            </a:r>
          </a:p>
          <a:p>
            <a:pPr>
              <a:spcAft>
                <a:spcPts val="600"/>
              </a:spcAft>
              <a:defRPr sz="1200">
                <a:solidFill>
                  <a:srgbClr val="1A1A1A"/>
                </a:solidFill>
                <a:latin typeface="Calibri"/>
              </a:defRPr>
            </a:pPr>
            <a:r>
              <a:t>•  401(k): An employer-sponsored retirement account, often with pre-tax contributions and sometimes an employer match.</a:t>
            </a:r>
          </a:p>
          <a:p>
            <a:pPr>
              <a:spcAft>
                <a:spcPts val="600"/>
              </a:spcAft>
              <a:defRPr sz="1200">
                <a:solidFill>
                  <a:srgbClr val="1A1A1A"/>
                </a:solidFill>
                <a:latin typeface="Calibri"/>
              </a:defRPr>
            </a:pPr>
            <a:r>
              <a:t>•  Roth IRA: An individual retirement account funded with after-tax money, where qualified withdrawals in retirement are tax-free.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Quick recall: what's the difference between gross pay and net pay on a paycheck? You covered this back in Unit 6, so dig up what you remember.</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Two-Station Review: Paycheck &amp; Resume Practice / Compound Interest &amp; Retirement Account Problems: Station 1: students work through a sample pay stub, calculating net pay from gross pay and listed deductions, plus reviewing one resume bullet point and rewriting it to be stronger. Station 2: students solve two compound interest word problems (comparing an early starter to a late starter) and answer three 401(k)-versus-Roth-IRA scenario questions modeled on the exam blueprint. Rotate groups halfway through the period.</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Income &amp; Career Preparation (15%)</a:t>
            </a:r>
          </a:p>
          <a:p>
            <a:pPr>
              <a:spcAft>
                <a:spcPts val="600"/>
              </a:spcAft>
              <a:defRPr sz="1250">
                <a:solidFill>
                  <a:srgbClr val="1A1A1A"/>
                </a:solidFill>
                <a:latin typeface="Calibri"/>
              </a:defRPr>
            </a:pPr>
            <a:r>
              <a:t>•  Saving &amp; Investment (33%): The Biggest Single Domain</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Rate your confidence (1-5) on today's two domains, Income &amp; Career Preparation and Saving &amp; Investment, and name one compound interest or retirement account concept you want to re-check tonight.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80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Real World Problem</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Reading the Pay Stub</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sample GFL-style pay stub shows: gross pay of $620 for the pay period, federal tax withheld of $58, state tax withheld of $19, and FICA (Social Security and Medicare combined) withheld of $47. There are no other deductions on this particular pay stub.</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Calculate the net (take-home) pay by subtracting all three deductions from the gross pay. Then explain in one sentence, exam-answer style, why net pay is always the more accurate number to budget with instead of gross pay.</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Justify  (JUS-tih-fy)</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give solid reasons that show a decision or claim is correct or reasonable.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justus (just, lawful, right) + -fy (verb suffix meaning 'to make').</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On the exam, you may need to justify why an earlier starting age produces a larger retirement balance.</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81  ·  GFL Review Day 3: Personal Money Management + Cumulative Synthesis</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apply budgeting and FICO credit score knowledge to sample GFL-style questions.</a:t>
            </a:r>
          </a:p>
          <a:p>
            <a:pPr>
              <a:spcAft>
                <a:spcPts val="600"/>
              </a:spcAft>
              <a:defRPr sz="1250">
                <a:solidFill>
                  <a:srgbClr val="1A1A1A"/>
                </a:solidFill>
                <a:latin typeface="Calibri"/>
              </a:defRPr>
            </a:pPr>
            <a:r>
              <a:t>•  I can connect concepts from all five GFL domains into one cumulative review.</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Liquidity: How quickly and easily an asset can be turned into usable cash without losing value.</a:t>
            </a:r>
          </a:p>
          <a:p>
            <a:pPr>
              <a:spcAft>
                <a:spcPts val="600"/>
              </a:spcAft>
              <a:defRPr sz="1200">
                <a:solidFill>
                  <a:srgbClr val="1A1A1A"/>
                </a:solidFill>
                <a:latin typeface="Calibri"/>
              </a:defRPr>
            </a:pPr>
            <a:r>
              <a:t>•  Diversification: Spreading money across different types of investments to reduce overall risk.</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What are the five factors that make up a FICO credit score? Try to recall as many as you can from Unit 6 before we review.</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Advanced Budgeting Game + FICO Fundamentals Review, Then GFL Domain Wheel: Have students play the 'Advanced Budgeting' game or worksheet, adjusting a monthly budget when a surprise expense and a raise both hit in the same month, then complete a short FICO Fundamentals review quiz on what factors make up a credit score. To close, run a 'GFL Domain Wheel,' spin or draw a domain name at random and ask a rapid-fire question from that domain to different students, touching all five domains briefly before tomorrow's practice exam.</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Personal Money Management (33%): The Other Biggest Domain</a:t>
            </a:r>
          </a:p>
          <a:p>
            <a:pPr>
              <a:spcAft>
                <a:spcPts val="600"/>
              </a:spcAft>
              <a:defRPr sz="1250">
                <a:solidFill>
                  <a:srgbClr val="1A1A1A"/>
                </a:solidFill>
                <a:latin typeface="Calibri"/>
              </a:defRPr>
            </a:pPr>
            <a:r>
              <a:t>•  Bringing It All Together</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4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Of all five GFL domains, which one do you still want to review tonight before tomorrow's practice exam, and what specifically will you look at?</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81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Simulation</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The Same Month, Two Changes</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 monthly budget currently allocates $1,800 in income against $1,750 in planned expenses, leaving $50 as a cushion. In the same month, two things happen: a $200 raise takes effect on the first paycheck, and a surprise $310 car repair bill arrives unexpectedly halfway through the month. Both changes hit the same budget in the same 30-day period, and the budget has to be rebuilt to reflect both at once rather than one at a time.</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Recalculate this month's budget by applying both changes: add the $200 raise to income and add the $310 repair to expenses. State the new total income, new total expenses, and the new cushion (or shortfall) for the month, and explain what you'd do next if the result is negative.</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Integrate  (IN-tih-grayt)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combine separate parts into a single, unified whole.</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integer (whole, untouched, complete) + -ate (verb suffix).</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Today's Domain Wheel asks you to integrate everything from all five GFL domains instead of studying them in isolation.</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5E3C"/>
          </a:solidFill>
          <a:ln>
            <a:noFill/>
          </a:ln>
        </p:spPr>
        <p:style>
          <a:lnRef idx="1">
            <a:schemeClr val="accent1"/>
          </a:lnRef>
          <a:fillRef idx="3">
            <a:schemeClr val="accent1"/>
          </a:fillRef>
          <a:effectRef idx="2">
            <a:schemeClr val="accent1"/>
          </a:effectRef>
          <a:fontRef idx="minor">
            <a:schemeClr val="lt1"/>
          </a:fontRef>
        </p:style>
        <p:txBody>
          <a:bodyPr rtlCol="0" anchor="t" wrap="square" lIns="274320"/>
          <a:lstStyle/>
          <a:p>
            <a:pPr algn="ctr"/>
            <a:r>
              <a:rPr sz="2200" b="1">
                <a:solidFill>
                  <a:srgbClr val="FFFFFF"/>
                </a:solidFill>
              </a:rPr>
              <a:t>Day 82  ·  Practice GFL Exam Day</a:t>
            </a:r>
          </a:p>
        </p:txBody>
      </p:sp>
      <p:sp>
        <p:nvSpPr>
          <p:cNvPr id="3" name="TextBox 2"/>
          <p:cNvSpPr txBox="1"/>
          <p:nvPr/>
        </p:nvSpPr>
        <p:spPr>
          <a:xfrm>
            <a:off x="457200" y="1051560"/>
            <a:ext cx="5486400" cy="320040"/>
          </a:xfrm>
          <a:prstGeom prst="rect">
            <a:avLst/>
          </a:prstGeom>
          <a:noFill/>
        </p:spPr>
        <p:txBody>
          <a:bodyPr wrap="square">
            <a:spAutoFit/>
          </a:bodyPr>
          <a:lstStyle/>
          <a:p>
            <a:pPr algn="l"/>
            <a:r>
              <a:rPr sz="1500" b="1" i="0">
                <a:solidFill>
                  <a:srgbClr val="0F3D28"/>
                </a:solidFill>
                <a:latin typeface="Calibri"/>
              </a:rPr>
              <a:t>Objectives</a:t>
            </a:r>
          </a:p>
        </p:txBody>
      </p:sp>
      <p:sp>
        <p:nvSpPr>
          <p:cNvPr id="4" name="TextBox 3"/>
          <p:cNvSpPr txBox="1"/>
          <p:nvPr/>
        </p:nvSpPr>
        <p:spPr>
          <a:xfrm>
            <a:off x="457200" y="1417319"/>
            <a:ext cx="5486400" cy="1188720"/>
          </a:xfrm>
          <a:prstGeom prst="rect">
            <a:avLst/>
          </a:prstGeom>
          <a:noFill/>
        </p:spPr>
        <p:txBody>
          <a:bodyPr wrap="square">
            <a:spAutoFit/>
          </a:bodyPr>
          <a:lstStyle/>
          <a:p>
            <a:pPr>
              <a:spcAft>
                <a:spcPts val="600"/>
              </a:spcAft>
              <a:defRPr sz="1250">
                <a:solidFill>
                  <a:srgbClr val="1A1A1A"/>
                </a:solidFill>
                <a:latin typeface="Calibri"/>
              </a:defRPr>
            </a:pPr>
            <a:r>
              <a:t>•  I can apply knowledge from all five GFL domains under practice-exam conditions.</a:t>
            </a:r>
          </a:p>
          <a:p>
            <a:pPr>
              <a:spcAft>
                <a:spcPts val="600"/>
              </a:spcAft>
              <a:defRPr sz="1250">
                <a:solidFill>
                  <a:srgbClr val="1A1A1A"/>
                </a:solidFill>
                <a:latin typeface="Calibri"/>
              </a:defRPr>
            </a:pPr>
            <a:r>
              <a:t>•  I can identify my remaining weak spots and make a specific plan to address them before the real certification exam.</a:t>
            </a:r>
          </a:p>
        </p:txBody>
      </p:sp>
      <p:sp>
        <p:nvSpPr>
          <p:cNvPr id="5" name="TextBox 4"/>
          <p:cNvSpPr txBox="1"/>
          <p:nvPr/>
        </p:nvSpPr>
        <p:spPr>
          <a:xfrm>
            <a:off x="457200" y="2697480"/>
            <a:ext cx="5486400" cy="320040"/>
          </a:xfrm>
          <a:prstGeom prst="rect">
            <a:avLst/>
          </a:prstGeom>
          <a:noFill/>
        </p:spPr>
        <p:txBody>
          <a:bodyPr wrap="square">
            <a:spAutoFit/>
          </a:bodyPr>
          <a:lstStyle/>
          <a:p>
            <a:pPr algn="l"/>
            <a:r>
              <a:rPr sz="1500" b="1" i="0">
                <a:solidFill>
                  <a:srgbClr val="0F3D28"/>
                </a:solidFill>
                <a:latin typeface="Calibri"/>
              </a:rPr>
              <a:t>Vocabulary</a:t>
            </a:r>
          </a:p>
        </p:txBody>
      </p:sp>
      <p:sp>
        <p:nvSpPr>
          <p:cNvPr id="6" name="TextBox 5"/>
          <p:cNvSpPr txBox="1"/>
          <p:nvPr/>
        </p:nvSpPr>
        <p:spPr>
          <a:xfrm>
            <a:off x="457200" y="3063240"/>
            <a:ext cx="5486400" cy="1188720"/>
          </a:xfrm>
          <a:prstGeom prst="rect">
            <a:avLst/>
          </a:prstGeom>
          <a:noFill/>
        </p:spPr>
        <p:txBody>
          <a:bodyPr wrap="square">
            <a:spAutoFit/>
          </a:bodyPr>
          <a:lstStyle/>
          <a:p>
            <a:pPr>
              <a:spcAft>
                <a:spcPts val="600"/>
              </a:spcAft>
              <a:defRPr sz="1200">
                <a:solidFill>
                  <a:srgbClr val="1A1A1A"/>
                </a:solidFill>
                <a:latin typeface="Calibri"/>
              </a:defRPr>
            </a:pPr>
            <a:r>
              <a:t>•  Risk: The chance that an investment could lose value or not perform the way you hoped.</a:t>
            </a:r>
          </a:p>
          <a:p>
            <a:pPr>
              <a:spcAft>
                <a:spcPts val="600"/>
              </a:spcAft>
              <a:defRPr sz="1200">
                <a:solidFill>
                  <a:srgbClr val="1A1A1A"/>
                </a:solidFill>
                <a:latin typeface="Calibri"/>
              </a:defRPr>
            </a:pPr>
            <a:r>
              <a:t>•  Reward: The potential gain or payoff you could earn from an investment or financial decision.</a:t>
            </a:r>
          </a:p>
          <a:p>
            <a:pPr>
              <a:spcAft>
                <a:spcPts val="600"/>
              </a:spcAft>
              <a:defRPr sz="1200">
                <a:solidFill>
                  <a:srgbClr val="1A1A1A"/>
                </a:solidFill>
                <a:latin typeface="Calibri"/>
              </a:defRPr>
            </a:pPr>
            <a:r>
              <a:t>•  Growth: An increase in the value of money or an investment over time.</a:t>
            </a:r>
          </a:p>
        </p:txBody>
      </p:sp>
      <p:sp>
        <p:nvSpPr>
          <p:cNvPr id="7" name="TextBox 6"/>
          <p:cNvSpPr txBox="1"/>
          <p:nvPr/>
        </p:nvSpPr>
        <p:spPr>
          <a:xfrm>
            <a:off x="457200" y="4343400"/>
            <a:ext cx="5486400" cy="320040"/>
          </a:xfrm>
          <a:prstGeom prst="rect">
            <a:avLst/>
          </a:prstGeom>
          <a:noFill/>
        </p:spPr>
        <p:txBody>
          <a:bodyPr wrap="square">
            <a:spAutoFit/>
          </a:bodyPr>
          <a:lstStyle/>
          <a:p>
            <a:pPr algn="l"/>
            <a:r>
              <a:rPr sz="1500" b="1" i="0">
                <a:solidFill>
                  <a:srgbClr val="0F3D28"/>
                </a:solidFill>
                <a:latin typeface="Calibri"/>
              </a:rPr>
              <a:t>Warm-Up</a:t>
            </a:r>
          </a:p>
        </p:txBody>
      </p:sp>
      <p:sp>
        <p:nvSpPr>
          <p:cNvPr id="8" name="TextBox 7"/>
          <p:cNvSpPr txBox="1"/>
          <p:nvPr/>
        </p:nvSpPr>
        <p:spPr>
          <a:xfrm>
            <a:off x="457200" y="4709160"/>
            <a:ext cx="5486400" cy="914400"/>
          </a:xfrm>
          <a:prstGeom prst="rect">
            <a:avLst/>
          </a:prstGeom>
          <a:noFill/>
        </p:spPr>
        <p:txBody>
          <a:bodyPr wrap="square">
            <a:spAutoFit/>
          </a:bodyPr>
          <a:lstStyle/>
          <a:p>
            <a:pPr algn="l"/>
            <a:r>
              <a:rPr sz="1200" b="0" i="0">
                <a:solidFill>
                  <a:srgbClr val="1A1A1A"/>
                </a:solidFill>
                <a:latin typeface="Calibri"/>
              </a:rPr>
              <a:t>Before we start the practice exam, write down the five GFL domains and their percentages from memory. Check yourself against the slide once you're done.</a:t>
            </a:r>
          </a:p>
        </p:txBody>
      </p:sp>
      <p:sp>
        <p:nvSpPr>
          <p:cNvPr id="9" name="TextBox 8"/>
          <p:cNvSpPr txBox="1"/>
          <p:nvPr/>
        </p:nvSpPr>
        <p:spPr>
          <a:xfrm>
            <a:off x="457200" y="5669279"/>
            <a:ext cx="5486400" cy="320040"/>
          </a:xfrm>
          <a:prstGeom prst="rect">
            <a:avLst/>
          </a:prstGeom>
          <a:noFill/>
        </p:spPr>
        <p:txBody>
          <a:bodyPr wrap="square">
            <a:spAutoFit/>
          </a:bodyPr>
          <a:lstStyle/>
          <a:p>
            <a:pPr algn="l"/>
            <a:r>
              <a:rPr sz="1500" b="1" i="0">
                <a:solidFill>
                  <a:srgbClr val="0F3D28"/>
                </a:solidFill>
                <a:latin typeface="Calibri"/>
              </a:rPr>
              <a:t>Activity</a:t>
            </a:r>
          </a:p>
        </p:txBody>
      </p:sp>
      <p:sp>
        <p:nvSpPr>
          <p:cNvPr id="10" name="TextBox 9"/>
          <p:cNvSpPr txBox="1"/>
          <p:nvPr/>
        </p:nvSpPr>
        <p:spPr>
          <a:xfrm>
            <a:off x="457200" y="5989320"/>
            <a:ext cx="5486400" cy="1463040"/>
          </a:xfrm>
          <a:prstGeom prst="rect">
            <a:avLst/>
          </a:prstGeom>
          <a:noFill/>
        </p:spPr>
        <p:txBody>
          <a:bodyPr wrap="square">
            <a:spAutoFit/>
          </a:bodyPr>
          <a:lstStyle/>
          <a:p>
            <a:pPr algn="l"/>
            <a:r>
              <a:rPr sz="1150" b="0" i="0">
                <a:solidFill>
                  <a:srgbClr val="1A1A1A"/>
                </a:solidFill>
                <a:latin typeface="Calibri"/>
              </a:rPr>
              <a:t>Mini Practice GFL Exam (All 5 Domains): Administer today's quiz as a timed, individual mini practice exam under quiet, exam-like conditions, no notes, no partner work. After students finish and turn in answers, go through each question together as a class, having students explain their reasoning for both correct and incorrect answers. Close by having each student write down one specific domain and one specific action step for their remaining review time before the actual certification exam.</a:t>
            </a:r>
          </a:p>
        </p:txBody>
      </p:sp>
      <p:sp>
        <p:nvSpPr>
          <p:cNvPr id="11" name="TextBox 10"/>
          <p:cNvSpPr txBox="1"/>
          <p:nvPr/>
        </p:nvSpPr>
        <p:spPr>
          <a:xfrm>
            <a:off x="6309360" y="1051560"/>
            <a:ext cx="5486400" cy="320040"/>
          </a:xfrm>
          <a:prstGeom prst="rect">
            <a:avLst/>
          </a:prstGeom>
          <a:noFill/>
        </p:spPr>
        <p:txBody>
          <a:bodyPr wrap="square">
            <a:spAutoFit/>
          </a:bodyPr>
          <a:lstStyle/>
          <a:p>
            <a:pPr algn="l"/>
            <a:r>
              <a:rPr sz="1500" b="1" i="0">
                <a:solidFill>
                  <a:srgbClr val="0F3D28"/>
                </a:solidFill>
                <a:latin typeface="Calibri"/>
              </a:rPr>
              <a:t>Mini-Lesson</a:t>
            </a:r>
          </a:p>
        </p:txBody>
      </p:sp>
      <p:sp>
        <p:nvSpPr>
          <p:cNvPr id="12" name="TextBox 11"/>
          <p:cNvSpPr txBox="1"/>
          <p:nvPr/>
        </p:nvSpPr>
        <p:spPr>
          <a:xfrm>
            <a:off x="6309360" y="1417319"/>
            <a:ext cx="5486400" cy="914400"/>
          </a:xfrm>
          <a:prstGeom prst="rect">
            <a:avLst/>
          </a:prstGeom>
          <a:noFill/>
        </p:spPr>
        <p:txBody>
          <a:bodyPr wrap="square">
            <a:spAutoFit/>
          </a:bodyPr>
          <a:lstStyle/>
          <a:p>
            <a:pPr>
              <a:spcAft>
                <a:spcPts val="600"/>
              </a:spcAft>
              <a:defRPr sz="1250">
                <a:solidFill>
                  <a:srgbClr val="1A1A1A"/>
                </a:solidFill>
                <a:latin typeface="Calibri"/>
              </a:defRPr>
            </a:pPr>
            <a:r>
              <a:t>•  How to Take the Practice Exam</a:t>
            </a:r>
          </a:p>
          <a:p>
            <a:pPr>
              <a:spcAft>
                <a:spcPts val="600"/>
              </a:spcAft>
              <a:defRPr sz="1250">
                <a:solidFill>
                  <a:srgbClr val="1A1A1A"/>
                </a:solidFill>
                <a:latin typeface="Calibri"/>
              </a:defRPr>
            </a:pPr>
            <a:r>
              <a:t>•  After the Exam: What to Do With Your Results</a:t>
            </a:r>
          </a:p>
        </p:txBody>
      </p:sp>
      <p:sp>
        <p:nvSpPr>
          <p:cNvPr id="13" name="TextBox 12"/>
          <p:cNvSpPr txBox="1"/>
          <p:nvPr/>
        </p:nvSpPr>
        <p:spPr>
          <a:xfrm>
            <a:off x="6309360" y="2697480"/>
            <a:ext cx="5486400" cy="320040"/>
          </a:xfrm>
          <a:prstGeom prst="rect">
            <a:avLst/>
          </a:prstGeom>
          <a:noFill/>
        </p:spPr>
        <p:txBody>
          <a:bodyPr wrap="square">
            <a:spAutoFit/>
          </a:bodyPr>
          <a:lstStyle/>
          <a:p>
            <a:pPr algn="l"/>
            <a:r>
              <a:rPr sz="1500" b="1" i="0">
                <a:solidFill>
                  <a:srgbClr val="0F3D28"/>
                </a:solidFill>
                <a:latin typeface="Calibri"/>
              </a:rPr>
              <a:t>Quiz</a:t>
            </a:r>
          </a:p>
        </p:txBody>
      </p:sp>
      <p:sp>
        <p:nvSpPr>
          <p:cNvPr id="14" name="TextBox 13"/>
          <p:cNvSpPr txBox="1"/>
          <p:nvPr/>
        </p:nvSpPr>
        <p:spPr>
          <a:xfrm>
            <a:off x="6309360" y="3063240"/>
            <a:ext cx="5486400" cy="457200"/>
          </a:xfrm>
          <a:prstGeom prst="rect">
            <a:avLst/>
          </a:prstGeom>
          <a:noFill/>
        </p:spPr>
        <p:txBody>
          <a:bodyPr wrap="square">
            <a:spAutoFit/>
          </a:bodyPr>
          <a:lstStyle/>
          <a:p>
            <a:pPr algn="l"/>
            <a:r>
              <a:rPr sz="1200" b="0" i="0">
                <a:solidFill>
                  <a:srgbClr val="1A1A1A"/>
                </a:solidFill>
                <a:latin typeface="Calibri"/>
              </a:rPr>
              <a:t>6 question(s) — see student workbook for full text</a:t>
            </a:r>
          </a:p>
        </p:txBody>
      </p:sp>
      <p:sp>
        <p:nvSpPr>
          <p:cNvPr id="15" name="Rectangle 14"/>
          <p:cNvSpPr/>
          <p:nvPr/>
        </p:nvSpPr>
        <p:spPr>
          <a:xfrm>
            <a:off x="6309360" y="3611880"/>
            <a:ext cx="5486400" cy="118872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0C14B"/>
                </a:solidFill>
              </a:rPr>
              <a:t>EXIT TICKET</a:t>
            </a:r>
          </a:p>
          <a:p>
            <a:r>
              <a:rPr sz="1250">
                <a:solidFill>
                  <a:srgbClr val="FFFFFF"/>
                </a:solidFill>
              </a:rPr>
              <a:t>Name the one GFL domain you'll spend tonight reviewing, and one specific thing (an activity, a set of notes, a worksheet) you'll revisit to prepare.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F3D28"/>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000" b="1">
                <a:solidFill>
                  <a:srgbClr val="FFFFFF"/>
                </a:solidFill>
              </a:rPr>
              <a:t>Day 82  ·  Apply It + Academic Vocabulary</a:t>
            </a:r>
          </a:p>
        </p:txBody>
      </p:sp>
      <p:sp>
        <p:nvSpPr>
          <p:cNvPr id="3" name="TextBox 2"/>
          <p:cNvSpPr txBox="1"/>
          <p:nvPr/>
        </p:nvSpPr>
        <p:spPr>
          <a:xfrm>
            <a:off x="457200" y="1051560"/>
            <a:ext cx="6949440" cy="365760"/>
          </a:xfrm>
          <a:prstGeom prst="rect">
            <a:avLst/>
          </a:prstGeom>
          <a:noFill/>
        </p:spPr>
        <p:txBody>
          <a:bodyPr wrap="square">
            <a:spAutoFit/>
          </a:bodyPr>
          <a:lstStyle/>
          <a:p>
            <a:pPr algn="l"/>
            <a:r>
              <a:rPr sz="1700" b="1" i="0">
                <a:solidFill>
                  <a:srgbClr val="0F3D28"/>
                </a:solidFill>
                <a:latin typeface="Calibri"/>
              </a:rPr>
              <a:t>Apply It: Case Study</a:t>
            </a:r>
          </a:p>
        </p:txBody>
      </p:sp>
      <p:sp>
        <p:nvSpPr>
          <p:cNvPr id="4" name="TextBox 3"/>
          <p:cNvSpPr txBox="1"/>
          <p:nvPr/>
        </p:nvSpPr>
        <p:spPr>
          <a:xfrm>
            <a:off x="457200" y="1463040"/>
            <a:ext cx="6949440" cy="365760"/>
          </a:xfrm>
          <a:prstGeom prst="rect">
            <a:avLst/>
          </a:prstGeom>
          <a:noFill/>
        </p:spPr>
        <p:txBody>
          <a:bodyPr wrap="square">
            <a:spAutoFit/>
          </a:bodyPr>
          <a:lstStyle/>
          <a:p>
            <a:pPr algn="l"/>
            <a:r>
              <a:rPr sz="1400" b="1" i="1">
                <a:solidFill>
                  <a:srgbClr val="1B5E3C"/>
                </a:solidFill>
                <a:latin typeface="Calibri"/>
              </a:rPr>
              <a:t>Grading Your Own Practice Exam</a:t>
            </a:r>
          </a:p>
        </p:txBody>
      </p:sp>
      <p:sp>
        <p:nvSpPr>
          <p:cNvPr id="5" name="TextBox 4"/>
          <p:cNvSpPr txBox="1"/>
          <p:nvPr/>
        </p:nvSpPr>
        <p:spPr>
          <a:xfrm>
            <a:off x="457200" y="1874519"/>
            <a:ext cx="6949440" cy="3017520"/>
          </a:xfrm>
          <a:prstGeom prst="rect">
            <a:avLst/>
          </a:prstGeom>
          <a:noFill/>
        </p:spPr>
        <p:txBody>
          <a:bodyPr wrap="square">
            <a:spAutoFit/>
          </a:bodyPr>
          <a:lstStyle/>
          <a:p>
            <a:pPr algn="l"/>
            <a:r>
              <a:rPr sz="1200" b="0" i="0">
                <a:solidFill>
                  <a:srgbClr val="1A1A1A"/>
                </a:solidFill>
                <a:latin typeface="Calibri"/>
              </a:rPr>
              <a:t>After finishing the mini practice GFL exam, a student named Wren reviews which questions she missed: she got the Concepts &amp; Critical Thinking question wrong (supply and demand), got both Personal Financial Priorities questions right, missed one of two Saving &amp; Investment questions (mixed up which retirement account is funded with after-tax money), and missed the one Personal Money Management question about FICO score factors. She has one evening before the real certification exam and can't review everything equally.</a:t>
            </a:r>
          </a:p>
        </p:txBody>
      </p:sp>
      <p:sp>
        <p:nvSpPr>
          <p:cNvPr id="6" name="Rectangle 5"/>
          <p:cNvSpPr/>
          <p:nvPr/>
        </p:nvSpPr>
        <p:spPr>
          <a:xfrm>
            <a:off x="457200" y="5029200"/>
            <a:ext cx="6949440" cy="1280160"/>
          </a:xfrm>
          <a:prstGeom prst="rect">
            <a:avLst/>
          </a:prstGeom>
          <a:solidFill>
            <a:srgbClr val="E8F5E9"/>
          </a:solidFill>
          <a:ln>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5E20"/>
                </a:solidFill>
              </a:rPr>
              <a:t>TASK</a:t>
            </a:r>
          </a:p>
          <a:p>
            <a:r>
              <a:rPr sz="1300">
                <a:solidFill>
                  <a:srgbClr val="1A1A1A"/>
                </a:solidFill>
              </a:rPr>
              <a:t>Using the GFL domain weights from this unit (8%, 11%, 15%, 33%, 33%), decide which one or two domains Wren should prioritize studying tonight given both her missed questions and each domain's weight on the real exam. Justify your recommendation in three to four sentences.</a:t>
            </a:r>
          </a:p>
        </p:txBody>
      </p:sp>
      <p:sp>
        <p:nvSpPr>
          <p:cNvPr id="7" name="TextBox 6"/>
          <p:cNvSpPr txBox="1"/>
          <p:nvPr/>
        </p:nvSpPr>
        <p:spPr>
          <a:xfrm>
            <a:off x="7680960" y="1051560"/>
            <a:ext cx="4023360" cy="365760"/>
          </a:xfrm>
          <a:prstGeom prst="rect">
            <a:avLst/>
          </a:prstGeom>
          <a:noFill/>
        </p:spPr>
        <p:txBody>
          <a:bodyPr wrap="square">
            <a:spAutoFit/>
          </a:bodyPr>
          <a:lstStyle/>
          <a:p>
            <a:pPr algn="l"/>
            <a:r>
              <a:rPr sz="1700" b="1" i="0">
                <a:solidFill>
                  <a:srgbClr val="0F3D28"/>
                </a:solidFill>
                <a:latin typeface="Calibri"/>
              </a:rPr>
              <a:t>Academic Vocabulary</a:t>
            </a:r>
          </a:p>
        </p:txBody>
      </p:sp>
      <p:sp>
        <p:nvSpPr>
          <p:cNvPr id="8" name="TextBox 7"/>
          <p:cNvSpPr txBox="1"/>
          <p:nvPr/>
        </p:nvSpPr>
        <p:spPr>
          <a:xfrm>
            <a:off x="7680960" y="1463040"/>
            <a:ext cx="4023360" cy="457200"/>
          </a:xfrm>
          <a:prstGeom prst="rect">
            <a:avLst/>
          </a:prstGeom>
          <a:noFill/>
        </p:spPr>
        <p:txBody>
          <a:bodyPr wrap="square">
            <a:spAutoFit/>
          </a:bodyPr>
          <a:lstStyle/>
          <a:p>
            <a:pPr algn="l"/>
            <a:r>
              <a:rPr sz="1600" b="1" i="0">
                <a:solidFill>
                  <a:srgbClr val="4527A0"/>
                </a:solidFill>
                <a:latin typeface="Calibri"/>
              </a:rPr>
              <a:t>Evaluate  (ee-VAL-yoo-ayt)</a:t>
            </a:r>
          </a:p>
        </p:txBody>
      </p:sp>
      <p:sp>
        <p:nvSpPr>
          <p:cNvPr id="9" name="TextBox 8"/>
          <p:cNvSpPr txBox="1"/>
          <p:nvPr/>
        </p:nvSpPr>
        <p:spPr>
          <a:xfrm>
            <a:off x="7680960" y="1965960"/>
            <a:ext cx="4023360" cy="914400"/>
          </a:xfrm>
          <a:prstGeom prst="rect">
            <a:avLst/>
          </a:prstGeom>
          <a:noFill/>
        </p:spPr>
        <p:txBody>
          <a:bodyPr wrap="square">
            <a:spAutoFit/>
          </a:bodyPr>
          <a:lstStyle/>
          <a:p>
            <a:pPr algn="l"/>
            <a:r>
              <a:rPr sz="1250" b="0" i="0">
                <a:solidFill>
                  <a:srgbClr val="1A1A1A"/>
                </a:solidFill>
                <a:latin typeface="Calibri"/>
              </a:rPr>
              <a:t>To carefully judge the value, accuracy, or quality of something.</a:t>
            </a:r>
          </a:p>
        </p:txBody>
      </p:sp>
      <p:sp>
        <p:nvSpPr>
          <p:cNvPr id="10" name="TextBox 9"/>
          <p:cNvSpPr txBox="1"/>
          <p:nvPr/>
        </p:nvSpPr>
        <p:spPr>
          <a:xfrm>
            <a:off x="7680960" y="2926080"/>
            <a:ext cx="4023360" cy="914400"/>
          </a:xfrm>
          <a:prstGeom prst="rect">
            <a:avLst/>
          </a:prstGeom>
          <a:noFill/>
        </p:spPr>
        <p:txBody>
          <a:bodyPr wrap="square">
            <a:spAutoFit/>
          </a:bodyPr>
          <a:lstStyle/>
          <a:p>
            <a:pPr algn="l"/>
            <a:r>
              <a:rPr sz="1100" b="0" i="1">
                <a:solidFill>
                  <a:srgbClr val="555555"/>
                </a:solidFill>
                <a:latin typeface="Calibri"/>
              </a:rPr>
              <a:t>Word study: Latin e- (out) + valere (to be strong, be worth) + -ate — literally 'to draw out the worth of' something.</a:t>
            </a:r>
          </a:p>
        </p:txBody>
      </p:sp>
      <p:sp>
        <p:nvSpPr>
          <p:cNvPr id="11" name="TextBox 10"/>
          <p:cNvSpPr txBox="1"/>
          <p:nvPr/>
        </p:nvSpPr>
        <p:spPr>
          <a:xfrm>
            <a:off x="7680960" y="3886200"/>
            <a:ext cx="4023360" cy="914400"/>
          </a:xfrm>
          <a:prstGeom prst="rect">
            <a:avLst/>
          </a:prstGeom>
          <a:noFill/>
        </p:spPr>
        <p:txBody>
          <a:bodyPr wrap="square">
            <a:spAutoFit/>
          </a:bodyPr>
          <a:lstStyle/>
          <a:p>
            <a:pPr algn="l"/>
            <a:r>
              <a:rPr sz="1150" b="0" i="1">
                <a:solidFill>
                  <a:srgbClr val="4527A0"/>
                </a:solidFill>
                <a:latin typeface="Calibri"/>
              </a:rPr>
              <a:t>After the practice exam, you'll evaluate your own results to find which GFL domain needs the most review tonight.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