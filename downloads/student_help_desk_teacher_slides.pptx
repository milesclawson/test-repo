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3E4E"/>
        </a:solidFill>
        <a:effectLst/>
      </p:bgPr>
    </p:bg>
    <p:spTree>
      <p:nvGrpSpPr>
        <p:cNvPr id="1" name=""/>
        <p:cNvGrpSpPr/>
        <p:nvPr/>
      </p:nvGrpSpPr>
      <p:grpSpPr/>
      <p:sp>
        <p:nvSpPr>
          <p:cNvPr id="2" name="TextBox 1"/>
          <p:cNvSpPr txBox="1"/>
          <p:nvPr/>
        </p:nvSpPr>
        <p:spPr>
          <a:xfrm>
            <a:off x="731520" y="2103120"/>
            <a:ext cx="10698480" cy="1097280"/>
          </a:xfrm>
          <a:prstGeom prst="rect">
            <a:avLst/>
          </a:prstGeom>
          <a:noFill/>
        </p:spPr>
        <p:txBody>
          <a:bodyPr wrap="square">
            <a:spAutoFit/>
          </a:bodyPr>
          <a:lstStyle/>
          <a:p>
            <a:pPr algn="l"/>
            <a:r>
              <a:rPr sz="4400" b="1" i="0">
                <a:solidFill>
                  <a:srgbClr val="FFFFFF"/>
                </a:solidFill>
                <a:latin typeface="Calibri"/>
              </a:rPr>
              <a:t>Student Technology Help Desk</a:t>
            </a:r>
          </a:p>
        </p:txBody>
      </p:sp>
      <p:sp>
        <p:nvSpPr>
          <p:cNvPr id="3" name="TextBox 2"/>
          <p:cNvSpPr txBox="1"/>
          <p:nvPr/>
        </p:nvSpPr>
        <p:spPr>
          <a:xfrm>
            <a:off x="731520" y="3200400"/>
            <a:ext cx="10698480" cy="548640"/>
          </a:xfrm>
          <a:prstGeom prst="rect">
            <a:avLst/>
          </a:prstGeom>
          <a:noFill/>
        </p:spPr>
        <p:txBody>
          <a:bodyPr wrap="square">
            <a:spAutoFit/>
          </a:bodyPr>
          <a:lstStyle/>
          <a:p>
            <a:pPr algn="l"/>
            <a:r>
              <a:rPr sz="2000" b="0" i="0">
                <a:solidFill>
                  <a:srgbClr val="FF8A3D"/>
                </a:solidFill>
                <a:latin typeface="Calibri"/>
              </a:rPr>
              <a:t>ISD 197 — Two Rivers High School · Grades 10-12 · Instructor Approval · One Semester · 82 Days</a:t>
            </a:r>
          </a:p>
        </p:txBody>
      </p:sp>
      <p:sp>
        <p:nvSpPr>
          <p:cNvPr id="4" name="TextBox 3"/>
          <p:cNvSpPr txBox="1"/>
          <p:nvPr/>
        </p:nvSpPr>
        <p:spPr>
          <a:xfrm>
            <a:off x="731520" y="3840480"/>
            <a:ext cx="10698480" cy="548640"/>
          </a:xfrm>
          <a:prstGeom prst="rect">
            <a:avLst/>
          </a:prstGeom>
          <a:noFill/>
        </p:spPr>
        <p:txBody>
          <a:bodyPr wrap="square">
            <a:spAutoFit/>
          </a:bodyPr>
          <a:lstStyle/>
          <a:p>
            <a:pPr algn="l"/>
            <a:r>
              <a:rPr sz="1500" b="0" i="1">
                <a:solidFill>
                  <a:srgbClr val="FFFFFF"/>
                </a:solidFill>
                <a:latin typeface="Calibri"/>
              </a:rPr>
              <a:t>Teacher Slide Deck — one slide per lesson, 82 lessons total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6E8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F8A3D"/>
                </a:solidFill>
                <a:latin typeface="Calibri"/>
              </a:rPr>
              <a:t>UNIT 1</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Foundations &amp; Professionalism</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does it actually take to be trusted with someone else's broken technology and their frustration at the same time?</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F8A3D"/>
                </a:solidFill>
                <a:latin typeface="Calibri"/>
              </a:rPr>
              <a:t>Days 1–18 · 18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Ticket, Tier 1 Support, Intake, Escalation, ESD (Electrostatic Discharge), Spudger, Digital Multimeter, Motherboard, RAM, CPU, Storage, FERPA, Code-Switching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  ·  Welcome to the Help Desk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describe what the Student Help Desk does and who it serves.</a:t>
            </a:r>
          </a:p>
          <a:p>
            <a:pPr>
              <a:spcAft>
                <a:spcPts val="600"/>
              </a:spcAft>
              <a:defRPr sz="1250">
                <a:solidFill>
                  <a:srgbClr val="1A1A1A"/>
                </a:solidFill>
                <a:latin typeface="Calibri"/>
              </a:defRPr>
            </a:pPr>
            <a:r>
              <a:t>•  I can name the four Help Desk performance levels and where I'm starting.</a:t>
            </a:r>
          </a:p>
          <a:p>
            <a:pPr>
              <a:spcAft>
                <a:spcPts val="600"/>
              </a:spcAft>
              <a:defRPr sz="1250">
                <a:solidFill>
                  <a:srgbClr val="1A1A1A"/>
                </a:solidFill>
                <a:latin typeface="Calibri"/>
              </a:defRPr>
            </a:pPr>
            <a:r>
              <a:t>•  I can explain how my grade is built across the semester's five categories.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Ticket: A written record of one tech problem, from the moment it's reported to the moment it's fixed.</a:t>
            </a:r>
          </a:p>
          <a:p>
            <a:pPr>
              <a:spcAft>
                <a:spcPts val="600"/>
              </a:spcAft>
              <a:defRPr sz="1200">
                <a:solidFill>
                  <a:srgbClr val="1A1A1A"/>
                </a:solidFill>
                <a:latin typeface="Calibri"/>
              </a:defRPr>
            </a:pPr>
            <a:r>
              <a:t>•  Tier 1 Support: The first level of tech support - handles common, well-understood problems before anything gets escalated.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the last time something tech-related broke on you - a phone, a game, a laptop. What did you want the person helping you to do differently?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Help Desk Speed-Dating: Students rotate in pairs every 90 seconds, each time sharing one tech frustration they've personally had and what they wish the person fixing it had done differently. After the rotations, gather 3-4 examples on the board and connect them to the idea that technical skill alone doesn't make a good tech - listening and attitude do too.</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This Class Actually Is</a:t>
            </a:r>
          </a:p>
          <a:p>
            <a:pPr>
              <a:spcAft>
                <a:spcPts val="600"/>
              </a:spcAft>
              <a:defRPr sz="1250">
                <a:solidFill>
                  <a:srgbClr val="1A1A1A"/>
                </a:solidFill>
                <a:latin typeface="Calibri"/>
              </a:defRPr>
            </a:pPr>
            <a:r>
              <a:t>•  The Four Levels</a:t>
            </a:r>
          </a:p>
          <a:p>
            <a:pPr>
              <a:spcAft>
                <a:spcPts val="600"/>
              </a:spcAft>
              <a:defRPr sz="1250">
                <a:solidFill>
                  <a:srgbClr val="1A1A1A"/>
                </a:solidFill>
                <a:latin typeface="Calibri"/>
              </a:defRPr>
            </a:pPr>
            <a:r>
              <a:t>•  How Your Grade Works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In one sentence, what performance level are you starting at, and what's one thing you want to be able to do by Level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Grading the First Six Weeks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Six weeks into the semester, Apprentice tech Priya Malhotra wants to know exactly where her grade stands before parent-teacher conferences. Her tracker shows: Live Desk Work 88%, Professionalism &amp; Service 95%, Labs &amp; Repair Skills 79%, Certification Progress 100%, and Capstone &amp; Portfolio not yet graded (currently counted as 0%, since the capstone isn't due until later in the semester). Remember the categories are weighted: Live Desk Work 35%, Professionalism &amp; Service 20%, Labs &amp; Repair Skills 20%, Certification Progress 15%, and Capstone &amp; Portfolio 10%. Priya assumes her grade must be in the 90s because most of her individual scores are high, but she hasn't accounted for how the weighting and the ungraded capstone category actually interact. She has one week before conferences and could realistically raise one category by about 10 points if she focused hard on it.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Priya's current weighted grade (treat the ungraded capstone as a 0 for now), then decide which single category would raise her overall grade the most if she improved it by 10 points, and explain your reasoning using the percentages.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Distinguish  (dih-STING-gwish)</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point out the difference between two or more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distinguere: dis- (apart) + stinguere (to prick, mark) - literally 'to mark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Level 1 Apprentice and a Level 4 Professional are easy to distinguish once you know what each one is trusted to 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  ·  Intake First, Fix Second</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why intake happens before any repair work starts.</a:t>
            </a:r>
          </a:p>
          <a:p>
            <a:pPr>
              <a:spcAft>
                <a:spcPts val="600"/>
              </a:spcAft>
              <a:defRPr sz="1250">
                <a:solidFill>
                  <a:srgbClr val="1A1A1A"/>
                </a:solidFill>
                <a:latin typeface="Calibri"/>
              </a:defRPr>
            </a:pPr>
            <a:r>
              <a:t>•  I can write three open-ended intake questions to ask a user.</a:t>
            </a:r>
          </a:p>
          <a:p>
            <a:pPr>
              <a:spcAft>
                <a:spcPts val="600"/>
              </a:spcAft>
              <a:defRPr sz="1250">
                <a:solidFill>
                  <a:srgbClr val="1A1A1A"/>
                </a:solidFill>
                <a:latin typeface="Calibri"/>
              </a:defRPr>
            </a:pPr>
            <a:r>
              <a:t>•  I can describe the capstone project and how today's work connects to it.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Intake: The process of gathering the real problem from a user before you start trying to fix anything.</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friend texts you 'my laptop is broken, fix it,' what three questions would you ask before you even looked at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Intake Interview Drill: Pair students up - one plays a user with a vague complaint like 'my Chromebook won't work,' the other practices asking only open-ended intake questions to uncover the real problem, without guessing or offering a fix. Switch roles after five minutes. Debrief by asking which questions worked best at getting real detail.</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Intake Comes First</a:t>
            </a:r>
          </a:p>
          <a:p>
            <a:pPr>
              <a:spcAft>
                <a:spcPts val="600"/>
              </a:spcAft>
              <a:defRPr sz="1250">
                <a:solidFill>
                  <a:srgbClr val="1A1A1A"/>
                </a:solidFill>
                <a:latin typeface="Calibri"/>
              </a:defRPr>
            </a:pPr>
            <a:r>
              <a:t>•  What Good Intake Questions Sound Like</a:t>
            </a:r>
          </a:p>
          <a:p>
            <a:pPr>
              <a:spcAft>
                <a:spcPts val="600"/>
              </a:spcAft>
              <a:defRPr sz="1250">
                <a:solidFill>
                  <a:srgbClr val="1A1A1A"/>
                </a:solidFill>
                <a:latin typeface="Calibri"/>
              </a:defRPr>
            </a:pPr>
            <a:r>
              <a:t>•  Where This Semester Is Headed: The Capstone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Write one open-ended intake question you could ask a user whose Chromebook 'won't connect to anything.'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Projector That Wasn't Broken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Ms. Delacroix, a substitute teacher covering a first-period class, flags down Apprentice tech Malik at the Help Desk counter. 'The projector in room 214 isn't working, can you just swap it out?' she asks, already walking back toward her room. Malik grabs a spare HDMI cable and a replacement remote from the supply shelf and follows her, planning to swap cables and restart the projector without asking anything else. When he arrives, the projector is on, the fan is running, and the screen shows 'No Signal' - the projector itself is fine. Malik spends ten minutes swapping cables and testing remotes before he thinks to ask Ms. Delacroix what she was doing on her laptop right before the picture disappeared. She says she 'closed a few windows and it just went black.' It turns out her laptop's display output setting had been changed to a different port, not the projector or any cable.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the exact moment Malik should have paused to run intake instead of grabbing supplies, and write the three open-ended questions he should have asked Ms. Delacroix before touching anything.</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Formulate  (FOR-myuh-layt)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develop or put together an idea, plan, or question.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formula (a small form or rule, from forma, shape) + -ate (verb-forming suffix) - literally 'to give shape to.'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Before touching Deja's Chromebook, a good tech would formulate three open-ended questions instead of guessing at the problem.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  ·  Privacy, Trust, and Talking Like a Pro</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FERPA protects and why it matters at the Help Desk.</a:t>
            </a:r>
          </a:p>
          <a:p>
            <a:pPr>
              <a:spcAft>
                <a:spcPts val="600"/>
              </a:spcAft>
              <a:defRPr sz="1250">
                <a:solidFill>
                  <a:srgbClr val="1A1A1A"/>
                </a:solidFill>
                <a:latin typeface="Calibri"/>
              </a:defRPr>
            </a:pPr>
            <a:r>
              <a:t>•  I can define code-switching and give an example relevant to tech support.</a:t>
            </a:r>
          </a:p>
          <a:p>
            <a:pPr>
              <a:spcAft>
                <a:spcPts val="600"/>
              </a:spcAft>
              <a:defRPr sz="1250">
                <a:solidFill>
                  <a:srgbClr val="1A1A1A"/>
                </a:solidFill>
                <a:latin typeface="Calibri"/>
              </a:defRPr>
            </a:pPr>
            <a:r>
              <a:t>•  I can identify one situation where I would need to adjust how I explain something.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FERPA: Family Educational Rights and Privacy Act - the federal law that protects the privacy of student education records.</a:t>
            </a:r>
          </a:p>
          <a:p>
            <a:pPr>
              <a:spcAft>
                <a:spcPts val="600"/>
              </a:spcAft>
              <a:defRPr sz="1200">
                <a:solidFill>
                  <a:srgbClr val="1A1A1A"/>
                </a:solidFill>
                <a:latin typeface="Calibri"/>
              </a:defRPr>
            </a:pPr>
            <a:r>
              <a:t>•  Code-Switching: Adjusting how you talk depending on who you're talking to, like using plain words with a stressed-out teacher instead of tech jargon.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explained the same thing two different ways to two different people - like explaining a game to a friend versus a grandparent? What did you change?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Two Audiences, One Problem: Give each student a simple tech problem (like 'the Wi-Fi password changed') and have them write two explanations of it - one for a fellow tech using proper vocabulary, one for a stressed first-year teacher using plain language. Have a few volunteers read both versions aloud. Discuss as a class what changed and what stayed the same between the two versions.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FERPA: Why Privacy Is Part of the Job</a:t>
            </a:r>
          </a:p>
          <a:p>
            <a:pPr>
              <a:spcAft>
                <a:spcPts val="600"/>
              </a:spcAft>
              <a:defRPr sz="1250">
                <a:solidFill>
                  <a:srgbClr val="1A1A1A"/>
                </a:solidFill>
                <a:latin typeface="Calibri"/>
              </a:defRPr>
            </a:pPr>
            <a:r>
              <a:t>•  Code-Switching: Same Brain, Different Words</a:t>
            </a:r>
          </a:p>
          <a:p>
            <a:pPr>
              <a:spcAft>
                <a:spcPts val="600"/>
              </a:spcAft>
              <a:defRPr sz="1250">
                <a:solidFill>
                  <a:srgbClr val="1A1A1A"/>
                </a:solidFill>
                <a:latin typeface="Calibri"/>
              </a:defRPr>
            </a:pPr>
            <a:r>
              <a:t>•  Trust Is Earned, Not Assumed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Write one sentence explaining a tech problem in jargon, then rewrite it in plain language for someone who isn't tech-savvy.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What Naomi Almost Said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Naomi, a Level 2 Technician, is walking to lunch with her friend Bree, who doesn't take the Help Desk class. Bree asks, 'Hey, isn't Coach Whitfield's kid in your grade? I heard he's failing two classes.' Naomi actually does know something about this - she saw a gradebook open on screen that morning while resetting Coach Whitfield's password. For a second, the answer sits right on her tongue, because it would be such easy, interesting gossip to share. Naomi catches herself, remembering the lesson on FERPA: what she sees while fixing a ticket stays in the ticket, no exceptions, no matter how harmless it feels in the moment. She still has to decide how to answer Bree without confirming or denying anything, which is its own kind of code-switching - choosing careful, vague words for a friend instead of the honest answer she actually knows.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the sentence Naomi should say to Bree that neither confirms nor denies what she saw, and explain in one sentence why staying vague here is a FERPA requirement, not just being polite.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Justify  (JUHS-tuh-fy)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give a good reason or explanation for a choice or action.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justus (fair, lawful) + -ify (verb-forming suffix meaning 'to make') - literally 'to make right.'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Naomi had to justify staying quiet about what she saw on Coach Whitfield's screen, even to a friend who was just curious.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  ·  Ticket #1: When Fixing Comes Before Listening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what went wrong when a tech skips intake.</a:t>
            </a:r>
          </a:p>
          <a:p>
            <a:pPr>
              <a:spcAft>
                <a:spcPts val="600"/>
              </a:spcAft>
              <a:defRPr sz="1250">
                <a:solidFill>
                  <a:srgbClr val="1A1A1A"/>
                </a:solidFill>
                <a:latin typeface="Calibri"/>
              </a:defRPr>
            </a:pPr>
            <a:r>
              <a:t>•  I can connect the reading's mistake to the intake skills practiced this week.</a:t>
            </a:r>
          </a:p>
          <a:p>
            <a:pPr>
              <a:spcAft>
                <a:spcPts val="600"/>
              </a:spcAft>
              <a:defRPr sz="1250">
                <a:solidFill>
                  <a:srgbClr val="1A1A1A"/>
                </a:solidFill>
                <a:latin typeface="Calibri"/>
              </a:defRPr>
            </a:pPr>
            <a:r>
              <a:t>•  I can describe what Jordan should do differently next time.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Intake: The process of gathering the real problem from a user before you start trying to fix anything.</a:t>
            </a:r>
          </a:p>
          <a:p>
            <a:pPr>
              <a:spcAft>
                <a:spcPts val="600"/>
              </a:spcAft>
              <a:defRPr sz="1200">
                <a:solidFill>
                  <a:srgbClr val="1A1A1A"/>
                </a:solidFill>
                <a:latin typeface="Calibri"/>
              </a:defRPr>
            </a:pPr>
            <a:r>
              <a:t>•  Tier 1 Support: The first level of tech support - handles common, well-understood problems before anything gets escalated.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Predict: what do you think happens when a new tech starts trying to fix a problem before actually understanding what's wrong?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 and React: Students read the Ticket #1 panel script individually or in pairs, then answer the reading questions. Afterward, run a quick class discussion: what specific intake question would have prevented Jordan's mistake? Chart student answers on the board next to the reading's actual outcome.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Setting Up the Story</a:t>
            </a:r>
          </a:p>
          <a:p>
            <a:pPr>
              <a:spcAft>
                <a:spcPts val="600"/>
              </a:spcAft>
              <a:defRPr sz="1250">
                <a:solidFill>
                  <a:srgbClr val="1A1A1A"/>
                </a:solidFill>
                <a:latin typeface="Calibri"/>
              </a:defRPr>
            </a:pPr>
            <a:r>
              <a:t>•  What to Watch For</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#1: The Fix That Wasn't</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 is one intake question you will commit to asking on every ticket you handle this semester, starting now?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A Second First Ticket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few weeks after Jordan's Ticket #1 mistake, a different new Apprentice, Marcus, gets a ticket slip reading 'the printer in the front office is acting up, please help.' Marcus heads straight to the printer and starts pressing buttons, checking the paper tray, and restarting it from the front panel, all before finding the person who submitted the ticket. Fifteen minutes later, nothing has changed, because the actual problem is that the front office computer lost its printer connection after a network update - the printer itself was never broken at all.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two or three sentences, explain what specific step Marcus skipped and predict what would have happened if he'd asked one good intake question before touching the printer.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(ih-VAL-yoo-ayt)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quality, value, or accuracy of something.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ex- (out) + valere (to be strong, be worth) + -ate - literally 'to draw out the worth of.'</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After reading Ticket #1, evaluate exactly where Jordan's process broke down and what should have happened instead.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  ·  Active Listening on the Desk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describe what active listening looks and sounds like in a support conversation.</a:t>
            </a:r>
          </a:p>
          <a:p>
            <a:pPr>
              <a:spcAft>
                <a:spcPts val="600"/>
              </a:spcAft>
              <a:defRPr sz="1250">
                <a:solidFill>
                  <a:srgbClr val="1A1A1A"/>
                </a:solidFill>
                <a:latin typeface="Calibri"/>
              </a:defRPr>
            </a:pPr>
            <a:r>
              <a:t>•  I can practice reflecting back what a user said before responding.</a:t>
            </a:r>
          </a:p>
          <a:p>
            <a:pPr>
              <a:spcAft>
                <a:spcPts val="600"/>
              </a:spcAft>
              <a:defRPr sz="1250">
                <a:solidFill>
                  <a:srgbClr val="1A1A1A"/>
                </a:solidFill>
                <a:latin typeface="Calibri"/>
              </a:defRPr>
            </a:pPr>
            <a:r>
              <a:t>•  I can identify a habit that gets in the way of listening well.</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Tier 1 Support: The first level of tech support - handles common, well-understood problems before anything gets escalated.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On a scale of 1 to 5, how good of a listener do you think you are when someone is explaining a problem to you? Be honest.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Reflect-Back Relay: In pairs, one student describes a tech problem (real or made up) in detail for one minute without stopping. The listener may not speak until the minute is up, then must reflect back what they heard in their own words before offering any response. Switch roles and repeat with a new problem, then discuss as a class how accurate the reflections were.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Hearing vs. Listening</a:t>
            </a:r>
          </a:p>
          <a:p>
            <a:pPr>
              <a:spcAft>
                <a:spcPts val="600"/>
              </a:spcAft>
              <a:defRPr sz="1250">
                <a:solidFill>
                  <a:srgbClr val="1A1A1A"/>
                </a:solidFill>
                <a:latin typeface="Calibri"/>
              </a:defRPr>
            </a:pPr>
            <a:r>
              <a:t>•  Reflecting Back</a:t>
            </a:r>
          </a:p>
          <a:p>
            <a:pPr>
              <a:spcAft>
                <a:spcPts val="600"/>
              </a:spcAft>
              <a:defRPr sz="1250">
                <a:solidFill>
                  <a:srgbClr val="1A1A1A"/>
                </a:solidFill>
                <a:latin typeface="Calibri"/>
              </a:defRPr>
            </a:pPr>
            <a:r>
              <a:t>•  What Gets in the Way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Write one 'reflecting back' sentence you could use to confirm you understood a user's problem correctly.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Reflect It Back</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user says the following to you at the Help Desk counter, talking fast and clearly annoyed: 'Okay so I was in the middle of grading online when my laptop screen just went completely black, but I could still hear the fan running and I think I heard a notification sound too, and now when I press any key nothing happens at all, and I really need to finish this before my prep period ends in twenty minutes.' You have not touched the laptop yet.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the single 'reflect-back' sentence you would say to this user to confirm you understood the problem correctly, and identify one specific detail in what they said that a tech who wasn't fully listening might have missed.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Interpret  (in-TUR-prit)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explain or figure out the meaning of something, especially something unclear.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interpres (a go-between, an explainer standing between two parties) - literally 'one who explains between.'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good tech has to interpret what a frustrated user is really describing, not just the exact words they happen to 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  ·  De-Escalating a Person vs. Escalating a Ticket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escalation and explain when a ticket should be escalated.</a:t>
            </a:r>
          </a:p>
          <a:p>
            <a:pPr>
              <a:spcAft>
                <a:spcPts val="600"/>
              </a:spcAft>
              <a:defRPr sz="1250">
                <a:solidFill>
                  <a:srgbClr val="1A1A1A"/>
                </a:solidFill>
                <a:latin typeface="Calibri"/>
              </a:defRPr>
            </a:pPr>
            <a:r>
              <a:t>•  I can describe at least two techniques for de-escalating a frustrated user.</a:t>
            </a:r>
          </a:p>
          <a:p>
            <a:pPr>
              <a:spcAft>
                <a:spcPts val="600"/>
              </a:spcAft>
              <a:defRPr sz="1250">
                <a:solidFill>
                  <a:srgbClr val="1A1A1A"/>
                </a:solidFill>
                <a:latin typeface="Calibri"/>
              </a:defRPr>
            </a:pPr>
            <a:r>
              <a:t>•  I can explain why these two ideas sound similar but mean opposite things.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Escalation: Passing a ticket up to someone with more access, tools, or experience because it's beyond what Tier 1 can solve.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dealt with someone who was upset about something that wasn't really your fault? What helped calm the situation down, if anything?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Escalate the Ticket, Not the Fight: Present the class with four short scenarios, some needing only de-escalation, some needing escalation, some needing both. In small groups, students sort each scenario and justify their answer out loud. Discuss any scenarios where groups disagreed and why.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Two Words That Sound Alike but Aren't</a:t>
            </a:r>
          </a:p>
          <a:p>
            <a:pPr>
              <a:spcAft>
                <a:spcPts val="600"/>
              </a:spcAft>
              <a:defRPr sz="1250">
                <a:solidFill>
                  <a:srgbClr val="1A1A1A"/>
                </a:solidFill>
                <a:latin typeface="Calibri"/>
              </a:defRPr>
            </a:pPr>
            <a:r>
              <a:t>•  De-Escalation Techniques That Actually Work</a:t>
            </a:r>
          </a:p>
          <a:p>
            <a:pPr>
              <a:spcAft>
                <a:spcPts val="600"/>
              </a:spcAft>
              <a:defRPr sz="1250">
                <a:solidFill>
                  <a:srgbClr val="1A1A1A"/>
                </a:solidFill>
                <a:latin typeface="Calibri"/>
              </a:defRPr>
            </a:pPr>
            <a:r>
              <a:t>•  When a Ticket Needs to Go Up</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Write one sentence you could say out loud to acknowledge a frustrated user's feelings before starting intake.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Three Tickets, One Afternoon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Three situations land on the Help Desk counter within the same hour. Case A: A calm student reports her Chromebook charger cable is frayed and sparking slightly when plugged in - clearly a safety issue beyond what a Tier 1 tech is equipped to handle alone. Case B: A teacher is visibly furious, raising his voice, because his classroom projector output looks blurry, but the actual fix turns out to be a simple resolution setting a Tier 1 tech can adjust in under a minute. Case C: An upset parent calls the front desk demanding to speak to 'whoever is in charge' about a district-wide login outage affecting every student account, which is in fact a known network-wide problem IT is already working on.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For each of the three cases, decide whether it requires escalation, de-escalation, or both, and justify each answer with one specific detail from the case.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identify how two similar-seeming things are actually different.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-ate - literally 'to carry apart, set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lesson asks you to differentiate escalating a ticket from de-escalating a person, even though the words sound almost identical.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  ·  Explaining Tech Without the Jargon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jargon that confuses non-technical users.</a:t>
            </a:r>
          </a:p>
          <a:p>
            <a:pPr>
              <a:spcAft>
                <a:spcPts val="600"/>
              </a:spcAft>
              <a:defRPr sz="1250">
                <a:solidFill>
                  <a:srgbClr val="1A1A1A"/>
                </a:solidFill>
                <a:latin typeface="Calibri"/>
              </a:defRPr>
            </a:pPr>
            <a:r>
              <a:t>•  I can rewrite a technical explanation in plain language.</a:t>
            </a:r>
          </a:p>
          <a:p>
            <a:pPr>
              <a:spcAft>
                <a:spcPts val="600"/>
              </a:spcAft>
              <a:defRPr sz="1250">
                <a:solidFill>
                  <a:srgbClr val="1A1A1A"/>
                </a:solidFill>
                <a:latin typeface="Calibri"/>
              </a:defRPr>
            </a:pPr>
            <a:r>
              <a:t>•  I can explain why plain-language explanations build trust.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Code-Switching: Adjusting how you talk depending on who you're talking to, like using plain words with a stressed-out teacher instead of tech jargon.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Read this sentence: 'Your device's cache got corrupted, so the DNS lookup is failing intermittently.' If you didn't know tech vocabulary, how would that sentence make you feel?</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Jargon Translation Station: Post five jargon-heavy tech phrases around the room (like 'the daughterboard is fried' or 'you've got a corrupted profile'). In small groups, students rotate station to station translating each into a plain-language sentence a stressed-out non-tech adult would understand. Compare translations as a class and vote on the clearest one for each phrase.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Jargon Is a Wall, Not a Bridge</a:t>
            </a:r>
          </a:p>
          <a:p>
            <a:pPr>
              <a:spcAft>
                <a:spcPts val="600"/>
              </a:spcAft>
              <a:defRPr sz="1250">
                <a:solidFill>
                  <a:srgbClr val="1A1A1A"/>
                </a:solidFill>
                <a:latin typeface="Calibri"/>
              </a:defRPr>
            </a:pPr>
            <a:r>
              <a:t>•  The Plain-Language Swap</a:t>
            </a:r>
          </a:p>
          <a:p>
            <a:pPr>
              <a:spcAft>
                <a:spcPts val="600"/>
              </a:spcAft>
              <a:defRPr sz="1250">
                <a:solidFill>
                  <a:srgbClr val="1A1A1A"/>
                </a:solidFill>
                <a:latin typeface="Calibri"/>
              </a:defRPr>
            </a:pPr>
            <a:r>
              <a:t>•  Why This Builds Trust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Take one piece of tech jargon you know and write its plain-language translation for someone with zero tech background.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What Ms. Oduya Didn't Understand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Ms. Oduya, a first-year math teacher, stops by the Help Desk holding her laptop like it might bite her. A tech named Devon looks it over and says, 'Yeah, your cache is corrupted and your DNS lookup's failing intermittently, so once we flush it and force a fresh resolver query you should be good.' Ms. Oduya nods slowly, says 'okay, thank you,' and walks away looking more worried than when she arrived, quietly wondering if her laptop is broken beyond repair and whether she did something wrong to cause it. She doesn't come back to ask what any of that meant - she just assumes it's serious and starts drafting an email asking the front office for a loaner laptop for tomorrow, even though the fix Devon described takes about two minutes.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Rewrite what Devon said to Ms. Oduya using plain, everyday language that would leave her reassured instead of worried, and explain why his original explanation likely caused her to overreact.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Clarify  (KLAIR-uh-fy)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something easier to understand by removing confusion.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clarus (clear, bright) + -ify (to make) - literally 'to make clear.'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Swapping 'DNS lookup failing' for 'your computer can't find that website's address right now' helps clarify the problem for someone without a tech background.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8  ·  Writing a Ticket Someone Else Can Use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the key parts of a clear, professional ticket note.</a:t>
            </a:r>
          </a:p>
          <a:p>
            <a:pPr>
              <a:spcAft>
                <a:spcPts val="600"/>
              </a:spcAft>
              <a:defRPr sz="1250">
                <a:solidFill>
                  <a:srgbClr val="1A1A1A"/>
                </a:solidFill>
                <a:latin typeface="Calibri"/>
              </a:defRPr>
            </a:pPr>
            <a:r>
              <a:t>•  I can write a ticket update that another tech could pick up without confusion.</a:t>
            </a:r>
          </a:p>
          <a:p>
            <a:pPr>
              <a:spcAft>
                <a:spcPts val="600"/>
              </a:spcAft>
              <a:defRPr sz="1250">
                <a:solidFill>
                  <a:srgbClr val="1A1A1A"/>
                </a:solidFill>
                <a:latin typeface="Calibri"/>
              </a:defRPr>
            </a:pPr>
            <a:r>
              <a:t>•  I can explain why sloppy ticket notes cause problems down the line.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Ticket: A written record of one tech problem, from the moment it's reported to the moment it's fixed.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Read this real-sounding ticket note: 'ppl said its not working. tried stuff. still broken.' What information is missing that another tech would need?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Fix the Ticket Note: Hand out three intentionally bad, vague ticket notes (like the warm-up example). In pairs, students rewrite each one into a clear, professional version including all four required parts. Share a few rewrites aloud and compare what details had to be invented versus what should have been captured in the moment.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A Ticket Is a Handoff</a:t>
            </a:r>
          </a:p>
          <a:p>
            <a:pPr>
              <a:spcAft>
                <a:spcPts val="600"/>
              </a:spcAft>
              <a:defRPr sz="1250">
                <a:solidFill>
                  <a:srgbClr val="1A1A1A"/>
                </a:solidFill>
                <a:latin typeface="Calibri"/>
              </a:defRPr>
            </a:pPr>
            <a:r>
              <a:t>•  What Belongs in a Ticket Note</a:t>
            </a:r>
          </a:p>
          <a:p>
            <a:pPr>
              <a:spcAft>
                <a:spcPts val="600"/>
              </a:spcAft>
              <a:defRPr sz="1250">
                <a:solidFill>
                  <a:srgbClr val="1A1A1A"/>
                </a:solidFill>
                <a:latin typeface="Calibri"/>
              </a:defRPr>
            </a:pPr>
            <a:r>
              <a:t>•  Professional Email Habits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List the four things every professional ticket note must include.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Handoff</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Here are the raw facts from a ticket you just worked: a student named Theo reported that his school email 'won't load anything.' When you looked at it, the page displayed a spinning loading icon that never finished, even after a full minute. You tried refreshing the page twice, then tried opening the email in a different browser, which worked fine immediately. You checked and his original browser's cache was over 90% full according to its settings menu. You cleared that browser's cache and history, and the email loaded normally afterward within a few seconds. The ticket needs to be closed out and logged before your shift ends, and another tech, or Ms. Faraday checking in that evening, may need to read this note without asking you anything else.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a complete, professional ticket note for this situation using the four required parts: reported problem in the user's words, what you observed, the steps you tried in order, and the current status.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(SIN-thuh-syz)</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information into one clear, organized whole.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thesis (a placing) - literally 'to place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professional ticket note has to synthesize the reported problem, what you observed, and what you tried into four clear parts.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9  ·  ESD: The Damage You Can't See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electrostatic discharge is and why it damages electronics.</a:t>
            </a:r>
          </a:p>
          <a:p>
            <a:pPr>
              <a:spcAft>
                <a:spcPts val="600"/>
              </a:spcAft>
              <a:defRPr sz="1250">
                <a:solidFill>
                  <a:srgbClr val="1A1A1A"/>
                </a:solidFill>
                <a:latin typeface="Calibri"/>
              </a:defRPr>
            </a:pPr>
            <a:r>
              <a:t>•  I can describe at least two ways to prevent ESD damage in the lab.</a:t>
            </a:r>
          </a:p>
          <a:p>
            <a:pPr>
              <a:spcAft>
                <a:spcPts val="600"/>
              </a:spcAft>
              <a:defRPr sz="1250">
                <a:solidFill>
                  <a:srgbClr val="1A1A1A"/>
                </a:solidFill>
                <a:latin typeface="Calibri"/>
              </a:defRPr>
            </a:pPr>
            <a:r>
              <a:t>•  I can identify when ESD precautions are most important.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ESD (Electrostatic Discharge): A sudden small burst of static electricity that can silently damage computer components.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gotten a small static shock touching a doorknob or someone else after walking on carpet? Where do you think that static electricity came from?</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Grounding Station Walkthrough: Set up an anti-static mat and wrist strap station and have students take turns properly grounding themselves before 'handling' a retired, unpowered motherboard passed around the room. Ask each student to explain out loud what they're doing and why before they touch the board. Reinforce that this becomes a habit performed before every single repair this semester.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ESD Actually Is</a:t>
            </a:r>
          </a:p>
          <a:p>
            <a:pPr>
              <a:spcAft>
                <a:spcPts val="600"/>
              </a:spcAft>
              <a:defRPr sz="1250">
                <a:solidFill>
                  <a:srgbClr val="1A1A1A"/>
                </a:solidFill>
                <a:latin typeface="Calibri"/>
              </a:defRPr>
            </a:pPr>
            <a:r>
              <a:t>•  Why Computer Parts Are So Vulnerable</a:t>
            </a:r>
          </a:p>
          <a:p>
            <a:pPr>
              <a:spcAft>
                <a:spcPts val="600"/>
              </a:spcAft>
              <a:defRPr sz="1250">
                <a:solidFill>
                  <a:srgbClr val="1A1A1A"/>
                </a:solidFill>
                <a:latin typeface="Calibri"/>
              </a:defRPr>
            </a:pPr>
            <a:r>
              <a:t>•  How We Prevent It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two specific things you will do every time before opening a device, based on today's lesson.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Chromebook That Died a Week Later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Chromebook comes back to the Help Desk with a new complaint: it won't power on at all, even plugged in overnight. Checking the ticket history, you see this same device had its RAM reseated by a Level 2 Technician exactly eight days ago, and it worked perfectly when it left the desk that day - the student even used it for a full week with no problems before it suddenly died. There's no visible damage, no cracks, no liquid marks, nothing dropped. The repair log from that day doesn't mention anything about a wrist strap, anti-static mat, or grounding step - it just says 'reseated RAM, powered on fine, closed ticket.'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Based on the timeline and the missing information in the repair log, analyze whether ESD is a likely cause of this failure, and write two specific changes to the original repair process that should be required going forward.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Analyze  (AN-uh-lyze)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break something down into its parts to understand it more fully.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ana- (up, throughout) + lyein (to loosen) - literally 'to loosen up, break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Techs analyze whether a device's failure looks like ESD damage by checking the repair timeline for any skipped grounding steps.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10  ·  Ticket #2: The Furious Teacher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de-escalation techniques used successfully in the reading.</a:t>
            </a:r>
          </a:p>
          <a:p>
            <a:pPr>
              <a:spcAft>
                <a:spcPts val="600"/>
              </a:spcAft>
              <a:defRPr sz="1250">
                <a:solidFill>
                  <a:srgbClr val="1A1A1A"/>
                </a:solidFill>
                <a:latin typeface="Calibri"/>
              </a:defRPr>
            </a:pPr>
            <a:r>
              <a:t>•  I can contrast Jordan's reaction in this installment with Ticket #1.</a:t>
            </a:r>
          </a:p>
          <a:p>
            <a:pPr>
              <a:spcAft>
                <a:spcPts val="600"/>
              </a:spcAft>
              <a:defRPr sz="1250">
                <a:solidFill>
                  <a:srgbClr val="1A1A1A"/>
                </a:solidFill>
                <a:latin typeface="Calibri"/>
              </a:defRPr>
            </a:pPr>
            <a:r>
              <a:t>•  I can apply a de-escalation phrase from the reading to a scenario of my own.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Escalation: Passing a ticket up to someone with more access, tools, or experience because it's beyond what Tier 1 can solve.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back to Ticket #1 - what was Jordan's biggest mistake? Keep that in mind as you read today's installment.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Was It Necessary to Escalate?: After reading, have students debate in small groups whether the Chromebook problem in the story actually needed to be escalated to Tier 2, or whether it could be fully resolved by Jordan. Have each group justify their answer with a specific line from the reading. Bring the class back together to compare conclusions.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Picking the Story Back Up</a:t>
            </a:r>
          </a:p>
          <a:p>
            <a:pPr>
              <a:spcAft>
                <a:spcPts val="600"/>
              </a:spcAft>
              <a:defRPr sz="1250">
                <a:solidFill>
                  <a:srgbClr val="1A1A1A"/>
                </a:solidFill>
                <a:latin typeface="Calibri"/>
              </a:defRPr>
            </a:pPr>
            <a:r>
              <a:t>•  What Makes This Situation Harder</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#2: Not Broken, Just Locked Out</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Write one thing Jordan did in this story that you want to remember to do the next time someone is upset with you.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Angry Email, Before the Angry Visit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Before Mr. Halvorsen ever stormed up to the counter in Ticket #2, he actually sent an email first, twenty minutes earlier, that landed in the shared Help Desk inbox: 'This is unacceptable. My Chromebook is COMPLETELY BROKEN and my class is sitting here doing nothing. I need someone up here NOW.' A different Apprentice tech, not Jordan, happens to check the inbox and sees it first, before anyone has looked at the actual device.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the calm, professional reply you would send to this email before anyone has diagnosed the device in person, acknowledging the urgency without promising a specific fix you haven't confirmed yet.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Contrast  (KAHN-trast)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examine how two things differ when placed side by side.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contra (against) + stare (to stand) - literally 'to stand against.'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It's worth pausing to contrast how Jordan handled Mr. Halvorsen in Ticket #2 with how Jordan handled Deja back in Ticket #1.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11  ·  Spudgers, Screwdrivers, and Not Wrecking the Case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a spudger and explain its purpose.</a:t>
            </a:r>
          </a:p>
          <a:p>
            <a:pPr>
              <a:spcAft>
                <a:spcPts val="600"/>
              </a:spcAft>
              <a:defRPr sz="1250">
                <a:solidFill>
                  <a:srgbClr val="1A1A1A"/>
                </a:solidFill>
                <a:latin typeface="Calibri"/>
              </a:defRPr>
            </a:pPr>
            <a:r>
              <a:t>•  I can demonstrate proper technique for opening a device case safely.</a:t>
            </a:r>
          </a:p>
          <a:p>
            <a:pPr>
              <a:spcAft>
                <a:spcPts val="600"/>
              </a:spcAft>
              <a:defRPr sz="1250">
                <a:solidFill>
                  <a:srgbClr val="1A1A1A"/>
                </a:solidFill>
                <a:latin typeface="Calibri"/>
              </a:defRPr>
            </a:pPr>
            <a:r>
              <a:t>•  I can explain why using the wrong tool can damage a device.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Spudger: A thin, flat plastic or metal prying tool used to open devices and disconnect cables without damaging them.</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tried to open something (a battery cover, a game case) with the wrong tool and ended up scratching or breaking it? What happened?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Case-Opening Practice Run: Using retired, non-working devices, have students practice opening the case using only a spudger, working the tool gently around the seam instead of forcing it. Circulate and correct technique in real time, especially students trying to pry with too much force in one spot. Follow with practice removing and replacing several correctly-sized screws to build a feel for when a screw is properly seated versus stripped.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the Right Tool Matters</a:t>
            </a:r>
          </a:p>
          <a:p>
            <a:pPr>
              <a:spcAft>
                <a:spcPts val="600"/>
              </a:spcAft>
              <a:defRPr sz="1250">
                <a:solidFill>
                  <a:srgbClr val="1A1A1A"/>
                </a:solidFill>
                <a:latin typeface="Calibri"/>
              </a:defRPr>
            </a:pPr>
            <a:r>
              <a:t>•  Meet the Spudger</a:t>
            </a:r>
          </a:p>
          <a:p>
            <a:pPr>
              <a:spcAft>
                <a:spcPts val="600"/>
              </a:spcAft>
              <a:defRPr sz="1250">
                <a:solidFill>
                  <a:srgbClr val="1A1A1A"/>
                </a:solidFill>
                <a:latin typeface="Calibri"/>
              </a:defRPr>
            </a:pPr>
            <a:r>
              <a:t>•  Screwdrivers: Right Size, Right Job</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In your own words, explain what a spudger is and why it's safer than a screwdriver for opening a case.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Stripped Screw, Split Case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Chromebook comes back from a repair attempt by a new Apprentice with two new problems that weren't there before: one of the bottom case clips is visibly cracked, with a small gouge in the plastic next to it, and one of the tiny screws holding the case together is now spinning freely without tightening or loosening at all. The repair log says the tech 'used a flathead screwdriver to pop the case open since I couldn't find a spudger' and 'the screw was stuck so I just kept turning it harder.'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which tool mistake caused each of the two new problems, and write the correct step-by-step procedure the tech should have followed instead for both the case-opening and the stuck screw.</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Assess  (uh-SES)</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check the condition or quality of something before acting.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sedere (to sit) - literally 'to sit beside and judge.'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Match the right screwdriver to the screw and assess whether it's turning correctly before applying more force.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12  ·  Testing Power with a Digital Multimeter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digital multimeter measures and why it's useful.</a:t>
            </a:r>
          </a:p>
          <a:p>
            <a:pPr>
              <a:spcAft>
                <a:spcPts val="600"/>
              </a:spcAft>
              <a:defRPr sz="1250">
                <a:solidFill>
                  <a:srgbClr val="1A1A1A"/>
                </a:solidFill>
                <a:latin typeface="Calibri"/>
              </a:defRPr>
            </a:pPr>
            <a:r>
              <a:t>•  I can identify the basic settings on a digital multimeter.</a:t>
            </a:r>
          </a:p>
          <a:p>
            <a:pPr>
              <a:spcAft>
                <a:spcPts val="600"/>
              </a:spcAft>
              <a:defRPr sz="1250">
                <a:solidFill>
                  <a:srgbClr val="1A1A1A"/>
                </a:solidFill>
                <a:latin typeface="Calibri"/>
              </a:defRPr>
            </a:pPr>
            <a:r>
              <a:t>•  I can describe a real troubleshooting situation where a multimeter would help.</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Digital Multimeter: A handheld tool that measures voltage, current, and resistance to test whether a power component is working.</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laptop won't turn on at all, how would you figure out whether the problem is the charger, the outlet, or the laptop itself?</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Multimeter Basics Station: Demonstrate setting a digital multimeter to test a standard AA or AAA battery's voltage, then have students rotate through in pairs to test a few batteries themselves and record the readings. Discuss what a healthy reading looks like versus a dead battery's reading. Connect this back to the warm-up scenario of a laptop that won't turn on.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When 'It Won't Turn On' Isn't Enough Information</a:t>
            </a:r>
          </a:p>
          <a:p>
            <a:pPr>
              <a:spcAft>
                <a:spcPts val="600"/>
              </a:spcAft>
              <a:defRPr sz="1250">
                <a:solidFill>
                  <a:srgbClr val="1A1A1A"/>
                </a:solidFill>
                <a:latin typeface="Calibri"/>
              </a:defRPr>
            </a:pPr>
            <a:r>
              <a:t>•  What a Multimeter Measures</a:t>
            </a:r>
          </a:p>
          <a:p>
            <a:pPr>
              <a:spcAft>
                <a:spcPts val="600"/>
              </a:spcAft>
              <a:defRPr sz="1250">
                <a:solidFill>
                  <a:srgbClr val="1A1A1A"/>
                </a:solidFill>
                <a:latin typeface="Calibri"/>
              </a:defRPr>
            </a:pPr>
            <a:r>
              <a:t>•  Using It Safely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real troubleshooting situation where you would reach for a digital multimeter instead of guessing.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Reading the Meter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laptop won't power on at all, even plugged in. Using a digital multimeter, you test the wall charger's output directly and get a reading of 19.4 volts, which matches the sticker on the charger reading '19V, 3.42A' almost exactly. You then test the laptop's internal battery terminals directly and get a reading of 0.2 volts. For comparison, you test two AA batteries you know are fresh from an unopened package and get readings of 1.58 volts and 1.56 volts, and two AA batteries you know are dead from a broken remote and get readings of 0.4 volts and 0.1 volts.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multimeter readings given, decide whether the charger or the laptop's internal battery is the more likely cause of the problem, and explain your reasoning using the specific voltage numbers as evidence.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Verify  (VER-uh-fy)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confirm that something is true or accurate using evidence.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verus (true) + -ify (to make) - literally 'to make true, to prove.'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digital multimeter lets a tech verify whether a charger is actually outputting power instead of just guessing.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13  ·  Safety &amp; Tooling Practicum</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demonstrate proper ESD grounding before handling a device.</a:t>
            </a:r>
          </a:p>
          <a:p>
            <a:pPr>
              <a:spcAft>
                <a:spcPts val="600"/>
              </a:spcAft>
              <a:defRPr sz="1250">
                <a:solidFill>
                  <a:srgbClr val="1A1A1A"/>
                </a:solidFill>
                <a:latin typeface="Calibri"/>
              </a:defRPr>
            </a:pPr>
            <a:r>
              <a:t>•  I can use a spudger and correctly-sized screwdriver to safely open a case.</a:t>
            </a:r>
          </a:p>
          <a:p>
            <a:pPr>
              <a:spcAft>
                <a:spcPts val="600"/>
              </a:spcAft>
              <a:defRPr sz="1250">
                <a:solidFill>
                  <a:srgbClr val="1A1A1A"/>
                </a:solidFill>
                <a:latin typeface="Calibri"/>
              </a:defRPr>
            </a:pPr>
            <a:r>
              <a:t>•  I can use a digital multimeter to test a basic power source.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ESD (Electrostatic Discharge): A sudden small burst of static electricity that can silently damage computer components.</a:t>
            </a:r>
          </a:p>
          <a:p>
            <a:pPr>
              <a:spcAft>
                <a:spcPts val="600"/>
              </a:spcAft>
              <a:defRPr sz="1200">
                <a:solidFill>
                  <a:srgbClr val="1A1A1A"/>
                </a:solidFill>
                <a:latin typeface="Calibri"/>
              </a:defRPr>
            </a:pPr>
            <a:r>
              <a:t>•  Spudger: A thin, flat plastic or metal prying tool used to open devices and disconnect cables without damaging them.</a:t>
            </a:r>
          </a:p>
          <a:p>
            <a:pPr>
              <a:spcAft>
                <a:spcPts val="600"/>
              </a:spcAft>
              <a:defRPr sz="1200">
                <a:solidFill>
                  <a:srgbClr val="1A1A1A"/>
                </a:solidFill>
                <a:latin typeface="Calibri"/>
              </a:defRPr>
            </a:pPr>
            <a:r>
              <a:t>•  Digital Multimeter: A handheld tool that measures voltage, current, and resistance to test whether a power component is working.</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Of the three safety and tooling skills from this week - ESD grounding, spudger technique, multimeter use - which do you feel least confident about? Be honest, this decides where you'll start today.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Three-Station Skills Rotation: Set up three stations: (1) ESD grounding and case-opening with a spudger, (2) correct screwdriver sizing and screw removal/replacement, (3) multimeter voltage testing on a battery or charger. Students rotate in small groups, self-checking against a simple posted checklist at each station, with the teacher circulating to spot-check and correct technique. Any student who completes all three stations cleanly earns their Level 2 Technician safety sign-off.</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We Practice Before We Certify</a:t>
            </a:r>
          </a:p>
          <a:p>
            <a:pPr>
              <a:spcAft>
                <a:spcPts val="600"/>
              </a:spcAft>
              <a:defRPr sz="1250">
                <a:solidFill>
                  <a:srgbClr val="1A1A1A"/>
                </a:solidFill>
                <a:latin typeface="Calibri"/>
              </a:defRPr>
            </a:pPr>
            <a:r>
              <a:t>•  How the Rotation Works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Which of the three stations did you feel most confident on, and which one do you still want more practice with?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Sign-Off Sheet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At the end of the three-station practicum, a student named Alicia turns in her checklist for sign-off. Stations 2 (spudger and screwdriver technique) and 3 (multimeter testing) are both checked off cleanly by the teacher, no issues. On Station 1 (ESD grounding), the box for 'touched grounded surface or wore wrist strap before opening case' is left unchecked, but the box for 'successfully opened case without damage' is checked, because Alicia did open the case cleanly and the device she worked on still powers on fine afterward with no visible problems.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Evaluate whether Alicia should receive her Level 2 Technician safety sign-off today, and explain why a device working fine afterward doesn't prove the grounding step didn't matter.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Demonstrate  (DEM-un-strayt)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clearly show that you can do something through action, not just explanation.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de- (completely) + monstrare (to show) - literally 'to show fully.'</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three-station rotation asks you to demonstrate that your safety habits are automatic, not something you have to think through each time.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14  ·  The Motherboard: Everything's Home Base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the motherboard inside a computer and describe its function.</a:t>
            </a:r>
          </a:p>
          <a:p>
            <a:pPr>
              <a:spcAft>
                <a:spcPts val="600"/>
              </a:spcAft>
              <a:defRPr sz="1250">
                <a:solidFill>
                  <a:srgbClr val="1A1A1A"/>
                </a:solidFill>
                <a:latin typeface="Calibri"/>
              </a:defRPr>
            </a:pPr>
            <a:r>
              <a:t>•  I can name at least two components that connect to the motherboard.</a:t>
            </a:r>
          </a:p>
          <a:p>
            <a:pPr>
              <a:spcAft>
                <a:spcPts val="600"/>
              </a:spcAft>
              <a:defRPr sz="1250">
                <a:solidFill>
                  <a:srgbClr val="1A1A1A"/>
                </a:solidFill>
                <a:latin typeface="Calibri"/>
              </a:defRPr>
            </a:pPr>
            <a:r>
              <a:t>•  I can explain why a motherboard problem is often more serious than other repairs.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Motherboard: The main circuit board inside a computer that everything else - CPU, RAM, storage - plugs into.</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house has a foundation that every room connects to, what do you think plays that same role inside a computer?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Trace the Board: Using retired, opened laptops or Chromebooks (or high-resolution photos if devices aren't available), have students work in pairs to identify and label the motherboard, CPU socket, RAM slots, and at least two cable connectors. Circulate to confirm correct identification before moving to the next device. Discuss as a class what symptoms might suggest a motherboard problem versus a simpler, single-component problem.</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Board That Connects Everything</a:t>
            </a:r>
          </a:p>
          <a:p>
            <a:pPr>
              <a:spcAft>
                <a:spcPts val="600"/>
              </a:spcAft>
              <a:defRPr sz="1250">
                <a:solidFill>
                  <a:srgbClr val="1A1A1A"/>
                </a:solidFill>
                <a:latin typeface="Calibri"/>
              </a:defRPr>
            </a:pPr>
            <a:r>
              <a:t>•  What You'll See on One</a:t>
            </a:r>
          </a:p>
          <a:p>
            <a:pPr>
              <a:spcAft>
                <a:spcPts val="600"/>
              </a:spcAft>
              <a:defRPr sz="1250">
                <a:solidFill>
                  <a:srgbClr val="1A1A1A"/>
                </a:solidFill>
                <a:latin typeface="Calibri"/>
              </a:defRPr>
            </a:pPr>
            <a:r>
              <a:t>•  Why Motherboard Problems Are a Bigger Deal</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In one sentence, explain why a computer needs a motherboard even though the CPU, RAM, and storage each do their own separate job.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Symptoms Everywhere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laptop comes in with a strange mix of problems all at once: the screen flickers randomly even when the laptop is sitting still on a desk, none of the three USB ports will recognize a mouse or flash drive no matter which one is used, and the battery shows 'plugged in, not charging' even with a charger that tests fine on the multimeter. Individually, each symptom might point to a different single part - a bad screen cable, bad USB ports, a bad battery - but all three happening on the same device at the same time is unusual.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road-system idea of the motherboard from today's lesson, explain why one motherboard problem could cause all three of these unrelated-seeming symptoms at once, and decide whether this device is a good candidate for repair or should be recommended for replacement.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Illustrate  (IL-uh-strayt)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an idea clearer by using an example or comparison.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il- (in) + lustrare (to light up, brighten) - literally 'to light up, make clear.'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road-system comparison helps illustrate how one damaged motherboard can cause problems in several unrelated-looking parts at once.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15  ·  RAM and CPU: Memory vs. Muscle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distinguish between what RAM does and what the CPU does.</a:t>
            </a:r>
          </a:p>
          <a:p>
            <a:pPr>
              <a:spcAft>
                <a:spcPts val="600"/>
              </a:spcAft>
              <a:defRPr sz="1250">
                <a:solidFill>
                  <a:srgbClr val="1A1A1A"/>
                </a:solidFill>
                <a:latin typeface="Calibri"/>
              </a:defRPr>
            </a:pPr>
            <a:r>
              <a:t>•  I can identify a RAM stick and a CPU by sight or description.</a:t>
            </a:r>
          </a:p>
          <a:p>
            <a:pPr>
              <a:spcAft>
                <a:spcPts val="600"/>
              </a:spcAft>
              <a:defRPr sz="1250">
                <a:solidFill>
                  <a:srgbClr val="1A1A1A"/>
                </a:solidFill>
                <a:latin typeface="Calibri"/>
              </a:defRPr>
            </a:pPr>
            <a:r>
              <a:t>•  I can explain a symptom that suggests a RAM or CPU issue.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RAM: Random Access Memory - short-term memory a computer uses to run programs while it's powered on.</a:t>
            </a:r>
          </a:p>
          <a:p>
            <a:pPr>
              <a:spcAft>
                <a:spcPts val="600"/>
              </a:spcAft>
              <a:defRPr sz="1200">
                <a:solidFill>
                  <a:srgbClr val="1A1A1A"/>
                </a:solidFill>
                <a:latin typeface="Calibri"/>
              </a:defRPr>
            </a:pPr>
            <a:r>
              <a:t>•  CPU: Central Processing Unit - the chip that does the actual thinking and calculating for a computer.</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RAM is like a desk you work on and storage is like a filing cabinet, what do you think the CPU is like?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Symptom Sort: RAM or CPU?: Give students eight short symptom cards (like 'gets slow with 15 tabs open but fine with 2' or 'fan runs loud and it's slow even opening one document'). In pairs, students sort each card as most likely a RAM issue or most likely a CPU issue and justify their choice. Review as a class, focusing on the reasoning, not just the final answer.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RAM: The Desk You're Working On</a:t>
            </a:r>
          </a:p>
          <a:p>
            <a:pPr>
              <a:spcAft>
                <a:spcPts val="600"/>
              </a:spcAft>
              <a:defRPr sz="1250">
                <a:solidFill>
                  <a:srgbClr val="1A1A1A"/>
                </a:solidFill>
                <a:latin typeface="Calibri"/>
              </a:defRPr>
            </a:pPr>
            <a:r>
              <a:t>•  CPU: The Brain Doing the Work</a:t>
            </a:r>
          </a:p>
          <a:p>
            <a:pPr>
              <a:spcAft>
                <a:spcPts val="600"/>
              </a:spcAft>
              <a:defRPr sz="1250">
                <a:solidFill>
                  <a:srgbClr val="1A1A1A"/>
                </a:solidFill>
                <a:latin typeface="Calibri"/>
              </a:defRPr>
            </a:pPr>
            <a:r>
              <a:t>•  Reading the Symptoms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Give one real symptom that would make you suspect a RAM problem versus a CPU problem.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Upgrade or Replace?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ninth-grader's laptop is slow, but only in a specific way: it runs fine with one or two programs open, but becomes nearly unusable once she has more than five browser tabs and a document open at the same time. A RAM upgrade for this model, from 4GB to 8GB, costs the school $40 in parts and about 20 minutes of a Level 2 Technician's time. A full replacement laptop, which would also fix the problem, costs the district $300 and takes two weeks to arrive through the ordering process.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Based on the specific symptom pattern described, decide whether this points to a RAM issue or a CPU issue, and using the costs given, justify whether a RAM upgrade or a full replacement is the smarter recommendation.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Compare  (kum-PAIR)</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examine two or more things to find what is similar and what is different.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com- (together) + par (equal) - literally 'to place together as equals.'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Compare how RAM and CPU problems show up differently - one struggles with too many things open, the other struggles even with just one.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16  ·  Ticket #3: Rewriting the Jargon Out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jargon in a piece of writing that would confuse a non-technical reader.</a:t>
            </a:r>
          </a:p>
          <a:p>
            <a:pPr>
              <a:spcAft>
                <a:spcPts val="600"/>
              </a:spcAft>
              <a:defRPr sz="1250">
                <a:solidFill>
                  <a:srgbClr val="1A1A1A"/>
                </a:solidFill>
                <a:latin typeface="Calibri"/>
              </a:defRPr>
            </a:pPr>
            <a:r>
              <a:t>•  I can rewrite a jargon-heavy ticket note in plain, professional language.</a:t>
            </a:r>
          </a:p>
          <a:p>
            <a:pPr>
              <a:spcAft>
                <a:spcPts val="600"/>
              </a:spcAft>
              <a:defRPr sz="1250">
                <a:solidFill>
                  <a:srgbClr val="1A1A1A"/>
                </a:solidFill>
                <a:latin typeface="Calibri"/>
              </a:defRPr>
            </a:pPr>
            <a:r>
              <a:t>•  I can connect this reading to earlier lessons on code-switching and ticket writing.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Code-Switching: Adjusting how you talk depending on who you're talking to, like using plain words with a stressed-out teacher instead of tech jargon.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Look back at your exit ticket from Day 8 on ticket writing. What's one habit you were supposed to build then that you'll see tested today?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Rewrite Your Own Jargon Ticket: After the reading and discussion, hand each student a short, intentionally jargon-heavy ticket note (different from the one in the story) and have them rewrite it in plain, professional language following the same four-part ticket structure from Day 8. Have a few students read their before-and-after versions aloud and discuss what changed.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Writing Is Code-Switching Too</a:t>
            </a:r>
          </a:p>
          <a:p>
            <a:pPr>
              <a:spcAft>
                <a:spcPts val="600"/>
              </a:spcAft>
              <a:defRPr sz="1250">
                <a:solidFill>
                  <a:srgbClr val="1A1A1A"/>
                </a:solidFill>
                <a:latin typeface="Calibri"/>
              </a:defRPr>
            </a:pPr>
            <a:r>
              <a:t>•  What to Watch For</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#3: Plain Language, Please</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Take one jargon-heavy sentence you've written or heard this unit and rewrite it the way Sam would.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Impressive Email</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different Apprentice tech sends this update to a teacher: 'Diagnosed a probable firmware-level authentication handshake failure between the device and the district identity provider; recommend a full credential cache purge and re-provisioning cycle.' The teacher replies only with, 'Is my computer going to be okay??'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the specific jargon words in the email that likely confused the teacher, and rewrite the message the way Sam would - same facts, plain language, no vocabulary showing off.</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Revise  (rih-VYZE)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go back and change something, usually to make it clearer or better.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re- (again) + visere (to look at) - literally 'to look at again.'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Sam has Jordan revise the jargon-heavy ticket note into something a non-tech reader could actually understand.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17  ·  Storage: Where Everything Actually Lives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storage does and how it differs from RAM.</a:t>
            </a:r>
          </a:p>
          <a:p>
            <a:pPr>
              <a:spcAft>
                <a:spcPts val="600"/>
              </a:spcAft>
              <a:defRPr sz="1250">
                <a:solidFill>
                  <a:srgbClr val="1A1A1A"/>
                </a:solidFill>
                <a:latin typeface="Calibri"/>
              </a:defRPr>
            </a:pPr>
            <a:r>
              <a:t>•  I can identify common signs of a storage problem.</a:t>
            </a:r>
          </a:p>
          <a:p>
            <a:pPr>
              <a:spcAft>
                <a:spcPts val="600"/>
              </a:spcAft>
              <a:defRPr sz="1250">
                <a:solidFill>
                  <a:srgbClr val="1A1A1A"/>
                </a:solidFill>
                <a:latin typeface="Calibri"/>
              </a:defRPr>
            </a:pPr>
            <a:r>
              <a:t>•  I can prepare to interview a staff member about a tech frustration for homework.</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Storage: Where a computer keeps files and programs long-term, even after it's turned off.</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turned your device off right now and back on tomorrow, what would still be there? Why does that happen?</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Storage vs. RAM vs. CPU Speed Round: Read aloud a series of quick symptom scenarios and have students hold up cards reading RAM, CPU, or Storage for which component is most likely the cause, based on this week's three lessons. After each round, briefly discuss any disagreement before moving to the next scenario. Close by reviewing the homework: talk to one staff member about a tech frustration before tomorrow's class.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Storage: The Filing Cabinet</a:t>
            </a:r>
          </a:p>
          <a:p>
            <a:pPr>
              <a:spcAft>
                <a:spcPts val="600"/>
              </a:spcAft>
              <a:defRPr sz="1250">
                <a:solidFill>
                  <a:srgbClr val="1A1A1A"/>
                </a:solidFill>
                <a:latin typeface="Calibri"/>
              </a:defRPr>
            </a:pPr>
            <a:r>
              <a:t>•  Signs of a Storage Problem</a:t>
            </a:r>
          </a:p>
          <a:p>
            <a:pPr>
              <a:spcAft>
                <a:spcPts val="600"/>
              </a:spcAft>
              <a:defRPr sz="1250">
                <a:solidFill>
                  <a:srgbClr val="1A1A1A"/>
                </a:solidFill>
                <a:latin typeface="Calibri"/>
              </a:defRPr>
            </a:pPr>
            <a:r>
              <a:t>•  Homework: Talk to a Staff Member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question you plan to ask the staff member you'll interview for homework tonight.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480 GB and Falling</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shared Help Desk laptop has a 480 GB drive. Right now, 460 GB is already used, and the drive is filling up at roughly 4 GB per day from saved photos, downloaded files, and browser cache that nobody clears out. The 'storage almost full' warning is set to trigger at 470 GB used, and once the drive hits 480 GB completely full, the laptop will start failing to save new files at all.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how many days until the 'storage almost full' warning triggers and how many days until the drive is completely full, then recommend one specific fix a tech could apply today to buy the most extra time.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Infer  (in-FUR)</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figure out something that isn't directly stated, based on evidence or clues.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 (into) + ferre (to carry) - literally 'to carry into a conclusion.'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From symptoms like slow file saves and 'storage almost full' warnings, you can infer that the drive itself is the likely problem, not RAM.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18  ·  The Worst Help Desk Ever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unprofessional behaviors that damage a support interaction.</a:t>
            </a:r>
          </a:p>
          <a:p>
            <a:pPr>
              <a:spcAft>
                <a:spcPts val="600"/>
              </a:spcAft>
              <a:defRPr sz="1250">
                <a:solidFill>
                  <a:srgbClr val="1A1A1A"/>
                </a:solidFill>
                <a:latin typeface="Calibri"/>
              </a:defRPr>
            </a:pPr>
            <a:r>
              <a:t>•  I can perform a corrected version of a bad support interaction using this phase's skills.</a:t>
            </a:r>
          </a:p>
          <a:p>
            <a:pPr>
              <a:spcAft>
                <a:spcPts val="600"/>
              </a:spcAft>
              <a:defRPr sz="1250">
                <a:solidFill>
                  <a:srgbClr val="1A1A1A"/>
                </a:solidFill>
                <a:latin typeface="Calibri"/>
              </a:defRPr>
            </a:pPr>
            <a:r>
              <a:t>•  I can connect my staff interview homework to real Help Desk lessons from this phase.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Tier 1 Support: The first level of tech support - handles common, well-understood problems before anything gets escalated.</a:t>
            </a:r>
          </a:p>
          <a:p>
            <a:pPr>
              <a:spcAft>
                <a:spcPts val="600"/>
              </a:spcAft>
              <a:defRPr sz="1200">
                <a:solidFill>
                  <a:srgbClr val="1A1A1A"/>
                </a:solidFill>
                <a:latin typeface="Calibri"/>
              </a:defRPr>
            </a:pPr>
            <a:r>
              <a:t>•  Escalation: Passing a ticket up to someone with more access, tools, or experience because it's beyond what Tier 1 can solve.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Last night's homework: what was one thing the staff member you interviewed wished had gone differently during their tech frustration? Jot it down to share.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The Worst Help Desk Ever (Bad Version, Then Good Version): In groups of three, assign a tech, a frustrated user, and a director/notetaker. Each group first performs a 60-90 second skit of the worst possible Help Desk interaction, deliberately breaking as many Phase 1 rules as possible - no intake, jargon, defensiveness, poor privacy handling. Immediately after, the same group re-performs the identical scenario the right way, using intake, active listening, plain language, and de-escalation. After each pair of skits, the class calls out which specific mistakes were fixed in the redo.</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Sharing the Interviews</a:t>
            </a:r>
          </a:p>
          <a:p>
            <a:pPr>
              <a:spcAft>
                <a:spcPts val="600"/>
              </a:spcAft>
              <a:defRPr sz="1250">
                <a:solidFill>
                  <a:srgbClr val="1A1A1A"/>
                </a:solidFill>
                <a:latin typeface="Calibri"/>
              </a:defRPr>
            </a:pPr>
            <a:r>
              <a:t>•  Everything You've Learned, On Purpose, Backwards</a:t>
            </a:r>
          </a:p>
          <a:p>
            <a:pPr>
              <a:spcAft>
                <a:spcPts val="600"/>
              </a:spcAft>
              <a:defRPr sz="1250">
                <a:solidFill>
                  <a:srgbClr val="1A1A1A"/>
                </a:solidFill>
                <a:latin typeface="Calibri"/>
              </a:defRPr>
            </a:pPr>
            <a:r>
              <a:t>•  Wrapping Up Phase 1</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specific habit from this phase you feel most confident about heading into Phase 2, and one you still want to keep practicing.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New Kid's First Week</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It's the first day of Phase 2, and a brand-new Apprentice named Theo who just transferred into the class watches Jordan calmly handle a frustrated freshman's laptop complaint - full intake, a reflect-back sentence, plain language, no jargon, a ticket note written cleanly before the freshman even leaves the counter. Afterward, Theo, a little intimidated, asks Jordan, 'How long did it take you to get like that? Like, not panicking?' Jordan actually laughs a little, thinking back to Ticket #1 and the sticky note that still says 'ASK FIRST' on the edge of the monitor.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two or three sentences of the advice Jordan would realistically give Theo, based on specific mistakes and lessons from Phase 1, not just generic encouragement.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Critique  (krih-TEEK)</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strengths and weaknesses of something.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kritikos (able to judge or discern), from krinein (to separate, to judge) - literally 'the skill of judging.'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After watching 'The Worst Help Desk Ever,' the class will critique exactly which specific Phase 1 skills were missing in the bad version.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E6E8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F8A3D"/>
                </a:solidFill>
                <a:latin typeface="Calibri"/>
              </a:rPr>
              <a:t>UNIT 2</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Chromebook Mastery &amp; Repair</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does it take to diagnose, repair, and responsibly track a device from the moment it breaks to the moment it's back in a student's hands (or retired for parts)?</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F8A3D"/>
                </a:solidFill>
                <a:latin typeface="Calibri"/>
              </a:rPr>
              <a:t>Days 19–36 · 18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ChromeOS, Powerwash, Recovery Mode, Enrollment, LCD Panel, Bezel, Daughterboard, Serial Number, Asset Tag, Repair Log, Repair-vs-Scrap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19  ·  Meet ChromeOS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ChromeOS is and how it differs from Windows and macOS.</a:t>
            </a:r>
          </a:p>
          <a:p>
            <a:pPr>
              <a:spcAft>
                <a:spcPts val="600"/>
              </a:spcAft>
              <a:defRPr sz="1250">
                <a:solidFill>
                  <a:srgbClr val="1A1A1A"/>
                </a:solidFill>
                <a:latin typeface="Calibri"/>
              </a:defRPr>
            </a:pPr>
            <a:r>
              <a:t>•  I can identify basic ChromeOS interface elements a new user would need help finding.</a:t>
            </a:r>
          </a:p>
          <a:p>
            <a:pPr>
              <a:spcAft>
                <a:spcPts val="600"/>
              </a:spcAft>
              <a:defRPr sz="1250">
                <a:solidFill>
                  <a:srgbClr val="1A1A1A"/>
                </a:solidFill>
                <a:latin typeface="Calibri"/>
              </a:defRPr>
            </a:pPr>
            <a:r>
              <a:t>•  I can describe why schools like ours standardize on Chromebooks.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ChromeOS: The lightweight operating system that runs on Chromebooks, built by Google, updates automatically, and runs most apps through the browser or Play Store.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about the last time you used a Chromebook versus a Windows laptop or a Mac. What felt different? Write down two things you noticed.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ChromeOS Scavenger Hunt: Pair students up with a lab Chromebook and a checklist of interface elements to locate: the Settings gear, an installed extension icon, the Play Store, and the sync/enrollment icon in the account menu. First pair to correctly find and explain all four out loud wins. Debrief by asking which item was hardest to find and why a new user might get stuck there too.</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ChromeOS Actually Is</a:t>
            </a:r>
          </a:p>
          <a:p>
            <a:pPr>
              <a:spcAft>
                <a:spcPts val="600"/>
              </a:spcAft>
              <a:defRPr sz="1250">
                <a:solidFill>
                  <a:srgbClr val="1A1A1A"/>
                </a:solidFill>
                <a:latin typeface="Calibri"/>
              </a:defRPr>
            </a:pPr>
            <a:r>
              <a:t>•  Why Schools Standardize on Chromebooks</a:t>
            </a:r>
          </a:p>
          <a:p>
            <a:pPr>
              <a:spcAft>
                <a:spcPts val="600"/>
              </a:spcAft>
              <a:defRPr sz="1250">
                <a:solidFill>
                  <a:srgbClr val="1A1A1A"/>
                </a:solidFill>
                <a:latin typeface="Calibri"/>
              </a:defRPr>
            </a:pPr>
            <a:r>
              <a:t>•  Where the Help Desk Fits In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In one sentence, explain to a friend who's never used one what a Chromebook actually 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Substitute Teacher's Confusion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substitute teacher named Ms. Ruiz is covering a class for the day. She's used to the Windows laptop cart at her regular school and has never touched a Chromebook before. She's handed one to take attendance and immediately gets stuck: she's looking for a 'C: drive' to find her files, tries right-clicking to find 'Task Manager' when a tab freezes, and looks around the screen for a desktop icon to 'install' the attendance program. A student notices and says, 'Just open the Play Store, it's already there,' but Ms. Ruiz doesn't know what that means either. Frustrated, she submits a help desk ticket that just says: 'Laptop is broken, I can't get my work done.' When a tech opens the ticket, nothing about the device is actually broken.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pairs, identify three specific moments where Ms. Ruiz's confusion comes from expecting Windows behavior instead of ChromeOS behavior, then write the 2-3 sentence explanation you'd give her, in plain language, that would get her unstuck without any jargon.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(dif-er-EN-shee-ate)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and explain how two or more things are different from each other.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literally 'to carry apart,' i.e., to set things apart from each other.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 you'll differentiate ChromeOS from Windows and macOS by comparing how each one runs apps and installs updates.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20  ·  Powerwash: The Chromebook Factory Reset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Powerwash does and does not fix.</a:t>
            </a:r>
          </a:p>
          <a:p>
            <a:pPr>
              <a:spcAft>
                <a:spcPts val="600"/>
              </a:spcAft>
              <a:defRPr sz="1250">
                <a:solidFill>
                  <a:srgbClr val="1A1A1A"/>
                </a:solidFill>
                <a:latin typeface="Calibri"/>
              </a:defRPr>
            </a:pPr>
            <a:r>
              <a:t>•  I can walk a user through performing a Powerwash safely.</a:t>
            </a:r>
          </a:p>
          <a:p>
            <a:pPr>
              <a:spcAft>
                <a:spcPts val="600"/>
              </a:spcAft>
              <a:defRPr sz="1250">
                <a:solidFill>
                  <a:srgbClr val="1A1A1A"/>
                </a:solidFill>
                <a:latin typeface="Calibri"/>
              </a:defRPr>
            </a:pPr>
            <a:r>
              <a:t>•  I can decide when Powerwash is (and isn't) the right first troubleshooting step.</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Powerwash: A Chromebook's factory reset. It wipes local data and settings back to default but keeps the device enrolled to the school's domain if it was enrolled before.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someone told you 'just reset it' about a glitchy phone or laptop, what do you think that actually erases? Guess before we cover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Powerwash Ticket Triage: Hand out four mock tickets: a glitchy sign-in screen, a cracked screen, a device with no sound, and a Chromebook being reassigned to a new student. In pairs, students decide which tickets actually call for a Powerwash and which need something else, then one pair demonstrates an actual Powerwash on a lab Chromebook while the rest of the class watches and takes notes on each step.</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Powerwash Wipes (and What It Keeps)</a:t>
            </a:r>
          </a:p>
          <a:p>
            <a:pPr>
              <a:spcAft>
                <a:spcPts val="600"/>
              </a:spcAft>
              <a:defRPr sz="1250">
                <a:solidFill>
                  <a:srgbClr val="1A1A1A"/>
                </a:solidFill>
                <a:latin typeface="Calibri"/>
              </a:defRPr>
            </a:pPr>
            <a:r>
              <a:t>•  How to Trigger One Safely</a:t>
            </a:r>
          </a:p>
          <a:p>
            <a:pPr>
              <a:spcAft>
                <a:spcPts val="600"/>
              </a:spcAft>
              <a:defRPr sz="1250">
                <a:solidFill>
                  <a:srgbClr val="1A1A1A"/>
                </a:solidFill>
                <a:latin typeface="Calibri"/>
              </a:defRPr>
            </a:pPr>
            <a:r>
              <a:t>•  When Powerwash Helps (and When It Doesn't)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Write the one warning you'd always give a user before running a Powerwash on their device.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Slow, Glitchy, and Not Obviously Broken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ninth-grader turns in a ticket: their Chromebook has been acting up for about two weeks. Tabs freeze constantly, apps take forever to open, and twice this week the whole screen locked up at the sign-in screen and needed to be force-restarted by holding the power button. The student says it's always been their device, no one else uses it, and it hasn't been dropped or gotten wet. It still charges fine and the screen looks physically undamaged. There's no note of any recent Powerwash or reassignment on this device in the tracking sheet, and it isn't a graduating senior's device being prepped for handoff.</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whether Powerwash is the right first move here, and if so, write the exact warning you'd give the student beforehand about what will and won't be saved, then list the two menu steps or the keyboard shortcut you'd use to start it.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Justify  (JUS-tuh-fy)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give solid reasons that support a decision or choice.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justus (right, fair) + -ficare (to make) — literally 'to make right.'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When you sort a ticket into the 'Powerwash' pile, be ready to justify why that ticket doesn't need something more serious like Recovery Mode.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21  ·  When Powerwash Isn't Enough: Recovery Mode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Recovery Mode does and how it differs from a Powerwash.</a:t>
            </a:r>
          </a:p>
          <a:p>
            <a:pPr>
              <a:spcAft>
                <a:spcPts val="600"/>
              </a:spcAft>
              <a:defRPr sz="1250">
                <a:solidFill>
                  <a:srgbClr val="1A1A1A"/>
                </a:solidFill>
                <a:latin typeface="Calibri"/>
              </a:defRPr>
            </a:pPr>
            <a:r>
              <a:t>•  I can create a ChromeOS recovery USB drive using the Chromebook Recovery Utility.</a:t>
            </a:r>
          </a:p>
          <a:p>
            <a:pPr>
              <a:spcAft>
                <a:spcPts val="600"/>
              </a:spcAft>
              <a:defRPr sz="1250">
                <a:solidFill>
                  <a:srgbClr val="1A1A1A"/>
                </a:solidFill>
                <a:latin typeface="Calibri"/>
              </a:defRPr>
            </a:pPr>
            <a:r>
              <a:t>•  I can identify symptoms that call for Recovery Mode instead of a simple reset.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Recovery Mode: A special boot process used to fully reinstall ChromeOS from a USB drive when the device won't start or update normally and a Powerwash isn't enough.</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Powerwash can't even load because the device won't boot at all, what do you think a tech would try next?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Build a Recovery Drive: Demonstrate building a recovery drive live using the Chromebook Recovery Utility and a spare USB drive on a lab Chromebook, narrating each screen as you go. Then have students work in small groups to write up the exact steps as a quick-reference guide for the help desk binder, as if a future Apprentice tech will need to follow it with zero prior context.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Recovery Mode vs. Powerwash</a:t>
            </a:r>
          </a:p>
          <a:p>
            <a:pPr>
              <a:spcAft>
                <a:spcPts val="600"/>
              </a:spcAft>
              <a:defRPr sz="1250">
                <a:solidFill>
                  <a:srgbClr val="1A1A1A"/>
                </a:solidFill>
                <a:latin typeface="Calibri"/>
              </a:defRPr>
            </a:pPr>
            <a:r>
              <a:t>•  Building a Recovery Drive</a:t>
            </a:r>
          </a:p>
          <a:p>
            <a:pPr>
              <a:spcAft>
                <a:spcPts val="600"/>
              </a:spcAft>
              <a:defRPr sz="1250">
                <a:solidFill>
                  <a:srgbClr val="1A1A1A"/>
                </a:solidFill>
                <a:latin typeface="Calibri"/>
              </a:defRPr>
            </a:pPr>
            <a:r>
              <a:t>•  Booting Into Recovery Mode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symptom that should make a tech reach for Recovery Mode instead of Powerwash.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Priya's Monday Morning Rush</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It's 7:50 on a Monday and the help desk line is already five students deep. Priya, a newer Apprentice, grabs the next device: completely black screen, no response to any key, no light when plugged in to charge for a minute. Her first instinct is to reach for the Powerwash shortcut, Ctrl+Alt+Shift+R, the way she's done for glitchy sign-in screens all last week. She holds the keys at the sign-in screen, but there is no sign-in screen; the screen stays black no matter what she tries. A Level 2 tech named Marcus glances over and asks, 'Can you even get anywhere before trying that?' Priya realizes she's been assuming every dead-looking screen is the same kind of problem.</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what Priya should try instead of Powerwash, name the tool and the boot sequence she'd need, and describe the one detail in the scene that should have tipped her off earlier that Powerwash wasn't going to work.</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(pry-OR-uh-tize)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which of several things should be handled first, based on how important or urgent it is.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(earlier, first) + -itize (verb-forming suffix meaning 'to make into') — literally 'to make something first.'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When a Chromebook won't boot, you have to prioritize trying Recovery Mode over other fixes since Powerwash isn't even reachable.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22  ·  Enrollment Issues &amp; Managed Devices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device enrollment means for a school-owned Chromebook.</a:t>
            </a:r>
          </a:p>
          <a:p>
            <a:pPr>
              <a:spcAft>
                <a:spcPts val="600"/>
              </a:spcAft>
              <a:defRPr sz="1250">
                <a:solidFill>
                  <a:srgbClr val="1A1A1A"/>
                </a:solidFill>
                <a:latin typeface="Calibri"/>
              </a:defRPr>
            </a:pPr>
            <a:r>
              <a:t>•  I can identify common enrollment-related tickets and how to approach them.</a:t>
            </a:r>
          </a:p>
          <a:p>
            <a:pPr>
              <a:spcAft>
                <a:spcPts val="600"/>
              </a:spcAft>
              <a:defRPr sz="1250">
                <a:solidFill>
                  <a:srgbClr val="1A1A1A"/>
                </a:solidFill>
                <a:latin typeface="Calibri"/>
              </a:defRPr>
            </a:pPr>
            <a:r>
              <a:t>•  I can use a decision tree to triage common OS-level Chromebook tickets.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Enrollment: The process of registering a Chromebook to a school's Google Admin domain so IT staff can push settings, restrictions, and apps to it remotely.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might a school want to control settings on hundreds of Chromebooks at once instead of letting each student set up their own device freely?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Enrollment Troubleshooting Decision Tree: As a class, build a flowchart on the board covering common Week 5 tickets in order: won't turn on, turns on but won't boot, boots but stuck at sign-in, and stuck asking for enrollment. In small groups, students then role-play a Tier 1 phone intake call using the tree to walk a 'customer' through diagnosing which branch their problem falls under.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Enrollment Actually Does</a:t>
            </a:r>
          </a:p>
          <a:p>
            <a:pPr>
              <a:spcAft>
                <a:spcPts val="600"/>
              </a:spcAft>
              <a:defRPr sz="1250">
                <a:solidFill>
                  <a:srgbClr val="1A1A1A"/>
                </a:solidFill>
                <a:latin typeface="Calibri"/>
              </a:defRPr>
            </a:pPr>
            <a:r>
              <a:t>•  Common Enrollment Tickets</a:t>
            </a:r>
          </a:p>
          <a:p>
            <a:pPr>
              <a:spcAft>
                <a:spcPts val="600"/>
              </a:spcAft>
              <a:defRPr sz="1250">
                <a:solidFill>
                  <a:srgbClr val="1A1A1A"/>
                </a:solidFill>
                <a:latin typeface="Calibri"/>
              </a:defRPr>
            </a:pPr>
            <a:r>
              <a:t>•  Looking Ahead to Asset Tracking</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In your own words, explain what 'enrolled' means for a school Chromebook to someone who's never heard the term.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Lunch-Period Queue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It's the start of lunch period and six Chromebooks land on the help desk counter at once: (1) won't turn on at all, (2) turns on but freezes on a black screen mid-boot, (3) boots fine but is stuck asking to enroll to an unfamiliar domain, (4) boots and signs in fine but one app won't load, (5) asks for a personal Gmail account it shouldn't be asking for, (6) is completely unresponsive even to a forced restart. Lunch is 30 minutes, and past data shows enrollment-only issues take about 5 minutes each to resolve, sign-in/app issues take about 3 minutes, and no-boot or unresponsive devices take at least 15 minutes each just to begin proper diagnosis.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Sort all six devices into the decision-tree categories from today's lesson, estimate the total minutes needed to fully resolve all six, and decide which ones realistically get finished before lunch ends and which get a claim ticket for after school.</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(KAT-uh-gor-ize)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kategoria (an accusation, statement, or class) + -ize (verb-forming suffix) — originally about statements, now about sorting into classes.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Using the decision tree, you'll categorize each ticket as an enrollment problem, a boot problem, or something else entirely.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23  ·  Getting Ready for Physical Repair: Tools &amp; Safety Refresh</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the tools needed for Chromebook screen repair and what each one is for.</a:t>
            </a:r>
          </a:p>
          <a:p>
            <a:pPr>
              <a:spcAft>
                <a:spcPts val="600"/>
              </a:spcAft>
              <a:defRPr sz="1250">
                <a:solidFill>
                  <a:srgbClr val="1A1A1A"/>
                </a:solidFill>
                <a:latin typeface="Calibri"/>
              </a:defRPr>
            </a:pPr>
            <a:r>
              <a:t>•  I can explain what an LCD panel and a bezel are and how they fit together.</a:t>
            </a:r>
          </a:p>
          <a:p>
            <a:pPr>
              <a:spcAft>
                <a:spcPts val="600"/>
              </a:spcAft>
              <a:defRPr sz="1250">
                <a:solidFill>
                  <a:srgbClr val="1A1A1A"/>
                </a:solidFill>
                <a:latin typeface="Calibri"/>
              </a:defRPr>
            </a:pPr>
            <a:r>
              <a:t>•  I can use an iFixit guide to preview a repair before touching a device.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LCD Panel: The actual screen component inside a laptop or Chromebook that displays the image (liquid crystal display).</a:t>
            </a:r>
          </a:p>
          <a:p>
            <a:pPr>
              <a:spcAft>
                <a:spcPts val="600"/>
              </a:spcAft>
              <a:defRPr sz="1200">
                <a:solidFill>
                  <a:srgbClr val="1A1A1A"/>
                </a:solidFill>
                <a:latin typeface="Calibri"/>
              </a:defRPr>
            </a:pPr>
            <a:r>
              <a:t>•  Bezel: The plastic frame around the screen that holds the LCD panel in place and snaps or screws into the rest of the case.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What's the difference between fixing something you've never opened before versus something you've practiced on ten times? What would you want before attempting the first kind?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iFixit Guide Walkthrough: In pairs, have students pull up a Chromebook screen replacement guide on iFixit for a model similar to the lab devices, without touching a device yet. Ask them to list every tool the guide calls out, note any warnings or cautions it gives, and predict one step where a beginner might make a mistake. Share out predictions as a class before next class's hands-on lab.</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ESD Safety, Round Two</a:t>
            </a:r>
          </a:p>
          <a:p>
            <a:pPr>
              <a:spcAft>
                <a:spcPts val="600"/>
              </a:spcAft>
              <a:defRPr sz="1250">
                <a:solidFill>
                  <a:srgbClr val="1A1A1A"/>
                </a:solidFill>
                <a:latin typeface="Calibri"/>
              </a:defRPr>
            </a:pPr>
            <a:r>
              <a:t>•  Tools of the Trade</a:t>
            </a:r>
          </a:p>
          <a:p>
            <a:pPr>
              <a:spcAft>
                <a:spcPts val="600"/>
              </a:spcAft>
              <a:defRPr sz="1250">
                <a:solidFill>
                  <a:srgbClr val="1A1A1A"/>
                </a:solidFill>
                <a:latin typeface="Calibri"/>
              </a:defRPr>
            </a:pPr>
            <a:r>
              <a:t>•  Meet iFixit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tool you'll need for tomorrow's screen removal lab and what it's used for.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YouTube Shortcut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friend outside of class, excited about what you're learning, tries to fix a crack in their own laptop screen at home over the weekend using a random YouTube video instead of a proper guide. They use a butter knife instead of a plastic spudger to pry the bezel loose, work on a carpeted floor with no wrist strap, and toss all the screws into one pile without tracking which one came from where. Partway through, they message you a photo: a cracked corner of the bezel, one stripped screw, and a pile of parts they can no longer place back in order.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List the three specific mistakes in this scenario, matched to what today's lesson said the toolkit and ESD steps are for, and explain what you'd tell your friend to do differently if they attempt this repair again.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Interpret  (in-TER-prit)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figure out the meaning of something, especially something written by someone else.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inter- (between) + pres (agent, negotiator) — originally 'one who explains meaning between two parties,' like a translator.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Before touching a device, you'll interpret an iFixit guide's photos and warnings to understand each step correctly.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24  ·  Opening the Bezel: Screen Removal Lab, Part 1</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safely remove a Chromebook bezel following an iFixit guide.</a:t>
            </a:r>
          </a:p>
          <a:p>
            <a:pPr>
              <a:spcAft>
                <a:spcPts val="600"/>
              </a:spcAft>
              <a:defRPr sz="1250">
                <a:solidFill>
                  <a:srgbClr val="1A1A1A"/>
                </a:solidFill>
                <a:latin typeface="Calibri"/>
              </a:defRPr>
            </a:pPr>
            <a:r>
              <a:t>•  I can identify common mistakes that damage the bezel or LCD panel during removal.</a:t>
            </a:r>
          </a:p>
          <a:p>
            <a:pPr>
              <a:spcAft>
                <a:spcPts val="600"/>
              </a:spcAft>
              <a:defRPr sz="1250">
                <a:solidFill>
                  <a:srgbClr val="1A1A1A"/>
                </a:solidFill>
                <a:latin typeface="Calibri"/>
              </a:defRPr>
            </a:pPr>
            <a:r>
              <a:t>•  I can log each teardown step as I complete it.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Bezel: The plastic frame around the screen that holds the LCD panel in place and snaps or screws into the rest of the case.</a:t>
            </a:r>
          </a:p>
          <a:p>
            <a:pPr>
              <a:spcAft>
                <a:spcPts val="600"/>
              </a:spcAft>
              <a:defRPr sz="1200">
                <a:solidFill>
                  <a:srgbClr val="1A1A1A"/>
                </a:solidFill>
                <a:latin typeface="Calibri"/>
              </a:defRPr>
            </a:pPr>
            <a:r>
              <a:t>•  LCD Panel: The actual screen component inside a laptop or Chromebook that displays the image (liquid crystal display).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plastic clip feels stuck, is more force ever the right answer? What would you try first instead?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Guided Bezel Removal: Demonstrate removing the bezel on one practice Chromebook chassis first, narrating each clip and screw location from the iFixit guide. Then have pairs remove the bezel on their own practice devices, checking off each guide step as they complete it and logging any surprises (a stuck clip, a hidden screw) in a shared notes doc.</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Removing the Bezel, Step by Step</a:t>
            </a:r>
          </a:p>
          <a:p>
            <a:pPr>
              <a:spcAft>
                <a:spcPts val="600"/>
              </a:spcAft>
              <a:defRPr sz="1250">
                <a:solidFill>
                  <a:srgbClr val="1A1A1A"/>
                </a:solidFill>
                <a:latin typeface="Calibri"/>
              </a:defRPr>
            </a:pPr>
            <a:r>
              <a:t>•  Ground First, Then Touch</a:t>
            </a:r>
          </a:p>
          <a:p>
            <a:pPr>
              <a:spcAft>
                <a:spcPts val="600"/>
              </a:spcAft>
              <a:defRPr sz="1250">
                <a:solidFill>
                  <a:srgbClr val="1A1A1A"/>
                </a:solidFill>
                <a:latin typeface="Calibri"/>
              </a:defRPr>
            </a:pPr>
            <a:r>
              <a:t>•  Levels of Trust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Describe one moment today where going slow instead of fast paid off.</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Clip That Won't Let Go</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Following the iFixit guide exactly, a student has released every visible clip around a Chromebook bezel and removed two hidden screws found under rubber feet, just as the guide described. One corner near the hinge still won't budge after three gentle attempts with the plastic pry tool, moving around the frame's edge each time like the lesson described. The student is starting to feel the pull to just tug harder or reach for a metal tool instead, since the rest of the bezel is already loose everywhere else.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what the student should check or try next before applying more force, referencing what today's lesson said about hidden screws and gradual, all-around prying, and identify the one thing they should absolutely not do.</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Execute  (EK-suh-kyoot)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carry out a plan or set of steps completely and correctly.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ex- (out) + sequi (to follow) — literally 'to follow out (to completion).'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You'll execute each step of the bezel-removal guide in order, checking it off before moving to the next.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25  ·  Screen Replacement Lab, Part 2: When Corners Get Cut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finish installing and testing a replacement LCD panel before closing the case.</a:t>
            </a:r>
          </a:p>
          <a:p>
            <a:pPr>
              <a:spcAft>
                <a:spcPts val="600"/>
              </a:spcAft>
              <a:defRPr sz="1250">
                <a:solidFill>
                  <a:srgbClr val="1A1A1A"/>
                </a:solidFill>
                <a:latin typeface="Calibri"/>
              </a:defRPr>
            </a:pPr>
            <a:r>
              <a:t>•  I can explain the real risk behind skipping ESD grounding, even without a visible injury.</a:t>
            </a:r>
          </a:p>
          <a:p>
            <a:pPr>
              <a:spcAft>
                <a:spcPts val="600"/>
              </a:spcAft>
              <a:defRPr sz="1250">
                <a:solidFill>
                  <a:srgbClr val="1A1A1A"/>
                </a:solidFill>
                <a:latin typeface="Calibri"/>
              </a:defRPr>
            </a:pPr>
            <a:r>
              <a:t>•  I can identify what changes about my own safety habits after seeing a near-miss.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LCD Panel: The actual screen component inside a laptop or Chromebook that displays the image (liquid crystal display).</a:t>
            </a:r>
          </a:p>
          <a:p>
            <a:pPr>
              <a:spcAft>
                <a:spcPts val="600"/>
              </a:spcAft>
              <a:defRPr sz="1200">
                <a:solidFill>
                  <a:srgbClr val="1A1A1A"/>
                </a:solidFill>
                <a:latin typeface="Calibri"/>
              </a:defRPr>
            </a:pPr>
            <a:r>
              <a:t>•  Bezel: The plastic frame around the screen that holds the LCD panel in place and snaps or screws into the rest of the case.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Has a small, no-harm-done mistake ever taught you more than getting away with something clean would have? What made it stick?</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Safety Debrief Circle: After the reading, break into small groups and have each group identify the exact moment Jordan skipped a safety step, then rewrite the pre-lab safety checklist Sam should now post at the workstation. Share rewritten checklists as a class and vote on the clearest one to actually adopt for the rest of this phase's labs.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Finishing the Install</a:t>
            </a:r>
          </a:p>
          <a:p>
            <a:pPr>
              <a:spcAft>
                <a:spcPts val="600"/>
              </a:spcAft>
              <a:defRPr sz="1250">
                <a:solidFill>
                  <a:srgbClr val="1A1A1A"/>
                </a:solidFill>
                <a:latin typeface="Calibri"/>
              </a:defRPr>
            </a:pPr>
            <a:r>
              <a:t>•  Why 'No Injury' Doesn't Mean 'No Harm'</a:t>
            </a:r>
          </a:p>
          <a:p>
            <a:pPr>
              <a:spcAft>
                <a:spcPts val="600"/>
              </a:spcAft>
              <a:defRPr sz="1250">
                <a:solidFill>
                  <a:srgbClr val="1A1A1A"/>
                </a:solidFill>
                <a:latin typeface="Calibri"/>
              </a:defRPr>
            </a:pPr>
            <a:r>
              <a:t>•  Today's Reading</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#4: The Zap</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one safety habit from today's lesson or reading you're committing to never skip, even when you're in a hurry?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One Dead Pixel</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Before snapping the bezel back into place, a technician powers on a freshly installed LCD panel to test it first, just like today's lesson describes. The display looks almost perfect, except for a single stubborn dead pixel in the upper corner that stays black no matter what's on screen. The rest of the panel displays colors cleanly with no flicker or looseness at the ribbon connector.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whether this repair should be closed up as finished or flagged before the bezel goes back on, and explain in one or two sentences what you'd note in this device's early repair log draft.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Analyze  (AN-uh-lyze)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break something down into its parts to understand how or why it happened.</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ana- (up, throughout) + lyein (to loosen) — literally 'to loosen up' or take something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After reading about Jordan's near-miss, you'll analyze exactly which safety step got skipped and why that moment mattered.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26  ·  Hinge Repair &amp; Reassembly Quality Check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common hinge problems and how to address them during a screen repair.</a:t>
            </a:r>
          </a:p>
          <a:p>
            <a:pPr>
              <a:spcAft>
                <a:spcPts val="600"/>
              </a:spcAft>
              <a:defRPr sz="1250">
                <a:solidFill>
                  <a:srgbClr val="1A1A1A"/>
                </a:solidFill>
                <a:latin typeface="Calibri"/>
              </a:defRPr>
            </a:pPr>
            <a:r>
              <a:t>•  I can reassemble a repaired Chromebook and verify the bezel sits correctly.</a:t>
            </a:r>
          </a:p>
          <a:p>
            <a:pPr>
              <a:spcAft>
                <a:spcPts val="600"/>
              </a:spcAft>
              <a:defRPr sz="1250">
                <a:solidFill>
                  <a:srgbClr val="1A1A1A"/>
                </a:solidFill>
                <a:latin typeface="Calibri"/>
              </a:defRPr>
            </a:pPr>
            <a:r>
              <a:t>•  I can run a completed repair through a quality-check process before it's considered done.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Bezel: The plastic frame around the screen that holds the LCD panel in place and snaps or screws into the rest of the case.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might a repair that 'works' still not be considered finished until someone checks it over?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Final Inspection Station: Have each pair bring their repaired Chromebook from the past two labs to a quality-check station. Using a simple checklist (bezel flush, no rattle, hinge holds angle, display clean), they inspect and sign off on their own repair, then rotate to check a different pair's device as a second set of eyes, just like a real shop would do a peer quality check.</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Hinge Problems &amp; Fixes</a:t>
            </a:r>
          </a:p>
          <a:p>
            <a:pPr>
              <a:spcAft>
                <a:spcPts val="600"/>
              </a:spcAft>
              <a:defRPr sz="1250">
                <a:solidFill>
                  <a:srgbClr val="1A1A1A"/>
                </a:solidFill>
                <a:latin typeface="Calibri"/>
              </a:defRPr>
            </a:pPr>
            <a:r>
              <a:t>•  Reassembly Done Right</a:t>
            </a:r>
          </a:p>
          <a:p>
            <a:pPr>
              <a:spcAft>
                <a:spcPts val="600"/>
              </a:spcAft>
              <a:defRPr sz="1250">
                <a:solidFill>
                  <a:srgbClr val="1A1A1A"/>
                </a:solidFill>
                <a:latin typeface="Calibri"/>
              </a:defRPr>
            </a:pPr>
            <a:r>
              <a:t>•  The Quality Check Habit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thing you'd check on a peer's finished repair before signing off on 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Four Repairs, One Checklist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Four freshly reassembled Chromebooks arrive at the quality-check station with the same rubric from today's lesson: bezel gap under 1mm all around, no rattle when gently shaken, hinge holds its angle at 45, 90, and 135 degrees without drifting, and a clean display. Device A has a 2mm gap on one corner. Device B has zero gap and no rattle but the hinge slowly drifts closed on its own from 90 degrees. Device C passes every check cleanly. Device D has no gap or rattle issues but makes a faint clicking sound only when opened past 100 degrees.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rubric, mark each of the four devices pass or fail, and for any that fail, name the most likely repair step that was done poorly based on today's lesson.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judge the quality or condition of something using a clear set of criteria.</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ex- (out) + valere (to be strong/worth) — literally 'to draw out the worth' of something.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Using the quality-check list, you'll evaluate whether a finished repair is really done or just looks done.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27  ·  Battery Care &amp; Replacement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the safety concerns specific to lithium-ion Chromebook batteries.</a:t>
            </a:r>
          </a:p>
          <a:p>
            <a:pPr>
              <a:spcAft>
                <a:spcPts val="600"/>
              </a:spcAft>
              <a:defRPr sz="1250">
                <a:solidFill>
                  <a:srgbClr val="1A1A1A"/>
                </a:solidFill>
                <a:latin typeface="Calibri"/>
              </a:defRPr>
            </a:pPr>
            <a:r>
              <a:t>•  I can safely remove and replace a Chromebook battery following an iFixit guide.</a:t>
            </a:r>
          </a:p>
          <a:p>
            <a:pPr>
              <a:spcAft>
                <a:spcPts val="600"/>
              </a:spcAft>
              <a:defRPr sz="1250">
                <a:solidFill>
                  <a:srgbClr val="1A1A1A"/>
                </a:solidFill>
                <a:latin typeface="Calibri"/>
              </a:defRPr>
            </a:pPr>
            <a:r>
              <a:t>•  I can begin logging repair steps as I complete them, not after the fact.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Repair Log: A written record of what was wrong with a device, what was done to fix it, who did it, and when.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heard a warning about phone or laptop batteries catching fire or swelling up? What do you think causes that?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Battery Swap Lab + Live Log: Using the iFixit guide for the lab's Chromebook model, pairs safely disconnect and replace a practice battery, testing that the new one holds a charge before closing the case. At the same time, each pair keeps a running note in a shared doc listing every step as they complete it, an early draft version of a repair log entry.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Batteries Get Extra Caution</a:t>
            </a:r>
          </a:p>
          <a:p>
            <a:pPr>
              <a:spcAft>
                <a:spcPts val="600"/>
              </a:spcAft>
              <a:defRPr sz="1250">
                <a:solidFill>
                  <a:srgbClr val="1A1A1A"/>
                </a:solidFill>
                <a:latin typeface="Calibri"/>
              </a:defRPr>
            </a:pPr>
            <a:r>
              <a:t>•  Removing &amp; Replacing Safely</a:t>
            </a:r>
          </a:p>
          <a:p>
            <a:pPr>
              <a:spcAft>
                <a:spcPts val="600"/>
              </a:spcAft>
              <a:defRPr sz="1250">
                <a:solidFill>
                  <a:srgbClr val="1A1A1A"/>
                </a:solidFill>
                <a:latin typeface="Calibri"/>
              </a:defRPr>
            </a:pPr>
            <a:r>
              <a:t>•  Start Logging Now</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Write one line as if it's the start of today's repair log entry for the battery you worked 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Bulging Trackpad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teacher brings in a Chromebook and mentions, almost as an afterthought, that the trackpad has felt 'weirdly puffy' for the past week and the device has started randomly shutting off even with battery showing charge left. Looking closer, the area under the trackpad is slightly raised compared to the rest of the case, and the keyboard deck doesn't sit quite flush anymore near that spot. The teacher asks if you can 'just pop the case open real quick and take a look.'</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what this symptom most likely is based on today's lesson, decide whether opening the case immediately is the right move, and describe the correct next steps in order, including what should never be done to a battery in this condition.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Mitigate  (MIT-uh-gate)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a risk or problem less severe or dangerous.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mitis (soft, gentle) + agere (to do/act) — literally 'to make gentle.'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Disconnecting the battery connector first is one way technicians mitigate the fire risk of a damaged lithium-ion battery.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28  ·  Keyboard Replacement &amp; Ribbon Cable Care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safely remove and replace a Chromebook keyboard following an iFixit guide.</a:t>
            </a:r>
          </a:p>
          <a:p>
            <a:pPr>
              <a:spcAft>
                <a:spcPts val="600"/>
              </a:spcAft>
              <a:defRPr sz="1250">
                <a:solidFill>
                  <a:srgbClr val="1A1A1A"/>
                </a:solidFill>
                <a:latin typeface="Calibri"/>
              </a:defRPr>
            </a:pPr>
            <a:r>
              <a:t>•  I can identify common causes of keyboard tickets.</a:t>
            </a:r>
          </a:p>
          <a:p>
            <a:pPr>
              <a:spcAft>
                <a:spcPts val="600"/>
              </a:spcAft>
              <a:defRPr sz="1250">
                <a:solidFill>
                  <a:srgbClr val="1A1A1A"/>
                </a:solidFill>
                <a:latin typeface="Calibri"/>
              </a:defRPr>
            </a:pPr>
            <a:r>
              <a:t>•  I can practice narrating repair steps clearly enough for someone else to follow.</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Repair Log: A written record of what was wrong with a device, what was done to fix it, who did it, and when.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Ribbon cables that connect keyboards to a motherboard are thin and fragile. Why do you think techs are told to lift the connector latch instead of just pulling the cable out?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Keyboard Swap Relay: In pairs, one student removes and replaces a keyboard on a practice chassis using the iFixit guide while narrating every step out loud; their partner acts as an inspector, checking each ribbon-cable step for the latch-release method before letting them continue. Log the start and finish time for each swap as an early exercise in repair log habits, then switch roles.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Sends Keyboards to the Bench</a:t>
            </a:r>
          </a:p>
          <a:p>
            <a:pPr>
              <a:spcAft>
                <a:spcPts val="600"/>
              </a:spcAft>
              <a:defRPr sz="1250">
                <a:solidFill>
                  <a:srgbClr val="1A1A1A"/>
                </a:solidFill>
                <a:latin typeface="Calibri"/>
              </a:defRPr>
            </a:pPr>
            <a:r>
              <a:t>•  Removal Without Damage</a:t>
            </a:r>
          </a:p>
          <a:p>
            <a:pPr>
              <a:spcAft>
                <a:spcPts val="600"/>
              </a:spcAft>
              <a:defRPr sz="1250">
                <a:solidFill>
                  <a:srgbClr val="1A1A1A"/>
                </a:solidFill>
                <a:latin typeface="Calibri"/>
              </a:defRPr>
            </a:pPr>
            <a:r>
              <a:t>•  Narrating While You Work</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Describe, in one or two sentences, the exact ribbon cable step you'd want a brand-new Apprentice to be extra careful with.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Torn Connector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Running behind schedule during a timed practice swap, a Technician-level student grabs the keyboard's ribbon cable and pulls it straight out of its connector to save time, skipping the small latch entirely. The cable tears slightly at the edge and now sits loosely in the connector, making the keyboard type intermittently even after the new keyboard goes in and the old ribbon gets reused for testing. The student has to explain to their supervisor what happened before ordering a replacement ribbon cable.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exactly what step was skipped and why it caused the tear, and write the one sentence you'd want this student to say differently next time they feel rushed during a ribbon-cable step.</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Articulate  (ar-TIK-yoo-late)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express something clearly and specifically, in words, so someone else understands exactly what you mean.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articulus (a small joint or connecting part) — originally about speech broken into clear, connected parts, like joints.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As you swap the keyboard, articulate each step out loud clearly enough that your partner could repeat it back accurately.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29  ·  Daughterboards: The Small Board With a Big Job</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daughterboard is and why it exists separately from the motherboard.</a:t>
            </a:r>
          </a:p>
          <a:p>
            <a:pPr>
              <a:spcAft>
                <a:spcPts val="600"/>
              </a:spcAft>
              <a:defRPr sz="1250">
                <a:solidFill>
                  <a:srgbClr val="1A1A1A"/>
                </a:solidFill>
                <a:latin typeface="Calibri"/>
              </a:defRPr>
            </a:pPr>
            <a:r>
              <a:t>•  I can identify common symptoms that point to a failing daughterboard.</a:t>
            </a:r>
          </a:p>
          <a:p>
            <a:pPr>
              <a:spcAft>
                <a:spcPts val="600"/>
              </a:spcAft>
              <a:defRPr sz="1250">
                <a:solidFill>
                  <a:srgbClr val="1A1A1A"/>
                </a:solidFill>
                <a:latin typeface="Calibri"/>
              </a:defRPr>
            </a:pPr>
            <a:r>
              <a:t>•  I can describe a testing plan to isolate a daughterboard problem before ordering a part.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Daughterboard: A small circuit board connected to the motherboard that handles one specific job, like the charging port or headphone jack.</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might it be cheaper and easier for a manufacturer to put the charging port on its own small separate board instead of building it directly into the motherboard?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Mystery Symptom Diagnosis: Set up station cards with symptoms like 'won't charge with any cable,' 'no sound from headphone jack only,' and 'one USB port dead.' In small groups, students decide the most likely culprit (battery, charger, daughterboard, or motherboard) for each and write out the testing steps they'd do first to confirm it before ever ordering a replacement part.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 Daughterboard Does</a:t>
            </a:r>
          </a:p>
          <a:p>
            <a:pPr>
              <a:spcAft>
                <a:spcPts val="600"/>
              </a:spcAft>
              <a:defRPr sz="1250">
                <a:solidFill>
                  <a:srgbClr val="1A1A1A"/>
                </a:solidFill>
                <a:latin typeface="Calibri"/>
              </a:defRPr>
            </a:pPr>
            <a:r>
              <a:t>•  Common Daughterboard Symptoms</a:t>
            </a:r>
          </a:p>
          <a:p>
            <a:pPr>
              <a:spcAft>
                <a:spcPts val="600"/>
              </a:spcAft>
              <a:defRPr sz="1250">
                <a:solidFill>
                  <a:srgbClr val="1A1A1A"/>
                </a:solidFill>
                <a:latin typeface="Calibri"/>
              </a:defRPr>
            </a:pPr>
            <a:r>
              <a:t>•  Diagnose Before You Order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If a device has no sound from its headphone jack but the internal speakers work fine, what's your first guess and why?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Charges Here, Not There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reports their Chromebook charges fine overnight at home using the charger that came with it, but never charges when plugged into the classroom charging cart's built-in USB-C cable. The battery itself tests healthy and holds a charge fine once it's actually topped up. Two other Chromebooks on the same cart slot charge normally with the same cable. A brand-new daughterboard costs the department $38 and about 20 minutes of labor to install.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List the tests you'd run before ordering that $38 daughterboard, in order, and explain what result from each test would actually justify replacing the daughterboard versus pointing to a different cause.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Isolate  (EYE-suh-late)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separate one possible cause from everything else so you can test it on its own.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insula (island) — literally 'to make into an island,' i.e., to set something apart by itself.</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Testing with a different charger and cable first helps you isolate whether the daughterboard is really the problem.</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30  ·  Daughterboard Replacement Lab</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safely replace a daughterboard following an iFixit guide.</a:t>
            </a:r>
          </a:p>
          <a:p>
            <a:pPr>
              <a:spcAft>
                <a:spcPts val="600"/>
              </a:spcAft>
              <a:defRPr sz="1250">
                <a:solidFill>
                  <a:srgbClr val="1A1A1A"/>
                </a:solidFill>
                <a:latin typeface="Calibri"/>
              </a:defRPr>
            </a:pPr>
            <a:r>
              <a:t>•  I can test a replaced daughterboard's function before closing the case.</a:t>
            </a:r>
          </a:p>
          <a:p>
            <a:pPr>
              <a:spcAft>
                <a:spcPts val="600"/>
              </a:spcAft>
              <a:defRPr sz="1250">
                <a:solidFill>
                  <a:srgbClr val="1A1A1A"/>
                </a:solidFill>
                <a:latin typeface="Calibri"/>
              </a:defRPr>
            </a:pPr>
            <a:r>
              <a:t>•  I can write a short, accurate repair log draft for a completed repair.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Daughterboard: A small circuit board connected to the motherboard that handles one specific job, like the charging port or headphone jack.</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might it help to take a photo of a ribbon cable's orientation before disconnecting it, instead of trusting yourself to remember?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Guided Daughterboard Swap: Using the iFixit guide's reference photos, pairs disconnect the battery, remove and replace the practice daughterboard, and test the port or jack function before closing the chassis. Once tested and working, each pair writes a two-line repair log draft entry noting the symptom, the part replaced, and the test result.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Safety First, Then the Swap</a:t>
            </a:r>
          </a:p>
          <a:p>
            <a:pPr>
              <a:spcAft>
                <a:spcPts val="600"/>
              </a:spcAft>
              <a:defRPr sz="1250">
                <a:solidFill>
                  <a:srgbClr val="1A1A1A"/>
                </a:solidFill>
                <a:latin typeface="Calibri"/>
              </a:defRPr>
            </a:pPr>
            <a:r>
              <a:t>•  Reassembly &amp; Testing</a:t>
            </a:r>
          </a:p>
          <a:p>
            <a:pPr>
              <a:spcAft>
                <a:spcPts val="600"/>
              </a:spcAft>
              <a:defRPr sz="1250">
                <a:solidFill>
                  <a:srgbClr val="1A1A1A"/>
                </a:solidFill>
                <a:latin typeface="Calibri"/>
              </a:defRPr>
            </a:pPr>
            <a:r>
              <a:t>•  Model Variation Matters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Write the two-line repair log draft you'd submit for today's daughterboard swap.</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Reading the Meter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After installing a replacement charging-port daughterboard, a student plugs in the charger and checks the on-screen charging indicator and a USB power meter inline with the cable. A healthy charging connection on this model should show between 4.75V and 5.25V and at least 1.5A once charging begins. The meter reads 5.0V and 1.8A within ten seconds of plugging in, and the on-screen battery icon shows the little lightning bolt indicating it's charging.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numbers from the meter, decide whether this daughterboard replacement passes the test, and explain what reading (specific voltage or amperage range) would have told you the repair still wasn't complete.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Verify  (VER-uh-fy)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check that something is true, accurate, or working correctly.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verus (true) + -ficare (to make) — literally 'to make true,' i.e., to confirm.</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After installing the new daughterboard, you'll verify the port or jack actually works before closing the case.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31  ·  Internal Components Wrap-Up: Repair or Move On?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summarize the internal repair skills built this week (battery, keyboard, daughterboard).</a:t>
            </a:r>
          </a:p>
          <a:p>
            <a:pPr>
              <a:spcAft>
                <a:spcPts val="600"/>
              </a:spcAft>
              <a:defRPr sz="1250">
                <a:solidFill>
                  <a:srgbClr val="1A1A1A"/>
                </a:solidFill>
                <a:latin typeface="Calibri"/>
              </a:defRPr>
            </a:pPr>
            <a:r>
              <a:t>•  I can explain the basic idea behind deciding whether a repair is worth doing.</a:t>
            </a:r>
          </a:p>
          <a:p>
            <a:pPr>
              <a:spcAft>
                <a:spcPts val="600"/>
              </a:spcAft>
              <a:defRPr sz="1250">
                <a:solidFill>
                  <a:srgbClr val="1A1A1A"/>
                </a:solidFill>
                <a:latin typeface="Calibri"/>
              </a:defRPr>
            </a:pPr>
            <a:r>
              <a:t>•  I can apply a simple repair-or-scrap gut-check to a sample device case.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Repair-vs-Scrap: The decision process technicians use to figure out whether fixing a device is worth the cost and time, or whether it makes more sense to scrap it for usable parts.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$20 part could fix an old device, is that automatically worth doing? What else might matter besides the price of the part?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Repair or Scrap? Case Files: Give each small group a case file describing a device's age, damage, and estimated repair cost. Using the three-question gut-check, groups decide repair or scrap and present their reasoning to the class as if presenting at a real inventory review meeting.</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This Week, Recapped</a:t>
            </a:r>
          </a:p>
          <a:p>
            <a:pPr>
              <a:spcAft>
                <a:spcPts val="600"/>
              </a:spcAft>
              <a:defRPr sz="1250">
                <a:solidFill>
                  <a:srgbClr val="1A1A1A"/>
                </a:solidFill>
                <a:latin typeface="Calibri"/>
              </a:defRPr>
            </a:pPr>
            <a:r>
              <a:t>•  When a Repair Stops Making Sense</a:t>
            </a:r>
          </a:p>
          <a:p>
            <a:pPr>
              <a:spcAft>
                <a:spcPts val="600"/>
              </a:spcAft>
              <a:defRPr sz="1250">
                <a:solidFill>
                  <a:srgbClr val="1A1A1A"/>
                </a:solidFill>
                <a:latin typeface="Calibri"/>
              </a:defRPr>
            </a:pPr>
            <a:r>
              <a:t>•  A Quick Gut-Check</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Pick one device you've worked on this week. Would you repair it or scrap it, and why?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Three Repairs or One Replacement?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five-year-old Chromebook needs three separate fixes to be fully usable again: a $22 replacement keyboard, a $15 battery, and about 45 minutes of labor across both repairs. The model is old enough that only a handful of them are still in service in the building. A comparable refurbished replacement device costs the district $95 and would arrive fully working with no labor needed on the help desk's part.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three-question gut-check from today's lesson (part cost/availability, overall device condition, and how useful the model still is to the fleet), decide repair or scrap for this device and justify the call in two or three sentences, as if presenting to Ms. Faraday.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Assess  (uh-SESS)</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weigh the facts of a situation in order to make a judgment or decision.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sedere (to sit) — originally 'to sit beside' a judge, as in assessing value for taxation.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You'll assess whether a device is worth repairing or better off scrapped, based on cost, condition, and how common the model still is.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32  ·  Serial Numbers &amp; Asset Tags: Every Device Has an Identity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serial number is and where to find one on a Chromebook.</a:t>
            </a:r>
          </a:p>
          <a:p>
            <a:pPr>
              <a:spcAft>
                <a:spcPts val="600"/>
              </a:spcAft>
              <a:defRPr sz="1250">
                <a:solidFill>
                  <a:srgbClr val="1A1A1A"/>
                </a:solidFill>
                <a:latin typeface="Calibri"/>
              </a:defRPr>
            </a:pPr>
            <a:r>
              <a:t>•  I can explain what an asset tag adds on top of a serial number.</a:t>
            </a:r>
          </a:p>
          <a:p>
            <a:pPr>
              <a:spcAft>
                <a:spcPts val="600"/>
              </a:spcAft>
              <a:defRPr sz="1250">
                <a:solidFill>
                  <a:srgbClr val="1A1A1A"/>
                </a:solidFill>
                <a:latin typeface="Calibri"/>
              </a:defRPr>
            </a:pPr>
            <a:r>
              <a:t>•  I can use the Crucial Advisor tool to check compatible parts for a specific device model.</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Serial Number: A unique number assigned by the manufacturer that identifies one specific physical device, never duplicated on any other unit.</a:t>
            </a:r>
          </a:p>
          <a:p>
            <a:pPr>
              <a:spcAft>
                <a:spcPts val="600"/>
              </a:spcAft>
              <a:defRPr sz="1200">
                <a:solidFill>
                  <a:srgbClr val="1A1A1A"/>
                </a:solidFill>
                <a:latin typeface="Calibri"/>
              </a:defRPr>
            </a:pPr>
            <a:r>
              <a:t>•  Asset Tag: A sticker or label a school district adds on top of the serial number to track a device in its own inventory system.</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two Chromebooks are the exact same model, what's still different between them, and why would that matter for tracking?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Tag and Track: Have students locate the serial number on their lab Chromebook (bottom label and in ChromeOS settings) and enter it, along with a mock asset tag number you provide, into a shared practice inventory spreadsheet. Then have them use the Crucial Advisor tool to look up compatible RAM or storage options for their assigned device model and record what they find.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 Serial Number Is</a:t>
            </a:r>
          </a:p>
          <a:p>
            <a:pPr>
              <a:spcAft>
                <a:spcPts val="600"/>
              </a:spcAft>
              <a:defRPr sz="1250">
                <a:solidFill>
                  <a:srgbClr val="1A1A1A"/>
                </a:solidFill>
                <a:latin typeface="Calibri"/>
              </a:defRPr>
            </a:pPr>
            <a:r>
              <a:t>•  What an Asset Tag Adds</a:t>
            </a:r>
          </a:p>
          <a:p>
            <a:pPr>
              <a:spcAft>
                <a:spcPts val="600"/>
              </a:spcAft>
              <a:defRPr sz="1250">
                <a:solidFill>
                  <a:srgbClr val="1A1A1A"/>
                </a:solidFill>
                <a:latin typeface="Calibri"/>
              </a:defRPr>
            </a:pPr>
            <a:r>
              <a:t>•  Ordering Compatible Parts: Crucial Advisor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Where did you find your lab Chromebook's serial number, and why do you think it's placed there?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Warranty Claim That Bounced Back</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tech submits a warranty claim for a Chromebook with a failed daughterboard, typing the district's asset tag number into the serial number field on the manufacturer's claim form by mistake, since both numbers were sitting on a sticky note together. Two weeks later the claim comes back rejected: 'No device found matching this serial number.' The tech spends twenty minutes trying to figure out what went wrong before realizing the two numbers got swapped, and has to resubmit the claim with the correct serial number pulled fresh from the device itself.</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in your own words, why mixing up the serial number and the asset tag caused the claim to bounce, and describe one habit from today's lesson (like checking ChromeOS settings or the Admin console directly) that would have caught the mistake before the claim was ever submitted.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Distinguish  (dih-STING-gwish)</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explain the difference between two similar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 (apart) + stinguere (to prick, mark) — literally 'to mark apart' from one another.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You'll distinguish what a serial number identifies versus what a district's own asset tag is used for.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33  ·  Writing a Repair Log That Actually Helps the Next Tech</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why repair logs matter for accountability and for future troubleshooting.</a:t>
            </a:r>
          </a:p>
          <a:p>
            <a:pPr>
              <a:spcAft>
                <a:spcPts val="600"/>
              </a:spcAft>
              <a:defRPr sz="1250">
                <a:solidFill>
                  <a:srgbClr val="1A1A1A"/>
                </a:solidFill>
                <a:latin typeface="Calibri"/>
              </a:defRPr>
            </a:pPr>
            <a:r>
              <a:t>•  I can identify what belongs in a complete, professional repair log entry.</a:t>
            </a:r>
          </a:p>
          <a:p>
            <a:pPr>
              <a:spcAft>
                <a:spcPts val="600"/>
              </a:spcAft>
              <a:defRPr sz="1250">
                <a:solidFill>
                  <a:srgbClr val="1A1A1A"/>
                </a:solidFill>
                <a:latin typeface="Calibri"/>
              </a:defRPr>
            </a:pPr>
            <a:r>
              <a:t>•  I can rewrite a vague repair log entry into a clear, useful one.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Repair Log: A written record of what was wrong with a device, what was done to fix it, who did it, and when.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device comes back broken a month after being 'fixed,' what information would you want from the last repair to figure out what happened?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Repair Log Rewrite: Hand out three realistic but badly written repair log entries (vague, missing serial numbers, or missing the 'why'). In pairs, students rewrite each into a complete, professional entry using today's checklist, then trade with another pair to check whether their rewrite would actually help a stranger reading it cold.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Repair Logs Matter</a:t>
            </a:r>
          </a:p>
          <a:p>
            <a:pPr>
              <a:spcAft>
                <a:spcPts val="600"/>
              </a:spcAft>
              <a:defRPr sz="1250">
                <a:solidFill>
                  <a:srgbClr val="1A1A1A"/>
                </a:solidFill>
                <a:latin typeface="Calibri"/>
              </a:defRPr>
            </a:pPr>
            <a:r>
              <a:t>•  What Belongs in a Good Entry</a:t>
            </a:r>
          </a:p>
          <a:p>
            <a:pPr>
              <a:spcAft>
                <a:spcPts val="600"/>
              </a:spcAft>
              <a:defRPr sz="1250">
                <a:solidFill>
                  <a:srgbClr val="1A1A1A"/>
                </a:solidFill>
                <a:latin typeface="Calibri"/>
              </a:defRPr>
            </a:pPr>
            <a:r>
              <a:t>•  Common Mistakes to Avoid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Rewrite this vague log entry into a better one: 'Chromebook was broken. Fixed it. Works now.'</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Entry That Said Nothing</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Three weeks ago, a repair log entry for a Chromebook read only: 'Fixed it. Works now.' No serial number, no symptom, no part replaced, no tech name. This week, the same device comes back with the exact same complaint from a different student. Whoever handles the ticket this time has no idea whether the original problem was ever actually fixed, what was tried before, or whether this is a repeat failure of the same part.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Rewrite that vague entry into a complete, professional repair log entry using today's checklist, inventing reasonable specific details (symptom, diagnosis, part, tech name) that would have actually helped the tech handling it this week.</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Clarify  (KLA-ruh-fy)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something clearer or easier to understand, often by removing vague or confusing wording.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clarus (clear, bright) + -ficare (to make) — literally 'to make clear.'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You'll clarify a vague repair log entry like 'fixed it' into one that actually explains what happened and why.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34  ·  Inventory Day: Why the Log Matters When Something Goes Missing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how a school district's inventory audit cross-checks devices against records.</a:t>
            </a:r>
          </a:p>
          <a:p>
            <a:pPr>
              <a:spcAft>
                <a:spcPts val="600"/>
              </a:spcAft>
              <a:defRPr sz="1250">
                <a:solidFill>
                  <a:srgbClr val="1A1A1A"/>
                </a:solidFill>
                <a:latin typeface="Calibri"/>
              </a:defRPr>
            </a:pPr>
            <a:r>
              <a:t>•  I can identify what happens, practically, when a device isn't logged correctly.</a:t>
            </a:r>
          </a:p>
          <a:p>
            <a:pPr>
              <a:spcAft>
                <a:spcPts val="600"/>
              </a:spcAft>
              <a:defRPr sz="1250">
                <a:solidFill>
                  <a:srgbClr val="1A1A1A"/>
                </a:solidFill>
                <a:latin typeface="Calibri"/>
              </a:defRPr>
            </a:pPr>
            <a:r>
              <a:t>•  I can trace a real accountability gap back through a repair log.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Repair Log: A written record of what was wrong with a device, what was done to fix it, who did it, and when.</a:t>
            </a:r>
          </a:p>
          <a:p>
            <a:pPr>
              <a:spcAft>
                <a:spcPts val="600"/>
              </a:spcAft>
              <a:defRPr sz="1200">
                <a:solidFill>
                  <a:srgbClr val="1A1A1A"/>
                </a:solidFill>
                <a:latin typeface="Calibri"/>
              </a:defRPr>
            </a:pPr>
            <a:r>
              <a:t>•  Serial Number: A unique number assigned by the manufacturer that identifies one specific physical device, never duplicated on any other unit.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device went missing from a school cart and nobody had written anything down about it recently, where would you even start looking?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Trace the Trail: After reading, have groups reconstruct the missing-device timeline from the story, identifying every point where logging the serial number properly would have prevented the confusion. Each group presents their timeline to the class, highlighting the single moment they think mattered most.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How an Inventory Audit Works</a:t>
            </a:r>
          </a:p>
          <a:p>
            <a:pPr>
              <a:spcAft>
                <a:spcPts val="600"/>
              </a:spcAft>
              <a:defRPr sz="1250">
                <a:solidFill>
                  <a:srgbClr val="1A1A1A"/>
                </a:solidFill>
                <a:latin typeface="Calibri"/>
              </a:defRPr>
            </a:pPr>
            <a:r>
              <a:t>•  What Happens Without a Log</a:t>
            </a:r>
          </a:p>
          <a:p>
            <a:pPr>
              <a:spcAft>
                <a:spcPts val="600"/>
              </a:spcAft>
              <a:defRPr sz="1250">
                <a:solidFill>
                  <a:srgbClr val="1A1A1A"/>
                </a:solidFill>
                <a:latin typeface="Calibri"/>
              </a:defRPr>
            </a:pPr>
            <a:r>
              <a:t>•  Reading Preview</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#5: Unaccounted For</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the one habit from today's reading you'll commit to on every repair, no matter how small?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Cart 5 Cross-Check</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An inventory spreadsheet lists five devices assigned to Cart 5, each with a serial number and asset tag on record. A physical count of Cart 5 turns up only four devices, and one of the four physically present doesn't match any serial number on the spreadsheet at all.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audit process from today's lesson, describe the exact order you'd check things in (Google Admin console, spreadsheet, recent repair log entries, sign-in sheets) to explain both the missing device and the unmatched one.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Reconcile  (REK-un-syle)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compare two sets of records and resolve any differences between them.</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re- (again) + conciliare (to bring together, unite) — literally 'to bring back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During the inventory audit, the crew has to reconcile the Google Admin console's list of devices with what's physically sitting on the cart.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35  ·  Repair vs. Scrap: Making the Call</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apply a full framework for deciding whether to repair or scrap a device.</a:t>
            </a:r>
          </a:p>
          <a:p>
            <a:pPr>
              <a:spcAft>
                <a:spcPts val="600"/>
              </a:spcAft>
              <a:defRPr sz="1250">
                <a:solidFill>
                  <a:srgbClr val="1A1A1A"/>
                </a:solidFill>
                <a:latin typeface="Calibri"/>
              </a:defRPr>
            </a:pPr>
            <a:r>
              <a:t>•  I can explain the concept of a 'parts donor' device.</a:t>
            </a:r>
          </a:p>
          <a:p>
            <a:pPr>
              <a:spcAft>
                <a:spcPts val="600"/>
              </a:spcAft>
              <a:defRPr sz="1250">
                <a:solidFill>
                  <a:srgbClr val="1A1A1A"/>
                </a:solidFill>
                <a:latin typeface="Calibri"/>
              </a:defRPr>
            </a:pPr>
            <a:r>
              <a:t>•  I can document a repair-vs-scrap decision in proper repair log format.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Repair-vs-Scrap: The decision process technicians use to figure out whether fixing a device is worth the cost and time, or whether it makes more sense to scrap it for usable parts.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had a device that would cost more in parts and time to fix than it's realistically worth to the school, what would you do with it instead of throwing it away?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The Repair-vs-Scrap Board: Set up several device folders describing condition, age, and estimated repair cost at stations around the room. Acting as Level 3 Lead Techs, students visit each station, make and justify a repair-or-scrap call, and log their decision in proper repair-log format, including their reasoning, not just their verdict.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Full Framework</a:t>
            </a:r>
          </a:p>
          <a:p>
            <a:pPr>
              <a:spcAft>
                <a:spcPts val="600"/>
              </a:spcAft>
              <a:defRPr sz="1250">
                <a:solidFill>
                  <a:srgbClr val="1A1A1A"/>
                </a:solidFill>
                <a:latin typeface="Calibri"/>
              </a:defRPr>
            </a:pPr>
            <a:r>
              <a:t>•  Salvage Value</a:t>
            </a:r>
          </a:p>
          <a:p>
            <a:pPr>
              <a:spcAft>
                <a:spcPts val="600"/>
              </a:spcAft>
              <a:defRPr sz="1250">
                <a:solidFill>
                  <a:srgbClr val="1A1A1A"/>
                </a:solidFill>
                <a:latin typeface="Calibri"/>
              </a:defRPr>
            </a:pPr>
            <a:r>
              <a:t>•  Documenting the Decision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Describe a device from today's activity you called 'scrap' and explain the reasoning you'd write in its log entry.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Parts Donor Decision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Two nearly identical old Chromebooks come in the same week. Device A needs a $30 screen and has a healthy battery, working keyboard, and good hinges otherwise. Device B needs a $30 screen, a $15 battery, and has a cracked bezel that would need a $10 replacement, and this exact model is down to only two units left in the building's fleet.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full repair-vs-scrap framework from today's lesson, decide what to do with each device, including whether Device B should become a parts donor for Device A, and write the repair-log-style rationale you'd document for each decision.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Rationale  (rash-uh-NAL)</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The set of reasons behind a decision, explained clearly enough for someone else to follow the thinking.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ratio (reasoning, calculation) + -alis (adjective-forming suffix) — related to 'ratio' and 'reason.'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When you make a repair-vs-scrap call, you'll write the rationale behind it, not just the final decision itself.</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36  ·  Full Teardown &amp; Rebuild: Practice Before the Real Thing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fully disassemble and reassemble a practice Chromebook in working order.</a:t>
            </a:r>
          </a:p>
          <a:p>
            <a:pPr>
              <a:spcAft>
                <a:spcPts val="600"/>
              </a:spcAft>
              <a:defRPr sz="1250">
                <a:solidFill>
                  <a:srgbClr val="1A1A1A"/>
                </a:solidFill>
                <a:latin typeface="Calibri"/>
              </a:defRPr>
            </a:pPr>
            <a:r>
              <a:t>•  I can write a complete repair log entry documenting a full teardown and rebuild.</a:t>
            </a:r>
          </a:p>
          <a:p>
            <a:pPr>
              <a:spcAft>
                <a:spcPts val="600"/>
              </a:spcAft>
              <a:defRPr sz="1250">
                <a:solidFill>
                  <a:srgbClr val="1A1A1A"/>
                </a:solidFill>
                <a:latin typeface="Calibri"/>
              </a:defRPr>
            </a:pPr>
            <a:r>
              <a:t>•  I can plan a beginner-friendly how-to guide for a common Chromebook problem.</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Repair Log: A written record of what was wrong with a device, what was done to fix it, who did it, and when.</a:t>
            </a:r>
          </a:p>
          <a:p>
            <a:pPr>
              <a:spcAft>
                <a:spcPts val="600"/>
              </a:spcAft>
              <a:defRPr sz="1200">
                <a:solidFill>
                  <a:srgbClr val="1A1A1A"/>
                </a:solidFill>
                <a:latin typeface="Calibri"/>
              </a:defRPr>
            </a:pPr>
            <a:r>
              <a:t>•  Serial Number: A unique number assigned by the manufacturer that identifies one specific physical device, never duplicated on any other unit.</a:t>
            </a:r>
          </a:p>
          <a:p>
            <a:pPr>
              <a:spcAft>
                <a:spcPts val="600"/>
              </a:spcAft>
              <a:defRPr sz="1200">
                <a:solidFill>
                  <a:srgbClr val="1A1A1A"/>
                </a:solidFill>
                <a:latin typeface="Calibri"/>
              </a:defRPr>
            </a:pPr>
            <a:r>
              <a:t>•  Asset Tag: A sticker or label a school district adds on top of the serial number to track a device in its own inventory system.</a:t>
            </a:r>
          </a:p>
          <a:p>
            <a:pPr>
              <a:spcAft>
                <a:spcPts val="600"/>
              </a:spcAft>
              <a:defRPr sz="1200">
                <a:solidFill>
                  <a:srgbClr val="1A1A1A"/>
                </a:solidFill>
                <a:latin typeface="Calibri"/>
              </a:defRPr>
            </a:pPr>
            <a:r>
              <a:t>•  Repair-vs-Scrap: The decision process technicians use to figure out whether fixing a device is worth the cost and time, or whether it makes more sense to scrap it for usable parts.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do you think techs practice a full teardown on a spare device before ever being trusted to open a real student's or teacher's Chromebook?</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Full Teardown &amp; Rebuild Practicum: Working individually or in pairs, students fully disassemble a practice Chromebook (bezel, LCD panel, battery, keyboard, daughterboard) and reassemble it back into full working order using iFixit guides as reference throughout. Afterward, each student writes a complete repair log entry documenting the process as if handing it off to another tech. For tonight's homework, assign a short how-to write-up: a beginner-friendly guide for one common Chromebook problem covered this phase (like a Powerwash, a sticky key, or a loose bezel), simple enough for someone with zero repair experience to follow.</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Practice First</a:t>
            </a:r>
          </a:p>
          <a:p>
            <a:pPr>
              <a:spcAft>
                <a:spcPts val="600"/>
              </a:spcAft>
              <a:defRPr sz="1250">
                <a:solidFill>
                  <a:srgbClr val="1A1A1A"/>
                </a:solidFill>
                <a:latin typeface="Calibri"/>
              </a:defRPr>
            </a:pPr>
            <a:r>
              <a:t>•  What Counts as a Full Teardown</a:t>
            </a:r>
          </a:p>
          <a:p>
            <a:pPr>
              <a:spcAft>
                <a:spcPts val="600"/>
              </a:spcAft>
              <a:defRPr sz="1250">
                <a:solidFill>
                  <a:srgbClr val="1A1A1A"/>
                </a:solidFill>
                <a:latin typeface="Calibri"/>
              </a:defRPr>
            </a:pPr>
            <a:r>
              <a:t>•  The Write-Up Is Part of the Job</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Which single step in today's teardown would you tell a brand-new Apprentice to be most careful with, and why?</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Sign-Off</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After finishing a full teardown and rebuild on a practice Chromebook, well past what any single lesson this phase asked for on its own, a student named Diego closes the case, powers it on, and watches it boot cleanly on the first try. He writes his repair log entry slowly, double-checking the practice serial number against what he wrote down at the very start of the teardown. Ms. Faraday reviews it, reads through his documented steps for the bezel, battery, keyboard, and daughterboard, and nods. 'That's the whole phase, right there,' she says. 'Every piece you've been doing separately, now in one repair, written down like it matters, because it does.'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two or three sentences, explain which single skill from this entire phase you think was hardest to learn well enough to trust yourself with, and why finishing this full teardown feels different from any single-component lab earlier in the phase.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(SIN-thuh-size)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knowledge or skill into one connected whole.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tithenai (to place) — literally 'to place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full teardown asks you to synthesize everything this phase covered, screens, batteries, keyboards, and daughterboards, into one complete repair.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E6E8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F8A3D"/>
                </a:solidFill>
                <a:latin typeface="Calibri"/>
              </a:rPr>
              <a:t>UNIT 3</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Networking &amp; Classroom Tech</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How do the invisible systems (networks, drivers, signals) and the visible risks (scams, weak passwords, data leaks) both threaten the same thing: a classroom's ability to just work?</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F8A3D"/>
                </a:solidFill>
                <a:latin typeface="Calibri"/>
              </a:rPr>
              <a:t>Days 37–54 · 18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IP Address, DNS, Ethernet, Wi-Fi, Driver, Document Camera, HDMI, Interactive Whiteboard, Phishing, Password Hygiene, Data Privacy</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37  ·  What Is a Network, Anyway?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network is and why Wi-Fi and wired connections both count as networks.</a:t>
            </a:r>
          </a:p>
          <a:p>
            <a:pPr>
              <a:spcAft>
                <a:spcPts val="600"/>
              </a:spcAft>
              <a:defRPr sz="1250">
                <a:solidFill>
                  <a:srgbClr val="1A1A1A"/>
                </a:solidFill>
                <a:latin typeface="Calibri"/>
              </a:defRPr>
            </a:pPr>
            <a:r>
              <a:t>•  I can describe what an IP address does and why every device needs one.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IP Address: A unique string of numbers assigned to a device on a network so other devices know where to send information, like a mailing address for data.</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Your phone shows full Wi-Fi bars but says 'No internet connection.' What do you think is actually broken, and why might full bars not mean a working connection?</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Network Scavenger Hunt: Pair students up and have each pair find the IP address on a lab Chromebook or desktop using the device's network settings menu. Have them record the address in a ticket-style log alongside the device's asset tag, then compare a wired lab desktop's address to a Wi-Fi Chromebook's address and discuss what looks different.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A Network Is Just a Bunch of Paths</a:t>
            </a:r>
          </a:p>
          <a:p>
            <a:pPr>
              <a:spcAft>
                <a:spcPts val="600"/>
              </a:spcAft>
              <a:defRPr sz="1250">
                <a:solidFill>
                  <a:srgbClr val="1A1A1A"/>
                </a:solidFill>
                <a:latin typeface="Calibri"/>
              </a:defRPr>
            </a:pPr>
            <a:r>
              <a:t>•  Every Device Needs an Address</a:t>
            </a:r>
          </a:p>
          <a:p>
            <a:pPr>
              <a:spcAft>
                <a:spcPts val="600"/>
              </a:spcAft>
              <a:defRPr sz="1250">
                <a:solidFill>
                  <a:srgbClr val="1A1A1A"/>
                </a:solidFill>
                <a:latin typeface="Calibri"/>
              </a:defRPr>
            </a:pPr>
            <a:r>
              <a:t>•  Why Help Desk Techs Care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In one sentence, explain what an IP address does to someone who has never heard the term.</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Room 214 Rollout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It's the first week of school and Two Rivers High is unboxing 30 new Chromebooks for Room 214. Each Chromebook needs to join the school's Wi-Fi network, and each one will be handed its own IP address automatically the moment it connects - but the classroom also has 4 wired desktops on Ethernet that already have addresses assigned: 192.168.4.10, 192.168.4.11, 192.168.4.12, and 192.168.4.13. As the Chromebooks connect one at a time, the network hands out addresses starting at 192.168.4.20. Ms. Alvarez wants to know, before students arrive, whether any of the new Chromebook addresses could possibly collide with (match) one of the four existing wired desktop addresses, and how many total devices the room will have once all 30 Chromebooks are online alongside the 4 desktops.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Working with a partner, list out the range of Chromebook addresses (starting at 192.168.4.20 for 30 devices), confirm none of them overlap with the four existing desktop addresses, and report the total device count for Room 214 to the 'network log.'</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(dif-fer-EN-shee-ayt)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and explain the difference between two or more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-ate (verb suffix) - literally 'to carry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Level 2 Technician needs to differentiate between a Chromebook's Wi-Fi connection and a desktop's wired Ethernet connection before assigning or troubleshooting an IP address.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38  ·  Reading an IP Address Like a Tech</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read the parts of an IP address and explain what they roughly represent.</a:t>
            </a:r>
          </a:p>
          <a:p>
            <a:pPr>
              <a:spcAft>
                <a:spcPts val="600"/>
              </a:spcAft>
              <a:defRPr sz="1250">
                <a:solidFill>
                  <a:srgbClr val="1A1A1A"/>
                </a:solidFill>
                <a:latin typeface="Calibri"/>
              </a:defRPr>
            </a:pPr>
            <a:r>
              <a:t>•  I can start to explain what DNS is and why it exists.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IP Address: A unique string of numbers assigned to a device on a network so other devices know where to send information, like a mailing address for data.</a:t>
            </a:r>
          </a:p>
          <a:p>
            <a:pPr>
              <a:spcAft>
                <a:spcPts val="600"/>
              </a:spcAft>
              <a:defRPr sz="1200">
                <a:solidFill>
                  <a:srgbClr val="1A1A1A"/>
                </a:solidFill>
                <a:latin typeface="Calibri"/>
              </a:defRPr>
            </a:pPr>
            <a:r>
              <a:t>•  DNS: Domain Name System - the internet's phone book, translating website names people type into the numeric IP addresses computers actually use.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computers only understand numbers, why do you think websites let you type names like a school's website address instead of a long number?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Address Comparison Station: Give small groups printed tickets showing pairs of fake IP addresses and ask them to sort each pair into 'likely same network' or 'likely different network' based on matching numbers. Debrief by connecting this to a real scenario: a device that cannot see the classroom printer because it is quietly on a different network.</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Breaking Down an IP Address</a:t>
            </a:r>
          </a:p>
          <a:p>
            <a:pPr>
              <a:spcAft>
                <a:spcPts val="600"/>
              </a:spcAft>
              <a:defRPr sz="1250">
                <a:solidFill>
                  <a:srgbClr val="1A1A1A"/>
                </a:solidFill>
                <a:latin typeface="Calibri"/>
              </a:defRPr>
            </a:pPr>
            <a:r>
              <a:t>•  Nobody Wants to Type Numbers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Without using the word 'phone book,' describe what DNS does in your own words.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Missing Printer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The Two Rivers front office has a shared printer with the address 192.168.2.50. Four staff computers are trying to print to it this morning, but only two of them succeed. The four staff IP addresses are: Ms. Chen's laptop at 192.168.2.14, the attendance desk at 192.168.1.22, the nurse's office at 192.168.2.8, and the front-office iPad at 192.168.1.9. A help desk tech (that's you) has been told that a device can only reliably reach the printer if it shares the same first three number groups as the printer's address. You need to figure out, using only the addresses above, which two devices are most likely failing to print and why, before anyone touches a single cable.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Compare each of the four staff IP addresses to the printer's address (192.168.2.50) and identify the two devices most likely on a different network segment from the printer; explain, in address terms, why those two specifically cannot reach it.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Interpret  (in-TER-prit)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figure out and explain the meaning of something.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interpretari (to explain, expound), from inter- (between) + pretium (price, value) - one who works out meaning 'between' two parties.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Learning to interpret the four number groups in an IP address lets a tech quickly guess whether two devices share the same local network.</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39  ·  DNS: The Internet's Lookup System</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happens, step by step, when a device looks up a website.</a:t>
            </a:r>
          </a:p>
          <a:p>
            <a:pPr>
              <a:spcAft>
                <a:spcPts val="600"/>
              </a:spcAft>
              <a:defRPr sz="1250">
                <a:solidFill>
                  <a:srgbClr val="1A1A1A"/>
                </a:solidFill>
                <a:latin typeface="Calibri"/>
              </a:defRPr>
            </a:pPr>
            <a:r>
              <a:t>•  I can describe Ethernet as a wired way to reach the same network DNS depends 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DNS: Domain Name System - the internet's phone book, translating website names people type into the numeric IP addresses computers actually use.</a:t>
            </a:r>
          </a:p>
          <a:p>
            <a:pPr>
              <a:spcAft>
                <a:spcPts val="600"/>
              </a:spcAft>
              <a:defRPr sz="1200">
                <a:solidFill>
                  <a:srgbClr val="1A1A1A"/>
                </a:solidFill>
                <a:latin typeface="Calibri"/>
              </a:defRPr>
            </a:pPr>
            <a:r>
              <a:t>•  Ethernet: A wired connection standard that plugs a device directly into a network using a cable, usually more stable and faster than wireless.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teacher says, 'The internet is down,' but another teacher two doors away is fine. What questions would you ask before believing 'the whole internet' is actually down?</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DNS Detective: Present the class with three short ticket scenarios (one DNS problem, one full outage, one Wi-Fi signal problem) and have small groups decide which is which and justify their answer out loud. Reference Cisco Networking Academy's 'Getting Started' materials as a real resource technicians use to build this kind of troubleshooting instinct.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DNS Lookup, Step by Step</a:t>
            </a:r>
          </a:p>
          <a:p>
            <a:pPr>
              <a:spcAft>
                <a:spcPts val="600"/>
              </a:spcAft>
              <a:defRPr sz="1250">
                <a:solidFill>
                  <a:srgbClr val="1A1A1A"/>
                </a:solidFill>
                <a:latin typeface="Calibri"/>
              </a:defRPr>
            </a:pPr>
            <a:r>
              <a:t>•  Ethernet: The Wired Path</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A user says a specific website won't load, but everything else works. What is the first thing you would check, and why?</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Mr. Okafor's Website Panic</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Mr. Okafor storms into the help desk five minutes before his first class, laptop in hand. 'The state testing portal is down. I need it up before first bell or I have to reschedule the whole exam.' He shows you the screen: it says the page 'can't be found.' You ask if he can reach any other website, and he tries the district homepage - it loads instantly. You ask him to try typing the testing portal's raw numeric IP address instead of its name, which a colleague texted him as a backup. That loads fine too. Mr. Okafor is still convinced 'the whole system' is broken and wants to cancel first period before you've even finished checking anything.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Based on what worked (the district homepage and the raw IP address) and what didn't (the typed website name), write a two-sentence explanation you would give Mr. Okafor for what's actually broken, and identify what you would check or fix next before recommending he cancel class.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Justify  (JUS-tuh-fy)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give solid reasons that support a decision or conclusion.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justus (fair, right) + facere (to make) - literally 'to make right.'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When sorting ticket scenarios into 'DNS problem,' 'full outage,' or 'Wi-Fi problem,' a good tech can justify the choice with specific evidence from the ticket, not just a guess.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40  ·  Wi-Fi vs. Ethernet: Troubleshooting Both</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compare Wi-Fi and Ethernet troubleshooting steps.</a:t>
            </a:r>
          </a:p>
          <a:p>
            <a:pPr>
              <a:spcAft>
                <a:spcPts val="600"/>
              </a:spcAft>
              <a:defRPr sz="1250">
                <a:solidFill>
                  <a:srgbClr val="1A1A1A"/>
                </a:solidFill>
                <a:latin typeface="Calibri"/>
              </a:defRPr>
            </a:pPr>
            <a:r>
              <a:t>•  I can walk through a basic connectivity troubleshooting order for either connection type.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Ethernet: A wired connection standard that plugs a device directly into a network using a cable, usually more stable and faster than wireless.</a:t>
            </a:r>
          </a:p>
          <a:p>
            <a:pPr>
              <a:spcAft>
                <a:spcPts val="600"/>
              </a:spcAft>
              <a:defRPr sz="1200">
                <a:solidFill>
                  <a:srgbClr val="1A1A1A"/>
                </a:solidFill>
                <a:latin typeface="Calibri"/>
              </a:defRPr>
            </a:pPr>
            <a:r>
              <a:t>•  Wi-Fi: A wireless standard that lets devices connect to a network using radio signals instead of a cable.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had to guess, what physical things in a building (walls, distance, other devices) do you think could weaken a Wi-Fi signal but would never affect an Ethernet cable?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Wired vs. Wireless Triage Cards: Deal out ticket cards describing connectivity complaints and have students sort each into 'check Wi-Fi steps first' or 'check Ethernet steps first' based on details in the ticket, then role-play talking a confused teacher through the first two steps out loud. Reference Cisco Networking Academy's 'Getting Started' course as where this troubleshooting ladder logic comes from professionally.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Wi-Fi Trouble Spots</a:t>
            </a:r>
          </a:p>
          <a:p>
            <a:pPr>
              <a:spcAft>
                <a:spcPts val="600"/>
              </a:spcAft>
              <a:defRPr sz="1250">
                <a:solidFill>
                  <a:srgbClr val="1A1A1A"/>
                </a:solidFill>
                <a:latin typeface="Calibri"/>
              </a:defRPr>
            </a:pPr>
            <a:r>
              <a:t>•  Ethernet Trouble Spots</a:t>
            </a:r>
          </a:p>
          <a:p>
            <a:pPr>
              <a:spcAft>
                <a:spcPts val="600"/>
              </a:spcAft>
              <a:defRPr sz="1250">
                <a:solidFill>
                  <a:srgbClr val="1A1A1A"/>
                </a:solidFill>
                <a:latin typeface="Calibri"/>
              </a:defRPr>
            </a:pPr>
            <a:r>
              <a:t>•  Same Root Questions, Different Path</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troubleshooting step that is unique to Wi-Fi and one that is unique to Ethernet.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Cart That Wouldn't Cooperate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sophomore aide named Marcus wheels a laptop cart into the help desk, visibly annoyed. 'Half these laptops connect to Wi-Fi fine and half won't stay connected for more than two minutes. I don't get it - they're all the same model.' You ask where the cart usually lives. 'Back corner of the library, near the metal shelving,' Marcus says. You ask if the disconnecting laptops are always the same ones or if it's random. He thinks about it. 'Actually... now that you say it, it's always the ones on the bottom shelf of the cart, not the top.' You glance at the cart: the bottom shelf sits lower, closer to a filing cabinet, and farther from the room's open doorway where the router signal enters strongest.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Based on Marcus's description, write down what you suspect is causing the bottom-shelf laptops to disconnect, and describe one test you'd run to confirm it before recommending a fix (such as moving the cart or adding a wired option for those machines).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(KAT-uh-guh-ryze)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kategoria (accusation, statement) + English -ize (verb suffix) - to sort into stated groups.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Sorting a stack of ticket cards means learning to categorize each complaint as a Wi-Fi issue or an Ethernet issue before choosing a troubleshooting ladder.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41  ·  Printers 101: Drivers and Why They Matter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driver does and why a missing or outdated one causes printer problems.</a:t>
            </a:r>
          </a:p>
          <a:p>
            <a:pPr>
              <a:spcAft>
                <a:spcPts val="600"/>
              </a:spcAft>
              <a:defRPr sz="1250">
                <a:solidFill>
                  <a:srgbClr val="1A1A1A"/>
                </a:solidFill>
                <a:latin typeface="Calibri"/>
              </a:defRPr>
            </a:pPr>
            <a:r>
              <a:t>•  I can describe the basic path a print job takes from a device to paper coming out.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Wi-Fi: A wireless standard that lets devices connect to a network using radio signals instead of a cable.</a:t>
            </a:r>
          </a:p>
          <a:p>
            <a:pPr>
              <a:spcAft>
                <a:spcPts val="600"/>
              </a:spcAft>
              <a:defRPr sz="1200">
                <a:solidFill>
                  <a:srgbClr val="1A1A1A"/>
                </a:solidFill>
                <a:latin typeface="Calibri"/>
              </a:defRPr>
            </a:pPr>
            <a:r>
              <a:t>•  Driver: Small software that lets a computer's operating system talk to a specific piece of hardware, like a printer or a projector.</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printer shows as 'available' on a laptop, but nothing prints and no error appears. What are two possible explanations you can think of?</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Print Job Chain Diagram: Have students draw or arrange cards representing each link in the print job chain (app, driver, network, printer, paper) and mark where a driver problem versus a Wi-Fi problem would show up. Then hand out a real 'nothing printed' ticket scenario and have pairs decide which link is most likely broken and what they would check first.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 Driver Actually Does</a:t>
            </a:r>
          </a:p>
          <a:p>
            <a:pPr>
              <a:spcAft>
                <a:spcPts val="600"/>
              </a:spcAft>
              <a:defRPr sz="1250">
                <a:solidFill>
                  <a:srgbClr val="1A1A1A"/>
                </a:solidFill>
                <a:latin typeface="Calibri"/>
              </a:defRPr>
            </a:pPr>
            <a:r>
              <a:t>•  The Print Job's Journey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Explain to a classmate, in one sentence, why an outdated driver can make a perfectly good printer look broken.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Printer That Lied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Room 118's printer shows as 'Available' in every dropdown menu on Ms. Patterson's laptop. She's tried printing the same one-page handout six times in the last ten minutes. Nothing comes out of the printer, no error message appears on her screen, and no error light is blinking on the printer itself. She mentions, almost as an afterthought, that the school pushed a laptop software update to her whole department yesterday afternoon, right before this started happening. The printer worked perfectly the day before the update. Other printers on other laptops in the building are printing fine right now, and Ms. Patterson's laptop connects to Wi-Fi without any problem.</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Given that the failure started right after a software update, and that the printer itself, the network, and other printers all seem fine, state your leading hypothesis for the cause and describe the exact first thing you would check on Ms. Patterson's laptop to test it.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Infer  (in-FUR)</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reach a conclusion based on evidence and reasoning rather than a direct statement of fact.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 (into) + ferre (to carry, bring) - to 'carry in' a conclusion from evidence.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Because the printer showed no error message at all, Ms. Patterson's tech had to infer the cause from timing alone: the problem started right after a software update.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42  ·  Printer Queues and Jams: First Response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print queue is and how a stuck job affects everything behind it.</a:t>
            </a:r>
          </a:p>
          <a:p>
            <a:pPr>
              <a:spcAft>
                <a:spcPts val="600"/>
              </a:spcAft>
              <a:defRPr sz="1250">
                <a:solidFill>
                  <a:srgbClr val="1A1A1A"/>
                </a:solidFill>
                <a:latin typeface="Calibri"/>
              </a:defRPr>
            </a:pPr>
            <a:r>
              <a:t>•  I can describe a safe, correct first response to a paper jam.</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Driver: Small software that lets a computer's operating system talk to a specific piece of hardware, like a printer or a projector.</a:t>
            </a:r>
          </a:p>
          <a:p>
            <a:pPr>
              <a:spcAft>
                <a:spcPts val="600"/>
              </a:spcAft>
              <a:defRPr sz="1200">
                <a:solidFill>
                  <a:srgbClr val="1A1A1A"/>
                </a:solidFill>
                <a:latin typeface="Calibri"/>
              </a:defRPr>
            </a:pPr>
            <a:r>
              <a:t>•  DNS: Domain Name System - the internet's phone book, translating website names people type into the numeric IP addresses computers actually use.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You send a document to print and nothing happens, but three other people say their print jobs are also stuck. What do you think is happening?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Queue vs. Jam Sort: Give students a set of ticket scenarios and have them sort each into 'print queue problem' or 'physical jam problem,' then explain out loud what the very first troubleshooting step would be for each. Emphasize that both are common enough that every Technician-level tech needs to recognize them instantly.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Print Queues: One Line, Many Jobs</a:t>
            </a:r>
          </a:p>
          <a:p>
            <a:pPr>
              <a:spcAft>
                <a:spcPts val="600"/>
              </a:spcAft>
              <a:defRPr sz="1250">
                <a:solidFill>
                  <a:srgbClr val="1A1A1A"/>
                </a:solidFill>
                <a:latin typeface="Calibri"/>
              </a:defRPr>
            </a:pPr>
            <a:r>
              <a:t>•  Jams: Look Before You Pull</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Analogy That Somehow Works</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In your own words, without using Jordan's hallway analogy, explain what DNS does.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Nine-Job Queue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The front-office print queue currently holds 9 jobs stacked in this order: (1) a 40-page staff handbook from Ms. Rivera, (2) a hall pass from the attendance desk, (3) a 1-page field trip form, (4-9) six identical 1-page permission slips from six different teachers. Job #1 has been 'stuck' for 6 minutes and nothing behind it has printed.</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how many total pages are waiting behind the stuck job, decide whether clearing just job #1 or restarting the entire queue is the faster fix, and justify your choice using the total page count.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Diagnose  (DY-ug-nohz)</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work out the specific cause of a problem by examining its symptoms.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dia- (through, apart) + gignoskein (to know) - literally 'to know thoroughly.'</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Before touching the printer, a Technician has to diagnose whether the real problem is a stuck queue or a physical jam, since the fix for each is completely different.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43  ·  Scanners and Digitizing Documents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troubleshoot a basic scanner connection or driver issue.</a:t>
            </a:r>
          </a:p>
          <a:p>
            <a:pPr>
              <a:spcAft>
                <a:spcPts val="600"/>
              </a:spcAft>
              <a:defRPr sz="1250">
                <a:solidFill>
                  <a:srgbClr val="1A1A1A"/>
                </a:solidFill>
                <a:latin typeface="Calibri"/>
              </a:defRPr>
            </a:pPr>
            <a:r>
              <a:t>•  I can explain why scanned files sometimes need special handling under data privacy rules.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Driver: Small software that lets a computer's operating system talk to a specific piece of hardware, like a printer or a projector.</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staff member scans a stack of paperwork and the file never shows up on their computer. Where do you think the scanned file actually goes, and where might it get stuck?</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Scanner Triage Log: Set up a scanner station (real or simulated with a photo of a scanner's settings screen) and have student pairs work through a checklist: is the scanner recognized by the device, is the correct driver installed, and where is the output folder set to save. Have each pair log their findings in a mock repair ticket format.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Scanners Are Just Reverse Printers</a:t>
            </a:r>
          </a:p>
          <a:p>
            <a:pPr>
              <a:spcAft>
                <a:spcPts val="600"/>
              </a:spcAft>
              <a:defRPr sz="1250">
                <a:solidFill>
                  <a:srgbClr val="1A1A1A"/>
                </a:solidFill>
                <a:latin typeface="Calibri"/>
              </a:defRPr>
            </a:pPr>
            <a:r>
              <a:t>•  Where Did the File Go?</a:t>
            </a:r>
          </a:p>
          <a:p>
            <a:pPr>
              <a:spcAft>
                <a:spcPts val="600"/>
              </a:spcAft>
              <a:defRPr sz="1250">
                <a:solidFill>
                  <a:srgbClr val="1A1A1A"/>
                </a:solidFill>
                <a:latin typeface="Calibri"/>
              </a:defRPr>
            </a:pPr>
            <a:r>
              <a:t>•  Privacy Note on Scanned Documents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troubleshooting step for a scanner problem and one privacy rule a tech should follow while doing it.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Where Did Ms. Delgado's Scan Go?</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Ms. Delgado scanned a 12-page packet of parent permission forms twenty minutes ago using the copier in the workroom. She's now searching her laptop's downloads folder, her desktop, and her email, and can't find the file anywhere. She's starting to worry the scans included private student information and might have gone somewhere they shouldn't have. She remembers pressing a green button on the scanner's touchscreen labeled with a small envelope icon, but she can't remember what happened after that. She also mentions that another teacher, Mr. Yu, set up the scanner defaults last month and never explained them to anyone else in the workroom.</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the most likely place the scan actually went based on the envelope-icon button Ms. Delgado pressed, describe how you would confirm this without opening or reading the scanned pages yourself, and explain what privacy step you'd take if the file turns out to have gone to the wrong shared location.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value, quality, or accuracy of something using evidence.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worth, be strong) + -ate (verb suffix) - to draw out the worth of something.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tech has to evaluate where a scanned file most likely saved before assuming the scanner itself is broken.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44  ·  Document Cameras in the Classroom</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set up and troubleshoot a document camera connection.</a:t>
            </a:r>
          </a:p>
          <a:p>
            <a:pPr>
              <a:spcAft>
                <a:spcPts val="600"/>
              </a:spcAft>
              <a:defRPr sz="1250">
                <a:solidFill>
                  <a:srgbClr val="1A1A1A"/>
                </a:solidFill>
                <a:latin typeface="Calibri"/>
              </a:defRPr>
            </a:pPr>
            <a:r>
              <a:t>•  I can explain how a document camera differs from a scanner or a projector.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Document Camera: A classroom device that projects a live image of a physical object, page, or demonstration onto a screen so a whole class can see it.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teacher wants the whole class to watch her fold a paper shape step by step, in real time. What kind of classroom tech would let her do that without everyone crowding around one desk?</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Document Camera Setup Race: Have pairs of students set up a document camera (or simulate with a webcam and a projector/monitor) from a fully disconnected state to a working live image, timing how long it takes and noting each step in order. Debrief on which step most often gets skipped or done out of order when techs rush.</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Live, Not Saved</a:t>
            </a:r>
          </a:p>
          <a:p>
            <a:pPr>
              <a:spcAft>
                <a:spcPts val="600"/>
              </a:spcAft>
              <a:defRPr sz="1250">
                <a:solidFill>
                  <a:srgbClr val="1A1A1A"/>
                </a:solidFill>
                <a:latin typeface="Calibri"/>
              </a:defRPr>
            </a:pPr>
            <a:r>
              <a:t>•  Common Document Camera Tickets</a:t>
            </a:r>
          </a:p>
          <a:p>
            <a:pPr>
              <a:spcAft>
                <a:spcPts val="600"/>
              </a:spcAft>
              <a:defRPr sz="1250">
                <a:solidFill>
                  <a:srgbClr val="1A1A1A"/>
                </a:solidFill>
                <a:latin typeface="Calibri"/>
              </a:defRPr>
            </a:pPr>
            <a:r>
              <a:t>•  Level Up: Setup, Not Just Fixes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List the first two things you would check if a document camera showed a black screen on the projector.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Ms. Whitfield's First Period Demo</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first-year teacher named Ms. Whitfield flags down a passing tech aide, Deja, right as the bell rings. 'I want to show the class how to fold this paper model step by step, live, but I don't want them all crowding around my desk.' Deja points out the document camera mounted above Ms. Whitfield's desk, already connected to the classroom projector from the last class period. Ms. Whitfield looks at it skeptically. 'Is that thing just for scanning stuff?' Deja explains it's actually built for exactly this - live demonstrations - and offers to help set it up in the ninety seconds before the bell finishes ringing.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the exact three-step walkthrough Deja should give Ms. Whitfield to get the document camera showing her live paper-folding demo on the projector before the bell finishes, in language a nervous first-year teacher could follow without help.</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Articulate  (ar-TIK-yuh-layt)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express ideas clearly and effectively, especially so someone unfamiliar with a topic can follow along.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articulus (a small joint) + -ate (verb suffix) - to join ideas into clear, distinct 'joints' of speech.</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Deja had to articulate the document camera setup steps clearly enough that a first-year teacher could follow them in under ninety seconds.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45  ·  Projectors and the HDMI Connection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what an HDMI connection carries and why it matters for classroom AV.</a:t>
            </a:r>
          </a:p>
          <a:p>
            <a:pPr>
              <a:spcAft>
                <a:spcPts val="600"/>
              </a:spcAft>
              <a:defRPr sz="1250">
                <a:solidFill>
                  <a:srgbClr val="1A1A1A"/>
                </a:solidFill>
                <a:latin typeface="Calibri"/>
              </a:defRPr>
            </a:pPr>
            <a:r>
              <a:t>•  I can troubleshoot a basic 'no signal' projector problem.</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HDMI: A cable and port standard that carries both video and audio from one device to a display in a single connection.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teacher's laptop screen looks fine, but the projector shows a black screen with the words 'No Signal.' What are two different things that could be causing this?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No Signal Speed Round: Set a timer and give pairs of students a projector/monitor and laptop combination with a hidden fault planted (unplugged cable, wrong input, external display not enabled) and have them find and fix it as fast as possible, then explain what they checked in what order.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One Cable, Two Jobs</a:t>
            </a:r>
          </a:p>
          <a:p>
            <a:pPr>
              <a:spcAft>
                <a:spcPts val="600"/>
              </a:spcAft>
              <a:defRPr sz="1250">
                <a:solidFill>
                  <a:srgbClr val="1A1A1A"/>
                </a:solidFill>
                <a:latin typeface="Calibri"/>
              </a:defRPr>
            </a:pPr>
            <a:r>
              <a:t>•  Reading 'No Signal' Correctly</a:t>
            </a:r>
          </a:p>
          <a:p>
            <a:pPr>
              <a:spcAft>
                <a:spcPts val="600"/>
              </a:spcAft>
              <a:defRPr sz="1250">
                <a:solidFill>
                  <a:srgbClr val="1A1A1A"/>
                </a:solidFill>
                <a:latin typeface="Calibri"/>
              </a:defRPr>
            </a:pPr>
            <a:r>
              <a:t>•  Why This Matters for Every Class Period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List the three troubleshooting steps you'd try, in order, for a 'No Signal' projector message.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No Signal, Five Minutes to Bell</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Room 220's projector shows a black screen with white letters reading 'No Signal.' Mr. Tran's laptop screen looks completely normal, and he can see his desktop and open files just fine. He says the HDMI cable is plugged into both the laptop and the projector, and it hasn't been touched since yesterday when it worked fine. He mentions that during today's fire drill twenty minutes ago, several people walked past the cart the projector's cable runs along. Mr. Tran has exactly five minutes before the bell rings and a full class waiting outside the door.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List the exact order of three things you would check, from fastest to slowest, to get Room 220's projector working again before the bell, and explain why you'd check them in that order rather than starting with the slowest one.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Analyze  (AN-uh-lyze)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break a problem down into its parts in order to understand it fully.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ana- (up, throughout) + lyein (to loosen) - to loosen something into its parts.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Technician has to analyze a 'No Signal' message by checking the cable, the input source, and the laptop's display output, in that order, rather than guessing.</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46  ·  Interactive Whiteboards: Setup and Calibration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an interactive whiteboard needs in order to work correctly.</a:t>
            </a:r>
          </a:p>
          <a:p>
            <a:pPr>
              <a:spcAft>
                <a:spcPts val="600"/>
              </a:spcAft>
              <a:defRPr sz="1250">
                <a:solidFill>
                  <a:srgbClr val="1A1A1A"/>
                </a:solidFill>
                <a:latin typeface="Calibri"/>
              </a:defRPr>
            </a:pPr>
            <a:r>
              <a:t>•  I can walk through basic touch calibration troubleshooting.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Interactive Whiteboard: A touch-sensitive display or panel connected to a computer that lets a teacher write, draw, and control software directly on the board.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teacher says the whiteboard 'thinks I'm touching the wrong spot' - her finger lands on one part of the screen but the click registers somewhere else. What do you think is misaligned?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Touch Calibration Walkthrough: Demonstrate an interactive whiteboard (or a tablet standing in for one) with touch intentionally miscalibrated, and have students identify the symptom before walking through the calibration tool as a class. Have each student write the exact steps in ticket-note format afterward, in plain language a first-year teacher could follow without help.</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More Than Just a Big Screen</a:t>
            </a:r>
          </a:p>
          <a:p>
            <a:pPr>
              <a:spcAft>
                <a:spcPts val="600"/>
              </a:spcAft>
              <a:defRPr sz="1250">
                <a:solidFill>
                  <a:srgbClr val="1A1A1A"/>
                </a:solidFill>
                <a:latin typeface="Calibri"/>
              </a:defRPr>
            </a:pPr>
            <a:r>
              <a:t>•  Calibration: Teaching the Board Where It's Touched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Explain the difference between a video connection problem and a touch connection problem on an interactive whiteboard.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Whiteboard That's Two Inches Off</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Room 315's interactive whiteboard was moved to a new cart position over the weekend. Ms. Ortega taps exactly on the icon labeled 'Save,' located 4 inches from the left edge and 2 inches from the top of the board, but the click registers on an icon that sits 6 inches from the left edge and 2 inches from the top - roughly 2 inches to the right of where she actually touched. Every tap across the whole board seems to land about 2 inches to the right of the real touch point, consistently, no matter where on the screen she tries.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Given that the touch offset is a consistent 2 inches to the right everywhere on the board, explain why this pattern points to a calibration problem rather than a broken screen, and describe what running the calibration tool should do to that offset number.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Reconcile  (REK-un-syle)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bring two things that don't match into agreement with each other.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re- (again) + conciliare (to bring together, unite) - to bring back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Calibrating an interactive whiteboard is really just teaching the software to reconcile where a finger actually touches with where the computer thinks it touched.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47  ·  Adapters and the HDMI Puzzle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common adapter types used to connect different laptops to classroom displays.</a:t>
            </a:r>
          </a:p>
          <a:p>
            <a:pPr>
              <a:spcAft>
                <a:spcPts val="600"/>
              </a:spcAft>
              <a:defRPr sz="1250">
                <a:solidFill>
                  <a:srgbClr val="1A1A1A"/>
                </a:solidFill>
                <a:latin typeface="Calibri"/>
              </a:defRPr>
            </a:pPr>
            <a:r>
              <a:t>•  I can troubleshoot a display issue caused by an adapter rather than a cable.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HDMI: A cable and port standard that carries both video and audio from one device to a display in a single connection.</a:t>
            </a:r>
          </a:p>
          <a:p>
            <a:pPr>
              <a:spcAft>
                <a:spcPts val="600"/>
              </a:spcAft>
              <a:defRPr sz="1200">
                <a:solidFill>
                  <a:srgbClr val="1A1A1A"/>
                </a:solidFill>
                <a:latin typeface="Calibri"/>
              </a:defRPr>
            </a:pPr>
            <a:r>
              <a:t>•  Interactive Whiteboard: A touch-sensitive display or panel connected to a computer that lets a teacher write, draw, and control software directly on the board.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teacher's brand-new laptop has no full-size HDMI port at all, only small oval-shaped ports. How do you think that laptop is supposed to connect to a classroom projector?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Adapter Triage Station: Set up a station with several adapter types (USB-C to HDMI, older VGA-style, etc.) and have students practice identifying which adapter a given laptop would need, then intentionally loosen a connection so students can observe and describe the flickering symptom before fixing it.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Adapters Exist</a:t>
            </a:r>
          </a:p>
          <a:p>
            <a:pPr>
              <a:spcAft>
                <a:spcPts val="600"/>
              </a:spcAft>
              <a:defRPr sz="1250">
                <a:solidFill>
                  <a:srgbClr val="1A1A1A"/>
                </a:solidFill>
                <a:latin typeface="Calibri"/>
              </a:defRPr>
            </a:pPr>
            <a:r>
              <a:t>•  Diagnosing an Adapter Problem</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A teacher's picture flickers only when someone bumps the cable near the laptop. What's your first guess, and how would you test it?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Ms. Kowalski's New Laptop</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Ms. Kowalski got a brand-new laptop over the summer, issued by the district's IT department. She tries connecting it to her classroom's HDMI cable on the first day of school and discovers her laptop has no full-size HDMI port at all - just two small oval-shaped ports she doesn't recognize. She has an old VGA-to-HDMI adapter from her previous laptop sitting in her desk drawer, left over from years ago. A tech aide, sent to help, recognizes the oval ports as USB-C, and needs to decide what Ms. Kowalski actually needs versus what she already has on hand.</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why Ms. Kowalski's old VGA-to-HDMI adapter will not solve this problem, identify the correct adapter type she actually needs, and describe the two-minute test you'd run once the correct adapter is connected to confirm the picture is stable, not just present.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Hypothesize  (hy-POTH-uh-syze)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propose a testable explanation for something based on the evidence available so far.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hypo- (under) + thesis (a placing) - to place an idea 'under' as a tentative foundation.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After noticing the picture flickered only when the cable was bumped, the tech could hypothesize that a loose adapter, not the projector, was the real problem.</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48  ·  AV Signal Flow: Putting It All Together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trace a full AV signal path from a laptop to a working classroom display.</a:t>
            </a:r>
          </a:p>
          <a:p>
            <a:pPr>
              <a:spcAft>
                <a:spcPts val="600"/>
              </a:spcAft>
              <a:defRPr sz="1250">
                <a:solidFill>
                  <a:srgbClr val="1A1A1A"/>
                </a:solidFill>
                <a:latin typeface="Calibri"/>
              </a:defRPr>
            </a:pPr>
            <a:r>
              <a:t>•  I can explain how a document camera, projector, and interactive whiteboard can all feed into the same signal chain.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Document Camera: A classroom device that projects a live image of a physical object, page, or demonstration onto a screen so a whole class can see it.</a:t>
            </a:r>
          </a:p>
          <a:p>
            <a:pPr>
              <a:spcAft>
                <a:spcPts val="600"/>
              </a:spcAft>
              <a:defRPr sz="1200">
                <a:solidFill>
                  <a:srgbClr val="1A1A1A"/>
                </a:solidFill>
                <a:latin typeface="Calibri"/>
              </a:defRPr>
            </a:pPr>
            <a:r>
              <a:t>•  Driver: Small software that lets a computer's operating system talk to a specific piece of hardware, like a printer or a projector.</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classroom has a laptop, a document camera, and a projector all supposedly connected at once. If the screen shows the wrong source, what do you think decides which device 'wins'?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Full Room Signal Trace: Set up a mock classroom station with a laptop, a document camera (or stand-in), and a projector/monitor all connected, then have student teams trace and correctly select between the two input sources on request, logging each step as if writing a repair ticket.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Signal Flow Means Order Matters</a:t>
            </a:r>
          </a:p>
          <a:p>
            <a:pPr>
              <a:spcAft>
                <a:spcPts val="600"/>
              </a:spcAft>
              <a:defRPr sz="1250">
                <a:solidFill>
                  <a:srgbClr val="1A1A1A"/>
                </a:solidFill>
                <a:latin typeface="Calibri"/>
              </a:defRPr>
            </a:pPr>
            <a:r>
              <a:t>•  Full Chain Troubleshooting</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Great Staff Meeting Jam</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Describe the full order you would check a classroom AV setup in, from source device to display, and explain why order matters.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Paused Video Mystery</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During a passing period, a substitute teacher named Mr. Ellis pokes his head into the help desk office. 'The projector in my room is showing some kind of paused video from yesterday's class instead of my laptop screen, and I've tried unplugging and replugging the HDMI cable three times.' You ask if there's a document camera also connected in that room. He pauses. 'Actually, yes, there's one mounted above the desk. I didn't touch it though.'</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to Mr. Ellis, in one sentence, why unplugging and replugging his HDMI cable three times wouldn't fix this particular problem, and tell him the one setting he should check instead.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information into a single, complete understanding.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tithenai (to place) - to place things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Tracing a full AV signal path means learning to synthesize what's happening across the source device, the cable, the input selector, and the display all at once.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49  ·  Classroom Tech Readiness Check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run a full classroom AV and peripheral readiness check before the first period of a school day.</a:t>
            </a:r>
          </a:p>
          <a:p>
            <a:pPr>
              <a:spcAft>
                <a:spcPts val="600"/>
              </a:spcAft>
              <a:defRPr sz="1250">
                <a:solidFill>
                  <a:srgbClr val="1A1A1A"/>
                </a:solidFill>
                <a:latin typeface="Calibri"/>
              </a:defRPr>
            </a:pPr>
            <a:r>
              <a:t>•  I can prioritize which classroom tech issues need to be fixed immediately versus logged for later.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HDMI: A cable and port standard that carries both video and audio from one device to a display in a single connection.</a:t>
            </a:r>
          </a:p>
          <a:p>
            <a:pPr>
              <a:spcAft>
                <a:spcPts val="600"/>
              </a:spcAft>
              <a:defRPr sz="1200">
                <a:solidFill>
                  <a:srgbClr val="1A1A1A"/>
                </a:solidFill>
                <a:latin typeface="Calibri"/>
              </a:defRPr>
            </a:pPr>
            <a:r>
              <a:t>•  Interactive Whiteboard: A touch-sensitive display or panel connected to a computer that lets a teacher write, draw, and control software directly on the board.</a:t>
            </a:r>
          </a:p>
          <a:p>
            <a:pPr>
              <a:spcAft>
                <a:spcPts val="600"/>
              </a:spcAft>
              <a:defRPr sz="1200">
                <a:solidFill>
                  <a:srgbClr val="1A1A1A"/>
                </a:solidFill>
                <a:latin typeface="Calibri"/>
              </a:defRPr>
            </a:pPr>
            <a:r>
              <a:t>•  Document Camera: A classroom device that projects a live image of a physical object, page, or demonstration onto a screen so a whole class can see it.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had five minutes to check an entire classroom's tech before the first bell, what would you check first, and what would you skip if you ran out of time?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Room-by-Room Readiness Sweep: Set up three or four mock 'classroom stations' each with a different planted issue (loose HDMI, uncalibrated whiteboard, document camera on wrong input, a printer low on paper) and send small teams on a timed sweep to identify, prioritize, and either fix or log each issue using a repair-log format.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Readiness Checks Exist</a:t>
            </a:r>
          </a:p>
          <a:p>
            <a:pPr>
              <a:spcAft>
                <a:spcPts val="600"/>
              </a:spcAft>
              <a:defRPr sz="1250">
                <a:solidFill>
                  <a:srgbClr val="1A1A1A"/>
                </a:solidFill>
                <a:latin typeface="Calibri"/>
              </a:defRPr>
            </a:pPr>
            <a:r>
              <a:t>•  Prioritizing What Gets Fixed Now</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issue you would fix on the spot during a readiness check and one you would log for later, and explain the difference in your reasoning.</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Five Minutes, Four Rooms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It's 7:15 AM and the first bell rings at 7:25. You have exactly five minutes before you need to be at your assigned post, and four rooms have flagged issues overnight in the ticket system: Room 101 has a loose HDMI cable (estimated 30-second fix), Room 204's interactive whiteboard needs recalibrating (estimated 90-second fix), Room 118's printer driver needs an update that requires IT department approval (cannot be fixed on the spot, no matter how much time you have), and Room 309's document camera is showing the wrong input source (estimated 20-second fix). All four rooms have a class starting at first bell.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time estimates given, decide which rooms you can actually visit and fully fix within your five minutes, in what order, and explain what you would do about the one issue you cannot fix on the spot.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(pry-OR-uh-tyze)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the order in which things should be done based on what matters most or is most urgent.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(earlier, first) + English -itize (verb-forming suffix) - to put something in first-order.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With only five minutes before the bell, a Lead Tech has to prioritize which classroom issues can be fixed on the spot and which ones must be logged for later.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50  ·  Phishing: Spotting the Fake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phishing and identify at least three common red flags in a phishing attempt.</a:t>
            </a:r>
          </a:p>
          <a:p>
            <a:pPr>
              <a:spcAft>
                <a:spcPts val="600"/>
              </a:spcAft>
              <a:defRPr sz="1250">
                <a:solidFill>
                  <a:srgbClr val="1A1A1A"/>
                </a:solidFill>
                <a:latin typeface="Calibri"/>
              </a:defRPr>
            </a:pPr>
            <a:r>
              <a:t>•  I can explain why phishing targets trust instead of technical weaknesses.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Phishing: A scam where someone pretends to be a trustworthy source in an email or message to trick a person into giving up login credentials or personal information.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You get an email that says 'Your account will be locked in one hour unless you click here and confirm your password.' What about this message would make you suspicious?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Red Flag Highlighting: Hand out printed copies of several cleaned-up example emails, some phishing and some legitimate, and have students individually highlight every red flag they spot before comparing answers in small groups. Save the highlighted examples for later use in this week's 'Spot the Scam' wall.</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Phishing Targets People, Not Computers</a:t>
            </a:r>
          </a:p>
          <a:p>
            <a:pPr>
              <a:spcAft>
                <a:spcPts val="600"/>
              </a:spcAft>
              <a:defRPr sz="1250">
                <a:solidFill>
                  <a:srgbClr val="1A1A1A"/>
                </a:solidFill>
                <a:latin typeface="Calibri"/>
              </a:defRPr>
            </a:pPr>
            <a:r>
              <a:t>•  Common Red Flags</a:t>
            </a:r>
          </a:p>
          <a:p>
            <a:pPr>
              <a:spcAft>
                <a:spcPts val="600"/>
              </a:spcAft>
              <a:defRPr sz="1250">
                <a:solidFill>
                  <a:srgbClr val="1A1A1A"/>
                </a:solidFill>
                <a:latin typeface="Calibri"/>
              </a:defRPr>
            </a:pPr>
            <a:r>
              <a:t>•  Why Techs Need to Know This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List two red flags that would make you suspicious of an email, and explain why each one matters.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Email Ms. Reyes Almost Opened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Ms. Reyes forwards you an email before clicking anything, which she says is 'probably nothing but something feels off.' The subject line reads: 'URGENT: Your District Email Storage is FULL - Act Within 30 Minutes.' It's signed 'IT Help Team' with no specific name, and it's from an address that reads 'support@d197-mail-helpdesk.com' instead of the district's real domain. The email asks her to click a button and 'verify your login' to avoid losing access to her account. Ms. Reyes says she almost clicked it on her phone this morning before deciding to check with the help desk first.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at least three specific red flags in Ms. Reyes's email (quoting the exact words or details that make each one suspicious), and write the two-sentence response you would send her thanking her for checking first and confirming it's a phishing attempt.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Credibility  (kred-uh-BIL-uh-tee)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The quality of being believable or trustworthy.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credere (to believe) + -ibilis (able to be) + -ity (noun suffix) - the quality of being believable.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tech evaluates an email's credibility by checking whether its sender address, greeting, and links actually match a trustworthy source.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51  ·  Password Hygiene: Building Better Habits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password hygiene means and describe at least three practices that support it.</a:t>
            </a:r>
          </a:p>
          <a:p>
            <a:pPr>
              <a:spcAft>
                <a:spcPts val="600"/>
              </a:spcAft>
              <a:defRPr sz="1250">
                <a:solidFill>
                  <a:srgbClr val="1A1A1A"/>
                </a:solidFill>
                <a:latin typeface="Calibri"/>
              </a:defRPr>
            </a:pPr>
            <a:r>
              <a:t>•  I can explain why reusing passwords across accounts is risky.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Password Hygiene: The habits that keep passwords safe - using long unique passwords, not reusing them across accounts, and changing them after a suspected leak.</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one of your online accounts got hacked tomorrow, which of your other accounts would you worry about, and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Password Strength Ladder: Present students with a set of example passwords ranging from very weak to very strong (without using anyone's real password) and have them rank the set from weakest to strongest, explaining their reasoning for each ranking. Discuss why length often matters more than complexity for real-world password strength.</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Reused Passwords Are Dangerous</a:t>
            </a:r>
          </a:p>
          <a:p>
            <a:pPr>
              <a:spcAft>
                <a:spcPts val="600"/>
              </a:spcAft>
              <a:defRPr sz="1250">
                <a:solidFill>
                  <a:srgbClr val="1A1A1A"/>
                </a:solidFill>
                <a:latin typeface="Calibri"/>
              </a:defRPr>
            </a:pPr>
            <a:r>
              <a:t>•  What Good Hygiene Actually Looks Like</a:t>
            </a:r>
          </a:p>
          <a:p>
            <a:pPr>
              <a:spcAft>
                <a:spcPts val="600"/>
              </a:spcAft>
              <a:defRPr sz="1250">
                <a:solidFill>
                  <a:srgbClr val="1A1A1A"/>
                </a:solidFill>
                <a:latin typeface="Calibri"/>
              </a:defRPr>
            </a:pPr>
            <a:r>
              <a:t>•  This Connects to the Cert Track</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password habit you could personally improve starting today, based on what good password hygiene looks like.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One Password, Six Accounts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Priya, uses the exact same password across 6 different accounts: her school Google account, her personal email, a gaming account, a streaming account, an online store, and her phone's app store login. Last month, the gaming company she uses announced that 2 million user passwords were leaked in a data breach, and hers was one of them. She hasn't changed her password on any of her 6 accounts since hearing the news three weeks ago.</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how many of Priya's accounts are currently at risk because of the one leaked password, explain what an attacker could do with that information right now using credential stuffing, and write the specific first two actions Priya should take today to fix this.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Mitigate  (MIT-uh-gayt)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a bad situation or its effects less severe.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mitis (soft, mild) + agere (to do, drive) - literally 'to make mild.'</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Using a unique password for every account is one of the simplest ways a student can mitigate the damage of a single password leak.</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52  ·  Data Privacy and FERPA in Practice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FERPA protects and why it applies to help desk work specifically.</a:t>
            </a:r>
          </a:p>
          <a:p>
            <a:pPr>
              <a:spcAft>
                <a:spcPts val="600"/>
              </a:spcAft>
              <a:defRPr sz="1250">
                <a:solidFill>
                  <a:srgbClr val="1A1A1A"/>
                </a:solidFill>
                <a:latin typeface="Calibri"/>
              </a:defRPr>
            </a:pPr>
            <a:r>
              <a:t>•  I can identify examples of student data a tech might encounter and how to handle each responsibly.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Data Privacy: The practice of protecting personal and student information from being seen, shared, or used by people who should not have access to it.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While fixing a teacher's laptop, you notice a spreadsheet open with student names and grades. What should you do, and what should you specifically avoid doing?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Privacy Scenario Walkthrough: Present a series of short scenarios (a printed report card in a shared printer tray, a gradebook left open on a repaired laptop, a shared drive with no password) and have students discuss in small groups what the correct tech response is for each, referencing FERPA and the course's data privacy expectations.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FERPA Actually Protects</a:t>
            </a:r>
          </a:p>
          <a:p>
            <a:pPr>
              <a:spcAft>
                <a:spcPts val="600"/>
              </a:spcAft>
              <a:defRPr sz="1250">
                <a:solidFill>
                  <a:srgbClr val="1A1A1A"/>
                </a:solidFill>
                <a:latin typeface="Calibri"/>
              </a:defRPr>
            </a:pPr>
            <a:r>
              <a:t>•  Data Privacy in Daily Tech Work</a:t>
            </a:r>
          </a:p>
          <a:p>
            <a:pPr>
              <a:spcAft>
                <a:spcPts val="600"/>
              </a:spcAft>
              <a:defRPr sz="1250">
                <a:solidFill>
                  <a:srgbClr val="1A1A1A"/>
                </a:solidFill>
                <a:latin typeface="Calibri"/>
              </a:defRPr>
            </a:pPr>
            <a:r>
              <a:t>•  Why This Belongs in Networking Week</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Give one real example of student data a tech might accidentally see during a repair, and explain the correct way to handle it.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Gradebook on the Screen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You're called to Room 214 to fix a laptop that keeps freezing during video playback. When you arrive, the teacher steps out to grab a student from the hallway, leaving the laptop unlocked on your desk with a gradebook spreadsheet open, showing full student names next to quarter grades and several columns of what look like behavior incident notes. You need to actually open several other programs and check system settings to diagnose the freezing issue, which means the gradebook window will likely stay visible or get minimized in the background while you work.</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Describe exactly what you would do with the open gradebook window before starting your diagnostic work, and explain what you would (and would not) mention to the teacher or anyone else about what was on the screen when you arrived.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Accountability  (uh-kown-tuh-BIL-uh-tee)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Being responsible and answerable for one's own actions and their consequences.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computare (to count, reckon) + -able + -ity (noun suffix) - the state of being answerable, of being 'counted to.'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Part of a help desk tech's accountability is leaving a gradebook exactly as they found it, unread and unmentioned, once the repair is done.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53  ·  Spot the Scam: The Wall Goes Up</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analyze a real-style phishing email and clearly explain its red flags to someone unfamiliar with the topic.</a:t>
            </a:r>
          </a:p>
          <a:p>
            <a:pPr>
              <a:spcAft>
                <a:spcPts val="600"/>
              </a:spcAft>
              <a:defRPr sz="1250">
                <a:solidFill>
                  <a:srgbClr val="1A1A1A"/>
                </a:solidFill>
                <a:latin typeface="Calibri"/>
              </a:defRPr>
            </a:pPr>
            <a:r>
              <a:t>•  I can connect phishing awareness to the password hygiene and data privacy concepts from this week.</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Phishing: A scam where someone pretends to be a trustworthy source in an email or message to trick a person into giving up login credentials or personal information.</a:t>
            </a:r>
          </a:p>
          <a:p>
            <a:pPr>
              <a:spcAft>
                <a:spcPts val="600"/>
              </a:spcAft>
              <a:defRPr sz="1200">
                <a:solidFill>
                  <a:srgbClr val="1A1A1A"/>
                </a:solidFill>
                <a:latin typeface="Calibri"/>
              </a:defRPr>
            </a:pPr>
            <a:r>
              <a:t>•  Data Privacy: The practice of protecting personal and student information from being seen, shared, or used by people who should not have access to it.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do you think a phishing email that almost worked on a real adult staff member would be more convincing to study than an obviously fake one?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Spot the Scam Wall: Using the highlighted examples saved from earlier this week, have student groups design a wall poster for one phishing example each, circling red flags and writing a plain-language explanation of each one as if teaching a younger student. Post the finished wall in a hallway or classroom space and have groups briefly present their example to the class before it goes up.</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From Practice Examples to the Real Thing</a:t>
            </a:r>
          </a:p>
          <a:p>
            <a:pPr>
              <a:spcAft>
                <a:spcPts val="600"/>
              </a:spcAft>
              <a:defRPr sz="1250">
                <a:solidFill>
                  <a:srgbClr val="1A1A1A"/>
                </a:solidFill>
                <a:latin typeface="Calibri"/>
              </a:defRPr>
            </a:pPr>
            <a:r>
              <a:t>•  Building the Spot the Scam Wall</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Spot the Scam Gets Real</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Explain, in plain language you could say to a nervous adult, why reporting a suspected phishing click immediately matters more than feeling embarrassed about it.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Wall Gets a Visitor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freshman named Theo stops in front of the half-finished Spot the Scam wall on his way to lunch, squinting at one of the annotated example emails. 'Wait, this looks exactly like an email I got last week,' he says, pulling out his phone to check. Sure enough, he has an unread message with the same fake-urgent subject line and a nearly identical sender address to one of the wall's labeled examples. He hasn't clicked anything yet, but he looks a little embarrassed that he almost didn't think twice about it before seeing the wall.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red-flag categories already labeled on the wall, write the exact plain-language explanation Theo could give a friend for why his email is fake, without using technical jargon, and describe what he should do with the email next.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Substantiate  (sub-STAN-shee-ayt)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support a claim with solid evidence or proof.</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sub- (under) + stare (to stand) - to give something solid standing, to 'make it stand.'</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Theo could substantiate his claim that the email was fake by pointing to the exact same red flags already labeled on the Spot the Scam wall.</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54  ·  Printer-Triage Relay and Mapping Your Home Network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apply this phase's full troubleshooting ladder (network, peripheral, AV, security) under time pressure in a relay format.</a:t>
            </a:r>
          </a:p>
          <a:p>
            <a:pPr>
              <a:spcAft>
                <a:spcPts val="600"/>
              </a:spcAft>
              <a:defRPr sz="1250">
                <a:solidFill>
                  <a:srgbClr val="1A1A1A"/>
                </a:solidFill>
                <a:latin typeface="Calibri"/>
              </a:defRPr>
            </a:pPr>
            <a:r>
              <a:t>•  I can map a home network and identify where a connectivity problem would most likely show up.</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Password Hygiene: The habits that keep passwords safe - using long unique passwords, not reusing them across accounts, and changing them after a suspected leak.</a:t>
            </a:r>
          </a:p>
          <a:p>
            <a:pPr>
              <a:spcAft>
                <a:spcPts val="600"/>
              </a:spcAft>
              <a:defRPr sz="1200">
                <a:solidFill>
                  <a:srgbClr val="1A1A1A"/>
                </a:solidFill>
                <a:latin typeface="Calibri"/>
              </a:defRPr>
            </a:pPr>
            <a:r>
              <a:t>•  IP Address: A unique string of numbers assigned to a device on a network so other devices know where to send information, like a mailing address for data.</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about your own home internet setup. If it suddenly stopped working tomorrow, where do you think the problem would most likely be: the router, a specific device, or something outside your house entirely?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Printer-Triage Relay: Set up three or four relay stations, each with a different planted printer or peripheral fault (jam, driver error, wrong input on a connected document camera, print queue stuck), and run teams through all stations against a clock, logging each fix in ticket format before moving to the next station. Award recognition for both speed and complete, professional ticket notes, reflecting this course's Live Desk Work and Professionalism &amp; Service grading categories.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This Week, Under Pressure</a:t>
            </a:r>
          </a:p>
          <a:p>
            <a:pPr>
              <a:spcAft>
                <a:spcPts val="600"/>
              </a:spcAft>
              <a:defRPr sz="1250">
                <a:solidFill>
                  <a:srgbClr val="1A1A1A"/>
                </a:solidFill>
                <a:latin typeface="Calibri"/>
              </a:defRPr>
            </a:pPr>
            <a:r>
              <a:t>•  Your Home Network Has the Same Pieces</a:t>
            </a:r>
          </a:p>
          <a:p>
            <a:pPr>
              <a:spcAft>
                <a:spcPts val="600"/>
              </a:spcAft>
              <a:defRPr sz="1250">
                <a:solidFill>
                  <a:srgbClr val="1A1A1A"/>
                </a:solidFill>
                <a:latin typeface="Calibri"/>
              </a:defRPr>
            </a:pPr>
            <a:r>
              <a:t>•  Looking Ahead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Homework: sketch a simple map of your home network, showing the router, your main connected devices, and whether each connects by Wi-Fi or Ethernet, and mark the spot you think a problem would most likely show up first.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Mapping the Diaz Household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The Diaz household has one router in the living room, and connected to it are: a smart TV (Wi-Fi), a gaming console (Ethernet, plugged directly into the router), two phones (Wi-Fi), a laptop used for homework (Wi-Fi), and a desktop computer in a bedroom at the far end of the house, two rooms away from the router (Wi-Fi). Last week, the bedroom desktop's connection dropped constantly during video calls, while every other device in the house worked fine the entire time.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distances and connection types described, identify which device is most likely to have connection problems and explain why, then propose one specific fix (such as adding an Ethernet run or a Wi-Fi extender) and justify why it would target the actual weak point instead of just restarting the router.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Collaborate  (kuh-LAB-uh-rayt)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work together with others toward a shared goal.</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com- (together) + laborare (to work) - to work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Printer-Triage Relay only works if teammates collaborate, passing along what they already checked so the next station doesn't repeat wasted steps.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E6E8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F8A3D"/>
                </a:solidFill>
                <a:latin typeface="Calibri"/>
              </a:rPr>
              <a:t>UNIT 4</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Professional Certification Intensive</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does it actually take to pass an industry-standard IT certification exam, and how do I close my own gaps before test day?</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F8A3D"/>
                </a:solidFill>
                <a:latin typeface="Calibri"/>
              </a:rPr>
              <a:t>Days 55–72 · 18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Core 1 (CompTIA), System Administration, Signal Flow, Stress Test, Practice Exam, Certification Blueprint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55  ·  CompTIA A+ Core 1: What's Actually on the Exam</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name the five domain groups covered by the CompTIA A+ Core 1 exam.</a:t>
            </a:r>
          </a:p>
          <a:p>
            <a:pPr>
              <a:spcAft>
                <a:spcPts val="600"/>
              </a:spcAft>
              <a:defRPr sz="1250">
                <a:solidFill>
                  <a:srgbClr val="1A1A1A"/>
                </a:solidFill>
                <a:latin typeface="Calibri"/>
              </a:defRPr>
            </a:pPr>
            <a:r>
              <a:t>•  I can explain what a certification blueprint is and why it matters for studying.</a:t>
            </a:r>
          </a:p>
          <a:p>
            <a:pPr>
              <a:spcAft>
                <a:spcPts val="600"/>
              </a:spcAft>
              <a:defRPr sz="1250">
                <a:solidFill>
                  <a:srgbClr val="1A1A1A"/>
                </a:solidFill>
                <a:latin typeface="Calibri"/>
              </a:defRPr>
            </a:pPr>
            <a:r>
              <a:t>•  I can self-rate my current confidence in each Core 1 domain.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Core 1 (CompTIA): The first of two exams in the CompTIA A+ certification, covering mobile devices, networking, hardware, virtualization/cloud, and hardware troubleshooting.</a:t>
            </a:r>
          </a:p>
          <a:p>
            <a:pPr>
              <a:spcAft>
                <a:spcPts val="600"/>
              </a:spcAft>
              <a:defRPr sz="1200">
                <a:solidFill>
                  <a:srgbClr val="1A1A1A"/>
                </a:solidFill>
                <a:latin typeface="Calibri"/>
              </a:defRPr>
            </a:pPr>
            <a:r>
              <a:t>•  Certification Blueprint: The official outline of exactly what topics and in what proportion a certification exam will test.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Without looking anything up, list three IT topics you think a hardware certification exam would probably test.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Blueprint Self-Assessment: Give students the five Core 1 domain names. Have them rate their confidence 1-5 in each, then pair up and explain to a partner which domain they feel weakest in and why. Collect the self-ratings to use for grouping students in later review days.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a Blueprint Beats Guessing</a:t>
            </a:r>
          </a:p>
          <a:p>
            <a:pPr>
              <a:spcAft>
                <a:spcPts val="600"/>
              </a:spcAft>
              <a:defRPr sz="1250">
                <a:solidFill>
                  <a:srgbClr val="1A1A1A"/>
                </a:solidFill>
                <a:latin typeface="Calibri"/>
              </a:defRPr>
            </a:pPr>
            <a:r>
              <a:t>•  The Five Domains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the one Core 1 domain you most need to review, and one specific thing you'll do this week to study it.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Where Should the Study Hours Go?</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The Core 1 blueprint weights its five domains unevenly: Mobile Devices 14%, Networking 20%, Hardware 27%, Virtualization/Cloud 12%, and Troubleshooting 27% of the exam. A student named Priya rated her own confidence 1-5 in each domain after today's warm-up: Mobile Devices 4, Networking 2, Hardware 3, Virtualization/Cloud 4, Troubleshooting 3. Priya has exactly six hours of study time before her scheduled testing window and wants to spend it where it will do the most good, not just on whatever feels most comfortable to review. She knows that a high blueprint percentage paired with low confidence is a bigger problem than a high blueprint percentage paired with high confidence, and that a domain she already feels solid in probably doesn't need six hours split evenly across everything.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Priya's confidence ratings and the blueprint percentages, students calculate a rough 'priority score' for each domain (a higher blueprint percentage combined with a lower confidence rating should produce a higher priority score), rank all five domains from most to least urgent to study, and write one sentence justifying which domain should get the most of Priya's six hours.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(pry-OR-uh-tyze)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what to focus on first based on what matters most or is most urgent.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(former, earlier, more important) + -itize (a suffix meaning 'to make into')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After rating her confidence in all five Core 1 domains, Priya had to prioritize which domain to study first.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56  ·  Mobile Devices Deep Dive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list common mobile device components tested on Core 1.</a:t>
            </a:r>
          </a:p>
          <a:p>
            <a:pPr>
              <a:spcAft>
                <a:spcPts val="600"/>
              </a:spcAft>
              <a:defRPr sz="1250">
                <a:solidFill>
                  <a:srgbClr val="1A1A1A"/>
                </a:solidFill>
                <a:latin typeface="Calibri"/>
              </a:defRPr>
            </a:pPr>
            <a:r>
              <a:t>•  I can connect Phase 2 Chromebook repair skills to the Mobile Devices domain.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Core 1 (CompTIA): The first of two exams in the CompTIA A+ certification.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List every internal Chromebook component you remember replacing or learning about in Phase 2.</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Chromebook-to-Blueprint Mapping: Have students list Phase 2 repair skills on one side of a page and match each to a Core 1 Mobile Devices exam topic on the other side. Discuss as a class which exam topics have zero hands-on match and need extra video review.</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Mobile Devices on the Exam</a:t>
            </a:r>
          </a:p>
          <a:p>
            <a:pPr>
              <a:spcAft>
                <a:spcPts val="600"/>
              </a:spcAft>
              <a:defRPr sz="1250">
                <a:solidFill>
                  <a:srgbClr val="1A1A1A"/>
                </a:solidFill>
                <a:latin typeface="Calibri"/>
              </a:defRPr>
            </a:pPr>
            <a:r>
              <a:t>•  What's New Beyond Chromebooks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one Mobile Devices exam topic you need to review through video, since we don't repair it hands-on at our desk?</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Phone Nobody's Repaired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During lunch, a teacher walks into the Help Desk holding a personal Android tablet with a spiderwebbed, cracked digitizer covering the screen. She explains she uses it to project reading passages onto the classroom board every morning and asks if 'the computer kids' can take a quick look before her next class starts in twenty minutes. The Help Desk normally only services school-issued Chromebooks, and nobody on shift has ever opened a tablet like this one before. It does, however, use several of the same connection types and battery concepts covered in today's Mobile Devices domain review, even though the internal layout looks nothing like a Chromebook.</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decide, using today's lesson on Mobile Devices sub-topics, whether to attempt any hands-on triage of the tablet, only offer general troubleshooting advice, or refer the teacher elsewhere, and justify the decision in 2-3 sentences using at least one specific Core 1 Mobile Devices concept.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(KAT-uh-guh-ryze)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kategoria (an accusation, later 'category, class') + -ize (a suffix meaning 'to make or do')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categorized each Phase 2 repair skill under the correct Core 1 Mobile Devices sub-topic.</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57  ·  Hardware Networking for Core 1</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network hardware and cable types tested on Core 1.</a:t>
            </a:r>
          </a:p>
          <a:p>
            <a:pPr>
              <a:spcAft>
                <a:spcPts val="600"/>
              </a:spcAft>
              <a:defRPr sz="1250">
                <a:solidFill>
                  <a:srgbClr val="1A1A1A"/>
                </a:solidFill>
                <a:latin typeface="Calibri"/>
              </a:defRPr>
            </a:pPr>
            <a:r>
              <a:t>•  I can connect Phase 3 networking fundamentals to this exam domain.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Certification Blueprint: The official outline of exactly what topics and in what proportion a certification exam will test.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From Phase 3, name every piece of network hardware you can remember (cables, devices, connectors).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Cable and Connector ID Station: Set out any cables/connectors available in the repair space (Ethernet, HDMI, USB types). Students identify each and note which Core 1 sub-topic it falls under, then use video resources to fill in any cable types not physically available.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Networking on Core 1</a:t>
            </a:r>
          </a:p>
          <a:p>
            <a:pPr>
              <a:spcAft>
                <a:spcPts val="600"/>
              </a:spcAft>
              <a:defRPr sz="1250">
                <a:solidFill>
                  <a:srgbClr val="1A1A1A"/>
                </a:solidFill>
                <a:latin typeface="Calibri"/>
              </a:defRPr>
            </a:pPr>
            <a:r>
              <a:t>•  Filling the Gaps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cable or connector type you're still unsure about identifying, and where you'll go to review it.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Supply Closet Audit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The Help Desk's supply closet inventory currently shows: 3 Cat 5e cables, 0 Cat 6 cables, 2 HDMI cables, 5 RJ-45 connectors, and 1 spool of fiber cable that has never been used. District IT has asked the Help Desk to wire two new Chromebook carts into the classroom network before next week, and each cart needs one Cat 6 cable run to the nearest wall jack plus a working RJ-45 connector crimped onto each end. The fiber spool is not needed for this job since fiber only runs between the building's main network closets, not to individual classroom carts.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use the inventory list and the job requirements to calculate exactly what's missing to complete both cart installations, then write a short supply request naming the exact cable and connector types and quantities needed, using correct Core 1 Networking terminology.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and explain the specific differences between similar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differre (to carry apart, to differ) + -ate (a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Being able to differentiate a Cat 5e cable from a Cat 6 cable matters on the Core 1 Networking domain.</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58  ·  Core 1 Practice Set + Where I Stand</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answer practice questions covering Mobile Devices, Networking, and Hardware.</a:t>
            </a:r>
          </a:p>
          <a:p>
            <a:pPr>
              <a:spcAft>
                <a:spcPts val="600"/>
              </a:spcAft>
              <a:defRPr sz="1250">
                <a:solidFill>
                  <a:srgbClr val="1A1A1A"/>
                </a:solidFill>
                <a:latin typeface="Calibri"/>
              </a:defRPr>
            </a:pPr>
            <a:r>
              <a:t>•  I can identify my remaining weak spots ahead of the Google IT Support review week.</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Practice Exam: A timed, exam-style set of questions used to check readiness and identify weak spots before the real certification test.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In one sentence, name the Core 1 domain you feel best prepared for after this week.</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Core 1 Practice Set: Administer a 15-question practice set covering this week's three domains. Afterward, have students categorize each miss as 'didn't know it' or 'misread it,' then write one specific study action for next week.</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Practice Sets vs. Full Exams</a:t>
            </a:r>
          </a:p>
          <a:p>
            <a:pPr>
              <a:spcAft>
                <a:spcPts val="600"/>
              </a:spcAft>
              <a:defRPr sz="1250">
                <a:solidFill>
                  <a:srgbClr val="1A1A1A"/>
                </a:solidFill>
                <a:latin typeface="Calibri"/>
              </a:defRPr>
            </a:pPr>
            <a:r>
              <a:t>•  Reading Your Own Results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Which Core 1 domain from this week needs the most additional review before the real exam?</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Reading the Miss Pattern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named Marcus missed six questions on today's practice set: two from Mobile Devices, one from Networking, and three from Hardware. Looking back at his answer sheet, on the two Mobile Devices misses he had picked an answer choice that didn't even relate to the question being asked, suggesting he read too fast. On the Networking miss, he left the term 'RJ-45' blank because he genuinely didn't recognize it. On all three Hardware misses, he picked answers that were close but not quite right, and later realized he'd mixed up two similar-sounding component names.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Marcus's pattern of misses, students categorize each of his six missed questions as 'didn't know it' or 'misread it,' tally which domain has the most misses overall, and write one specific study action Marcus should take before the Google IT Support review week begins.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judge the quality, value, or accuracy of something using evidence.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strong, to be worth) + -ate (a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After the practice set, students had to evaluate whether each miss came from not knowing the content or from misreading the question.</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59  ·  Google IT Support: Operating Systems Review</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compare basic administrative tasks across Windows, macOS, ChromeOS, and Linux.</a:t>
            </a:r>
          </a:p>
          <a:p>
            <a:pPr>
              <a:spcAft>
                <a:spcPts val="600"/>
              </a:spcAft>
              <a:defRPr sz="1250">
                <a:solidFill>
                  <a:srgbClr val="1A1A1A"/>
                </a:solidFill>
                <a:latin typeface="Calibri"/>
              </a:defRPr>
            </a:pPr>
            <a:r>
              <a:t>•  I can explain why the Google IT Support cert covers system administration broadly.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System Administration: Managing user accounts, permissions, updates, and settings on computers and networks so they run correctly and securely.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Name one task you've done as a Help Desk tech that counts as system administration, even if you didn't call it that at the time.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OS Comparison Chart: Have students build a comparison chart with rows for user accounts, permissions, and updates, and columns for Windows, macOS, ChromeOS, and Linux. Fill in what they know from experience, then use Coursera module content to complete any gaps.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Google IT Support Covers</a:t>
            </a:r>
          </a:p>
          <a:p>
            <a:pPr>
              <a:spcAft>
                <a:spcPts val="600"/>
              </a:spcAft>
              <a:defRPr sz="1250">
                <a:solidFill>
                  <a:srgbClr val="1A1A1A"/>
                </a:solidFill>
                <a:latin typeface="Calibri"/>
              </a:defRPr>
            </a:pPr>
            <a:r>
              <a:t>•  OS Administration Basics Across Platforms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system administration task that works differently on ChromeOS compared to Windows.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Same Task, Four Operating Systems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The district rolls out a new spreadsheet app to every school device on the same morning. By lunch, the Help Desk has four tickets about it: a teacher on a Windows laptop who can't find the 'install' button in Control Panel, a teacher on a school MacBook whose app is 'stuck downloading' in the App Store, a student on a ChromeOS Chromebook whose app icon shows a small cloud instead of opening, and a computer science teacher on a Linux lab machine who says the app 'isn't in the package manager yet.' Each ticket uses different language for what is, underneath, the same basic system administration task: getting new software properly installed and updated.</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match each ticket's description to the operating system it's describing and analyze how the same underlying system administration task (installing/updating software) looks different on each platform, writing one sentence per OS translating the ticket into the platform's actual next step.</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Analyze  (AN-uh-lyze)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break something down into its parts to understand how it works.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ana- (up, throughout) + lyein (to loosen, undo)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analyzed how the same system administration task looks different on Windows, macOS, ChromeOS, and Linux.</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60  ·  Ticket #9: The Question That Got Jordan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a system administration concept from a story about a missed practice question.</a:t>
            </a:r>
          </a:p>
          <a:p>
            <a:pPr>
              <a:spcAft>
                <a:spcPts val="600"/>
              </a:spcAft>
              <a:defRPr sz="1250">
                <a:solidFill>
                  <a:srgbClr val="1A1A1A"/>
                </a:solidFill>
                <a:latin typeface="Calibri"/>
              </a:defRPr>
            </a:pPr>
            <a:r>
              <a:t>•  I can describe a strategy for rebuilding confidence after a bad practice-exam result.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System Administration: Managing user accounts, permissions, updates, and settings on computers and networks so they run correctly and securely.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Describe a time you did badly on a quiz or test and then bounced back. What helped you recover?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 and Reflect: Students read the prose installment, then in pairs discuss: what permission concept tripped up Jordan, and has something similar happened to them during practice questions? Debrief as a class on strategies for bouncing back from a rough practice session.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Setting Up Today's Reading</a:t>
            </a:r>
          </a:p>
          <a:p>
            <a:pPr>
              <a:spcAft>
                <a:spcPts val="600"/>
              </a:spcAft>
              <a:defRPr sz="1250">
                <a:solidFill>
                  <a:srgbClr val="1A1A1A"/>
                </a:solidFill>
                <a:latin typeface="Calibri"/>
              </a:defRPr>
            </a:pPr>
            <a:r>
              <a:t>•  The System Administration Concept Behind It</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#9: The Question That Got Jordan</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Explain, in your own words, what a permission level is and give one real example from your own Help Desk experience.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Two Accounts, One Mistake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brand-new substitute teacher account was set up in a hurry the night before a field trip and was accidentally given full administrator rights instead of standard teacher rights. The next day, a student using that sub's login on a shared classroom Chromebook was able to install an unapproved browser extension that the school normally blocks on student accounts.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2-3 sentences, students explain what permission-level mistake caused this problem and what setting, if configured correctly from the start, should have prevented the student from installing the extension.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Interpret  (in-TUR-prit)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explain the meaning of something, especially when it isn't stated directly.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inter- (between) + pretari (to explain, appraise)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Sam helped Jordan interpret what the practice question about teacher and student accounts was really asking.</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61  ·  System Administration: User Accounts &amp; Permissions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permission levels are and why they exist.</a:t>
            </a:r>
          </a:p>
          <a:p>
            <a:pPr>
              <a:spcAft>
                <a:spcPts val="600"/>
              </a:spcAft>
              <a:defRPr sz="1250">
                <a:solidFill>
                  <a:srgbClr val="1A1A1A"/>
                </a:solidFill>
                <a:latin typeface="Calibri"/>
              </a:defRPr>
            </a:pPr>
            <a:r>
              <a:t>•  I can describe how account management connects to security.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System Administration: Managing user accounts, permissions, updates, and settings on computers and networks so they run correctly and securely.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List every account type you can think of at your school (student, teacher, admin, guest, etc.) and guess what each one is and isn't allowed to do.</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Permission Level Map: Have students draw a simple pyramid or ladder diagram showing permission levels at their school (student, teacher, Help Desk tech, District IT admin), noting one thing each level can and cannot do. Discuss where the Help Desk's own limits are.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Permission Levels, For Real This Time</a:t>
            </a:r>
          </a:p>
          <a:p>
            <a:pPr>
              <a:spcAft>
                <a:spcPts val="600"/>
              </a:spcAft>
              <a:defRPr sz="1250">
                <a:solidFill>
                  <a:srgbClr val="1A1A1A"/>
                </a:solidFill>
                <a:latin typeface="Calibri"/>
              </a:defRPr>
            </a:pPr>
            <a:r>
              <a:t>•  Where Techs Fit In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task that requires more permission than a Help Desk tech has, and explain why it should be escalated instead.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Setting the Permission Ladder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simplified permissions table lists four account types (Guest, Student, Teacher, Help Desk Tech) against five capabilities (install software, browse other users' files, change network settings, reset another person's password, view their own grades or work only). As currently configured, Guest accounts can install software, Student accounts can browse other users' files, and Help Desk Tech accounts can change network settings district-wide, all of which contradict what today's lesson says permission levels are supposed to protect against.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find at least three misassigned permissions in the table, correct each one to match the security and stability principles from today's lesson, and justify each fix in one sentence.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Justify  (JUS-tuh-fy)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give solid reasons that support a decision or claim.</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justus (right, lawful) + -ficare (to make)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justify why a Help Desk tech's permission level sits above a student's but below District IT's.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62  ·  Google IT Support: Troubleshooting Methodology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describe a standard IT troubleshooting methodology.</a:t>
            </a:r>
          </a:p>
          <a:p>
            <a:pPr>
              <a:spcAft>
                <a:spcPts val="600"/>
              </a:spcAft>
              <a:defRPr sz="1250">
                <a:solidFill>
                  <a:srgbClr val="1A1A1A"/>
                </a:solidFill>
                <a:latin typeface="Calibri"/>
              </a:defRPr>
            </a:pPr>
            <a:r>
              <a:t>•  I can connect this methodology to the intake skills practiced all semester.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System Administration: Managing user accounts, permissions, updates, and settings on computers and networks so they run correctly and securely.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Write down the exact steps you personally take when you sit down to fix an unfamiliar tech problem.</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Name the Step: Present 5 short real-ticket scenarios from the semester. In pairs, students identify which troubleshooting methodology step is happening in each scenario (identify, theory, test, plan/implement, verify, document).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A Repeatable Method</a:t>
            </a:r>
          </a:p>
          <a:p>
            <a:pPr>
              <a:spcAft>
                <a:spcPts val="600"/>
              </a:spcAft>
              <a:defRPr sz="1250">
                <a:solidFill>
                  <a:srgbClr val="1A1A1A"/>
                </a:solidFill>
                <a:latin typeface="Calibri"/>
              </a:defRPr>
            </a:pPr>
            <a:r>
              <a:t>•  Why Naming the Steps Helps on the Exam</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the troubleshooting methodology step you personally skip most often, and why that's risky.</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Six Steps, Out of Order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tech named Dana gets a ticket about a classroom printer that won't print. Dana quickly restarts the printer, it starts working again, and Dana moves on to the next ticket without checking whether the fix actually holds up under normal use or writing down what she found. A week later, the same printer jams again in the exact same spot, and this time it takes another tech twenty extra minutes to figure out that a worn roller, not a simple glitch, was the real cause all along - something Dana's restart never actually addressed.</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identify which two troubleshooting methodology steps Dana skipped, explain the real-world consequence of skipping them, and rewrite a short plan for how Dana should have handled the original ticket using all six steps.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Summarize  (SUM-uh-ryze)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state the main points of something briefly, leaving out extra detail.</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summa (the whole, sum total) + -ize (a suffix meaning 'to make or do')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summarized the six-step troubleshooting methodology in their own words before applying it to real tickets.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63  ·  Google IT Support Practice Set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answer practice questions covering OS, system administration, and troubleshooting methodology.</a:t>
            </a:r>
          </a:p>
          <a:p>
            <a:pPr>
              <a:spcAft>
                <a:spcPts val="600"/>
              </a:spcAft>
              <a:defRPr sz="1250">
                <a:solidFill>
                  <a:srgbClr val="1A1A1A"/>
                </a:solidFill>
                <a:latin typeface="Calibri"/>
              </a:defRPr>
            </a:pPr>
            <a:r>
              <a:t>•  I can identify remaining gaps before AV Technologist Prep week.</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Practice Exam: A timed, exam-style set of questions used to check readiness and identify weak spots before the real certification test.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In one sentence, what's the single most useful thing you learned this week about system administration or troubleshooting?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Google IT Support Practice Set: Administer a 15-question practice set covering OS review, system administration, and troubleshooting methodology. Have students categorize misses and set one specific study goal, just like the Week 13 practice set.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Consistency Across Threads</a:t>
            </a:r>
          </a:p>
          <a:p>
            <a:pPr>
              <a:spcAft>
                <a:spcPts val="600"/>
              </a:spcAft>
              <a:defRPr sz="1250">
                <a:solidFill>
                  <a:srgbClr val="1A1A1A"/>
                </a:solidFill>
                <a:latin typeface="Calibri"/>
              </a:defRPr>
            </a:pPr>
            <a:r>
              <a:t>•  Connecting the Two Certs So Far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Which is currently stronger for you: Core 1 or Google IT Support? What's the evidence?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Cross-Domain Scorecard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student's 15-question Google IT Support practice set scorecard shows 5 questions tagged Operating Systems (4 correct, 1 wrong), 5 tagged System Administration (2 correct, 3 wrong), and 5 tagged Troubleshooting Methodology (5 correct, 0 wrong).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total the correct and incorrect answers per domain from the scorecard, identify which domain is clearly the weakest, and write a specific one-week study plan (naming a resource and a method) that targets that exact domain before AV Technologist Prep week begins.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information into one connected understanding.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tithenai (to place, put)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practice set asked students to synthesize what they'd learned across operating systems, system administration, and troubleshooting methodology.</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64  ·  AV Technologist Prep: What Is Signal Flow?</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signal flow and trace a simple AV signal path.</a:t>
            </a:r>
          </a:p>
          <a:p>
            <a:pPr>
              <a:spcAft>
                <a:spcPts val="600"/>
              </a:spcAft>
              <a:defRPr sz="1250">
                <a:solidFill>
                  <a:srgbClr val="1A1A1A"/>
                </a:solidFill>
                <a:latin typeface="Calibri"/>
              </a:defRPr>
            </a:pPr>
            <a:r>
              <a:t>•  I can connect Phase 3 AV troubleshooting to the AVIXA certification.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Signal Flow: The path a signal takes from its source (like a microphone or laptop) through processing equipment to its destination (like a speaker or projector).</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the last time a projector or classroom speaker didn't work. What did the source look like, and what didn't happen at the destination?</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Trace the Signal: Using the classroom's actual AV setup (or a diagram if unavailable), have students trace the signal flow from laptop to projected image, labeling each link in the chain. Discuss where a break at each link would show up as a symptom.</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Signal Flow, Step by Step</a:t>
            </a:r>
          </a:p>
          <a:p>
            <a:pPr>
              <a:spcAft>
                <a:spcPts val="600"/>
              </a:spcAft>
              <a:defRPr sz="1250">
                <a:solidFill>
                  <a:srgbClr val="1A1A1A"/>
                </a:solidFill>
                <a:latin typeface="Calibri"/>
              </a:defRPr>
            </a:pPr>
            <a:r>
              <a:t>•  AVIXA and the AV Technologist Path</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If a projector shows no image, name two specific points along the signal flow you'd check first, and why.</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Trace the Chain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troubleshooting log for a 'no image' projector ticket shows the following test results, in the order they were checked: laptop screen confirmed on and mirroring correctly; HDMI cable confirmed firmly connected at both ends; AV switcher box checked next, showing no indicator lights at all, even though it's plugged into a power strip that is switched on.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use the troubleshooting log to identify exactly which link in the signal flow chain is broken, explain why the earlier links (laptop, cable) can be ruled out based on the data given, and name one specific next thing to check at the switcher itself.</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Infer  (in-FUR)</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figure out something that isn't directly stated, using clues and evidence.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 (into) + ferre (to carry, bring)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By checking each link in the signal flow, Jordan could infer exactly where the break was happening.</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65  ·  Audio Basics: Mics, Mixers, Speakers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basic audio signal-flow components.</a:t>
            </a:r>
          </a:p>
          <a:p>
            <a:pPr>
              <a:spcAft>
                <a:spcPts val="600"/>
              </a:spcAft>
              <a:defRPr sz="1250">
                <a:solidFill>
                  <a:srgbClr val="1A1A1A"/>
                </a:solidFill>
                <a:latin typeface="Calibri"/>
              </a:defRPr>
            </a:pPr>
            <a:r>
              <a:t>•  I can troubleshoot a simple audio signal problem using signal flow logic.</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Signal Flow: The path a signal takes from its source through processing equipment to its destination.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heard feedback (a loud screech) from a microphone and speaker? What do you think causes that?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Audio Troubleshooting Scenarios: Present 4 short 'no sound' or 'feedback' scenarios. In pairs, students identify which link in the audio signal flow is the likely culprit for each, using the source-mixer-amplifier-speaker chain.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Audio Signal Flow</a:t>
            </a:r>
          </a:p>
          <a:p>
            <a:pPr>
              <a:spcAft>
                <a:spcPts val="600"/>
              </a:spcAft>
              <a:defRPr sz="1250">
                <a:solidFill>
                  <a:srgbClr val="1A1A1A"/>
                </a:solidFill>
                <a:latin typeface="Calibri"/>
              </a:defRPr>
            </a:pPr>
            <a:r>
              <a:t>•  Common Audio Problems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A classroom mic has no sound at all. Name the first two links in the signal flow you'd check.</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No Sound, Two Suspects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During an assembly, the microphone appears to be working (its input light blinks when someone speaks into it), but no sound is coming from the gym speakers at all. A quick check shows the mixer's channel light for that microphone is lit and moving, but the amplifier's output level light stays completely dark no matter how loud anyone speaks.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signal flow chain (mic to mixer to amplifier to speaker), students determine which specific link most likely caused the problem, explain their reasoning using the two clues given, and propose the first fix to try at that link.</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Hypothesize  (hy-POTH-uh-syze)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propose a reasonable explanation that can then be tested.</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hypo- (under) + tithenai (to place, put) — literally, an idea 'placed under' a claim to support it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Before testing anything, students had to hypothesize what was causing the amplifier's silence, based on the mixer light still working.</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66  ·  Ticket #10: The Assembly Countdown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apply signal flow troubleshooting under real time pressure.</a:t>
            </a:r>
          </a:p>
          <a:p>
            <a:pPr>
              <a:spcAft>
                <a:spcPts val="600"/>
              </a:spcAft>
              <a:defRPr sz="1250">
                <a:solidFill>
                  <a:srgbClr val="1A1A1A"/>
                </a:solidFill>
                <a:latin typeface="Calibri"/>
              </a:defRPr>
            </a:pPr>
            <a:r>
              <a:t>•  I can describe how staying calm affects troubleshooting speed and accuracy.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Signal Flow: The path a signal takes from its source through processing equipment to its destination.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had to fix something fast, right before an audience or deadline? How did the time pressure affect how you worked?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 and Trace: Students read the panel script, then diagram the actual signal flow chain from the story and mark where the break turned out to be. Discuss: what would have happened if Jordan and Sam had just started randomly swapping cables instead?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Setting Up Today's Reading</a:t>
            </a:r>
          </a:p>
          <a:p>
            <a:pPr>
              <a:spcAft>
                <a:spcPts val="600"/>
              </a:spcAft>
              <a:defRPr sz="1250">
                <a:solidFill>
                  <a:srgbClr val="1A1A1A"/>
                </a:solidFill>
                <a:latin typeface="Calibri"/>
              </a:defRPr>
            </a:pPr>
            <a:r>
              <a:t>•  Speed Without Skipping Steps</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#10: The Assembly Countdown</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the four links in the signal flow chain from today's story, in order, from source to destination.</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One More Break in the Chain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Later that same night, a second classroom projector also shows a 'no signal' message right before an evening parent event, but this time the AV switcher's indicator lights are on and normal, ruling out the power problem from the story.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2-3 sentences, students state which link in the signal flow they'd check next, given that the switcher itself is already confirmed working, and explain why that's the logical next step in the chain.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Collaborate  (kuh-LAB-uh-rayt)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work together with someone else toward a shared goal.</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com- (together) + laborare (to work)</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Sam and Jordan had to collaborate quickly, each checking a different link in the signal flow, to beat the ten-minute countdown.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67  ·  AV Practice Set + Classroom Tech Recap</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answer practice questions covering signal flow and classroom AV basics.</a:t>
            </a:r>
          </a:p>
          <a:p>
            <a:pPr>
              <a:spcAft>
                <a:spcPts val="600"/>
              </a:spcAft>
              <a:defRPr sz="1250">
                <a:solidFill>
                  <a:srgbClr val="1A1A1A"/>
                </a:solidFill>
                <a:latin typeface="Calibri"/>
              </a:defRPr>
            </a:pPr>
            <a:r>
              <a:t>•  I can connect this week's AV content back to Phase 3 classroom tech skills.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Practice Exam: A timed, exam-style set of questions used to check readiness and identify weak spots before the real certification test.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In one sentence, what's the biggest difference between troubleshooting hardware (Core 1), software/accounts (Google IT), and AV signal flow (AVIXA)?</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AV Practice Set: Administer a 15-question practice set covering signal flow and classroom AV troubleshooting. Afterward, have students write a one-paragraph reflection comparing their confidence across all three certification threads so far.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Three Threads, One Semester</a:t>
            </a:r>
          </a:p>
          <a:p>
            <a:pPr>
              <a:spcAft>
                <a:spcPts val="600"/>
              </a:spcAft>
              <a:defRPr sz="1250">
                <a:solidFill>
                  <a:srgbClr val="1A1A1A"/>
                </a:solidFill>
                <a:latin typeface="Calibri"/>
              </a:defRPr>
            </a:pPr>
            <a:r>
              <a:t>•  What's Next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Rank the three certification threads from strongest to weakest for you right now, in one sentence.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Which Thread Needs the Push?</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rates their confidence out of 10 in each certification thread: Core 1 confidence 8, recent practice score 85%; Google IT Support confidence 7, recent practice score 60%; AVIXA confidence 5, recent practice score 78%. At first glance the AVIXA score looks like the one needing the most work, since its confidence number is lowest.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compare each thread's confidence rating against its actual practice score to find the thread where confidence and real performance don't match, explain which mismatch is more concerning and why, and recommend one specific review action for that thread.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Assess  (uh-SES)</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current state or quality of something.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sedere (to sit) — an assessor originally sat beside a judge to help evaluate a case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honestly assess their confidence across all three certification threads before ranking them.</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68  ·  Timed Practice Exam #1: Full Mix</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complete a timed practice exam mixing all three certification threads.</a:t>
            </a:r>
          </a:p>
          <a:p>
            <a:pPr>
              <a:spcAft>
                <a:spcPts val="600"/>
              </a:spcAft>
              <a:defRPr sz="1250">
                <a:solidFill>
                  <a:srgbClr val="1A1A1A"/>
                </a:solidFill>
                <a:latin typeface="Calibri"/>
              </a:defRPr>
            </a:pPr>
            <a:r>
              <a:t>•  I can manage my time across a mixed-content timed assessment.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Stress Test: Deliberately pushing hardware or software to its limits to see how it performs under heavy load, used to catch problems before they happen in real use.</a:t>
            </a:r>
          </a:p>
          <a:p>
            <a:pPr>
              <a:spcAft>
                <a:spcPts val="600"/>
              </a:spcAft>
              <a:defRPr sz="1200">
                <a:solidFill>
                  <a:srgbClr val="1A1A1A"/>
                </a:solidFill>
                <a:latin typeface="Calibri"/>
              </a:defRPr>
            </a:pPr>
            <a:r>
              <a:t>•  Practice Exam: A timed, exam-style set of questions used to check readiness and identify weak spots before the real certification test.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Before starting, write down one specific goal for today's timed practice exam - not just 'do well,' something specific and measurable.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Timed Practice Exam #1: Administer a full timed practice exam (suggest 30-40 questions, strict time limit) mixing Core 1, Google IT Support, and AVIXA content. Do not review answers immediately - save deep review for Day 71.</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Mix the Content Now</a:t>
            </a:r>
          </a:p>
          <a:p>
            <a:pPr>
              <a:spcAft>
                <a:spcPts val="600"/>
              </a:spcAft>
              <a:defRPr sz="1250">
                <a:solidFill>
                  <a:srgbClr val="1A1A1A"/>
                </a:solidFill>
                <a:latin typeface="Calibri"/>
              </a:defRPr>
            </a:pPr>
            <a:r>
              <a:t>•  Time Management Under Pressure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How did your time management strategy work today? What will you do differently next time, if anything?</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Clock Is Running</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mini practice run has 10 questions and a strict 12-minute budget. Based on past timing data, six of the questions (multiple choice, straightforward recall) take about 45 seconds each, and four of the questions (longer scenario-based questions) take about 2 minutes each if answered carefully.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calculate the total time needed to answer all 10 questions at those estimated rates, compare it to the 12-minute budget, and decide an order of attack (which questions to answer first, and which to mark and return to if time allows) that gets the most questions answered correctly within the time limit, explaining their reasoning.</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Allocate  (AL-uh-kayt)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how to divide a limited resource, like time or money, among different needs.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locare (to place)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With a strict time limit, students had to allocate their minutes across the exam instead of dwelling on one hard question.</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69  ·  Hardware Stress Test Lab</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run a basic hardware stress test on a device.</a:t>
            </a:r>
          </a:p>
          <a:p>
            <a:pPr>
              <a:spcAft>
                <a:spcPts val="600"/>
              </a:spcAft>
              <a:defRPr sz="1250">
                <a:solidFill>
                  <a:srgbClr val="1A1A1A"/>
                </a:solidFill>
                <a:latin typeface="Calibri"/>
              </a:defRPr>
            </a:pPr>
            <a:r>
              <a:t>•  I can explain why stress testing catches problems normal use might miss.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Stress Test: Deliberately pushing hardware or software to its limits to see how it performs under heavy load, used to catch problems before they happen in real use.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might a repaired device work fine for five minutes but fail after an hour of heavy use?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Stress Test a Repaired Device: Using a recently repaired practice Chromebook, have students run it under heavy load (multiple tabs, video playback, etc.) for a monitored period, tracking temperature and performance. Compare results against a known-good device as a baseline.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 Stress Test Reveals</a:t>
            </a:r>
          </a:p>
          <a:p>
            <a:pPr>
              <a:spcAft>
                <a:spcPts val="600"/>
              </a:spcAft>
              <a:defRPr sz="1250">
                <a:solidFill>
                  <a:srgbClr val="1A1A1A"/>
                </a:solidFill>
                <a:latin typeface="Calibri"/>
              </a:defRPr>
            </a:pPr>
            <a:r>
              <a:t>•  Doing It Responsibly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Why should a repaired device be stress tested before it's returned to a student, instead of just checked briefly?</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Passed at Five Minutes, Failed at Fifty</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repaired Chromebook checked out fine during a quick 5-minute test: normal temperature, no fan noise, smooth performance. A full stress-test log covering 50 minutes of heavy use tells a different story: temperature climbs steadily every 10 minutes (68°F, 82°F, 95°F, 108°F, 122°F), fan noise increases starting around the 30-minute mark, and the device shuts down unexpectedly at the 47-minute mark.</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interpret the stress-test log to identify roughly when a real student, using the device for a normal homework session, would have first noticed a problem, and propose one specific next repair step based on the pattern of rising temperature in the data.</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Verify  (VER-uh-fy)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check that something is true, accurate, or working as expected.</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verus (true) + -ficare (to make)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stress test helps a tech verify that a repaired device will actually hold up under real classroom use, not just a quick check.</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70  ·  Ticket #11: Solo</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describe what it means to apply review material to a real, unscripted problem.</a:t>
            </a:r>
          </a:p>
          <a:p>
            <a:pPr>
              <a:spcAft>
                <a:spcPts val="600"/>
              </a:spcAft>
              <a:defRPr sz="1250">
                <a:solidFill>
                  <a:srgbClr val="1A1A1A"/>
                </a:solidFill>
                <a:latin typeface="Calibri"/>
              </a:defRPr>
            </a:pPr>
            <a:r>
              <a:t>•  I can reflect on my own growth from Apprentice-level uncertainty toward independent competence.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Practice Exam: A timed, exam-style set of questions used to check readiness and identify weak spots.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the very first ticket you ever handled this semester. How would you handle it differently now?</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 and Connect: Students read the panel script, then list every semester skill (from any phase) they can spot Jordan using during the solo ticket. Discuss: which of those skills came from a phase far earlier in the semester?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Setting Up Today's Reading</a:t>
            </a:r>
          </a:p>
          <a:p>
            <a:pPr>
              <a:spcAft>
                <a:spcPts val="600"/>
              </a:spcAft>
              <a:defRPr sz="1250">
                <a:solidFill>
                  <a:srgbClr val="1A1A1A"/>
                </a:solidFill>
                <a:latin typeface="Calibri"/>
              </a:defRPr>
            </a:pPr>
            <a:r>
              <a:t>•  Live-Ticket Days During Cert Week</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#11: Solo</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Name one skill from an earlier phase of this course that you saw Jordan use today, and explain how it applied.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A Different Solo Ticket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In a different classroom the same week, another teacher reports that handouts won't print, and the symptoms look identical to Jordan's story at first: the Chromebook shows no error, and the room's printer doesn't appear in the printer list. This time, though, the network settings check out fine - the Chromebook is correctly connected to the staff network the whole time. The actual issue turns out to be that the print job's file size is far larger than the printer's queue can accept.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2-3 sentences, students explain why this ticket looked similar to Ticket #11 on the surface but had a different root cause, and identify what they would check first, knowing the network is not the problem this time.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Articulate  (ar-TIK-yuh-layt)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express an idea clearly and precisely, in words.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articulus (a small joint or part) + -ate (a verb-forming suffix) — to break speech into clear, distinct parts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Jordan had to articulate a clear ticket note explaining the guest-network fix, without any leftover jargon.</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71  ·  Timed Practice Exam #2: Targeted Review</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complete a second timed practice exam focused on my identified weak areas.</a:t>
            </a:r>
          </a:p>
          <a:p>
            <a:pPr>
              <a:spcAft>
                <a:spcPts val="600"/>
              </a:spcAft>
              <a:defRPr sz="1250">
                <a:solidFill>
                  <a:srgbClr val="1A1A1A"/>
                </a:solidFill>
                <a:latin typeface="Calibri"/>
              </a:defRPr>
            </a:pPr>
            <a:r>
              <a:t>•  I can compare my results to Day 68 and measure specific growth.</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Certification Blueprint: The official outline of exactly what topics and in what proportion a certification exam will test.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Look back at your Day 68 results (or notes). Name the single domain you most need to improve today.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Timed Practice Exam #2: Administer a second timed practice exam, weighted toward each student's or the class's collective weak domains from Day 68. Afterward, have students compare Day 68 and Day 71 results side by side and write one sentence naming specific improvement.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From Diagnosis to Targeted Practice</a:t>
            </a:r>
          </a:p>
          <a:p>
            <a:pPr>
              <a:spcAft>
                <a:spcPts val="600"/>
              </a:spcAft>
              <a:defRPr sz="1250">
                <a:solidFill>
                  <a:srgbClr val="1A1A1A"/>
                </a:solidFill>
                <a:latin typeface="Calibri"/>
              </a:defRPr>
            </a:pPr>
            <a:r>
              <a:t>•  Measuring Real Growth</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 is the one domain you'd still want more review time on, heading into next week's capstone phase?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Weighting the Second Exam</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student's Day 68 diagnostic results, broken down by domain, show: Hardware 90% correct, Networking 55% correct, System Administration 70% correct, and Signal Flow 80% correct. The teacher wants to build this student a 20-question targeted practice exam for Day 71 that puts more questions on the weakest domain and fewer on the strongest, roughly in proportion to how much improvement is needed.</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calculate a reasonable number of questions to pull from each of the four domains for a 20-question targeted exam, giving the most questions to the weakest domain (Networking) and the fewest to the strongest (Hardware), and justify their math in 1-2 sentences.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Substantiate  (sub-STAN-shee-ayt)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back up a claim with solid evidence or proof.</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sub- (under) + stare (to stand) — to give something firm standing or substance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Comparing Day 68 and Day 71 scores let students substantiate their claim of improvement with real numbers.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72  ·  Certification Progress Check-In + Phase 4 Wrap</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honestly assess my certification progress against each blueprint.</a:t>
            </a:r>
          </a:p>
          <a:p>
            <a:pPr>
              <a:spcAft>
                <a:spcPts val="600"/>
              </a:spcAft>
              <a:defRPr sz="1250">
                <a:solidFill>
                  <a:srgbClr val="1A1A1A"/>
                </a:solidFill>
                <a:latin typeface="Calibri"/>
              </a:defRPr>
            </a:pPr>
            <a:r>
              <a:t>•  I can set a specific plan for continuing certification study beyond this phase.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Certification Blueprint: The official outline of exactly what topics and in what proportion a certification exam will test.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In one sentence, what surprised you most about yourself during this certification-focused phase?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Certification Progress Log: Have students fill out a progress log for each of the three certification threads (Core 1, Google IT Support, AVIXA) plus the two shorter certs completed earlier (CareerSafe Employability, ACER Chromebook Repair): modules completed, practice exam trend, and next planned study step. Collect for Certification Progress grading.</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Certification Progress Is Not All-or-Nothing</a:t>
            </a:r>
          </a:p>
          <a:p>
            <a:pPr>
              <a:spcAft>
                <a:spcPts val="600"/>
              </a:spcAft>
              <a:defRPr sz="1250">
                <a:solidFill>
                  <a:srgbClr val="1A1A1A"/>
                </a:solidFill>
                <a:latin typeface="Calibri"/>
              </a:defRPr>
            </a:pPr>
            <a:r>
              <a:t>•  Looking Ahead to Phase 5</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2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Which certification are you proudest of your progress on this phase, and why?</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Progress Log Doesn't Lie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student's finished progress log shows: Core 1 modules 80% complete with an improving practice-exam trend; Google IT Support modules 40% complete with a flat practice-exam trend; AVIXA modules 20% complete with no recent practice attempted at all; CareerSafe Employability and ACER Chromebook Repair both fully complete from earlier in the course.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log, students write a two-sentence honest assessment of this student's overall certification progress and recommend one specific certification the student should prioritize studying first going into next semester or break.</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Reconcile  (REK-un-syle)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bring two things that seem to conflict into agreement with each other.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re- (again) + conciliare (to bring together, unite)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reconcile their own sense of progress with what their certification progress log actually showed.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0E6E8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F8A3D"/>
                </a:solidFill>
                <a:latin typeface="Calibri"/>
              </a:rPr>
              <a:t>UNIT 5</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Capstone &amp; Future Pathways</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How do I turn a semester of help desk experience into a professional portfolio, a polished capstone project, and a clear next step toward a tech career?</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F8A3D"/>
                </a:solidFill>
                <a:latin typeface="Calibri"/>
              </a:rPr>
              <a:t>Days 73–82 · 10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Knowledge Base Article, Portfolio, Capstone, LinkedIn Profile, Mock Interview</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73  ·  Capstone Kickoff: Choosing Your Knowledge Base Topic</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the purpose of the capstone project and how it's graded.</a:t>
            </a:r>
          </a:p>
          <a:p>
            <a:pPr>
              <a:spcAft>
                <a:spcPts val="600"/>
              </a:spcAft>
              <a:defRPr sz="1250">
                <a:solidFill>
                  <a:srgbClr val="1A1A1A"/>
                </a:solidFill>
                <a:latin typeface="Calibri"/>
              </a:defRPr>
            </a:pPr>
            <a:r>
              <a:t>•  I can choose a common school tech issue to document based on real ticket history.</a:t>
            </a:r>
          </a:p>
          <a:p>
            <a:pPr>
              <a:spcAft>
                <a:spcPts val="600"/>
              </a:spcAft>
              <a:defRPr sz="1250">
                <a:solidFill>
                  <a:srgbClr val="1A1A1A"/>
                </a:solidFill>
                <a:latin typeface="Calibri"/>
              </a:defRPr>
            </a:pPr>
            <a:r>
              <a:t>•  I can describe what a finished knowledge base article or video tutorial looks like.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Capstone: The final project of the course that shows everything you learned, usually a knowledge base article or a video tutorial.</a:t>
            </a:r>
          </a:p>
          <a:p>
            <a:pPr>
              <a:spcAft>
                <a:spcPts val="600"/>
              </a:spcAft>
              <a:defRPr sz="1200">
                <a:solidFill>
                  <a:srgbClr val="1A1A1A"/>
                </a:solidFill>
                <a:latin typeface="Calibri"/>
              </a:defRPr>
            </a:pPr>
            <a:r>
              <a:t>•  Knowledge Base Article: A written how-to guide that helps someone solve a common problem on their own, without needing to submit a ticket.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Look back through your ticket log or the class ticket system. What's one issue you've helped fix more than once this semester?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Ticket Mining: Have students pull up their personal ticket log or a class list of anonymized recurring tickets from the semester. Ask them to shortlist three candidate capstone topics, then write one sentence for each explaining who would benefit from a guide on that topic. Circulate and help students narrow to their final pick before the period ends.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the Capstone?</a:t>
            </a:r>
          </a:p>
          <a:p>
            <a:pPr>
              <a:spcAft>
                <a:spcPts val="600"/>
              </a:spcAft>
              <a:defRPr sz="1250">
                <a:solidFill>
                  <a:srgbClr val="1A1A1A"/>
                </a:solidFill>
                <a:latin typeface="Calibri"/>
              </a:defRPr>
            </a:pPr>
            <a:r>
              <a:t>•  What Makes a Good Knowledge Base Article (or Video)?</a:t>
            </a:r>
          </a:p>
          <a:p>
            <a:pPr>
              <a:spcAft>
                <a:spcPts val="600"/>
              </a:spcAft>
              <a:defRPr sz="1250">
                <a:solidFill>
                  <a:srgbClr val="1A1A1A"/>
                </a:solidFill>
                <a:latin typeface="Calibri"/>
              </a:defRPr>
            </a:pPr>
            <a:r>
              <a:t>•  Picking a Topic That Matters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 topic did you pick for your capstone, and why is it a good fit for a knowledge base article or video tutorial?</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Which Topic Actually Helps?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pulls three candidate capstone topics from the class ticket system's semester history: Wi-Fi login issues (22 tickets this semester, always the same few steps), cracked screen protectors (3 tickets, mostly cosmetic), and one obscure BIOS setting a single teacher's laptop needed changed (1 ticket, complex and device-specific). The student has access to a practice Chromebook, a spare laptop for testing, and about a week to research, outline, and draft.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ticket frequency numbers and the 'common enough, specific enough' criteria from today's lesson, students rank the three candidate topics from strongest to weakest capstone choice and justify the top pick in 2-3 sentences.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judge the quality, value, or accuracy of something using evidence.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strong, to be worth) + -ate (a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evaluate three candidate ticket topics before choosing the strongest one for their capstone.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74  ·  Researching &amp; Outlining Your Capstone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research a tech issue thoroughly enough to explain it to a beginner.</a:t>
            </a:r>
          </a:p>
          <a:p>
            <a:pPr>
              <a:spcAft>
                <a:spcPts val="600"/>
              </a:spcAft>
              <a:defRPr sz="1250">
                <a:solidFill>
                  <a:srgbClr val="1A1A1A"/>
                </a:solidFill>
                <a:latin typeface="Calibri"/>
              </a:defRPr>
            </a:pPr>
            <a:r>
              <a:t>•  I can build a step-by-step outline before writing a full draft.</a:t>
            </a:r>
          </a:p>
          <a:p>
            <a:pPr>
              <a:spcAft>
                <a:spcPts val="600"/>
              </a:spcAft>
              <a:defRPr sz="1250">
                <a:solidFill>
                  <a:srgbClr val="1A1A1A"/>
                </a:solidFill>
                <a:latin typeface="Calibri"/>
              </a:defRPr>
            </a:pPr>
            <a:r>
              <a:t>•  I can decide whether an article or a video format fits my topic best.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Knowledge Base Article: A written how-to guide that helps someone solve a common problem on their own, without needing to submit a ticket.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a time you learned something from a YouTube tutorial or help article. What made it easy (or hard) to follow?</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Outline Draft: Have students draft a bullet-point outline of every step for their chosen topic, in order, noting where a screenshot or shot goes. Pair students up and have each partner try to literally follow the other's outline step by step, flagging anything missing or unclear with a sticky note or comment.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Research Like a Tech</a:t>
            </a:r>
          </a:p>
          <a:p>
            <a:pPr>
              <a:spcAft>
                <a:spcPts val="600"/>
              </a:spcAft>
              <a:defRPr sz="1250">
                <a:solidFill>
                  <a:srgbClr val="1A1A1A"/>
                </a:solidFill>
                <a:latin typeface="Calibri"/>
              </a:defRPr>
            </a:pPr>
            <a:r>
              <a:t>•  Outlining Before Writing</a:t>
            </a:r>
          </a:p>
          <a:p>
            <a:pPr>
              <a:spcAft>
                <a:spcPts val="600"/>
              </a:spcAft>
              <a:defRPr sz="1250">
                <a:solidFill>
                  <a:srgbClr val="1A1A1A"/>
                </a:solidFill>
                <a:latin typeface="Calibri"/>
              </a:defRPr>
            </a:pPr>
            <a:r>
              <a:t>•  Article or Video?</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the trickiest step in your outline, and how will you make sure a beginner understands it?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Outline That Skipped a Step</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student's draft outline for a knowledge base article titled 'How to Reset Your School Wi-Fi Password' reads: Step 1, go to the password reset page and click 'Forgot Password.' Step 2, check your email for a reset link. It jumps straight from clicking the button to checking email, without ever mentioning that the reset email is sent to the specific school email address on file, which may not be the address a student expects to check first.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identify the missing step in the outline, explain exactly what a beginner following it literally would get stuck on, and rewrite the outline inserting the missing step in the correct place.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Organize  (OR-guh-nyze)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arrange things in a clear, logical order or structure.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organon (a tool, instrument) + -ize (a suffix meaning 'to make or do')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clear outline helped students organize every step of their capstone in the right order before writing a full draft.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75  ·  Drafting the Knowledge Base Article or Tutorial Script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write clear, plain-language instructions for a technical process.</a:t>
            </a:r>
          </a:p>
          <a:p>
            <a:pPr>
              <a:spcAft>
                <a:spcPts val="600"/>
              </a:spcAft>
              <a:defRPr sz="1250">
                <a:solidFill>
                  <a:srgbClr val="1A1A1A"/>
                </a:solidFill>
                <a:latin typeface="Calibri"/>
              </a:defRPr>
            </a:pPr>
            <a:r>
              <a:t>•  I can plan visuals that support and clarify my written or spoken steps.</a:t>
            </a:r>
          </a:p>
          <a:p>
            <a:pPr>
              <a:spcAft>
                <a:spcPts val="600"/>
              </a:spcAft>
              <a:defRPr sz="1250">
                <a:solidFill>
                  <a:srgbClr val="1A1A1A"/>
                </a:solidFill>
                <a:latin typeface="Calibri"/>
              </a:defRPr>
            </a:pPr>
            <a:r>
              <a:t>•  I can apply code-switching skills to write for a non-technical audience.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Knowledge Base Article: A written how-to guide that helps someone solve a common problem on their own, without needing to submit a ticket.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Reread one sentence you wrote in a past ticket note. Would a total beginner understand it? Rewrite it if not.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Draft Sprint: Run a 20-minute silent drafting sprint. Students write the full body of their article or storyboard and record the first three steps of their video, working straight from yesterday's outline. No editing yet, just getting the content down.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Plain Language Rules</a:t>
            </a:r>
          </a:p>
          <a:p>
            <a:pPr>
              <a:spcAft>
                <a:spcPts val="600"/>
              </a:spcAft>
              <a:defRPr sz="1250">
                <a:solidFill>
                  <a:srgbClr val="1A1A1A"/>
                </a:solidFill>
                <a:latin typeface="Calibri"/>
              </a:defRPr>
            </a:pPr>
            <a:r>
              <a:t>•  Show, Don't Just Tell</a:t>
            </a:r>
          </a:p>
          <a:p>
            <a:pPr>
              <a:spcAft>
                <a:spcPts val="600"/>
              </a:spcAft>
              <a:defRPr sz="1250">
                <a:solidFill>
                  <a:srgbClr val="1A1A1A"/>
                </a:solidFill>
                <a:latin typeface="Calibri"/>
              </a:defRPr>
            </a:pPr>
            <a:r>
              <a:t>•  Structure That Works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Read the first sentence of your draft out loud. Would someone who's never touched a Chromebook understand it? If not, fix it now.</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Rewrite It for a Beginner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rough capstone draft includes these two sentences pulled straight from a technical manual: 'Navigate to the network configuration pane and toggle the SSID broadcast setting,' and 'Initiate a factory reset by depressing the recessed button for a minimum of ten seconds.' Both are accurate, but neither would mean anything to a beginner who has never opened a settings menu or seen a recessed button before.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rewrite each sentence in plain, beginner-friendly language, following today's rules: short sentences, any necessary term defined, and the exact physical action named (what to click, or exactly where to press and for how long).</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Clarify  (KLAIR-uh-fy)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something easier to understand by removing confusion.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clarus (clear, bright) + -ficare (to make)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Rewriting a jargon-heavy sentence into plain language helped clarify the instructions for a total beginner.</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76  ·  Peer Review &amp; Revision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give and receive specific, actionable feedback on a technical draft.</a:t>
            </a:r>
          </a:p>
          <a:p>
            <a:pPr>
              <a:spcAft>
                <a:spcPts val="600"/>
              </a:spcAft>
              <a:defRPr sz="1250">
                <a:solidFill>
                  <a:srgbClr val="1A1A1A"/>
                </a:solidFill>
                <a:latin typeface="Calibri"/>
              </a:defRPr>
            </a:pPr>
            <a:r>
              <a:t>•  I can test whether written instructions actually work by following them literally.</a:t>
            </a:r>
          </a:p>
          <a:p>
            <a:pPr>
              <a:spcAft>
                <a:spcPts val="600"/>
              </a:spcAft>
              <a:defRPr sz="1250">
                <a:solidFill>
                  <a:srgbClr val="1A1A1A"/>
                </a:solidFill>
                <a:latin typeface="Calibri"/>
              </a:defRPr>
            </a:pPr>
            <a:r>
              <a:t>•  I can revise my capstone draft based on real feedback.</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Portfolio: An organized collection of your best work from the semester, used as evidence of your skills and growth.</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What's one piece of feedback you got this semester (on a ticket, a repair, anything) that actually made your work better?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Peer Test-Drive: Have students swap drafts (or storyboards) with a partner. The partner follows the steps literally, with zero help from the author, and marks every point of confusion with a sticky note or comment. Authors then spend the rest of the period revising based on the exact friction points their partner hit.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Follow-It-Literally Test</a:t>
            </a:r>
          </a:p>
          <a:p>
            <a:pPr>
              <a:spcAft>
                <a:spcPts val="600"/>
              </a:spcAft>
              <a:defRPr sz="1250">
                <a:solidFill>
                  <a:srgbClr val="1A1A1A"/>
                </a:solidFill>
                <a:latin typeface="Calibri"/>
              </a:defRPr>
            </a:pPr>
            <a:r>
              <a:t>•  Giving Useful Feedback</a:t>
            </a:r>
          </a:p>
          <a:p>
            <a:pPr>
              <a:spcAft>
                <a:spcPts val="600"/>
              </a:spcAft>
              <a:defRPr sz="1250">
                <a:solidFill>
                  <a:srgbClr val="1A1A1A"/>
                </a:solidFill>
                <a:latin typeface="Calibri"/>
              </a:defRPr>
            </a:pPr>
            <a:r>
              <a:t>•  Revising for Clarity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one specific change you're making to your draft based on your partner's feedback today?</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Stuck on Step 4</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peer tester follows a classmate's video-tutorial draft exactly as filmed. At step 4, the narration says 'plug it into the port,' but the device on screen has three visually similar ports next to each other, and nothing in the narration or the shot makes clear which one is correct. The tester pauses the video, rewinds twice, and eventually guesses wrong, plugging into the wrong port entirely.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write the specific, actionable feedback the tester should give the author (not just 'this was confusing'), and describe the one concrete revision the author should make to step 4 so a future viewer wouldn't get stuck the same way.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Critique  (kri-TEEK)</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evaluate something's strengths and weaknesses and give specific feedback.</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kritikos (able to judge or discern), from krinein (to judge, decide)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Partners had to critique each other's drafts by pointing out exactly where the instructions broke down.</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77  ·  Finalizing Your Capstone &amp; Building Your Ticket Portfolio</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finalize a polished knowledge base article or video tutorial.</a:t>
            </a:r>
          </a:p>
          <a:p>
            <a:pPr>
              <a:spcAft>
                <a:spcPts val="600"/>
              </a:spcAft>
              <a:defRPr sz="1250">
                <a:solidFill>
                  <a:srgbClr val="1A1A1A"/>
                </a:solidFill>
                <a:latin typeface="Calibri"/>
              </a:defRPr>
            </a:pPr>
            <a:r>
              <a:t>•  I can select and organize evidence for my ticket portfolio.</a:t>
            </a:r>
          </a:p>
          <a:p>
            <a:pPr>
              <a:spcAft>
                <a:spcPts val="600"/>
              </a:spcAft>
              <a:defRPr sz="1250">
                <a:solidFill>
                  <a:srgbClr val="1A1A1A"/>
                </a:solidFill>
                <a:latin typeface="Calibri"/>
              </a:defRPr>
            </a:pPr>
            <a:r>
              <a:t>•  I can connect my capstone and portfolio to my growth across performance levels this semester.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Portfolio: An organized collection of your best work from the semester, used as evidence of your skills and growth.</a:t>
            </a:r>
          </a:p>
          <a:p>
            <a:pPr>
              <a:spcAft>
                <a:spcPts val="600"/>
              </a:spcAft>
              <a:defRPr sz="1200">
                <a:solidFill>
                  <a:srgbClr val="1A1A1A"/>
                </a:solidFill>
                <a:latin typeface="Calibri"/>
              </a:defRPr>
            </a:pPr>
            <a:r>
              <a:t>•  Capstone: The final project of the course that shows everything you learned, usually a knowledge base article or a video tutorial.</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Which ticket from this semester are you proudest of, and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Portfolio Assembly: Have students select their four to six strongest tickets or repair logs from the semester and organize them into a folder or binder in the class ticket system or portfolio template. For each piece, students write a one-sentence caption explaining what it shows about their growth as a technician.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Goes in Your Portfolio</a:t>
            </a:r>
          </a:p>
          <a:p>
            <a:pPr>
              <a:spcAft>
                <a:spcPts val="600"/>
              </a:spcAft>
              <a:defRPr sz="1250">
                <a:solidFill>
                  <a:srgbClr val="1A1A1A"/>
                </a:solidFill>
                <a:latin typeface="Calibri"/>
              </a:defRPr>
            </a:pPr>
            <a:r>
              <a:t>•  Capstone &amp; Portfolio Is 10% of Your Grade</a:t>
            </a:r>
          </a:p>
          <a:p>
            <a:pPr>
              <a:spcAft>
                <a:spcPts val="600"/>
              </a:spcAft>
              <a:defRPr sz="1250">
                <a:solidFill>
                  <a:srgbClr val="1A1A1A"/>
                </a:solidFill>
                <a:latin typeface="Calibri"/>
              </a:defRPr>
            </a:pPr>
            <a:r>
              <a:t>•  From Apprentice to Technician (and Beyond)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the strongest piece of evidence in your portfolio, and what does it prove about you as a technician?</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Six Slots, Ten Candidates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has ten possible portfolio pieces from the semester: a Week 1 intake ticket where they shadowed Sam and logged everything wrong; a Phase 2 Chromebook screen replacement with before-and-after photos; a Phase 3 networking ticket they solved alone; a Phase 3 escalation they correctly sent to District IT; a Core 1 practice exam score sheet; a reflection on a permission-level mistake from Phase 4; a signal flow repair under time pressure; a solo printer ticket; a peer-feedback form from capstone drafting; and a note from a teacher thanking them for a fix. The portfolio template only has room for four to six labeled pieces.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select 4-6 of the ten pieces that together best show a full range of skills and real growth across the performance ladder (not just the strongest or easiest pieces), and justify in one sentence why they left one specific piece out.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Curate  (KYOOR-ayt)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thoughtfully select and organize the best items from a larger collection.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curare (to take care of, look after)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Jordan had to curate just four to six tickets that best showed real growth across the semester.</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78  ·  Building Your Resume for an IT Career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translate help desk experience into resume-ready bullet points.</a:t>
            </a:r>
          </a:p>
          <a:p>
            <a:pPr>
              <a:spcAft>
                <a:spcPts val="600"/>
              </a:spcAft>
              <a:defRPr sz="1250">
                <a:solidFill>
                  <a:srgbClr val="1A1A1A"/>
                </a:solidFill>
                <a:latin typeface="Calibri"/>
              </a:defRPr>
            </a:pPr>
            <a:r>
              <a:t>•  I can identify which certifications and skills belong on an entry-level IT resume.</a:t>
            </a:r>
          </a:p>
          <a:p>
            <a:pPr>
              <a:spcAft>
                <a:spcPts val="600"/>
              </a:spcAft>
              <a:defRPr sz="1250">
                <a:solidFill>
                  <a:srgbClr val="1A1A1A"/>
                </a:solidFill>
                <a:latin typeface="Calibri"/>
              </a:defRPr>
            </a:pPr>
            <a:r>
              <a:t>•  I can format a resume that a hiring manager or district recruiter would take seriously.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Portfolio: An organized collection of your best work from the semester, used as evidence of your skills and growth.</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District IT recruiter looked at your semester of work, what's one sentence you'd want on your resume?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Resume Builder Workshop: Have students draft three to five resume bullet points pulled directly from their own ticket portfolio and repair logs, using the action verb plus task plus result formula. Partners then swap drafts to check for strong action verbs, real numbers where possible, and no unexplained jargon a recruiter wouldn't know.</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Resume Basics for a First Job</a:t>
            </a:r>
          </a:p>
          <a:p>
            <a:pPr>
              <a:spcAft>
                <a:spcPts val="600"/>
              </a:spcAft>
              <a:defRPr sz="1250">
                <a:solidFill>
                  <a:srgbClr val="1A1A1A"/>
                </a:solidFill>
                <a:latin typeface="Calibri"/>
              </a:defRPr>
            </a:pPr>
            <a:r>
              <a:t>•  Turning Tickets Into Bullet Points</a:t>
            </a:r>
          </a:p>
          <a:p>
            <a:pPr>
              <a:spcAft>
                <a:spcPts val="600"/>
              </a:spcAft>
              <a:defRPr sz="1250">
                <a:solidFill>
                  <a:srgbClr val="1A1A1A"/>
                </a:solidFill>
                <a:latin typeface="Calibri"/>
              </a:defRPr>
            </a:pPr>
            <a:r>
              <a:t>•  What to List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Share your strongest resume bullet point from today. What ticket or repair did it come from?</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Turn the Ticket Into a Bullet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raw ticket note in the class system reads: 'fixed printer thing for Ms. Alvarez, took a while, had to restart stuff twice.' It's accurate but vague, uses no numbers, and wouldn't mean anything to a recruiter skimming a stack of resumes.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rewrite the raw ticket note as a polished resume bullet point using the action-verb-plus-task-plus-result formula from today's lesson, inventing one reasonable, specific detail (like a time saved or a device count) where the original note is too vague to use as-is.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Quantify  (KWAHN-tuh-fy)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express something as a specific, measurable number or amount.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quantus (how much) + -ficare (to make)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Turning 'fixed computers' into 'resolved over 40 hardware issues' meant learning to quantify the work on a resume.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79  ·  LinkedIn Profile &amp; Your Professional Online Presence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set up a LinkedIn profile that reflects my help desk experience and certifications.</a:t>
            </a:r>
          </a:p>
          <a:p>
            <a:pPr>
              <a:spcAft>
                <a:spcPts val="600"/>
              </a:spcAft>
              <a:defRPr sz="1250">
                <a:solidFill>
                  <a:srgbClr val="1A1A1A"/>
                </a:solidFill>
                <a:latin typeface="Calibri"/>
              </a:defRPr>
            </a:pPr>
            <a:r>
              <a:t>•  I can write a professional summary that highlights my growth this semester.</a:t>
            </a:r>
          </a:p>
          <a:p>
            <a:pPr>
              <a:spcAft>
                <a:spcPts val="600"/>
              </a:spcAft>
              <a:defRPr sz="1250">
                <a:solidFill>
                  <a:srgbClr val="1A1A1A"/>
                </a:solidFill>
                <a:latin typeface="Calibri"/>
              </a:defRPr>
            </a:pPr>
            <a:r>
              <a:t>•  I can identify what to keep public versus private online as a job-seeking teen.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LinkedIn Profile: A professional online profile that lists your experience, skills, and certifications for employers and colleges to see.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What's one thing you'd want a future employer to know about you that isn't obvious from a resume alone?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Profile Draft: Using a provided worksheet or template (since not every student may create a live account today), have students draft their LinkedIn headline, About summary, and one experience bullet for the Student Help Desk role. Invite a few volunteers to share their headline or summary for quick class feedback.</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LinkedIn (Even at 16)</a:t>
            </a:r>
          </a:p>
          <a:p>
            <a:pPr>
              <a:spcAft>
                <a:spcPts val="600"/>
              </a:spcAft>
              <a:defRPr sz="1250">
                <a:solidFill>
                  <a:srgbClr val="1A1A1A"/>
                </a:solidFill>
                <a:latin typeface="Calibri"/>
              </a:defRPr>
            </a:pPr>
            <a:r>
              <a:t>•  Profile Essentials</a:t>
            </a:r>
          </a:p>
          <a:p>
            <a:pPr>
              <a:spcAft>
                <a:spcPts val="600"/>
              </a:spcAft>
              <a:defRPr sz="1250">
                <a:solidFill>
                  <a:srgbClr val="1A1A1A"/>
                </a:solidFill>
                <a:latin typeface="Calibri"/>
              </a:defRPr>
            </a:pPr>
            <a:r>
              <a:t>•  Privacy &amp; Professionalism Online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one sentence from your About summary that best captures your growth this semester?</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What Should Stay Off the Profile?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drafts a LinkedIn About summary with three sentences: an inside joke referencing a coworker's messy desk that only makes sense to people at the Help Desk, a complaint about a teacher who 'never explains anything right,' and a genuine accomplishment describing having fixed over 40 Chromebooks this semester with a fast turnaround.</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identify which of the three sentences should be cut before the profile goes public, which should stay, and explain the professional-image reasoning behind each decision.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Portray  (por-TRAY)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present or represent something in a particular way.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pro- (forth) + trahere (to draw) — literally, to draw forth a likeness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Jordan's LinkedIn About summary had to portray a professional, focused version of their semester at the Help Desk.</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80  ·  Mock Interview Prep with District IT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prepare clear, honest answers to common interview questions using real examples from my semester.</a:t>
            </a:r>
          </a:p>
          <a:p>
            <a:pPr>
              <a:spcAft>
                <a:spcPts val="600"/>
              </a:spcAft>
              <a:defRPr sz="1250">
                <a:solidFill>
                  <a:srgbClr val="1A1A1A"/>
                </a:solidFill>
                <a:latin typeface="Calibri"/>
              </a:defRPr>
            </a:pPr>
            <a:r>
              <a:t>•  I can practice professional interview behavior, including greeting, eye contact, and follow-up questions.</a:t>
            </a:r>
          </a:p>
          <a:p>
            <a:pPr>
              <a:spcAft>
                <a:spcPts val="600"/>
              </a:spcAft>
              <a:defRPr sz="1250">
                <a:solidFill>
                  <a:srgbClr val="1A1A1A"/>
                </a:solidFill>
                <a:latin typeface="Calibri"/>
              </a:defRPr>
            </a:pPr>
            <a:r>
              <a:t>•  I can reflect on my growth from Apprentice toward Lead Tech using my own capstone story.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Mock Interview: A practice job interview, run like the real thing, so you can build confidence and get feedback before an interview that counts.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What's one interview question you're nervous about being asked, and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Mock Interview Rounds: Pair students up (or rotate them through a visiting District IT staff member if one is available) and have them take turns as interviewer and candidate using provided question cards built around ticket experience and professionalism. After each round, have partners give each other one specific piece of feedback before switching roles.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District IT Interviewers Ask</a:t>
            </a:r>
          </a:p>
          <a:p>
            <a:pPr>
              <a:spcAft>
                <a:spcPts val="600"/>
              </a:spcAft>
              <a:defRPr sz="1250">
                <a:solidFill>
                  <a:srgbClr val="1A1A1A"/>
                </a:solidFill>
                <a:latin typeface="Calibri"/>
              </a:defRPr>
            </a:pPr>
            <a:r>
              <a:t>•  STAR Answers</a:t>
            </a:r>
          </a:p>
          <a:p>
            <a:pPr>
              <a:spcAft>
                <a:spcPts val="600"/>
              </a:spcAft>
              <a:defRPr sz="1250">
                <a:solidFill>
                  <a:srgbClr val="1A1A1A"/>
                </a:solidFill>
                <a:latin typeface="Calibri"/>
              </a:defRPr>
            </a:pPr>
            <a:r>
              <a:t>•  Interview Professionalism</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83E4E"/>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Ticket #82: Ready for Lead Tech</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Using STAR, write a two-sentence draft answer to: 'Tell me about a difficult ticket you solved this semester.'</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80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Question Nobody Practiced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During a mock interview round, a District IT interviewer named Mr. Alvarado leans forward and asks a student named Dee a question none of the practice cards had covered: 'Tell me about a time a fix you tried didn't work the first time. What did you do?' Dee pauses, caught off guard, staring at the table for a second too long. Then Dee remembers a real ticket from Phase 3, a Wi-Fi problem where the first fix (restarting the router) didn't hold, and starts talking through what actually happened next: testing a second theory, escalating part of it, and eventually finding the real cause. Dee's voice steadies as the story goes on, landing on a clear result at the end.</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write a 3-4 sentence STAR-format answer (Situation, Task, Action, Result) that Dee could give to this exact question, using a real or plausible invented ticket example where an initial fix failed before the real solution was found.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Validate  (VAL-uh-dayt)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confirm that something is accurate, true, or well-supported.</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validus (strong) + -ate (a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Using a real ticket example helped validate Dee's claim of experience during the mock interview.</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81  ·  Capstone Presentation Day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present my capstone project clearly and confidently to an audience.</a:t>
            </a:r>
          </a:p>
          <a:p>
            <a:pPr>
              <a:spcAft>
                <a:spcPts val="600"/>
              </a:spcAft>
              <a:defRPr sz="1250">
                <a:solidFill>
                  <a:srgbClr val="1A1A1A"/>
                </a:solidFill>
                <a:latin typeface="Calibri"/>
              </a:defRPr>
            </a:pPr>
            <a:r>
              <a:t>•  I can answer follow-up questions about my technical process and decisions.</a:t>
            </a:r>
          </a:p>
          <a:p>
            <a:pPr>
              <a:spcAft>
                <a:spcPts val="600"/>
              </a:spcAft>
              <a:defRPr sz="1250">
                <a:solidFill>
                  <a:srgbClr val="1A1A1A"/>
                </a:solidFill>
                <a:latin typeface="Calibri"/>
              </a:defRPr>
            </a:pPr>
            <a:r>
              <a:t>•  I can give constructive, professional feedback to classmates presenting their capstones.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Capstone: The final project of the course that shows everything you learned, usually a knowledge base article or a video tutorial.</a:t>
            </a:r>
          </a:p>
          <a:p>
            <a:pPr>
              <a:spcAft>
                <a:spcPts val="600"/>
              </a:spcAft>
              <a:defRPr sz="1200">
                <a:solidFill>
                  <a:srgbClr val="1A1A1A"/>
                </a:solidFill>
                <a:latin typeface="Calibri"/>
              </a:defRPr>
            </a:pPr>
            <a:r>
              <a:t>•  Portfolio: An organized collection of your best work from the semester, used as evidence of your skills and growth.</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What's the one sentence you want your audience to remember about your capstone?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Capstone Showcase: Have students present their knowledge base article or video tutorial to small groups, the whole class, or District IT guests if available, within a set time limit, followed by one audience question each. Have peers complete a short peer-feedback form noting one strength and one suggestion for each presenter.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Presenting Like a Professional</a:t>
            </a:r>
          </a:p>
          <a:p>
            <a:pPr>
              <a:spcAft>
                <a:spcPts val="600"/>
              </a:spcAft>
              <a:defRPr sz="1250">
                <a:solidFill>
                  <a:srgbClr val="1A1A1A"/>
                </a:solidFill>
                <a:latin typeface="Calibri"/>
              </a:defRPr>
            </a:pPr>
            <a:r>
              <a:t>•  What Your Audience Wants to Know</a:t>
            </a:r>
          </a:p>
          <a:p>
            <a:pPr>
              <a:spcAft>
                <a:spcPts val="600"/>
              </a:spcAft>
              <a:defRPr sz="1250">
                <a:solidFill>
                  <a:srgbClr val="1A1A1A"/>
                </a:solidFill>
                <a:latin typeface="Calibri"/>
              </a:defRPr>
            </a:pPr>
            <a:r>
              <a:t>•  Handling Questions From District IT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one piece of feedback you received today, and how will you use it?</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81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The Question You Didn't Expect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During a capstone presentation on resetting a school Wi-Fi password, a District IT staff member in the audience asks, 'What would you do if a user didn't have admin rights to install the fix your guide describes?' The presenter's guide assumed the user could freely change network settings, and the question exposes a scenario the presenter genuinely hadn't considered while researching or testing the topic.</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draft a calm, credible answer the presenter could give on the spot, following today's guidance that it's fine to say 'I don't know, but here's how I'd find out,' and specific to this exact permissions question rather than a generic response.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Advocate  (AD-vuh-kayt)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speak up in support of yourself or an idea.</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vocare (to call) — literally, one called to speak on another's behalf</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During the capstone presentation, students had to advocate for the value of their own project, not just describe it.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82  ·  Course Wrap-Up: Turning In Your Work and Looking Ahead</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83E4E"/>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submit a complete capstone, ticket portfolio, and hardest-ticket reflection.</a:t>
            </a:r>
          </a:p>
          <a:p>
            <a:pPr>
              <a:spcAft>
                <a:spcPts val="600"/>
              </a:spcAft>
              <a:defRPr sz="1250">
                <a:solidFill>
                  <a:srgbClr val="1A1A1A"/>
                </a:solidFill>
                <a:latin typeface="Calibri"/>
              </a:defRPr>
            </a:pPr>
            <a:r>
              <a:t>•  I can reflect honestly on my growth across the four performance levels this semester.</a:t>
            </a:r>
          </a:p>
          <a:p>
            <a:pPr>
              <a:spcAft>
                <a:spcPts val="600"/>
              </a:spcAft>
              <a:defRPr sz="1250">
                <a:solidFill>
                  <a:srgbClr val="1A1A1A"/>
                </a:solidFill>
                <a:latin typeface="Calibri"/>
              </a:defRPr>
            </a:pPr>
            <a:r>
              <a:t>•  I can identify next steps toward a certification or IT career pathway after this course.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83E4E"/>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Portfolio: An organized collection of your best work from the semester, used as evidence of your skills and growth.</a:t>
            </a:r>
          </a:p>
          <a:p>
            <a:pPr>
              <a:spcAft>
                <a:spcPts val="600"/>
              </a:spcAft>
              <a:defRPr sz="1200">
                <a:solidFill>
                  <a:srgbClr val="1A1A1A"/>
                </a:solidFill>
                <a:latin typeface="Calibri"/>
              </a:defRPr>
            </a:pPr>
            <a:r>
              <a:t>•  Capstone: The final project of the course that shows everything you learned, usually a knowledge base article or a video tutorial.</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83E4E"/>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On day one of this course, you were... Where are you now? Write one sentence comparing the two.</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83E4E"/>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Semester Reflection Circle: Have students complete a short written reflection answering: your proudest moment, your hardest ticket, the biggest skill you gained, and one goal for what's next. Close the period with students sharing one takeaway aloud in a circle, then collect the three final deliverables: portfolio, capstone, and hardest-ticket writeup.</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83E4E"/>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Final Turn-In Checklist</a:t>
            </a:r>
          </a:p>
          <a:p>
            <a:pPr>
              <a:spcAft>
                <a:spcPts val="600"/>
              </a:spcAft>
              <a:defRPr sz="1250">
                <a:solidFill>
                  <a:srgbClr val="1A1A1A"/>
                </a:solidFill>
                <a:latin typeface="Calibri"/>
              </a:defRPr>
            </a:pPr>
            <a:r>
              <a:t>•  Where You Landed on the Ladder</a:t>
            </a:r>
          </a:p>
          <a:p>
            <a:pPr>
              <a:spcAft>
                <a:spcPts val="600"/>
              </a:spcAft>
              <a:defRPr sz="1250">
                <a:solidFill>
                  <a:srgbClr val="1A1A1A"/>
                </a:solidFill>
                <a:latin typeface="Calibri"/>
              </a:defRPr>
            </a:pPr>
            <a:r>
              <a:t>•  What's Next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83E4E"/>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8A3D"/>
                </a:solidFill>
              </a:rPr>
              <a:t>EXIT TICKET</a:t>
            </a:r>
          </a:p>
          <a:p>
            <a:r>
              <a:rPr sz="1250">
                <a:solidFill>
                  <a:srgbClr val="FFFFFF"/>
                </a:solidFill>
              </a:rPr>
              <a:t>What's one goal you're taking with you from this course into whatever comes next?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3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82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83E4E"/>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0E6E8C"/>
                </a:solidFill>
                <a:latin typeface="Calibri"/>
              </a:rPr>
              <a:t>Writing the Hardest-Ticket Reflection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stares at a blank page for the required one-page hardest-ticket writeup, unsure which ticket to write about. One option is a hard networking ticket from Phase 3 that they eventually solved correctly after two wrong theories. The other option is a signal flow problem from Phase 4 that they never fully resolved on their own, and had to hand off to Sam partway through.</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Students decide which type of ticket, the one eventually solved or the one left unresolved, would make a stronger hardest-ticket reflection for this assignment, and write a 2-3 sentence outline of what that writeup should cover, based on today's guidance about what the reflection is meant to show.</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83E4E"/>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Reflect  (ri-FLEKT)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think back carefully on an experience to understand what it means or taught you.</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re- (back) + flectere (to bend) — literally, to bend back and look again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final writeup asked students to reflect honestly on the hardest ticket of their whole semester.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