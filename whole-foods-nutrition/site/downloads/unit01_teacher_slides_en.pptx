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Read the essential question aloud and connect it to the certification objectives: S3.1, S3.2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Course syllabus (confirm policies match current syllabus); Group cards (8); Kitchen map handout; Clipboards</a:t>
            </a:r>
          </a:p>
          <a:p>
            <a:r>
              <a:t>Confirm every policy on this page matches the current syllabus before using it.</a:t>
            </a:r>
          </a:p>
          <a:p>
            <a:r>
              <a:t>Do the kitchen walk before students touch any equipment.</a:t>
            </a:r>
          </a:p>
          <a:p>
            <a:r>
              <a:t>Record student allergies on the group cards; peanut-free kitchen. Check labels on every packaged item.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Examples: keep a C- or better; wash hands; follow your group job; make up missed labs within two weeks. | Teacher fills in your kitchen's location.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Sinks, soap, paper towels; School-approved sanitizer and test strips; Timer; Handwashing sequence cards; Station checklist</a:t>
            </a:r>
          </a:p>
          <a:p>
            <a:r>
              <a:t>Optional glitter or lotion demo: put a little lotion mixed with glitter on one student's hands, have them shake hands with others, then show how it spread.</a:t>
            </a:r>
          </a:p>
          <a:p>
            <a:r>
              <a:t>Use the sanitizer and concentration your district approves. Check with test strips; do not state a ppm here unless it matches your product label.</a:t>
            </a:r>
          </a:p>
          <a:p>
            <a:r>
              <a:t>Never allow students to mix cleaning chemicals.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Wash with soap and water, rinse, sanitize. | Any two: before cooking, after the restroom, after touching face/hair/phone, after raw meat or eggs, after trash.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Scene card (5 planted errors); Food temperature cards; Poster paper and markers; Food thermometer for demo</a:t>
            </a:r>
          </a:p>
          <a:p>
            <a:r>
              <a:t>Temperatures are USDA FSIS safe minimum internal temperatures; confirm before printing.</a:t>
            </a:r>
          </a:p>
          <a:p>
            <a:r>
              <a:t>Scene card errors suggested: no handwashing before cooking; same board for raw chicken and salad; chicken left on the counter for 3 hours; leftovers stored warm in a deep pot; thermometer not used.</a:t>
            </a:r>
          </a:p>
          <a:p>
            <a:r>
              <a:t>Do a live thermometer demo in water of different temperatures if you have time.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40°F to 140°F. | 165°F. | Separate cutting boards; store raw foods on the bottom shelf; wash hands and tools between tasks.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Recipe cards (1 per group); Ingredients (see recipe); Station checklist; Lab rubric (Unit 1 practical)</a:t>
            </a:r>
          </a:p>
          <a:p>
            <a:r>
              <a:t>Peanut-free kitchen: read every label (granola especially). If a student has a milk allergy, use a dairy-free yogurt.</a:t>
            </a:r>
          </a:p>
          <a:p>
            <a:r>
              <a:t>Use the Unit 1 practical rubric to score hands, sanitizing, separation, and teamwork.</a:t>
            </a:r>
          </a:p>
          <a:p>
            <a:r>
              <a:t>Estimated cost: about $3 per group, $24 for 8 groups. Verify against current prices.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Answers vary; look for a specific action. | Answers vary.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Ingredients display for lab setup. Peanut-free kitchen: confirm labels.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Unit 1: Lab Procedures and Safety Foundations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What habits keep everyone safe and healthy when we cook together?</a:t>
            </a:r>
          </a:p>
          <a:p>
            <a:pPr>
              <a:spcAft>
                <a:spcPts val="1000"/>
              </a:spcAft>
            </a:pPr>
            <a:r>
              <a:rPr sz="2600" lang="en-US">
                <a:solidFill>
                  <a:srgbClr val="1A1A1A"/>
                </a:solidFill>
                <a:latin typeface="Arial"/>
              </a:rPr>
              <a:t>Before we cook, we learn how a professional kitchen stays safe. You will learn the course rules, how to wash your hands and clean a station, how germs spread, and the four steps that prevent foodborne illness: clean, separate, cook, and chill. On day 4 your group runs its first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Welcome to the Kitchen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explain how my grade is built and how to qualify for labs.</a:t>
            </a:r>
          </a:p>
          <a:p>
            <a:pPr>
              <a:spcAft>
                <a:spcPts val="1000"/>
              </a:spcAft>
            </a:pPr>
            <a:r>
              <a:rPr sz="2600" lang="en-US">
                <a:solidFill>
                  <a:srgbClr val="1A1A1A"/>
                </a:solidFill>
                <a:latin typeface="Arial"/>
              </a:rPr>
              <a:t>I can name the four group jobs in the kitchen.</a:t>
            </a:r>
          </a:p>
          <a:p>
            <a:pPr>
              <a:spcAft>
                <a:spcPts val="1000"/>
              </a:spcAft>
            </a:pPr>
            <a:r>
              <a:rPr sz="2600" lang="en-US">
                <a:solidFill>
                  <a:srgbClr val="1A1A1A"/>
                </a:solidFill>
                <a:latin typeface="Arial"/>
              </a:rPr>
              <a:t>I can find safety equipment in our kitchen.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Work plan: A list of who does which job, and in what order, to finish a recipe on time.</a:t>
            </a:r>
          </a:p>
          <a:p>
            <a:pPr>
              <a:spcAft>
                <a:spcPts val="1000"/>
              </a:spcAft>
            </a:pPr>
            <a:r>
              <a:rPr sz="2600" lang="en-US">
                <a:solidFill>
                  <a:srgbClr val="1A1A1A"/>
                </a:solidFill>
                <a:latin typeface="Arial"/>
              </a:rPr>
              <a:t>Mise en place: A French phrase meaning to gather and prepare everything before you start cooking.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Think about a time you cooked or helped cook. What went well? What went wrong? Write two sentences.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What this class is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Whole Foods and Nutrition studies where food comes from, what it does for your body, and how to prepare it safely.</a:t>
            </a:r>
          </a:p>
          <a:p>
            <a:pPr>
              <a:spcAft>
                <a:spcPts val="1000"/>
              </a:spcAft>
            </a:pPr>
            <a:r>
              <a:rPr sz="2600" lang="en-US">
                <a:solidFill>
                  <a:srgbClr val="1A1A1A"/>
                </a:solidFill>
                <a:latin typeface="Arial"/>
              </a:rPr>
              <a:t>We learn in the classroom and then practice in the kitchen.</a:t>
            </a:r>
          </a:p>
          <a:p>
            <a:pPr>
              <a:spcAft>
                <a:spcPts val="1000"/>
              </a:spcAft>
            </a:pPr>
            <a:r>
              <a:rPr sz="2600" lang="en-US">
                <a:solidFill>
                  <a:srgbClr val="1A1A1A"/>
                </a:solidFill>
                <a:latin typeface="Arial"/>
              </a:rPr>
              <a:t>About four of every ten days are cooking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How your grade works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Your grade is 80 percent summative work (unit tests, lab performance, projects) and 20 percent formative work (bellringers, practice, exit tickets).</a:t>
            </a:r>
          </a:p>
          <a:p>
            <a:pPr>
              <a:spcAft>
                <a:spcPts val="1000"/>
              </a:spcAft>
            </a:pPr>
            <a:r>
              <a:rPr sz="2600" lang="en-US">
                <a:solidFill>
                  <a:srgbClr val="1A1A1A"/>
                </a:solidFill>
                <a:latin typeface="Arial"/>
              </a:rPr>
              <a:t>Unit tests are taken in Quia during Warrior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How your grade works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You may retake a test one time, within two weeks, if all of the formative work for that unit is done.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Lab rules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You need a C- or better to take part in foods lab.</a:t>
            </a:r>
          </a:p>
          <a:p>
            <a:pPr>
              <a:spcAft>
                <a:spcPts val="1000"/>
              </a:spcAft>
            </a:pPr>
            <a:r>
              <a:rPr sz="2600" lang="en-US">
                <a:solidFill>
                  <a:srgbClr val="1A1A1A"/>
                </a:solidFill>
                <a:latin typeface="Arial"/>
              </a:rPr>
              <a:t>Missed labs must be made up within two weeks using the makeup lab sheet in Canvas.</a:t>
            </a:r>
          </a:p>
          <a:p>
            <a:pPr>
              <a:spcAft>
                <a:spcPts val="1000"/>
              </a:spcAft>
            </a:pPr>
            <a:r>
              <a:rPr sz="2600" lang="en-US">
                <a:solidFill>
                  <a:srgbClr val="1A1A1A"/>
                </a:solidFill>
                <a:latin typeface="Arial"/>
              </a:rPr>
              <a:t>Late work is not accepted more than two weeks after the due 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Four jobs, every lab</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Each group has four people and four jobs: Head Chef, Sous Chef, Safety and Sanitation Officer, and Supplies and Cleanup Manager.</a:t>
            </a:r>
          </a:p>
          <a:p>
            <a:pPr>
              <a:spcAft>
                <a:spcPts val="1000"/>
              </a:spcAft>
            </a:pPr>
            <a:r>
              <a:rPr sz="2600" lang="en-US">
                <a:solidFill>
                  <a:srgbClr val="1A1A1A"/>
                </a:solidFill>
                <a:latin typeface="Arial"/>
              </a:rPr>
              <a:t>Jobs rotate each lab so everyone practices every skill.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Guided practice: Kitchen Safety Walk</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Follow your teacher around the kitchen. At each stop, write down what you see and what it is for.</a:t>
            </a:r>
          </a:p>
          <a:p>
            <a:pPr>
              <a:spcAft>
                <a:spcPts val="1000"/>
              </a:spcAft>
            </a:pPr>
            <a:r>
              <a:rPr sz="2600" lang="en-US">
                <a:solidFill>
                  <a:srgbClr val="1A1A1A"/>
                </a:solidFill>
                <a:latin typeface="Arial"/>
              </a:rPr>
              <a:t>2. Stops: handwashing sink, fire extinguisher, first aid kit, fire blanket or shutoff, emergency exits, sanitizer station, knife storage, and the refrigerator.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Independent practice: Safety Scavenger Hunt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With your group, find each item on the Safety Map and mark where it is on a drawing of the kitchen.</a:t>
            </a:r>
          </a:p>
          <a:p>
            <a:pPr>
              <a:spcAft>
                <a:spcPts val="1000"/>
              </a:spcAft>
            </a:pPr>
            <a:r>
              <a:rPr sz="2600" lang="en-US">
                <a:solidFill>
                  <a:srgbClr val="1A1A1A"/>
                </a:solidFill>
                <a:latin typeface="Arial"/>
              </a:rPr>
              <a:t>2. Write the one rule that goes with each item. Example: "Never use water on a grease fire."</a:t>
            </a:r>
          </a:p>
          <a:p>
            <a:pPr>
              <a:spcAft>
                <a:spcPts val="1000"/>
              </a:spcAft>
            </a:pPr>
            <a:r>
              <a:rPr sz="2600" lang="en-US">
                <a:solidFill>
                  <a:srgbClr val="1A1A1A"/>
                </a:solidFill>
                <a:latin typeface="Arial"/>
              </a:rPr>
              <a:t>3. Choose roles for your first lab. Write each person's job on your group card.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Name two things you need to do to take part in lab.</a:t>
            </a:r>
          </a:p>
          <a:p>
            <a:pPr>
              <a:spcAft>
                <a:spcPts val="1000"/>
              </a:spcAft>
            </a:pPr>
            <a:r>
              <a:rPr sz="2600" lang="en-US">
                <a:solidFill>
                  <a:srgbClr val="1A1A1A"/>
                </a:solidFill>
                <a:latin typeface="Arial"/>
              </a:rPr>
              <a:t>2. Where is the fire extinguisher?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Clean: Hands and Surfaces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wash my hands correctly.</a:t>
            </a:r>
          </a:p>
          <a:p>
            <a:pPr>
              <a:spcAft>
                <a:spcPts val="1000"/>
              </a:spcAft>
            </a:pPr>
            <a:r>
              <a:rPr sz="2600" lang="en-US">
                <a:solidFill>
                  <a:srgbClr val="1A1A1A"/>
                </a:solidFill>
                <a:latin typeface="Arial"/>
              </a:rPr>
              <a:t>I can list when to wash hands in a kitchen.</a:t>
            </a:r>
          </a:p>
          <a:p>
            <a:pPr>
              <a:spcAft>
                <a:spcPts val="1000"/>
              </a:spcAft>
            </a:pPr>
            <a:r>
              <a:rPr sz="2600" lang="en-US">
                <a:solidFill>
                  <a:srgbClr val="1A1A1A"/>
                </a:solidFill>
                <a:latin typeface="Arial"/>
              </a:rPr>
              <a:t>I can clean and sanitize a work surface in the right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Pathogen: A germ, such as a bacterium or virus, that can make people sick.</a:t>
            </a:r>
          </a:p>
          <a:p>
            <a:pPr>
              <a:spcAft>
                <a:spcPts val="1000"/>
              </a:spcAft>
            </a:pPr>
            <a:r>
              <a:rPr sz="2600" lang="en-US">
                <a:solidFill>
                  <a:srgbClr val="1A1A1A"/>
                </a:solidFill>
                <a:latin typeface="Arial"/>
              </a:rPr>
              <a:t>Foodborne illness: Sickness caused by eating food that contains harmful germs or substances.</a:t>
            </a:r>
          </a:p>
          <a:p>
            <a:pPr>
              <a:spcAft>
                <a:spcPts val="1000"/>
              </a:spcAft>
            </a:pPr>
            <a:r>
              <a:rPr sz="2600" lang="en-US">
                <a:solidFill>
                  <a:srgbClr val="1A1A1A"/>
                </a:solidFill>
                <a:latin typeface="Arial"/>
              </a:rPr>
              <a:t>Sanitize: To reduce germs on a clean surface to a safe level.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List three things you touched today before you got to class. Could any of them carry germs?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How food makes people sick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Foodborne illness is caused by pathogens.</a:t>
            </a:r>
          </a:p>
          <a:p>
            <a:pPr>
              <a:spcAft>
                <a:spcPts val="1000"/>
              </a:spcAft>
            </a:pPr>
            <a:r>
              <a:rPr sz="2600" lang="en-US">
                <a:solidFill>
                  <a:srgbClr val="1A1A1A"/>
                </a:solidFill>
                <a:latin typeface="Arial"/>
              </a:rPr>
              <a:t>Bacteria such as Salmonella and E. coli, and viruses such as norovirus, can get onto food from hands, surfaces, and other food.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How food makes people sick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Symptoms include vomiting, diarrhea, stomach cramps, and fever.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Handwashing in five steps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Wet hands with clean running water.</a:t>
            </a:r>
          </a:p>
          <a:p>
            <a:pPr>
              <a:spcAft>
                <a:spcPts val="1000"/>
              </a:spcAft>
            </a:pPr>
            <a:r>
              <a:rPr sz="2600" lang="en-US">
                <a:solidFill>
                  <a:srgbClr val="1A1A1A"/>
                </a:solidFill>
                <a:latin typeface="Arial"/>
              </a:rPr>
              <a:t>2. Add soap and lather the backs of hands, between fingers, and under nails.</a:t>
            </a:r>
          </a:p>
          <a:p>
            <a:pPr>
              <a:spcAft>
                <a:spcPts val="1000"/>
              </a:spcAft>
            </a:pPr>
            <a:r>
              <a:rPr sz="2600" lang="en-US">
                <a:solidFill>
                  <a:srgbClr val="1A1A1A"/>
                </a:solidFill>
                <a:latin typeface="Arial"/>
              </a:rPr>
              <a:t>3. Scrub for at least 20 seconds.</a:t>
            </a:r>
          </a:p>
          <a:p>
            <a:pPr>
              <a:spcAft>
                <a:spcPts val="1000"/>
              </a:spcAft>
            </a:pPr>
            <a:r>
              <a:rPr sz="2600" lang="en-US">
                <a:solidFill>
                  <a:srgbClr val="1A1A1A"/>
                </a:solidFill>
                <a:latin typeface="Arial"/>
              </a:rPr>
              <a:t>4. Rinse well.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Handwashing in five steps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Dry with a clean paper towel, then use the towel to turn off the faucet.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When to wash</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Wash before you start cooking, after using the restroom, after touching your face, hair, or phone, after handling raw meat, poultry, seafood, or eggs, after taking out trash, after sneezing or coughing, and any time your hands are dirty.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Clean, then sanitize</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Cleaning removes dirt and food.</a:t>
            </a:r>
          </a:p>
          <a:p>
            <a:pPr>
              <a:spcAft>
                <a:spcPts val="1000"/>
              </a:spcAft>
            </a:pPr>
            <a:r>
              <a:rPr sz="2600" lang="en-US">
                <a:solidFill>
                  <a:srgbClr val="1A1A1A"/>
                </a:solidFill>
                <a:latin typeface="Arial"/>
              </a:rPr>
              <a:t>Sanitizing reduces germs.</a:t>
            </a:r>
          </a:p>
          <a:p>
            <a:pPr>
              <a:spcAft>
                <a:spcPts val="1000"/>
              </a:spcAft>
            </a:pPr>
            <a:r>
              <a:rPr sz="2600" lang="en-US">
                <a:solidFill>
                  <a:srgbClr val="1A1A1A"/>
                </a:solidFill>
                <a:latin typeface="Arial"/>
              </a:rPr>
              <a:t>Always do them in this order: wash with soap and water, rinse, then sanitize.</a:t>
            </a:r>
          </a:p>
          <a:p>
            <a:pPr>
              <a:spcAft>
                <a:spcPts val="1000"/>
              </a:spcAft>
            </a:pPr>
            <a:r>
              <a:rPr sz="2600" lang="en-US">
                <a:solidFill>
                  <a:srgbClr val="1A1A1A"/>
                </a:solidFill>
                <a:latin typeface="Arial"/>
              </a:rPr>
              <a:t>Use the school's approved sanitizer at the strength on its label and let the surface air dry.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Personal readiness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Tie back long hair, wear a clean apron, remove rings and bracelets, keep nails short and clean, wear closed-toe shoes, and cover any cut with a bandage and a glove.</a:t>
            </a:r>
          </a:p>
          <a:p>
            <a:pPr>
              <a:spcAft>
                <a:spcPts val="1000"/>
              </a:spcAft>
            </a:pPr>
            <a:r>
              <a:rPr sz="2600" lang="en-US">
                <a:solidFill>
                  <a:srgbClr val="1A1A1A"/>
                </a:solidFill>
                <a:latin typeface="Arial"/>
              </a:rPr>
              <a:t>If you are sick, tell your teacher and do not handle food.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Guided practice: Handwashing Practice</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Watch the demonstration. Your teacher shows the five steps while you follow along with your wet-and-soap hands up at your seat (no sink yet).</a:t>
            </a:r>
          </a:p>
          <a:p>
            <a:pPr>
              <a:spcAft>
                <a:spcPts val="1000"/>
              </a:spcAft>
            </a:pPr>
            <a:r>
              <a:rPr sz="2600" lang="en-US">
                <a:solidFill>
                  <a:srgbClr val="1A1A1A"/>
                </a:solidFill>
                <a:latin typeface="Arial"/>
              </a:rPr>
              <a:t>2. Hum "Happy Birthday" twice, or count to 20, to feel how long 20 seconds is.</a:t>
            </a:r>
          </a:p>
          <a:p>
            <a:pPr>
              <a:spcAft>
                <a:spcPts val="1000"/>
              </a:spcAft>
            </a:pPr>
            <a:r>
              <a:rPr sz="2600" lang="en-US">
                <a:solidFill>
                  <a:srgbClr val="1A1A1A"/>
                </a:solidFill>
                <a:latin typeface="Arial"/>
              </a:rPr>
              <a:t>3. Complete the sequencing card: put the five steps in order.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Independent practice: Wash It, Clean It, Sanitize It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Each person washes hands at the sink for 20 seconds while a partner times it and checks the five steps.</a:t>
            </a:r>
          </a:p>
          <a:p>
            <a:pPr>
              <a:spcAft>
                <a:spcPts val="1000"/>
              </a:spcAft>
            </a:pPr>
            <a:r>
              <a:rPr sz="2600" lang="en-US">
                <a:solidFill>
                  <a:srgbClr val="1A1A1A"/>
                </a:solidFill>
                <a:latin typeface="Arial"/>
              </a:rPr>
              <a:t>2. At your station, wash a section of counter with soap and water, rinse, then sanitize. Your Safety Officer checks the order using the station checklist.</a:t>
            </a:r>
          </a:p>
          <a:p>
            <a:pPr>
              <a:spcAft>
                <a:spcPts val="1000"/>
              </a:spcAft>
            </a:pPr>
            <a:r>
              <a:rPr sz="2600" lang="en-US">
                <a:solidFill>
                  <a:srgbClr val="1A1A1A"/>
                </a:solidFill>
                <a:latin typeface="Arial"/>
              </a:rPr>
              <a:t>3. Fill in the "When do I wash?" chart with at least six times.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Put in order: sanitize, rinse, wash with soap and water.</a:t>
            </a:r>
          </a:p>
          <a:p>
            <a:pPr>
              <a:spcAft>
                <a:spcPts val="1000"/>
              </a:spcAft>
            </a:pPr>
            <a:r>
              <a:rPr sz="2600" lang="en-US">
                <a:solidFill>
                  <a:srgbClr val="1A1A1A"/>
                </a:solidFill>
                <a:latin typeface="Arial"/>
              </a:rPr>
              <a:t>2. Name two times you must wash your hands when cooking.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Separate, Cook, Chill</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prevent cross-contamination.</a:t>
            </a:r>
          </a:p>
          <a:p>
            <a:pPr>
              <a:spcAft>
                <a:spcPts val="1000"/>
              </a:spcAft>
            </a:pPr>
            <a:r>
              <a:rPr sz="2600" lang="en-US">
                <a:solidFill>
                  <a:srgbClr val="1A1A1A"/>
                </a:solidFill>
                <a:latin typeface="Arial"/>
              </a:rPr>
              <a:t>I can state the temperature danger zone and safe cooking temperatures.</a:t>
            </a:r>
          </a:p>
          <a:p>
            <a:pPr>
              <a:spcAft>
                <a:spcPts val="1000"/>
              </a:spcAft>
            </a:pPr>
            <a:r>
              <a:rPr sz="2600" lang="en-US">
                <a:solidFill>
                  <a:srgbClr val="1A1A1A"/>
                </a:solidFill>
                <a:latin typeface="Arial"/>
              </a:rPr>
              <a:t>I can explain how to chill and store food safely.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Cross-contamination: The spread of germs from one food, surface, or hand to another.</a:t>
            </a:r>
          </a:p>
          <a:p>
            <a:pPr>
              <a:spcAft>
                <a:spcPts val="1000"/>
              </a:spcAft>
            </a:pPr>
            <a:r>
              <a:rPr sz="2600" lang="en-US">
                <a:solidFill>
                  <a:srgbClr val="1A1A1A"/>
                </a:solidFill>
                <a:latin typeface="Arial"/>
              </a:rPr>
              <a:t>Temperature danger zone: The range from 40°F to 140°F where bacteria grow fastest.</a:t>
            </a:r>
          </a:p>
          <a:p>
            <a:pPr>
              <a:spcAft>
                <a:spcPts val="1000"/>
              </a:spcAft>
            </a:pPr>
            <a:r>
              <a:rPr sz="2600" lang="en-US">
                <a:solidFill>
                  <a:srgbClr val="1A1A1A"/>
                </a:solidFill>
                <a:latin typeface="Arial"/>
              </a:rPr>
              <a:t>Internal temperature: The temperature at the center of the thickest part of a food.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A cook cuts raw chicken on a board and then slices tomatoes on the same board without washing it. What could go wrong?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Separate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Cross-contamination is when germs move from one place to another.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Separate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Prevent it by using separate cutting boards and utensils for raw meat, poultry, seafood, and eggs; by storing raw foods on the lowest refrigerator shelf so juices cannot drip onto other foods; and by washing hands and tools between tasks.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Cook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You cannot tell if food is safe by color.</a:t>
            </a:r>
          </a:p>
          <a:p>
            <a:pPr>
              <a:spcAft>
                <a:spcPts val="1000"/>
              </a:spcAft>
            </a:pPr>
            <a:r>
              <a:rPr sz="2600" lang="en-US">
                <a:solidFill>
                  <a:srgbClr val="1A1A1A"/>
                </a:solidFill>
                <a:latin typeface="Arial"/>
              </a:rPr>
              <a:t>Use a clean food thermometer in the thickest part.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Cook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USDA safe internal temperatures: poultry 165°F; ground meats 160°F; beef, pork, lamb, and fish 145°F (with a 3-minute rest for beef, pork, and lamb); egg dishes 160°F; leftovers 165°F.</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Chill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Bacteria grow fastest in the temperature danger zone, 40°F to 140°F.</a:t>
            </a:r>
          </a:p>
          <a:p>
            <a:pPr>
              <a:spcAft>
                <a:spcPts val="1000"/>
              </a:spcAft>
            </a:pPr>
            <a:r>
              <a:rPr sz="2600" lang="en-US">
                <a:solidFill>
                  <a:srgbClr val="1A1A1A"/>
                </a:solidFill>
                <a:latin typeface="Arial"/>
              </a:rPr>
              <a:t>Keep the refrigerator at 40°F or below.</a:t>
            </a:r>
          </a:p>
          <a:p>
            <a:pPr>
              <a:spcAft>
                <a:spcPts val="1000"/>
              </a:spcAft>
            </a:pPr>
            <a:r>
              <a:rPr sz="2600" lang="en-US">
                <a:solidFill>
                  <a:srgbClr val="1A1A1A"/>
                </a:solidFill>
                <a:latin typeface="Arial"/>
              </a:rPr>
              <a:t>Refrigerate perishable food within 2 hours (within 1 hour if the room is above 90°F).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Chill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Thaw food in the refrigerator, in cold water, or in the microwave, not on the counter.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Guided practice: Spot the Mistakes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Read the kitchen scene card as a class. There are five safety mistakes in it.</a:t>
            </a:r>
          </a:p>
          <a:p>
            <a:pPr>
              <a:spcAft>
                <a:spcPts val="1000"/>
              </a:spcAft>
            </a:pPr>
            <a:r>
              <a:rPr sz="2600" lang="en-US">
                <a:solidFill>
                  <a:srgbClr val="1A1A1A"/>
                </a:solidFill>
                <a:latin typeface="Arial"/>
              </a:rPr>
              <a:t>2. With a partner, circle each mistake and write which habit it breaks: clean, separate, cook, or chill.</a:t>
            </a:r>
          </a:p>
          <a:p>
            <a:pPr>
              <a:spcAft>
                <a:spcPts val="1000"/>
              </a:spcAft>
            </a:pPr>
            <a:r>
              <a:rPr sz="2600" lang="en-US">
                <a:solidFill>
                  <a:srgbClr val="1A1A1A"/>
                </a:solidFill>
                <a:latin typeface="Arial"/>
              </a:rPr>
              <a:t>3. Write the fix next to each mistake.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Independent practice: Danger Zone Detectives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Sort the 12 food cards by safe internal temperature using the chart.</a:t>
            </a:r>
          </a:p>
          <a:p>
            <a:pPr>
              <a:spcAft>
                <a:spcPts val="1000"/>
              </a:spcAft>
            </a:pPr>
            <a:r>
              <a:rPr sz="2600" lang="en-US">
                <a:solidFill>
                  <a:srgbClr val="1A1A1A"/>
                </a:solidFill>
                <a:latin typeface="Arial"/>
              </a:rPr>
              <a:t>2. Answer the three scenarios: a lunch left in a backpack, a casserole left on the counter, and thawing a turkey. Decide what is safe and why.</a:t>
            </a:r>
          </a:p>
          <a:p>
            <a:pPr>
              <a:spcAft>
                <a:spcPts val="1000"/>
              </a:spcAft>
            </a:pPr>
            <a:r>
              <a:rPr sz="2600" lang="en-US">
                <a:solidFill>
                  <a:srgbClr val="1A1A1A"/>
                </a:solidFill>
                <a:latin typeface="Arial"/>
              </a:rPr>
              <a:t>3. Make a one-page "Clean, Separate, Cook, Chill" poster for your kitchen station. Use words and symbols, not color alone.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3 -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Name the temperature danger zone.</a:t>
            </a:r>
          </a:p>
          <a:p>
            <a:pPr>
              <a:spcAft>
                <a:spcPts val="1000"/>
              </a:spcAft>
            </a:pPr>
            <a:r>
              <a:rPr sz="2600" lang="en-US">
                <a:solidFill>
                  <a:srgbClr val="1A1A1A"/>
                </a:solidFill>
                <a:latin typeface="Arial"/>
              </a:rPr>
              <a:t>2. What is the safe internal temperature for chicken?</a:t>
            </a:r>
          </a:p>
          <a:p>
            <a:pPr>
              <a:spcAft>
                <a:spcPts val="1000"/>
              </a:spcAft>
            </a:pPr>
            <a:r>
              <a:rPr sz="2600" lang="en-US">
                <a:solidFill>
                  <a:srgbClr val="1A1A1A"/>
                </a:solidFill>
                <a:latin typeface="Arial"/>
              </a:rPr>
              <a:t>3. Name one way to prevent cross-contamination.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4: Lab 1: Fruit and Yogurt Parfait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 and group roles</a:t>
            </a:r>
          </a:p>
          <a:p>
            <a:pPr>
              <a:spcAft>
                <a:spcPts val="1000"/>
              </a:spcAft>
            </a:pPr>
            <a:r>
              <a:rPr sz="2600" lang="en-US">
                <a:solidFill>
                  <a:srgbClr val="1A1A1A"/>
                </a:solidFill>
                <a:latin typeface="Arial"/>
              </a:rPr>
              <a:t>5 min: Lab brief: safety focus and work plan</a:t>
            </a:r>
          </a:p>
          <a:p>
            <a:pPr>
              <a:spcAft>
                <a:spcPts val="1000"/>
              </a:spcAft>
            </a:pPr>
            <a:r>
              <a:rPr sz="2600" lang="en-US">
                <a:solidFill>
                  <a:srgbClr val="1A1A1A"/>
                </a:solidFill>
                <a:latin typeface="Arial"/>
              </a:rPr>
              <a:t>28 min: Cook</a:t>
            </a:r>
          </a:p>
          <a:p>
            <a:pPr>
              <a:spcAft>
                <a:spcPts val="1000"/>
              </a:spcAft>
            </a:pPr>
            <a:r>
              <a:rPr sz="2600" lang="en-US">
                <a:solidFill>
                  <a:srgbClr val="1A1A1A"/>
                </a:solidFill>
                <a:latin typeface="Arial"/>
              </a:rPr>
              <a:t>7 min: Cleanup and station check</a:t>
            </a:r>
          </a:p>
          <a:p>
            <a:pPr>
              <a:spcAft>
                <a:spcPts val="1000"/>
              </a:spcAft>
            </a:pPr>
            <a:r>
              <a:rPr sz="2600" lang="en-US">
                <a:solidFill>
                  <a:srgbClr val="1A1A1A"/>
                </a:solidFill>
                <a:latin typeface="Arial"/>
              </a:rPr>
              <a:t>3 min: Exit ticket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4 -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work with my group using a work plan and assigned jobs.</a:t>
            </a:r>
          </a:p>
          <a:p>
            <a:pPr>
              <a:spcAft>
                <a:spcPts val="1000"/>
              </a:spcAft>
            </a:pPr>
            <a:r>
              <a:rPr sz="2600" lang="en-US">
                <a:solidFill>
                  <a:srgbClr val="1A1A1A"/>
                </a:solidFill>
                <a:latin typeface="Arial"/>
              </a:rPr>
              <a:t>I can apply clean, separate, and chill while I prepare food.</a:t>
            </a:r>
          </a:p>
          <a:p>
            <a:pPr>
              <a:spcAft>
                <a:spcPts val="1000"/>
              </a:spcAft>
            </a:pPr>
            <a:r>
              <a:rPr sz="2600" lang="en-US">
                <a:solidFill>
                  <a:srgbClr val="1A1A1A"/>
                </a:solidFill>
                <a:latin typeface="Arial"/>
              </a:rPr>
              <a:t>I can measure ingredients accurately.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4 -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Mise en place: A French phrase meaning to gather and prepare everything before you start cooking.</a:t>
            </a:r>
          </a:p>
          <a:p>
            <a:pPr>
              <a:spcAft>
                <a:spcPts val="1000"/>
              </a:spcAft>
            </a:pPr>
            <a:r>
              <a:rPr sz="2600" lang="en-US">
                <a:solidFill>
                  <a:srgbClr val="1A1A1A"/>
                </a:solidFill>
                <a:latin typeface="Arial"/>
              </a:rPr>
              <a:t>Work plan: A list of who does which job, and in what order, to finish a recipe on time.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4 -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Read today's recipe. Which job do you have? Write the first thing you will 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4 - Lab brief</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Today's safety focus: clean and chill.</a:t>
            </a:r>
          </a:p>
          <a:p>
            <a:pPr>
              <a:spcAft>
                <a:spcPts val="1000"/>
              </a:spcAft>
            </a:pPr>
            <a:r>
              <a:rPr sz="2600" lang="en-US">
                <a:solidFill>
                  <a:srgbClr val="1A1A1A"/>
                </a:solidFill>
                <a:latin typeface="Arial"/>
              </a:rPr>
              <a:t>Wash your hands before you touch food.</a:t>
            </a:r>
          </a:p>
          <a:p>
            <a:pPr>
              <a:spcAft>
                <a:spcPts val="1000"/>
              </a:spcAft>
            </a:pPr>
            <a:r>
              <a:rPr sz="2600" lang="en-US">
                <a:solidFill>
                  <a:srgbClr val="1A1A1A"/>
                </a:solidFill>
                <a:latin typeface="Arial"/>
              </a:rPr>
              <a:t>Keep yogurt in the refrigerator until it is time to assemble.</a:t>
            </a:r>
          </a:p>
          <a:p>
            <a:pPr>
              <a:spcAft>
                <a:spcPts val="1000"/>
              </a:spcAft>
            </a:pPr>
            <a:r>
              <a:rPr sz="2600" lang="en-US">
                <a:solidFill>
                  <a:srgbClr val="1A1A1A"/>
                </a:solidFill>
                <a:latin typeface="Arial"/>
              </a:rPr>
              <a:t>Check every package label for peanuts.</a:t>
            </a:r>
          </a:p>
          <a:p>
            <a:pPr>
              <a:spcAft>
                <a:spcPts val="1000"/>
              </a:spcAft>
            </a:pPr>
            <a:r>
              <a:rPr sz="2600" lang="en-US">
                <a:solidFill>
                  <a:srgbClr val="1A1A1A"/>
                </a:solidFill>
                <a:latin typeface="Arial"/>
              </a:rPr>
              <a:t>Fill in your work plan before you start.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4 - Guided practice: Group Work Plan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Write who does each step and how many minutes it will take.</a:t>
            </a:r>
          </a:p>
          <a:p>
            <a:pPr>
              <a:spcAft>
                <a:spcPts val="1000"/>
              </a:spcAft>
            </a:pPr>
            <a:r>
              <a:rPr sz="2600" lang="en-US">
                <a:solidFill>
                  <a:srgbClr val="1A1A1A"/>
                </a:solidFill>
                <a:latin typeface="Arial"/>
              </a:rPr>
              <a:t>2. Check that all 28 minutes of cooking time are planned.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4 - Lab: Cook: Fruit and Yogurt Parfait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Follow the recipe card. Your Safety Officer signs off each safety checkpoint.</a:t>
            </a:r>
          </a:p>
          <a:p>
            <a:pPr>
              <a:spcAft>
                <a:spcPts val="1000"/>
              </a:spcAft>
            </a:pPr>
            <a:r>
              <a:rPr sz="2600" lang="en-US">
                <a:solidFill>
                  <a:srgbClr val="1A1A1A"/>
                </a:solidFill>
                <a:latin typeface="Arial"/>
              </a:rPr>
              <a:t>2. When finished, eat together at your station, then complete cleanup. Your Cleanup Manager calls the station check.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4 -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Which of clean, separate, cook, or chill did your group do best? Give one example.</a:t>
            </a:r>
          </a:p>
          <a:p>
            <a:pPr>
              <a:spcAft>
                <a:spcPts val="1000"/>
              </a:spcAft>
            </a:pPr>
            <a:r>
              <a:rPr sz="2600" lang="en-US">
                <a:solidFill>
                  <a:srgbClr val="1A1A1A"/>
                </a:solidFill>
                <a:latin typeface="Arial"/>
              </a:rPr>
              <a:t>2. What is one thing your group will do differently next lab?</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Recipe: Fruit and Yogurt Parfait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2 cups plain or vanilla yogurt (kept cold)</a:t>
            </a:r>
          </a:p>
          <a:p>
            <a:pPr>
              <a:spcAft>
                <a:spcPts val="1000"/>
              </a:spcAft>
            </a:pPr>
            <a:r>
              <a:rPr sz="2600" lang="en-US">
                <a:solidFill>
                  <a:srgbClr val="1A1A1A"/>
                </a:solidFill>
                <a:latin typeface="Arial"/>
              </a:rPr>
              <a:t>1 cup peanut-free granola</a:t>
            </a:r>
          </a:p>
          <a:p>
            <a:pPr>
              <a:spcAft>
                <a:spcPts val="1000"/>
              </a:spcAft>
            </a:pPr>
            <a:r>
              <a:rPr sz="2600" lang="en-US">
                <a:solidFill>
                  <a:srgbClr val="1A1A1A"/>
                </a:solidFill>
                <a:latin typeface="Arial"/>
              </a:rPr>
              <a:t>2 medium bananas</a:t>
            </a:r>
          </a:p>
          <a:p>
            <a:pPr>
              <a:spcAft>
                <a:spcPts val="1000"/>
              </a:spcAft>
            </a:pPr>
            <a:r>
              <a:rPr sz="2600" lang="en-US">
                <a:solidFill>
                  <a:srgbClr val="1A1A1A"/>
                </a:solidFill>
                <a:latin typeface="Arial"/>
              </a:rPr>
              <a:t>1 cup berries, fresh or thawed frozen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Whole Foods and Nutrition - Unit 1: Lab Procedures and Safety Foundations</dc:title>
  <dc:subject/>
  <dc:creator>ISD 197 Family and Consumer Science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