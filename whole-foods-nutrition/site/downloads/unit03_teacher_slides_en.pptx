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Opening slide. Read the essential question aloud and connect it to the certification objectives: S3.2, S3.3, S3.1</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Tool cards (picture and name); Tool-to-job matching sheet; Eight labeled stations with real tools; Fire extinguisher location reminder</a:t>
            </a:r>
          </a:p>
          <a:p>
            <a:r>
              <a:t>Demonstrate a lid on a pan for a grease fire; do not light a real fire in class.</a:t>
            </a:r>
          </a:p>
          <a:p>
            <a:r>
              <a:t>Confirm your school's fire-safety rules and extinguisher type before teaching what to use.</a:t>
            </a:r>
          </a:p>
          <a:p>
            <a:r>
              <a:t>Use picture-supported tool cards for students who need vocabulary support; they are in the slide deck notes.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Any: handles inward; do not leave unattended; dry mitts; towels away from flame. | Turn off the heat, cover with a lid, never use water, tell the teacher.</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Modeling clay and plastic knives (1 per student); Bananas and table knives for demo; Knife safety agreement (signed before any real knife); Cut cards</a:t>
            </a:r>
          </a:p>
          <a:p>
            <a:r>
              <a:t>No student uses a real knife until the safety agreement is signed.</a:t>
            </a:r>
          </a:p>
          <a:p>
            <a:r>
              <a:t>Offer cut-resistant gloves if your school has them, and let a student hold produce with a fork if they have limited hand control.</a:t>
            </a:r>
          </a:p>
          <a:p>
            <a:r>
              <a:t>Check that every knife in the lab is sharp and in good repair before tomorrow.</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Fingertips curled under so knuckles guide the blade. | Any: slice, dice, julienne, or mince with its description.</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Recipe cards; Ingredients (see recipe); Sharp knives and cutting boards; Damp towels; Peelers; Skill check sheet (Unit 3 practical)</a:t>
            </a:r>
          </a:p>
          <a:p>
            <a:r>
              <a:t>Cost estimate: about $2.50 per group, $20 for 8 groups. Verify against current prices.</a:t>
            </a:r>
          </a:p>
          <a:p>
            <a:r>
              <a:t>Milk allergy: use a dairy-free yogurt.</a:t>
            </a:r>
          </a:p>
          <a:p>
            <a:r>
              <a:t>Teacher stays near cutting stations; use a one-cutter-at-a-time rule per table.</a:t>
            </a:r>
          </a:p>
          <a:p>
            <a:r>
              <a:t>Peanut-free: confirm yogurt and seasoning labels.</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Answers vary. | Washed produce, clean board, handwashing, chilled the dip.</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Recipe cards; Ingredients (see recipe); Skillets; Box graters; Food thermometers; Sanitizer wipes for thermometers</a:t>
            </a:r>
          </a:p>
          <a:p>
            <a:r>
              <a:t>Cost estimate: about $3 per group, $24 for 8 groups. Verify against current prices.</a:t>
            </a:r>
          </a:p>
          <a:p>
            <a:r>
              <a:t>Milk allergy: use a dairy-free cheese or omit cheese and increase beans. Wheat allergy: use corn tortillas.</a:t>
            </a:r>
          </a:p>
          <a:p>
            <a:r>
              <a:t>Peanut-free: check tortilla, bean, and salsa labels.</a:t>
            </a:r>
          </a:p>
          <a:p>
            <a:r>
              <a:t>Sanitize the thermometer between uses.</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At least 165°F; to be sure heated food is safe. | Handles inward, dry mitts, or no unattended burner.</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Materials: Recipe cards; Ingredients (see recipe); Blenders; Folded towels; Cups</a:t>
            </a:r>
          </a:p>
          <a:p>
            <a:r>
              <a:t>Cost estimate: about $2.50 per group, $20 for 8 groups. Verify against current prices.</a:t>
            </a:r>
          </a:p>
          <a:p>
            <a:r>
              <a:t>If you have fewer than 8 blenders, schedule groups in two rounds or have two groups share. Unit total for Labs 4-6 is about $64 against the course budget.</a:t>
            </a:r>
          </a:p>
          <a:p>
            <a:r>
              <a:t>Milk allergy: use a fortified soy or oat beverage and dairy-free yogurt.</a:t>
            </a:r>
          </a:p>
          <a:p>
            <a:r>
              <a:t>Peanut-free: check frozen fruit and yogurt labels.</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the targets aloud. Students restate one in their own words.</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Preview vocabulary; ask for examples.</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5 minutes. Collect on the exit ticket sheet or discuss as a class.</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Check for understanding after this slide.</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Model the first step, then release.</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Circulate; Safety Officers check the checkpoints.</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Answer key: So food does not fly out and cause injury or a mess. | Liquid, then soft foods, then frozen foods.</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Ingredients display for lab setup. Peanut-free kitchen: confirm labels.</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Ingredients display for lab setup. Peanut-free kitchen: confirm labels.</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Ingredients display for lab setup. Peanut-free kitchen: confirm labels.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4.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8.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9.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Unit 3: Kitchen Equipment, Utensils, and Knife Skills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How do the right tool and the right technique make cooking safer, faster, and better?</a:t>
            </a:r>
          </a:p>
          <a:p>
            <a:pPr>
              <a:spcAft>
                <a:spcPts val="1000"/>
              </a:spcAft>
            </a:pPr>
            <a:r>
              <a:rPr sz="2600" lang="en-US">
                <a:solidFill>
                  <a:srgbClr val="1A1A1A"/>
                </a:solidFill>
                <a:latin typeface="Arial"/>
              </a:rPr>
              <a:t>A kitchen is full of tools that can burn, cut, or pinch if they are used the wrong way. In this unit you will learn the tools and appliances in our kitchen, how to use and clean them safely, and how to cut food with a knife using a claw grip. You will practice knife cuts, stovetop cooking, and a blender in three labs.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Know Your Kitchen: Tools and Appliances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a:t>
            </a:r>
          </a:p>
          <a:p>
            <a:pPr>
              <a:spcAft>
                <a:spcPts val="1000"/>
              </a:spcAft>
            </a:pPr>
            <a:r>
              <a:rPr sz="2600" lang="en-US">
                <a:solidFill>
                  <a:srgbClr val="1A1A1A"/>
                </a:solidFill>
                <a:latin typeface="Arial"/>
              </a:rPr>
              <a:t>12 min: Direct instruction</a:t>
            </a:r>
          </a:p>
          <a:p>
            <a:pPr>
              <a:spcAft>
                <a:spcPts val="1000"/>
              </a:spcAft>
            </a:pPr>
            <a:r>
              <a:rPr sz="2600" lang="en-US">
                <a:solidFill>
                  <a:srgbClr val="1A1A1A"/>
                </a:solidFill>
                <a:latin typeface="Arial"/>
              </a:rPr>
              <a:t>10 min: Guided practice</a:t>
            </a:r>
          </a:p>
          <a:p>
            <a:pPr>
              <a:spcAft>
                <a:spcPts val="1000"/>
              </a:spcAft>
            </a:pPr>
            <a:r>
              <a:rPr sz="2600" lang="en-US">
                <a:solidFill>
                  <a:srgbClr val="1A1A1A"/>
                </a:solidFill>
                <a:latin typeface="Arial"/>
              </a:rPr>
              <a:t>16 min: Independent practice</a:t>
            </a:r>
          </a:p>
          <a:p>
            <a:pPr>
              <a:spcAft>
                <a:spcPts val="1000"/>
              </a:spcAft>
            </a:pPr>
            <a:r>
              <a:rPr sz="2600" lang="en-US">
                <a:solidFill>
                  <a:srgbClr val="1A1A1A"/>
                </a:solidFill>
                <a:latin typeface="Arial"/>
              </a:rPr>
              <a:t>5 min: Exit ticket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name common kitchen tools and appliances and what each is used for.</a:t>
            </a:r>
          </a:p>
          <a:p>
            <a:pPr>
              <a:spcAft>
                <a:spcPts val="1000"/>
              </a:spcAft>
            </a:pPr>
            <a:r>
              <a:rPr sz="2600" lang="en-US">
                <a:solidFill>
                  <a:srgbClr val="1A1A1A"/>
                </a:solidFill>
                <a:latin typeface="Arial"/>
              </a:rPr>
              <a:t>I can use the stove, oven, microwave, and blender safely.</a:t>
            </a:r>
          </a:p>
          <a:p>
            <a:pPr>
              <a:spcAft>
                <a:spcPts val="1000"/>
              </a:spcAft>
            </a:pPr>
            <a:r>
              <a:rPr sz="2600" lang="en-US">
                <a:solidFill>
                  <a:srgbClr val="1A1A1A"/>
                </a:solidFill>
                <a:latin typeface="Arial"/>
              </a:rPr>
              <a:t>I can clean and store tools so they last.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Utensil: A hand tool used to prepare, cook, or serve food, such as a whisk, spatula, or tongs.</a:t>
            </a:r>
          </a:p>
          <a:p>
            <a:pPr>
              <a:spcAft>
                <a:spcPts val="1000"/>
              </a:spcAft>
            </a:pPr>
            <a:r>
              <a:rPr sz="2600" lang="en-US">
                <a:solidFill>
                  <a:srgbClr val="1A1A1A"/>
                </a:solidFill>
                <a:latin typeface="Arial"/>
              </a:rPr>
              <a:t>Appliance: A machine that uses electricity or gas to do a kitchen job, such as a blender, oven, or microwave.</a:t>
            </a:r>
          </a:p>
          <a:p>
            <a:pPr>
              <a:spcAft>
                <a:spcPts val="1000"/>
              </a:spcAft>
            </a:pPr>
            <a:r>
              <a:rPr sz="2600" lang="en-US">
                <a:solidFill>
                  <a:srgbClr val="1A1A1A"/>
                </a:solidFill>
                <a:latin typeface="Arial"/>
              </a:rPr>
              <a:t>Grease fire: A fire fueled by cooking oil or fat. Never put water on it; cover it with a lid and turn off the heat.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List five tools or appliances you have used in a kitchen. For each, name one way it could hurt someone.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Utensils, cookware, and appliances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Utensils are hand tools such as whisks, spatulas, tongs, peelers, and graters.</a:t>
            </a:r>
          </a:p>
          <a:p>
            <a:pPr>
              <a:spcAft>
                <a:spcPts val="1000"/>
              </a:spcAft>
            </a:pPr>
            <a:r>
              <a:rPr sz="2600" lang="en-US">
                <a:solidFill>
                  <a:srgbClr val="1A1A1A"/>
                </a:solidFill>
                <a:latin typeface="Arial"/>
              </a:rPr>
              <a:t>Cookware includes pots, skillets, and sheet pans.</a:t>
            </a:r>
          </a:p>
          <a:p>
            <a:pPr>
              <a:spcAft>
                <a:spcPts val="1000"/>
              </a:spcAft>
            </a:pPr>
            <a:r>
              <a:rPr sz="2600" lang="en-US">
                <a:solidFill>
                  <a:srgbClr val="1A1A1A"/>
                </a:solidFill>
                <a:latin typeface="Arial"/>
              </a:rPr>
              <a:t>Appliances use electricity or gas, such as the stove, oven, microwave, blender, and mixer.</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Utensils, cookware, and appliances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Choose the tool that fits the job.</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Stove and oven safety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Turn pot handles inward.</a:t>
            </a:r>
          </a:p>
          <a:p>
            <a:pPr>
              <a:spcAft>
                <a:spcPts val="1000"/>
              </a:spcAft>
            </a:pPr>
            <a:r>
              <a:rPr sz="2600" lang="en-US">
                <a:solidFill>
                  <a:srgbClr val="1A1A1A"/>
                </a:solidFill>
                <a:latin typeface="Arial"/>
              </a:rPr>
              <a:t>Never leave a burner unattended.</a:t>
            </a:r>
          </a:p>
          <a:p>
            <a:pPr>
              <a:spcAft>
                <a:spcPts val="1000"/>
              </a:spcAft>
            </a:pPr>
            <a:r>
              <a:rPr sz="2600" lang="en-US">
                <a:solidFill>
                  <a:srgbClr val="1A1A1A"/>
                </a:solidFill>
                <a:latin typeface="Arial"/>
              </a:rPr>
              <a:t>Keep towels and sleeves away from flames and hot coils.</a:t>
            </a:r>
          </a:p>
          <a:p>
            <a:pPr>
              <a:spcAft>
                <a:spcPts val="1000"/>
              </a:spcAft>
            </a:pPr>
            <a:r>
              <a:rPr sz="2600" lang="en-US">
                <a:solidFill>
                  <a:srgbClr val="1A1A1A"/>
                </a:solidFill>
                <a:latin typeface="Arial"/>
              </a:rPr>
              <a:t>Use dry oven mitts.</a:t>
            </a:r>
          </a:p>
          <a:p>
            <a:pPr>
              <a:spcAft>
                <a:spcPts val="1000"/>
              </a:spcAft>
            </a:pPr>
            <a:r>
              <a:rPr sz="2600" lang="en-US">
                <a:solidFill>
                  <a:srgbClr val="1A1A1A"/>
                </a:solidFill>
                <a:latin typeface="Arial"/>
              </a:rPr>
              <a:t>Lift lids away from your face so steam does not burn you.</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Stove and oven safety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Open the oven door slowly and pull the rack out with two hands.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Grease fire and emergencies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For a small grease fire: turn off the heat, slide a lid over the pan, and leave it covered.</a:t>
            </a:r>
          </a:p>
          <a:p>
            <a:pPr>
              <a:spcAft>
                <a:spcPts val="1000"/>
              </a:spcAft>
            </a:pPr>
            <a:r>
              <a:rPr sz="2600" lang="en-US">
                <a:solidFill>
                  <a:srgbClr val="1A1A1A"/>
                </a:solidFill>
                <a:latin typeface="Arial"/>
              </a:rPr>
              <a:t>Never use water.</a:t>
            </a:r>
          </a:p>
          <a:p>
            <a:pPr>
              <a:spcAft>
                <a:spcPts val="1000"/>
              </a:spcAft>
            </a:pPr>
            <a:r>
              <a:rPr sz="2600" lang="en-US">
                <a:solidFill>
                  <a:srgbClr val="1A1A1A"/>
                </a:solidFill>
                <a:latin typeface="Arial"/>
              </a:rPr>
              <a:t>Tell your teacher right away.</a:t>
            </a:r>
          </a:p>
          <a:p>
            <a:pPr>
              <a:spcAft>
                <a:spcPts val="1000"/>
              </a:spcAft>
            </a:pPr>
            <a:r>
              <a:rPr sz="2600" lang="en-US">
                <a:solidFill>
                  <a:srgbClr val="1A1A1A"/>
                </a:solidFill>
                <a:latin typeface="Arial"/>
              </a:rPr>
              <a:t>For a burn, run cool water over it for several minutes and tell your teacher.</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Microwave and blender safety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Use only microwave-safe containers and never metal.</a:t>
            </a:r>
          </a:p>
          <a:p>
            <a:pPr>
              <a:spcAft>
                <a:spcPts val="1000"/>
              </a:spcAft>
            </a:pPr>
            <a:r>
              <a:rPr sz="2600" lang="en-US">
                <a:solidFill>
                  <a:srgbClr val="1A1A1A"/>
                </a:solidFill>
                <a:latin typeface="Arial"/>
              </a:rPr>
              <a:t>Vent lids and let food stand before you check it.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Microwave and blender safety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For a blender, put the lid on before you start, keep hands and utensils out while it runs, and unplug it before you clean the blades.</a:t>
            </a:r>
          </a:p>
          <a:p>
            <a:pPr>
              <a:spcAft>
                <a:spcPts val="1000"/>
              </a:spcAft>
            </a:pPr>
            <a:r>
              <a:rPr sz="2600" lang="en-US">
                <a:solidFill>
                  <a:srgbClr val="1A1A1A"/>
                </a:solidFill>
                <a:latin typeface="Arial"/>
              </a:rPr>
              <a:t>Do not fill it more than halfway with hot liquid.</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Care and cleaning</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Wash tools with hot, soapy water, rinse, and dry.</a:t>
            </a:r>
          </a:p>
          <a:p>
            <a:pPr>
              <a:spcAft>
                <a:spcPts val="1000"/>
              </a:spcAft>
            </a:pPr>
            <a:r>
              <a:rPr sz="2600" lang="en-US">
                <a:solidFill>
                  <a:srgbClr val="1A1A1A"/>
                </a:solidFill>
                <a:latin typeface="Arial"/>
              </a:rPr>
              <a:t>Use only plastic or wood tools on nonstick pans.</a:t>
            </a:r>
          </a:p>
          <a:p>
            <a:pPr>
              <a:spcAft>
                <a:spcPts val="1000"/>
              </a:spcAft>
            </a:pPr>
            <a:r>
              <a:rPr sz="2600" lang="en-US">
                <a:solidFill>
                  <a:srgbClr val="1A1A1A"/>
                </a:solidFill>
                <a:latin typeface="Arial"/>
              </a:rPr>
              <a:t>Keep wooden tools and sharp knives out of the dishwasher.</a:t>
            </a:r>
          </a:p>
          <a:p>
            <a:pPr>
              <a:spcAft>
                <a:spcPts val="1000"/>
              </a:spcAft>
            </a:pPr>
            <a:r>
              <a:rPr sz="2600" lang="en-US">
                <a:solidFill>
                  <a:srgbClr val="1A1A1A"/>
                </a:solidFill>
                <a:latin typeface="Arial"/>
              </a:rPr>
              <a:t>Unplug appliances before cleaning and never put the motor base in water.</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Guided practice: Match the Tool to the Job</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Look at the tool cards with your partner. Match each tool to its job on the sheet.</a:t>
            </a:r>
          </a:p>
          <a:p>
            <a:pPr>
              <a:spcAft>
                <a:spcPts val="1000"/>
              </a:spcAft>
            </a:pPr>
            <a:r>
              <a:rPr sz="2600" lang="en-US">
                <a:solidFill>
                  <a:srgbClr val="1A1A1A"/>
                </a:solidFill>
                <a:latin typeface="Arial"/>
              </a:rPr>
              <a:t>2. Choose three tools and write one safety rule for each.</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Independent practice: Equipment Circuit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Visit eight stations in the kitchen. At each one, name the tool or appliance, its job, and one safety rule.</a:t>
            </a:r>
          </a:p>
          <a:p>
            <a:pPr>
              <a:spcAft>
                <a:spcPts val="1000"/>
              </a:spcAft>
            </a:pPr>
            <a:r>
              <a:rPr sz="2600" lang="en-US">
                <a:solidFill>
                  <a:srgbClr val="1A1A1A"/>
                </a:solidFill>
                <a:latin typeface="Arial"/>
              </a:rPr>
              <a:t>2. Draw or label the parts of one appliance.</a:t>
            </a:r>
          </a:p>
          <a:p>
            <a:pPr>
              <a:spcAft>
                <a:spcPts val="1000"/>
              </a:spcAft>
            </a:pPr>
            <a:r>
              <a:rPr sz="2600" lang="en-US">
                <a:solidFill>
                  <a:srgbClr val="1A1A1A"/>
                </a:solidFill>
                <a:latin typeface="Arial"/>
              </a:rPr>
              <a:t>3. Write how you would clean and store each item.</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10 -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What is one safety rule for the stove?</a:t>
            </a:r>
          </a:p>
          <a:p>
            <a:pPr>
              <a:spcAft>
                <a:spcPts val="1000"/>
              </a:spcAft>
            </a:pPr>
            <a:r>
              <a:rPr sz="2600" lang="en-US">
                <a:solidFill>
                  <a:srgbClr val="1A1A1A"/>
                </a:solidFill>
                <a:latin typeface="Arial"/>
              </a:rPr>
              <a:t>2. What do you do for a small grease fire?</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Knife Safety and Basic Cuts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a:t>
            </a:r>
          </a:p>
          <a:p>
            <a:pPr>
              <a:spcAft>
                <a:spcPts val="1000"/>
              </a:spcAft>
            </a:pPr>
            <a:r>
              <a:rPr sz="2600" lang="en-US">
                <a:solidFill>
                  <a:srgbClr val="1A1A1A"/>
                </a:solidFill>
                <a:latin typeface="Arial"/>
              </a:rPr>
              <a:t>12 min: Direct instruction</a:t>
            </a:r>
          </a:p>
          <a:p>
            <a:pPr>
              <a:spcAft>
                <a:spcPts val="1000"/>
              </a:spcAft>
            </a:pPr>
            <a:r>
              <a:rPr sz="2600" lang="en-US">
                <a:solidFill>
                  <a:srgbClr val="1A1A1A"/>
                </a:solidFill>
                <a:latin typeface="Arial"/>
              </a:rPr>
              <a:t>10 min: Guided practice</a:t>
            </a:r>
          </a:p>
          <a:p>
            <a:pPr>
              <a:spcAft>
                <a:spcPts val="1000"/>
              </a:spcAft>
            </a:pPr>
            <a:r>
              <a:rPr sz="2600" lang="en-US">
                <a:solidFill>
                  <a:srgbClr val="1A1A1A"/>
                </a:solidFill>
                <a:latin typeface="Arial"/>
              </a:rPr>
              <a:t>16 min: Independent practice</a:t>
            </a:r>
          </a:p>
          <a:p>
            <a:pPr>
              <a:spcAft>
                <a:spcPts val="1000"/>
              </a:spcAft>
            </a:pPr>
            <a:r>
              <a:rPr sz="2600" lang="en-US">
                <a:solidFill>
                  <a:srgbClr val="1A1A1A"/>
                </a:solidFill>
                <a:latin typeface="Arial"/>
              </a:rPr>
              <a:t>5 min: Exit ticket</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hold and carry a knife safely.</a:t>
            </a:r>
          </a:p>
          <a:p>
            <a:pPr>
              <a:spcAft>
                <a:spcPts val="1000"/>
              </a:spcAft>
            </a:pPr>
            <a:r>
              <a:rPr sz="2600" lang="en-US">
                <a:solidFill>
                  <a:srgbClr val="1A1A1A"/>
                </a:solidFill>
                <a:latin typeface="Arial"/>
              </a:rPr>
              <a:t>I can use a claw grip and a stable cutting board.</a:t>
            </a:r>
          </a:p>
          <a:p>
            <a:pPr>
              <a:spcAft>
                <a:spcPts val="1000"/>
              </a:spcAft>
            </a:pPr>
            <a:r>
              <a:rPr sz="2600" lang="en-US">
                <a:solidFill>
                  <a:srgbClr val="1A1A1A"/>
                </a:solidFill>
                <a:latin typeface="Arial"/>
              </a:rPr>
              <a:t>I can name and describe slice, dice, julienne, and mince.</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Claw grip: A safe way to hold food by curling your fingertips under so your knuckles guide the knife.</a:t>
            </a:r>
          </a:p>
          <a:p>
            <a:pPr>
              <a:spcAft>
                <a:spcPts val="1000"/>
              </a:spcAft>
            </a:pPr>
            <a:r>
              <a:rPr sz="2600" lang="en-US">
                <a:solidFill>
                  <a:srgbClr val="1A1A1A"/>
                </a:solidFill>
                <a:latin typeface="Arial"/>
              </a:rPr>
              <a:t>Dice: To cut food into small, even cubes.</a:t>
            </a:r>
          </a:p>
          <a:p>
            <a:pPr>
              <a:spcAft>
                <a:spcPts val="1000"/>
              </a:spcAft>
            </a:pPr>
            <a:r>
              <a:rPr sz="2600" lang="en-US">
                <a:solidFill>
                  <a:srgbClr val="1A1A1A"/>
                </a:solidFill>
                <a:latin typeface="Arial"/>
              </a:rPr>
              <a:t>Julienne: To cut food into thin matchstick strips.</a:t>
            </a:r>
          </a:p>
          <a:p>
            <a:pPr>
              <a:spcAft>
                <a:spcPts val="1000"/>
              </a:spcAft>
            </a:pPr>
            <a:r>
              <a:rPr sz="2600" lang="en-US">
                <a:solidFill>
                  <a:srgbClr val="1A1A1A"/>
                </a:solidFill>
                <a:latin typeface="Arial"/>
              </a:rPr>
              <a:t>Mince: To cut food into very tiny pieces.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Why might a dull knife cause more cuts than a sharp one? Write your idea in one or two sentences.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Setting up</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Place the cutting board on a damp towel so it cannot slide.</a:t>
            </a:r>
          </a:p>
          <a:p>
            <a:pPr>
              <a:spcAft>
                <a:spcPts val="1000"/>
              </a:spcAft>
            </a:pPr>
            <a:r>
              <a:rPr sz="2600" lang="en-US">
                <a:solidFill>
                  <a:srgbClr val="1A1A1A"/>
                </a:solidFill>
                <a:latin typeface="Arial"/>
              </a:rPr>
              <a:t>Choose the right knife: a chef's knife for most cutting, a paring knife for small jobs, and a serrated knife for bread and tomatoes.</a:t>
            </a:r>
          </a:p>
          <a:p>
            <a:pPr>
              <a:spcAft>
                <a:spcPts val="1000"/>
              </a:spcAft>
            </a:pPr>
            <a:r>
              <a:rPr sz="2600" lang="en-US">
                <a:solidFill>
                  <a:srgbClr val="1A1A1A"/>
                </a:solidFill>
                <a:latin typeface="Arial"/>
              </a:rPr>
              <a:t>Make sure the blade is sharp.</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Safe handling rules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Carry a knife at your side with the point down.</a:t>
            </a:r>
          </a:p>
          <a:p>
            <a:pPr>
              <a:spcAft>
                <a:spcPts val="1000"/>
              </a:spcAft>
            </a:pPr>
            <a:r>
              <a:rPr sz="2600" lang="en-US">
                <a:solidFill>
                  <a:srgbClr val="1A1A1A"/>
                </a:solidFill>
                <a:latin typeface="Arial"/>
              </a:rPr>
              <a:t>Cut away from your body.</a:t>
            </a:r>
          </a:p>
          <a:p>
            <a:pPr>
              <a:spcAft>
                <a:spcPts val="1000"/>
              </a:spcAft>
            </a:pPr>
            <a:r>
              <a:rPr sz="2600" lang="en-US">
                <a:solidFill>
                  <a:srgbClr val="1A1A1A"/>
                </a:solidFill>
                <a:latin typeface="Arial"/>
              </a:rPr>
              <a:t>Never wave a knife or point it at anyone.</a:t>
            </a:r>
          </a:p>
          <a:p>
            <a:pPr>
              <a:spcAft>
                <a:spcPts val="1000"/>
              </a:spcAft>
            </a:pPr>
            <a:r>
              <a:rPr sz="2600" lang="en-US">
                <a:solidFill>
                  <a:srgbClr val="1A1A1A"/>
                </a:solidFill>
                <a:latin typeface="Arial"/>
              </a:rPr>
              <a:t>Do not try to catch a falling knife; step back.</a:t>
            </a:r>
          </a:p>
          <a:p>
            <a:pPr>
              <a:spcAft>
                <a:spcPts val="1000"/>
              </a:spcAft>
            </a:pPr>
            <a:r>
              <a:rPr sz="2600" lang="en-US">
                <a:solidFill>
                  <a:srgbClr val="1A1A1A"/>
                </a:solidFill>
                <a:latin typeface="Arial"/>
              </a:rPr>
              <a:t>Never leave a knife in a sink of soapy water.</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Safe handling rules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Set it down on the board and let others pick it up themselves.</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The claw grip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Curl your fingertips under, like a claw, on the food you are holding.</a:t>
            </a:r>
          </a:p>
          <a:p>
            <a:pPr>
              <a:spcAft>
                <a:spcPts val="1000"/>
              </a:spcAft>
            </a:pPr>
            <a:r>
              <a:rPr sz="2600" lang="en-US">
                <a:solidFill>
                  <a:srgbClr val="1A1A1A"/>
                </a:solidFill>
                <a:latin typeface="Arial"/>
              </a:rPr>
              <a:t>Your knuckles touch the side of the blade and guide it.</a:t>
            </a:r>
          </a:p>
          <a:p>
            <a:pPr>
              <a:spcAft>
                <a:spcPts val="1000"/>
              </a:spcAft>
            </a:pPr>
            <a:r>
              <a:rPr sz="2600" lang="en-US">
                <a:solidFill>
                  <a:srgbClr val="1A1A1A"/>
                </a:solidFill>
                <a:latin typeface="Arial"/>
              </a:rPr>
              <a:t>Move the knife in a rocking or slicing motion and keep the tip on the board.</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The claw grip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For round foods, cut a thin slice off one side and lay that flat side down.</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Cuts to know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Slice: cut into flat pieces.</a:t>
            </a:r>
          </a:p>
          <a:p>
            <a:pPr>
              <a:spcAft>
                <a:spcPts val="1000"/>
              </a:spcAft>
            </a:pPr>
            <a:r>
              <a:rPr sz="2600" lang="en-US">
                <a:solidFill>
                  <a:srgbClr val="1A1A1A"/>
                </a:solidFill>
                <a:latin typeface="Arial"/>
              </a:rPr>
              <a:t>Dice: cut into small, even cubes, about 1/4 inch for small dice.</a:t>
            </a:r>
          </a:p>
          <a:p>
            <a:pPr>
              <a:spcAft>
                <a:spcPts val="1000"/>
              </a:spcAft>
            </a:pPr>
            <a:r>
              <a:rPr sz="2600" lang="en-US">
                <a:solidFill>
                  <a:srgbClr val="1A1A1A"/>
                </a:solidFill>
                <a:latin typeface="Arial"/>
              </a:rPr>
              <a:t>Julienne: cut into thin matchsticks, about 1/8 inch thick and 1 to 2 inches long.</a:t>
            </a:r>
          </a:p>
          <a:p>
            <a:pPr>
              <a:spcAft>
                <a:spcPts val="1000"/>
              </a:spcAft>
            </a:pPr>
            <a:r>
              <a:rPr sz="2600" lang="en-US">
                <a:solidFill>
                  <a:srgbClr val="1A1A1A"/>
                </a:solidFill>
                <a:latin typeface="Arial"/>
              </a:rPr>
              <a:t>Mince: cut into very tiny pieces.</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Cuts to know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Even cuts cook evenly and look better.</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Care of knives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Wash knives by hand, one at a time, with the blade facing away from you.</a:t>
            </a:r>
          </a:p>
          <a:p>
            <a:pPr>
              <a:spcAft>
                <a:spcPts val="1000"/>
              </a:spcAft>
            </a:pPr>
            <a:r>
              <a:rPr sz="2600" lang="en-US">
                <a:solidFill>
                  <a:srgbClr val="1A1A1A"/>
                </a:solidFill>
                <a:latin typeface="Arial"/>
              </a:rPr>
              <a:t>Dry them and store them in a block or sheath.</a:t>
            </a:r>
          </a:p>
          <a:p>
            <a:pPr>
              <a:spcAft>
                <a:spcPts val="1000"/>
              </a:spcAft>
            </a:pPr>
            <a:r>
              <a:rPr sz="2600" lang="en-US">
                <a:solidFill>
                  <a:srgbClr val="1A1A1A"/>
                </a:solidFill>
                <a:latin typeface="Arial"/>
              </a:rPr>
              <a:t>Keep them sharp; ask your teacher to sharpen them when they are dull.</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Guided practice: Practice With Safe Props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Watch your teacher demonstrate the claw grip and a rocking cut on a banana with a table knife.</a:t>
            </a:r>
          </a:p>
          <a:p>
            <a:pPr>
              <a:spcAft>
                <a:spcPts val="1000"/>
              </a:spcAft>
            </a:pPr>
            <a:r>
              <a:rPr sz="2600" lang="en-US">
                <a:solidFill>
                  <a:srgbClr val="1A1A1A"/>
                </a:solidFill>
                <a:latin typeface="Arial"/>
              </a:rPr>
              <a:t>2. Practice the claw grip on a lump of modeling clay with a plastic knife while your teacher checks each person.</a:t>
            </a:r>
          </a:p>
          <a:p>
            <a:pPr>
              <a:spcAft>
                <a:spcPts val="1000"/>
              </a:spcAft>
            </a:pPr>
            <a:r>
              <a:rPr sz="2600" lang="en-US">
                <a:solidFill>
                  <a:srgbClr val="1A1A1A"/>
                </a:solidFill>
                <a:latin typeface="Arial"/>
              </a:rPr>
              <a:t>3. Sign the knife safety agreement before you use a real knife.</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Independent practice: Cut Cards and Safety Agreement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Match each cut name to its picture and size on the cut card.</a:t>
            </a:r>
          </a:p>
          <a:p>
            <a:pPr>
              <a:spcAft>
                <a:spcPts val="1000"/>
              </a:spcAft>
            </a:pPr>
            <a:r>
              <a:rPr sz="2600" lang="en-US">
                <a:solidFill>
                  <a:srgbClr val="1A1A1A"/>
                </a:solidFill>
                <a:latin typeface="Arial"/>
              </a:rPr>
              <a:t>2. Write the safe knife rules in your own words and sign the agreement.</a:t>
            </a:r>
          </a:p>
          <a:p>
            <a:pPr>
              <a:spcAft>
                <a:spcPts val="1000"/>
              </a:spcAft>
            </a:pPr>
            <a:r>
              <a:rPr sz="2600" lang="en-US">
                <a:solidFill>
                  <a:srgbClr val="1A1A1A"/>
                </a:solidFill>
                <a:latin typeface="Arial"/>
              </a:rPr>
              <a:t>3. Prepare your work plan for tomorrow's lab: which person cuts which vegetable?</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Day 11 -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Describe the claw grip in one sentence.</a:t>
            </a:r>
          </a:p>
          <a:p>
            <a:pPr>
              <a:spcAft>
                <a:spcPts val="1000"/>
              </a:spcAft>
            </a:pPr>
            <a:r>
              <a:rPr sz="2600" lang="en-US">
                <a:solidFill>
                  <a:srgbClr val="1A1A1A"/>
                </a:solidFill>
                <a:latin typeface="Arial"/>
              </a:rPr>
              <a:t>2. Name one cut and describe it.</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12: Lab 4: Veggie Sticks and Yogurt Dip (Knife Skills)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 and group roles</a:t>
            </a:r>
          </a:p>
          <a:p>
            <a:pPr>
              <a:spcAft>
                <a:spcPts val="1000"/>
              </a:spcAft>
            </a:pPr>
            <a:r>
              <a:rPr sz="2600" lang="en-US">
                <a:solidFill>
                  <a:srgbClr val="1A1A1A"/>
                </a:solidFill>
                <a:latin typeface="Arial"/>
              </a:rPr>
              <a:t>5 min: Lab brief: safety focus and work plan</a:t>
            </a:r>
          </a:p>
          <a:p>
            <a:pPr>
              <a:spcAft>
                <a:spcPts val="1000"/>
              </a:spcAft>
            </a:pPr>
            <a:r>
              <a:rPr sz="2600" lang="en-US">
                <a:solidFill>
                  <a:srgbClr val="1A1A1A"/>
                </a:solidFill>
                <a:latin typeface="Arial"/>
              </a:rPr>
              <a:t>28 min: Cook</a:t>
            </a:r>
          </a:p>
          <a:p>
            <a:pPr>
              <a:spcAft>
                <a:spcPts val="1000"/>
              </a:spcAft>
            </a:pPr>
            <a:r>
              <a:rPr sz="2600" lang="en-US">
                <a:solidFill>
                  <a:srgbClr val="1A1A1A"/>
                </a:solidFill>
                <a:latin typeface="Arial"/>
              </a:rPr>
              <a:t>7 min: Cleanup and station check</a:t>
            </a:r>
          </a:p>
          <a:p>
            <a:pPr>
              <a:spcAft>
                <a:spcPts val="1000"/>
              </a:spcAft>
            </a:pPr>
            <a:r>
              <a:rPr sz="2600" lang="en-US">
                <a:solidFill>
                  <a:srgbClr val="1A1A1A"/>
                </a:solidFill>
                <a:latin typeface="Arial"/>
              </a:rPr>
              <a:t>3 min: Exit ticket</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12 -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use a knife safely with a claw grip.</a:t>
            </a:r>
          </a:p>
          <a:p>
            <a:pPr>
              <a:spcAft>
                <a:spcPts val="1000"/>
              </a:spcAft>
            </a:pPr>
            <a:r>
              <a:rPr sz="2600" lang="en-US">
                <a:solidFill>
                  <a:srgbClr val="1A1A1A"/>
                </a:solidFill>
                <a:latin typeface="Arial"/>
              </a:rPr>
              <a:t>I can slice, julienne, and dice vegetables evenly.</a:t>
            </a:r>
          </a:p>
          <a:p>
            <a:pPr>
              <a:spcAft>
                <a:spcPts val="1000"/>
              </a:spcAft>
            </a:pPr>
            <a:r>
              <a:rPr sz="2600" lang="en-US">
                <a:solidFill>
                  <a:srgbClr val="1A1A1A"/>
                </a:solidFill>
                <a:latin typeface="Arial"/>
              </a:rPr>
              <a:t>I can wash produce and prevent cross-contamination.</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12 -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Claw grip: A safe way to hold food by curling your fingertips under so your knuckles guide the knife.</a:t>
            </a:r>
          </a:p>
          <a:p>
            <a:pPr>
              <a:spcAft>
                <a:spcPts val="1000"/>
              </a:spcAft>
            </a:pPr>
            <a:r>
              <a:rPr sz="2600" lang="en-US">
                <a:solidFill>
                  <a:srgbClr val="1A1A1A"/>
                </a:solidFill>
                <a:latin typeface="Arial"/>
              </a:rPr>
              <a:t>Dice: To cut food into small, even cubes.</a:t>
            </a:r>
          </a:p>
          <a:p>
            <a:pPr>
              <a:spcAft>
                <a:spcPts val="1000"/>
              </a:spcAft>
            </a:pPr>
            <a:r>
              <a:rPr sz="2600" lang="en-US">
                <a:solidFill>
                  <a:srgbClr val="1A1A1A"/>
                </a:solidFill>
                <a:latin typeface="Arial"/>
              </a:rPr>
              <a:t>Julienne: To cut food into thin matchstick strips.</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12 -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Read today's recipe. Which cut will you make? Write the safety rule you will follow.</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12 - Lab brief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Today's safety focus: knives and separate.</a:t>
            </a:r>
          </a:p>
          <a:p>
            <a:pPr>
              <a:spcAft>
                <a:spcPts val="1000"/>
              </a:spcAft>
            </a:pPr>
            <a:r>
              <a:rPr sz="2600" lang="en-US">
                <a:solidFill>
                  <a:srgbClr val="1A1A1A"/>
                </a:solidFill>
                <a:latin typeface="Arial"/>
              </a:rPr>
              <a:t>Damp towel under every board.</a:t>
            </a:r>
          </a:p>
          <a:p>
            <a:pPr>
              <a:spcAft>
                <a:spcPts val="1000"/>
              </a:spcAft>
            </a:pPr>
            <a:r>
              <a:rPr sz="2600" lang="en-US">
                <a:solidFill>
                  <a:srgbClr val="1A1A1A"/>
                </a:solidFill>
                <a:latin typeface="Arial"/>
              </a:rPr>
              <a:t>One person cuts at a time while the others stay out of the cutting zone.</a:t>
            </a:r>
          </a:p>
          <a:p>
            <a:pPr>
              <a:spcAft>
                <a:spcPts val="1000"/>
              </a:spcAft>
            </a:pPr>
            <a:r>
              <a:rPr sz="2600" lang="en-US">
                <a:solidFill>
                  <a:srgbClr val="1A1A1A"/>
                </a:solidFill>
                <a:latin typeface="Arial"/>
              </a:rPr>
              <a:t>Wash vegetables before cutting and wash hands before touching the yogurt.</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12 - Lab brief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Check labels for peanuts.</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12 - Guided practice: Group Work Plan</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Write which person cuts which vegetable and who makes the dip.</a:t>
            </a:r>
          </a:p>
          <a:p>
            <a:pPr>
              <a:spcAft>
                <a:spcPts val="1000"/>
              </a:spcAft>
            </a:pPr>
            <a:r>
              <a:rPr sz="2600" lang="en-US">
                <a:solidFill>
                  <a:srgbClr val="1A1A1A"/>
                </a:solidFill>
                <a:latin typeface="Arial"/>
              </a:rPr>
              <a:t>2. Plan time for cleanup of knives and boards.</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12 - Lab: Cook: Veggie Sticks and Yogurt Dip</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Follow the recipe card. Your Safety Officer signs off each safety checkpoint.</a:t>
            </a:r>
          </a:p>
          <a:p>
            <a:pPr>
              <a:spcAft>
                <a:spcPts val="1000"/>
              </a:spcAft>
            </a:pPr>
            <a:r>
              <a:rPr sz="2600" lang="en-US">
                <a:solidFill>
                  <a:srgbClr val="1A1A1A"/>
                </a:solidFill>
                <a:latin typeface="Arial"/>
              </a:rPr>
              <a:t>2. Show your teacher one cut from each vegetable for a skill check before you eat.</a:t>
            </a:r>
          </a:p>
          <a:p>
            <a:pPr>
              <a:spcAft>
                <a:spcPts val="1000"/>
              </a:spcAft>
            </a:pPr>
            <a:r>
              <a:rPr sz="2600" lang="en-US">
                <a:solidFill>
                  <a:srgbClr val="1A1A1A"/>
                </a:solidFill>
                <a:latin typeface="Arial"/>
              </a:rPr>
              <a:t>3. Complete cleanup. Knives are washed by hand one at a time and returned to storage.</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12 -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Which cut was hardest for you? What will you try next time?</a:t>
            </a:r>
          </a:p>
          <a:p>
            <a:pPr>
              <a:spcAft>
                <a:spcPts val="1000"/>
              </a:spcAft>
            </a:pPr>
            <a:r>
              <a:rPr sz="2600" lang="en-US">
                <a:solidFill>
                  <a:srgbClr val="1A1A1A"/>
                </a:solidFill>
                <a:latin typeface="Arial"/>
              </a:rPr>
              <a:t>2. How did your group keep produce safe?</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13: Lab 5: Bean and Cheese Quesadillas (Stovetop)</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 and group roles</a:t>
            </a:r>
          </a:p>
          <a:p>
            <a:pPr>
              <a:spcAft>
                <a:spcPts val="1000"/>
              </a:spcAft>
            </a:pPr>
            <a:r>
              <a:rPr sz="2600" lang="en-US">
                <a:solidFill>
                  <a:srgbClr val="1A1A1A"/>
                </a:solidFill>
                <a:latin typeface="Arial"/>
              </a:rPr>
              <a:t>5 min: Lab brief: safety focus and work plan</a:t>
            </a:r>
          </a:p>
          <a:p>
            <a:pPr>
              <a:spcAft>
                <a:spcPts val="1000"/>
              </a:spcAft>
            </a:pPr>
            <a:r>
              <a:rPr sz="2600" lang="en-US">
                <a:solidFill>
                  <a:srgbClr val="1A1A1A"/>
                </a:solidFill>
                <a:latin typeface="Arial"/>
              </a:rPr>
              <a:t>28 min: Cook</a:t>
            </a:r>
          </a:p>
          <a:p>
            <a:pPr>
              <a:spcAft>
                <a:spcPts val="1000"/>
              </a:spcAft>
            </a:pPr>
            <a:r>
              <a:rPr sz="2600" lang="en-US">
                <a:solidFill>
                  <a:srgbClr val="1A1A1A"/>
                </a:solidFill>
                <a:latin typeface="Arial"/>
              </a:rPr>
              <a:t>7 min: Cleanup and station check</a:t>
            </a:r>
          </a:p>
          <a:p>
            <a:pPr>
              <a:spcAft>
                <a:spcPts val="1000"/>
              </a:spcAft>
            </a:pPr>
            <a:r>
              <a:rPr sz="2600" lang="en-US">
                <a:solidFill>
                  <a:srgbClr val="1A1A1A"/>
                </a:solidFill>
                <a:latin typeface="Arial"/>
              </a:rPr>
              <a:t>3 min: Exit ticket</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13 -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use a skillet and stove safely.</a:t>
            </a:r>
          </a:p>
          <a:p>
            <a:pPr>
              <a:spcAft>
                <a:spcPts val="1000"/>
              </a:spcAft>
            </a:pPr>
            <a:r>
              <a:rPr sz="2600" lang="en-US">
                <a:solidFill>
                  <a:srgbClr val="1A1A1A"/>
                </a:solidFill>
                <a:latin typeface="Arial"/>
              </a:rPr>
              <a:t>I can use a food thermometer to check that food is hot enough.</a:t>
            </a:r>
          </a:p>
          <a:p>
            <a:pPr>
              <a:spcAft>
                <a:spcPts val="1000"/>
              </a:spcAft>
            </a:pPr>
            <a:r>
              <a:rPr sz="2600" lang="en-US">
                <a:solidFill>
                  <a:srgbClr val="1A1A1A"/>
                </a:solidFill>
                <a:latin typeface="Arial"/>
              </a:rPr>
              <a:t>I can grate cheese safely.</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13 -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Food thermometer: A tool that measures the internal temperature of food to show whether it is safe.</a:t>
            </a:r>
          </a:p>
          <a:p>
            <a:pPr>
              <a:spcAft>
                <a:spcPts val="1000"/>
              </a:spcAft>
            </a:pPr>
            <a:r>
              <a:rPr sz="2600" lang="en-US">
                <a:solidFill>
                  <a:srgbClr val="1A1A1A"/>
                </a:solidFill>
                <a:latin typeface="Arial"/>
              </a:rPr>
              <a:t>Utensil: A hand tool used to prepare, cook, or serve food, such as a whisk, spatula, or tongs.</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13 -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Which stove safety rules will matter most in today's recipe? List two.</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13 - Lab brief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Today's safety focus: cook.</a:t>
            </a:r>
          </a:p>
          <a:p>
            <a:pPr>
              <a:spcAft>
                <a:spcPts val="1000"/>
              </a:spcAft>
            </a:pPr>
            <a:r>
              <a:rPr sz="2600" lang="en-US">
                <a:solidFill>
                  <a:srgbClr val="1A1A1A"/>
                </a:solidFill>
                <a:latin typeface="Arial"/>
              </a:rPr>
              <a:t>Handles inward.</a:t>
            </a:r>
          </a:p>
          <a:p>
            <a:pPr>
              <a:spcAft>
                <a:spcPts val="1000"/>
              </a:spcAft>
            </a:pPr>
            <a:r>
              <a:rPr sz="2600" lang="en-US">
                <a:solidFill>
                  <a:srgbClr val="1A1A1A"/>
                </a:solidFill>
                <a:latin typeface="Arial"/>
              </a:rPr>
              <a:t>Dry mitts.</a:t>
            </a:r>
          </a:p>
          <a:p>
            <a:pPr>
              <a:spcAft>
                <a:spcPts val="1000"/>
              </a:spcAft>
            </a:pPr>
            <a:r>
              <a:rPr sz="2600" lang="en-US">
                <a:solidFill>
                  <a:srgbClr val="1A1A1A"/>
                </a:solidFill>
                <a:latin typeface="Arial"/>
              </a:rPr>
              <a:t>Use a clean thermometer in the center of the quesadilla: it should read 165°F because we are heating already-cooked beans.</a:t>
            </a:r>
          </a:p>
          <a:p>
            <a:pPr>
              <a:spcAft>
                <a:spcPts val="1000"/>
              </a:spcAft>
            </a:pPr>
            <a:r>
              <a:rPr sz="2600" lang="en-US">
                <a:solidFill>
                  <a:srgbClr val="1A1A1A"/>
                </a:solidFill>
                <a:latin typeface="Arial"/>
              </a:rPr>
              <a:t>Grate cheese slowly and stop when the piece gets small.</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13 - Lab brief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Let the skillet cool before washing.</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13 - Guided practice: Group Work Plan</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Write who grates, who rinses beans, who cooks, and who checks the temperature.</a:t>
            </a:r>
          </a:p>
          <a:p>
            <a:pPr>
              <a:spcAft>
                <a:spcPts val="1000"/>
              </a:spcAft>
            </a:pPr>
            <a:r>
              <a:rPr sz="2600" lang="en-US">
                <a:solidFill>
                  <a:srgbClr val="1A1A1A"/>
                </a:solidFill>
                <a:latin typeface="Arial"/>
              </a:rPr>
              <a:t>2. Plan to cook the quesadillas in two rounds so the skillet is not crowded.</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13 - Lab: Cook: Bean and Cheese Quesadillas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Follow the recipe card. Your Safety Officer signs off each safety checkpoint.</a:t>
            </a:r>
          </a:p>
          <a:p>
            <a:pPr>
              <a:spcAft>
                <a:spcPts val="1000"/>
              </a:spcAft>
            </a:pPr>
            <a:r>
              <a:rPr sz="2600" lang="en-US">
                <a:solidFill>
                  <a:srgbClr val="1A1A1A"/>
                </a:solidFill>
                <a:latin typeface="Arial"/>
              </a:rPr>
              <a:t>2. Record the thermometer reading for each quesadilla.</a:t>
            </a:r>
          </a:p>
          <a:p>
            <a:pPr>
              <a:spcAft>
                <a:spcPts val="1000"/>
              </a:spcAft>
            </a:pPr>
            <a:r>
              <a:rPr sz="2600" lang="en-US">
                <a:solidFill>
                  <a:srgbClr val="1A1A1A"/>
                </a:solidFill>
                <a:latin typeface="Arial"/>
              </a:rPr>
              <a:t>3. Complete cleanup and the station check; the skillet cools before it goes in water.</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13 -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What temperature did the quesadillas reach, and why did we check?</a:t>
            </a:r>
          </a:p>
          <a:p>
            <a:pPr>
              <a:spcAft>
                <a:spcPts val="1000"/>
              </a:spcAft>
            </a:pPr>
            <a:r>
              <a:rPr sz="2600" lang="en-US">
                <a:solidFill>
                  <a:srgbClr val="1A1A1A"/>
                </a:solidFill>
                <a:latin typeface="Arial"/>
              </a:rPr>
              <a:t>2. Name one stove safety habit your group used.</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14: Lab 6: Fruit Smoothies (Blender)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5 min: Bellringer and group roles</a:t>
            </a:r>
          </a:p>
          <a:p>
            <a:pPr>
              <a:spcAft>
                <a:spcPts val="1000"/>
              </a:spcAft>
            </a:pPr>
            <a:r>
              <a:rPr sz="2600" lang="en-US">
                <a:solidFill>
                  <a:srgbClr val="1A1A1A"/>
                </a:solidFill>
                <a:latin typeface="Arial"/>
              </a:rPr>
              <a:t>5 min: Lab brief: safety focus and work plan</a:t>
            </a:r>
          </a:p>
          <a:p>
            <a:pPr>
              <a:spcAft>
                <a:spcPts val="1000"/>
              </a:spcAft>
            </a:pPr>
            <a:r>
              <a:rPr sz="2600" lang="en-US">
                <a:solidFill>
                  <a:srgbClr val="1A1A1A"/>
                </a:solidFill>
                <a:latin typeface="Arial"/>
              </a:rPr>
              <a:t>28 min: Cook</a:t>
            </a:r>
          </a:p>
          <a:p>
            <a:pPr>
              <a:spcAft>
                <a:spcPts val="1000"/>
              </a:spcAft>
            </a:pPr>
            <a:r>
              <a:rPr sz="2600" lang="en-US">
                <a:solidFill>
                  <a:srgbClr val="1A1A1A"/>
                </a:solidFill>
                <a:latin typeface="Arial"/>
              </a:rPr>
              <a:t>7 min: Cleanup and station check</a:t>
            </a:r>
          </a:p>
          <a:p>
            <a:pPr>
              <a:spcAft>
                <a:spcPts val="1000"/>
              </a:spcAft>
            </a:pPr>
            <a:r>
              <a:rPr sz="2600" lang="en-US">
                <a:solidFill>
                  <a:srgbClr val="1A1A1A"/>
                </a:solidFill>
                <a:latin typeface="Arial"/>
              </a:rPr>
              <a:t>3 min: Exit ticket</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14 - Learning targets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I can assemble, run, and clean a blender safely.</a:t>
            </a:r>
          </a:p>
          <a:p>
            <a:pPr>
              <a:spcAft>
                <a:spcPts val="1000"/>
              </a:spcAft>
            </a:pPr>
            <a:r>
              <a:rPr sz="2600" lang="en-US">
                <a:solidFill>
                  <a:srgbClr val="1A1A1A"/>
                </a:solidFill>
                <a:latin typeface="Arial"/>
              </a:rPr>
              <a:t>I can layer ingredients so a blender works well.</a:t>
            </a:r>
          </a:p>
          <a:p>
            <a:pPr>
              <a:spcAft>
                <a:spcPts val="1000"/>
              </a:spcAft>
            </a:pPr>
            <a:r>
              <a:rPr sz="2600" lang="en-US">
                <a:solidFill>
                  <a:srgbClr val="1A1A1A"/>
                </a:solidFill>
                <a:latin typeface="Arial"/>
              </a:rPr>
              <a:t>I can work as a team and finish on time.</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14 - Vocabulary</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Appliance: A machine that uses electricity or gas to do a kitchen job, such as a blender, oven, or microwave.</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14 - Bellringer</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Before you start the blender, what must you check first? List three things.</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14 - Lab brief (1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Today's safety focus: appliances.</a:t>
            </a:r>
          </a:p>
          <a:p>
            <a:pPr>
              <a:spcAft>
                <a:spcPts val="1000"/>
              </a:spcAft>
            </a:pPr>
            <a:r>
              <a:rPr sz="2600" lang="en-US">
                <a:solidFill>
                  <a:srgbClr val="1A1A1A"/>
                </a:solidFill>
                <a:latin typeface="Arial"/>
              </a:rPr>
              <a:t>Check the blender is assembled correctly and the motor base is dry.</a:t>
            </a:r>
          </a:p>
          <a:p>
            <a:pPr>
              <a:spcAft>
                <a:spcPts val="1000"/>
              </a:spcAft>
            </a:pPr>
            <a:r>
              <a:rPr sz="2600" lang="en-US">
                <a:solidFill>
                  <a:srgbClr val="1A1A1A"/>
                </a:solidFill>
                <a:latin typeface="Arial"/>
              </a:rPr>
              <a:t>Put the lid on and hold it down with a folded towel.</a:t>
            </a:r>
          </a:p>
          <a:p>
            <a:pPr>
              <a:spcAft>
                <a:spcPts val="1000"/>
              </a:spcAft>
            </a:pPr>
            <a:r>
              <a:rPr sz="2600" lang="en-US">
                <a:solidFill>
                  <a:srgbClr val="1A1A1A"/>
                </a:solidFill>
                <a:latin typeface="Arial"/>
              </a:rPr>
              <a:t>Never put a spoon or hand in a running blender.</a:t>
            </a:r>
          </a:p>
          <a:p>
            <a:pPr>
              <a:spcAft>
                <a:spcPts val="1000"/>
              </a:spcAft>
            </a:pPr>
            <a:r>
              <a:rPr sz="2600" lang="en-US">
                <a:solidFill>
                  <a:srgbClr val="1A1A1A"/>
                </a:solidFill>
                <a:latin typeface="Arial"/>
              </a:rPr>
              <a:t>Unplug before cleaning.</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14 - Lab brief (2 of 2)</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Add liquid first, then soft foods, then frozen foods on top.</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14 - Guided practice: Group Work Plan</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Write who assembles the blender, who cuts bananas, who runs it, and who cleans it.</a:t>
            </a:r>
          </a:p>
          <a:p>
            <a:pPr>
              <a:spcAft>
                <a:spcPts val="1000"/>
              </a:spcAft>
            </a:pPr>
            <a:r>
              <a:rPr sz="2600" lang="en-US">
                <a:solidFill>
                  <a:srgbClr val="1A1A1A"/>
                </a:solidFill>
                <a:latin typeface="Arial"/>
              </a:rPr>
              <a:t>2. If blenders are shared, write your group's turn on the schedule.</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14 - Lab: Cook: Fruit Smoothies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Follow the recipe card. Your Safety Officer signs off each safety checkpoint.</a:t>
            </a:r>
          </a:p>
          <a:p>
            <a:pPr>
              <a:spcAft>
                <a:spcPts val="1000"/>
              </a:spcAft>
            </a:pPr>
            <a:r>
              <a:rPr sz="2600" lang="en-US">
                <a:solidFill>
                  <a:srgbClr val="1A1A1A"/>
                </a:solidFill>
                <a:latin typeface="Arial"/>
              </a:rPr>
              <a:t>2. Taste and write one way you would change the recipe.</a:t>
            </a:r>
          </a:p>
          <a:p>
            <a:pPr>
              <a:spcAft>
                <a:spcPts val="1000"/>
              </a:spcAft>
            </a:pPr>
            <a:r>
              <a:rPr sz="2600" lang="en-US">
                <a:solidFill>
                  <a:srgbClr val="1A1A1A"/>
                </a:solidFill>
                <a:latin typeface="Arial"/>
              </a:rPr>
              <a:t>3. Clean the blender using the soapy water method and complete the station check.</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Lab day 14 - Exit ticket</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Why does the lid go on before the blender starts?</a:t>
            </a:r>
          </a:p>
          <a:p>
            <a:pPr>
              <a:spcAft>
                <a:spcPts val="1000"/>
              </a:spcAft>
            </a:pPr>
            <a:r>
              <a:rPr sz="2600" lang="en-US">
                <a:solidFill>
                  <a:srgbClr val="1A1A1A"/>
                </a:solidFill>
                <a:latin typeface="Arial"/>
              </a:rPr>
              <a:t>2. What order do ingredients go into the blender?</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Recipe: Veggie Sticks and Yogurt Dip</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3 medium carrots</a:t>
            </a:r>
          </a:p>
          <a:p>
            <a:pPr>
              <a:spcAft>
                <a:spcPts val="1000"/>
              </a:spcAft>
            </a:pPr>
            <a:r>
              <a:rPr sz="2600" lang="en-US">
                <a:solidFill>
                  <a:srgbClr val="1A1A1A"/>
                </a:solidFill>
                <a:latin typeface="Arial"/>
              </a:rPr>
              <a:t>1 medium cucumber</a:t>
            </a:r>
          </a:p>
          <a:p>
            <a:pPr>
              <a:spcAft>
                <a:spcPts val="1000"/>
              </a:spcAft>
            </a:pPr>
            <a:r>
              <a:rPr sz="2600" lang="en-US">
                <a:solidFill>
                  <a:srgbClr val="1A1A1A"/>
                </a:solidFill>
                <a:latin typeface="Arial"/>
              </a:rPr>
              <a:t>3 ribs celery</a:t>
            </a:r>
          </a:p>
          <a:p>
            <a:pPr>
              <a:spcAft>
                <a:spcPts val="1000"/>
              </a:spcAft>
            </a:pPr>
            <a:r>
              <a:rPr sz="2600" lang="en-US">
                <a:solidFill>
                  <a:srgbClr val="1A1A1A"/>
                </a:solidFill>
                <a:latin typeface="Arial"/>
              </a:rPr>
              <a:t>1 cup plain yogurt (kept cold)</a:t>
            </a:r>
          </a:p>
          <a:p>
            <a:pPr>
              <a:spcAft>
                <a:spcPts val="1000"/>
              </a:spcAft>
            </a:pPr>
            <a:r>
              <a:rPr sz="2600" lang="en-US">
                <a:solidFill>
                  <a:srgbClr val="1A1A1A"/>
                </a:solidFill>
                <a:latin typeface="Arial"/>
              </a:rPr>
              <a:t>1 tablespoon lemon juice</a:t>
            </a:r>
          </a:p>
          <a:p>
            <a:pPr>
              <a:spcAft>
                <a:spcPts val="1000"/>
              </a:spcAft>
            </a:pPr>
            <a:r>
              <a:rPr sz="2600" lang="en-US">
                <a:solidFill>
                  <a:srgbClr val="1A1A1A"/>
                </a:solidFill>
                <a:latin typeface="Arial"/>
              </a:rPr>
              <a:t>1/2 teaspoon dried dill or garlic powder</a:t>
            </a:r>
          </a:p>
          <a:p>
            <a:pPr>
              <a:spcAft>
                <a:spcPts val="1000"/>
              </a:spcAft>
            </a:pPr>
            <a:r>
              <a:rPr sz="2600" lang="en-US">
                <a:solidFill>
                  <a:srgbClr val="1A1A1A"/>
                </a:solidFill>
                <a:latin typeface="Arial"/>
              </a:rPr>
              <a:t>1/4 teaspoon salt</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Recipe: Bean and Cheese Quesadillas</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4 8-inch flour tortillas</a:t>
            </a:r>
          </a:p>
          <a:p>
            <a:pPr>
              <a:spcAft>
                <a:spcPts val="1000"/>
              </a:spcAft>
            </a:pPr>
            <a:r>
              <a:rPr sz="2600" lang="en-US">
                <a:solidFill>
                  <a:srgbClr val="1A1A1A"/>
                </a:solidFill>
                <a:latin typeface="Arial"/>
              </a:rPr>
              <a:t>1 can (15 oz) black beans, drained and rinsed</a:t>
            </a:r>
          </a:p>
          <a:p>
            <a:pPr>
              <a:spcAft>
                <a:spcPts val="1000"/>
              </a:spcAft>
            </a:pPr>
            <a:r>
              <a:rPr sz="2600" lang="en-US">
                <a:solidFill>
                  <a:srgbClr val="1A1A1A"/>
                </a:solidFill>
                <a:latin typeface="Arial"/>
              </a:rPr>
              <a:t>1 cup shredded cheese (grate from a block)</a:t>
            </a:r>
          </a:p>
          <a:p>
            <a:pPr>
              <a:spcAft>
                <a:spcPts val="1000"/>
              </a:spcAft>
            </a:pPr>
            <a:r>
              <a:rPr sz="2600" lang="en-US">
                <a:solidFill>
                  <a:srgbClr val="1A1A1A"/>
                </a:solidFill>
                <a:latin typeface="Arial"/>
              </a:rPr>
              <a:t>1/2 cup salsa</a:t>
            </a:r>
          </a:p>
          <a:p>
            <a:pPr>
              <a:spcAft>
                <a:spcPts val="1000"/>
              </a:spcAft>
            </a:pPr>
            <a:r>
              <a:rPr sz="2600" lang="en-US">
                <a:solidFill>
                  <a:srgbClr val="1A1A1A"/>
                </a:solidFill>
                <a:latin typeface="Arial"/>
              </a:rPr>
              <a:t>1 teaspoon oil for the pan</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548640" y="320040"/>
            <a:ext cx="11064240" cy="1097280"/>
          </a:xfrm>
        </p:spPr>
        <p:txBody>
          <a:bodyPr/>
          <a:lstStyle/>
          <a:p>
            <a:r>
              <a:rPr sz="3200" b="1" lang="en-US">
                <a:solidFill>
                  <a:srgbClr val="1B5E3A"/>
                </a:solidFill>
                <a:latin typeface="Arial"/>
              </a:rPr>
              <a:t>Recipe: Fruit Smoothie</a:t>
            </a:r>
          </a:p>
        </p:txBody>
      </p:sp>
      <p:sp>
        <p:nvSpPr>
          <p:cNvPr id="3" name="Content Placeholder 2"/>
          <p:cNvSpPr>
            <a:spLocks noGrp="1"/>
          </p:cNvSpPr>
          <p:nvPr>
            <p:ph idx="1"/>
          </p:nvPr>
        </p:nvSpPr>
        <p:spPr>
          <a:xfrm>
            <a:off x="731520" y="1554480"/>
            <a:ext cx="10698480" cy="4846320"/>
          </a:xfrm>
        </p:spPr>
        <p:txBody>
          <a:bodyPr wrap="square"/>
          <a:lstStyle/>
          <a:p>
            <a:pPr>
              <a:spcAft>
                <a:spcPts val="1000"/>
              </a:spcAft>
            </a:pPr>
            <a:r>
              <a:rPr sz="2600" lang="en-US">
                <a:solidFill>
                  <a:srgbClr val="1A1A1A"/>
                </a:solidFill>
                <a:latin typeface="Arial"/>
              </a:rPr>
              <a:t>1 cup milk or fortified soy beverage</a:t>
            </a:r>
          </a:p>
          <a:p>
            <a:pPr>
              <a:spcAft>
                <a:spcPts val="1000"/>
              </a:spcAft>
            </a:pPr>
            <a:r>
              <a:rPr sz="2600" lang="en-US">
                <a:solidFill>
                  <a:srgbClr val="1A1A1A"/>
                </a:solidFill>
                <a:latin typeface="Arial"/>
              </a:rPr>
              <a:t>3/4 cup plain yogurt</a:t>
            </a:r>
          </a:p>
          <a:p>
            <a:pPr>
              <a:spcAft>
                <a:spcPts val="1000"/>
              </a:spcAft>
            </a:pPr>
            <a:r>
              <a:rPr sz="2600" lang="en-US">
                <a:solidFill>
                  <a:srgbClr val="1A1A1A"/>
                </a:solidFill>
                <a:latin typeface="Arial"/>
              </a:rPr>
              <a:t>2 medium ripe bananas</a:t>
            </a:r>
          </a:p>
          <a:p>
            <a:pPr>
              <a:spcAft>
                <a:spcPts val="1000"/>
              </a:spcAft>
            </a:pPr>
            <a:r>
              <a:rPr sz="2600" lang="en-US">
                <a:solidFill>
                  <a:srgbClr val="1A1A1A"/>
                </a:solidFill>
                <a:latin typeface="Arial"/>
              </a:rPr>
              <a:t>1 1/2 cups frozen fruit, no added sugar</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Whole Foods and Nutrition - Unit 3: Kitchen Equipment, Utensils, and Knife Skills</dc:title>
  <dc:subject/>
  <dc:creator>ISD 197 Family and Consumer Science</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dc:language>en-US</dc:language>
</cp:coreProperties>
</file>