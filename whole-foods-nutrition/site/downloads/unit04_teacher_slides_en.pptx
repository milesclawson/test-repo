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Read the essential question aloud and connect it to the certification objectives: S1.3, S1.1, S3.3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Food cards with picture and name; Label packet (3 samples); Calculators</a:t>
            </a:r>
          </a:p>
          <a:p>
            <a:r>
              <a:t>Guided practice answers: 30 g carbohydrate x 4 = 120 cal; 10 g protein x 4 = 40 cal; 5 g fat x 9 = 45 cal; total 205 cal; carbohydrate supplies the most.</a:t>
            </a:r>
          </a:p>
          <a:p>
            <a:r>
              <a:t>Label calories rounded on real packages will not match the math exactly; point this out.</a:t>
            </a:r>
          </a:p>
          <a:p>
            <a:r>
              <a:t>Use real food packages or printed labels; no tasting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Fat. | Any two of vitamins, minerals, 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Cereal boxes or printed labels; Food cards; Calculators; Nutrition Facts examples</a:t>
            </a:r>
          </a:p>
          <a:p>
            <a:r>
              <a:t>Guidelines cited: Dietary Guidelines for Americans 2020-2025 (half of grains whole; added sugars under 10 percent of calories).</a:t>
            </a:r>
          </a:p>
          <a:p>
            <a:r>
              <a:t>Use your own cereal samples; avoid brand claims.</a:t>
            </a:r>
          </a:p>
          <a:p>
            <a:r>
              <a:t>Use picture-supported cards for the sorting task.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Beans, whole grains, fruit, vegetables; helps digestion and fullness. | The first grain in the ingredient list says "whole".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Recipe cards; Ingredients (see recipe); Pots and spoons; Oven mitts; Nutrient chart</a:t>
            </a:r>
          </a:p>
          <a:p>
            <a:r>
              <a:t>Cost estimate: about $1.50 per group, $12 for 8 groups. Verify against current prices.</a:t>
            </a:r>
          </a:p>
          <a:p>
            <a:r>
              <a:t>Oats: check for peanut cross-contact and gluten warnings. Use gluten-free certified oats for a gluten-free student.</a:t>
            </a:r>
          </a:p>
          <a:p>
            <a:r>
              <a:t>Add seeds or milk as extras only if budget allows.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Oats are the complex carbohydrate and main fiber source; fruit adds more fiber. | Answers vary: more fruit, seeds, or milk.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Food sorting cards; Plan template; Calculators</a:t>
            </a:r>
          </a:p>
          <a:p>
            <a:r>
              <a:t>Fat guidelines cited: Dietary Guidelines for Americans 2020-2025 (saturated fat under 10 percent of calories).</a:t>
            </a:r>
          </a:p>
          <a:p>
            <a:r>
              <a:t>Tree-nut and peanut allergies: use picture cards that avoid nuts as a required source; seeds, beans, and fish are plenty.</a:t>
            </a:r>
          </a:p>
          <a:p>
            <a:r>
              <a:t>Be sensitive about weight and body size when discussing fat; the goal is function and variety, not shaming.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Builds and repairs tissue, or makes enzymes and hormones. | Olive oil, nuts, seeds, avocado, or fish.</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Recipe cards; Ingredients (see recipe); Forks and bowls or blenders; Can openers; Pita</a:t>
            </a:r>
          </a:p>
          <a:p>
            <a:r>
              <a:t>Cost estimate: about $2.50 per group, $20 for 8 groups. Verify against current prices.</a:t>
            </a:r>
          </a:p>
          <a:p>
            <a:r>
              <a:t>No tahini on purpose (sesame is a common allergen). Check pita for sesame.</a:t>
            </a:r>
          </a:p>
          <a:p>
            <a:r>
              <a:t>Wheat allergy: use rice crackers or veggies for dipping. Mash by fork if blenders are limited.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White beans provide protein; olive oil provides unsaturated fat. | The combination supplies a wider range of amino acids and adds fiber.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Nutrient card sort; Case study handout; Colored markers (labels also in words); Water tracker</a:t>
            </a:r>
          </a:p>
          <a:p>
            <a:r>
              <a:t>Sodium guideline: Dietary Guidelines for Americans (under 2,300 mg per day for ages 14 and up).</a:t>
            </a:r>
          </a:p>
          <a:p>
            <a:r>
              <a:t>Water estimates are National Academies Adequate Intakes for ages 14-18 (total water including food); present as estimates.</a:t>
            </a:r>
          </a:p>
          <a:p>
            <a:r>
              <a:t>Do not give individual medical advice; refer students with health concerns to the school nurse.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Fat-soluble: A, D, E, or K. Water-soluble: C or a B vitamin. | Calcium; milk, yogurt, fortified soy, leafy greens.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Recipe cards; Ingredients (see recipe); Knives and boards; Damp towels; Unit 4 practical rubric</a:t>
            </a:r>
          </a:p>
          <a:p>
            <a:r>
              <a:t>Cost estimate: about $3 per group, $24 for 8 groups. Verify against current prices; substitute seasonal fruit to keep cost down.</a:t>
            </a:r>
          </a:p>
          <a:p>
            <a:r>
              <a:t>Cert performance task (Standard 1): effective communication with young adults about healthy eating; students use plain vocabulary for their audience.</a:t>
            </a:r>
          </a:p>
          <a:p>
            <a:r>
              <a:t>Milk allergy: use a dairy-free yogurt. Peanut-free: check yogurt and fruit-cup labels if used.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Orange (citrus); vitamin C helps healing, immunity, and iron absorption. | Answers vary; look for plain words and examples.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Ingredients display for lab setup. Peanut-free kitchen: confirm labels.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Ingredients display for lab setup. Peanut-free kitchen: confirm labels.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Ingredients display for lab setup. Peanut-free kitchen: confirm labels.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Unit 4: The Six Nutrient Classes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What does food actually do for my body, and how can I eat to get what I need?</a:t>
            </a:r>
          </a:p>
          <a:p>
            <a:pPr>
              <a:spcAft>
                <a:spcPts val="1000"/>
              </a:spcAft>
            </a:pPr>
            <a:r>
              <a:rPr sz="2600" lang="en-US">
                <a:solidFill>
                  <a:srgbClr val="1A1A1A"/>
                </a:solidFill>
                <a:latin typeface="Arial"/>
              </a:rPr>
              <a:t>Food is more than calories. It is a delivery system for six classes of nutrients: carbohydrates, proteins, fats, vitamins, minerals, and water. You will learn what each one does, which foods supply it, and what can happen if you get too little or too much. In three labs you will cook whole-grain, protein-rich, and colorful fruit dishes and explain the nutrients in them.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Six Classes of Nutrients: The Big Picture</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name the six classes of nutrients.</a:t>
            </a:r>
          </a:p>
          <a:p>
            <a:pPr>
              <a:spcAft>
                <a:spcPts val="1000"/>
              </a:spcAft>
            </a:pPr>
            <a:r>
              <a:rPr sz="2600" lang="en-US">
                <a:solidFill>
                  <a:srgbClr val="1A1A1A"/>
                </a:solidFill>
                <a:latin typeface="Arial"/>
              </a:rPr>
              <a:t>I can tell which nutrients give energy and which do not.</a:t>
            </a:r>
          </a:p>
          <a:p>
            <a:pPr>
              <a:spcAft>
                <a:spcPts val="1000"/>
              </a:spcAft>
            </a:pPr>
            <a:r>
              <a:rPr sz="2600" lang="en-US">
                <a:solidFill>
                  <a:srgbClr val="1A1A1A"/>
                </a:solidFill>
                <a:latin typeface="Arial"/>
              </a:rPr>
              <a:t>I can calculate calories from grams of carbohydrate, protein, and fat.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Nutrient: A substance in food that the body needs to grow, work, and stay healthy.</a:t>
            </a:r>
          </a:p>
          <a:p>
            <a:pPr>
              <a:spcAft>
                <a:spcPts val="1000"/>
              </a:spcAft>
            </a:pPr>
            <a:r>
              <a:rPr sz="2600" lang="en-US">
                <a:solidFill>
                  <a:srgbClr val="1A1A1A"/>
                </a:solidFill>
                <a:latin typeface="Arial"/>
              </a:rPr>
              <a:t>Calorie: A unit that measures the energy in food. Carbohydrates and protein have 4 calories per gram; fat has 9.</a:t>
            </a:r>
          </a:p>
          <a:p>
            <a:pPr>
              <a:spcAft>
                <a:spcPts val="1000"/>
              </a:spcAft>
            </a:pPr>
            <a:r>
              <a:rPr sz="2600" lang="en-US">
                <a:solidFill>
                  <a:srgbClr val="1A1A1A"/>
                </a:solidFill>
                <a:latin typeface="Arial"/>
              </a:rPr>
              <a:t>Nutrient density: The amount of nutrients a food gives compared with its calories.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Write down everything you ate yesterday. Circle the foods you think were most nutritious. Why?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The six classes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Carbohydrates, proteins, fats, vitamins, minerals, and water.</a:t>
            </a:r>
          </a:p>
          <a:p>
            <a:pPr>
              <a:spcAft>
                <a:spcPts val="1000"/>
              </a:spcAft>
            </a:pPr>
            <a:r>
              <a:rPr sz="2600" lang="en-US">
                <a:solidFill>
                  <a:srgbClr val="1A1A1A"/>
                </a:solidFill>
                <a:latin typeface="Arial"/>
              </a:rPr>
              <a:t>Carbohydrates, proteins, and fats are called macronutrients because the body needs them in large amounts.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The six classes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Vitamins and minerals are micronutrients, needed in small amounts.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Energy nutrients and calories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Carbohydrates and protein provide 4 calories per gram.</a:t>
            </a:r>
          </a:p>
          <a:p>
            <a:pPr>
              <a:spcAft>
                <a:spcPts val="1000"/>
              </a:spcAft>
            </a:pPr>
            <a:r>
              <a:rPr sz="2600" lang="en-US">
                <a:solidFill>
                  <a:srgbClr val="1A1A1A"/>
                </a:solidFill>
                <a:latin typeface="Arial"/>
              </a:rPr>
              <a:t>Fat provides 9 calories per gram.</a:t>
            </a:r>
          </a:p>
          <a:p>
            <a:pPr>
              <a:spcAft>
                <a:spcPts val="1000"/>
              </a:spcAft>
            </a:pPr>
            <a:r>
              <a:rPr sz="2600" lang="en-US">
                <a:solidFill>
                  <a:srgbClr val="1A1A1A"/>
                </a:solidFill>
                <a:latin typeface="Arial"/>
              </a:rPr>
              <a:t>Vitamins, minerals, and water provide no calories.</a:t>
            </a:r>
          </a:p>
          <a:p>
            <a:pPr>
              <a:spcAft>
                <a:spcPts val="1000"/>
              </a:spcAft>
            </a:pPr>
            <a:r>
              <a:rPr sz="2600" lang="en-US">
                <a:solidFill>
                  <a:srgbClr val="1A1A1A"/>
                </a:solidFill>
                <a:latin typeface="Arial"/>
              </a:rPr>
              <a:t>A food with 10 grams of fat has 10 times 9, or 90 calories from fat.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Why variety matters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No single food has all six classes in the right amounts.</a:t>
            </a:r>
          </a:p>
          <a:p>
            <a:pPr>
              <a:spcAft>
                <a:spcPts val="1000"/>
              </a:spcAft>
            </a:pPr>
            <a:r>
              <a:rPr sz="2600" lang="en-US">
                <a:solidFill>
                  <a:srgbClr val="1A1A1A"/>
                </a:solidFill>
                <a:latin typeface="Arial"/>
              </a:rPr>
              <a:t>Eating from every food group gives you a mix.</a:t>
            </a:r>
          </a:p>
          <a:p>
            <a:pPr>
              <a:spcAft>
                <a:spcPts val="1000"/>
              </a:spcAft>
            </a:pPr>
            <a:r>
              <a:rPr sz="2600" lang="en-US">
                <a:solidFill>
                  <a:srgbClr val="1A1A1A"/>
                </a:solidFill>
                <a:latin typeface="Arial"/>
              </a:rPr>
              <a:t>Nutrient-dense foods give many nutrients for their calories.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Too little and too much</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Too little of a nutrient can cause deficiency: for example, too little vitamin C can cause scurvy, and too little iron can cause anemia.</a:t>
            </a:r>
          </a:p>
          <a:p>
            <a:pPr>
              <a:spcAft>
                <a:spcPts val="1000"/>
              </a:spcAft>
            </a:pPr>
            <a:r>
              <a:rPr sz="2600" lang="en-US">
                <a:solidFill>
                  <a:srgbClr val="1A1A1A"/>
                </a:solidFill>
                <a:latin typeface="Arial"/>
              </a:rPr>
              <a:t>Too much of some nutrients, like sodium or added sugar, can raise health risks over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Guided practice: Calories From Grams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Use the sample label: 30 g carbohydrate, 10 g protein, 5 g fat. Calculate the calories from each nutrient.</a:t>
            </a:r>
          </a:p>
          <a:p>
            <a:pPr>
              <a:spcAft>
                <a:spcPts val="1000"/>
              </a:spcAft>
            </a:pPr>
            <a:r>
              <a:rPr sz="2600" lang="en-US">
                <a:solidFill>
                  <a:srgbClr val="1A1A1A"/>
                </a:solidFill>
                <a:latin typeface="Arial"/>
              </a:rPr>
              <a:t>2. Add them. How many total calories? Which nutrient supplies the most?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Independent practice: Nutrient Detective Cards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Sort the food cards by the nutrient each mostly provides.</a:t>
            </a:r>
          </a:p>
          <a:p>
            <a:pPr>
              <a:spcAft>
                <a:spcPts val="1000"/>
              </a:spcAft>
            </a:pPr>
            <a:r>
              <a:rPr sz="2600" lang="en-US">
                <a:solidFill>
                  <a:srgbClr val="1A1A1A"/>
                </a:solidFill>
                <a:latin typeface="Arial"/>
              </a:rPr>
              <a:t>2. Calculate the calories for three labels from the label packet.</a:t>
            </a:r>
          </a:p>
          <a:p>
            <a:pPr>
              <a:spcAft>
                <a:spcPts val="1000"/>
              </a:spcAft>
            </a:pPr>
            <a:r>
              <a:rPr sz="2600" lang="en-US">
                <a:solidFill>
                  <a:srgbClr val="1A1A1A"/>
                </a:solidFill>
                <a:latin typeface="Arial"/>
              </a:rPr>
              <a:t>3. Write one sentence about why a variety of foods is better than one favorite food.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15 -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Which nutrient has 9 calories per gram?</a:t>
            </a:r>
          </a:p>
          <a:p>
            <a:pPr>
              <a:spcAft>
                <a:spcPts val="1000"/>
              </a:spcAft>
            </a:pPr>
            <a:r>
              <a:rPr sz="2600" lang="en-US">
                <a:solidFill>
                  <a:srgbClr val="1A1A1A"/>
                </a:solidFill>
                <a:latin typeface="Arial"/>
              </a:rPr>
              <a:t>2. Name two nutrient classes that provide no calories.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Carbohydrates: Fuel and Fiber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compare simple and complex carbohydrates.</a:t>
            </a:r>
          </a:p>
          <a:p>
            <a:pPr>
              <a:spcAft>
                <a:spcPts val="1000"/>
              </a:spcAft>
            </a:pPr>
            <a:r>
              <a:rPr sz="2600" lang="en-US">
                <a:solidFill>
                  <a:srgbClr val="1A1A1A"/>
                </a:solidFill>
                <a:latin typeface="Arial"/>
              </a:rPr>
              <a:t>I can explain what fiber does and name sources of it.</a:t>
            </a:r>
          </a:p>
          <a:p>
            <a:pPr>
              <a:spcAft>
                <a:spcPts val="1000"/>
              </a:spcAft>
            </a:pPr>
            <a:r>
              <a:rPr sz="2600" lang="en-US">
                <a:solidFill>
                  <a:srgbClr val="1A1A1A"/>
                </a:solidFill>
                <a:latin typeface="Arial"/>
              </a:rPr>
              <a:t>I can identify whole-grain foods from an ingredient list.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Carbohydrate: The body's main source of energy, found in sugars, starches, and fiber.</a:t>
            </a:r>
          </a:p>
          <a:p>
            <a:pPr>
              <a:spcAft>
                <a:spcPts val="1000"/>
              </a:spcAft>
            </a:pPr>
            <a:r>
              <a:rPr sz="2600" lang="en-US">
                <a:solidFill>
                  <a:srgbClr val="1A1A1A"/>
                </a:solidFill>
                <a:latin typeface="Arial"/>
              </a:rPr>
              <a:t>Fiber: A carbohydrate from plants that the body cannot digest; it helps digestion and helps you feel full.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Which gives you energy longer: a candy bar or a bowl of oatmeal? Predict and explain.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What carbohydrates do</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Your body breaks carbohydrates into glucose, the main fuel for your brain and muscles.</a:t>
            </a:r>
          </a:p>
          <a:p>
            <a:pPr>
              <a:spcAft>
                <a:spcPts val="1000"/>
              </a:spcAft>
            </a:pPr>
            <a:r>
              <a:rPr sz="2600" lang="en-US">
                <a:solidFill>
                  <a:srgbClr val="1A1A1A"/>
                </a:solidFill>
                <a:latin typeface="Arial"/>
              </a:rPr>
              <a:t>Carbohydrates provide 4 calories per gram.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Simple and complex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Simple carbohydrates are sugars.</a:t>
            </a:r>
          </a:p>
          <a:p>
            <a:pPr>
              <a:spcAft>
                <a:spcPts val="1000"/>
              </a:spcAft>
            </a:pPr>
            <a:r>
              <a:rPr sz="2600" lang="en-US">
                <a:solidFill>
                  <a:srgbClr val="1A1A1A"/>
                </a:solidFill>
                <a:latin typeface="Arial"/>
              </a:rPr>
              <a:t>Some, like those in fruit and milk, come with other nutrients.</a:t>
            </a:r>
          </a:p>
          <a:p>
            <a:pPr>
              <a:spcAft>
                <a:spcPts val="1000"/>
              </a:spcAft>
            </a:pPr>
            <a:r>
              <a:rPr sz="2600" lang="en-US">
                <a:solidFill>
                  <a:srgbClr val="1A1A1A"/>
                </a:solidFill>
                <a:latin typeface="Arial"/>
              </a:rPr>
              <a:t>Added sugars in soda and candy add calories with few nutrients.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Simple and complex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Complex carbohydrates are starches and fiber, found in whole grains, beans, and vegetables.</a:t>
            </a:r>
          </a:p>
          <a:p>
            <a:pPr>
              <a:spcAft>
                <a:spcPts val="1000"/>
              </a:spcAft>
            </a:pPr>
            <a:r>
              <a:rPr sz="2600" lang="en-US">
                <a:solidFill>
                  <a:srgbClr val="1A1A1A"/>
                </a:solidFill>
                <a:latin typeface="Arial"/>
              </a:rPr>
              <a:t>They digest more slowly and give steadier energy.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Fiber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Fiber is the part of plant foods the body cannot digest.</a:t>
            </a:r>
          </a:p>
          <a:p>
            <a:pPr>
              <a:spcAft>
                <a:spcPts val="1000"/>
              </a:spcAft>
            </a:pPr>
            <a:r>
              <a:rPr sz="2600" lang="en-US">
                <a:solidFill>
                  <a:srgbClr val="1A1A1A"/>
                </a:solidFill>
                <a:latin typeface="Arial"/>
              </a:rPr>
              <a:t>It helps digestion, helps you feel full, and supports heart health.</a:t>
            </a:r>
          </a:p>
          <a:p>
            <a:pPr>
              <a:spcAft>
                <a:spcPts val="1000"/>
              </a:spcAft>
            </a:pPr>
            <a:r>
              <a:rPr sz="2600" lang="en-US">
                <a:solidFill>
                  <a:srgbClr val="1A1A1A"/>
                </a:solidFill>
                <a:latin typeface="Arial"/>
              </a:rPr>
              <a:t>Sources include beans, whole grains, fruits with skin, vegetables, and nuts and seeds.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Whole grains and added sugar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A whole grain keeps all parts of the seed.</a:t>
            </a:r>
          </a:p>
          <a:p>
            <a:pPr>
              <a:spcAft>
                <a:spcPts val="1000"/>
              </a:spcAft>
            </a:pPr>
            <a:r>
              <a:rPr sz="2600" lang="en-US">
                <a:solidFill>
                  <a:srgbClr val="1A1A1A"/>
                </a:solidFill>
                <a:latin typeface="Arial"/>
              </a:rPr>
              <a:t>The Dietary Guidelines for Americans suggest making at least half of your grains whole grains and keeping added sugars under 10 percent of daily calories.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Whole grains and added sugar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On a label, look for "whole" as the first grain in the ingredient list.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Guided practice: Read the Ingredient List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Look at two cereal ingredient lists. Which has a whole grain first?</a:t>
            </a:r>
          </a:p>
          <a:p>
            <a:pPr>
              <a:spcAft>
                <a:spcPts val="1000"/>
              </a:spcAft>
            </a:pPr>
            <a:r>
              <a:rPr sz="2600" lang="en-US">
                <a:solidFill>
                  <a:srgbClr val="1A1A1A"/>
                </a:solidFill>
                <a:latin typeface="Arial"/>
              </a:rPr>
              <a:t>2. Find the grams of fiber and added sugars on each Nutrition Facts label.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Independent practice: Carbohydrate Comparison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Sort 12 foods into simple, complex, or both.</a:t>
            </a:r>
          </a:p>
          <a:p>
            <a:pPr>
              <a:spcAft>
                <a:spcPts val="1000"/>
              </a:spcAft>
            </a:pPr>
            <a:r>
              <a:rPr sz="2600" lang="en-US">
                <a:solidFill>
                  <a:srgbClr val="1A1A1A"/>
                </a:solidFill>
                <a:latin typeface="Arial"/>
              </a:rPr>
              <a:t>2. Compare three breakfast foods: grams of fiber, grams of added sugar, and calories. Rank them by nutrient density.</a:t>
            </a:r>
          </a:p>
          <a:p>
            <a:pPr>
              <a:spcAft>
                <a:spcPts val="1000"/>
              </a:spcAft>
            </a:pPr>
            <a:r>
              <a:rPr sz="2600" lang="en-US">
                <a:solidFill>
                  <a:srgbClr val="1A1A1A"/>
                </a:solidFill>
                <a:latin typeface="Arial"/>
              </a:rPr>
              <a:t>3. Plan a high-fiber breakfast for tomorrow's lab using whole grains.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16 -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Name one source of fiber and one thing fiber does.</a:t>
            </a:r>
          </a:p>
          <a:p>
            <a:pPr>
              <a:spcAft>
                <a:spcPts val="1000"/>
              </a:spcAft>
            </a:pPr>
            <a:r>
              <a:rPr sz="2600" lang="en-US">
                <a:solidFill>
                  <a:srgbClr val="1A1A1A"/>
                </a:solidFill>
                <a:latin typeface="Arial"/>
              </a:rPr>
              <a:t>2. How can you tell if a cereal is whole grain?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Lab 7: Whole-Grain Oatmeal Bowls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 and group roles</a:t>
            </a:r>
          </a:p>
          <a:p>
            <a:pPr>
              <a:spcAft>
                <a:spcPts val="1000"/>
              </a:spcAft>
            </a:pPr>
            <a:r>
              <a:rPr sz="2600" lang="en-US">
                <a:solidFill>
                  <a:srgbClr val="1A1A1A"/>
                </a:solidFill>
                <a:latin typeface="Arial"/>
              </a:rPr>
              <a:t>5 min: Lab brief: safety focus and work plan</a:t>
            </a:r>
          </a:p>
          <a:p>
            <a:pPr>
              <a:spcAft>
                <a:spcPts val="1000"/>
              </a:spcAft>
            </a:pPr>
            <a:r>
              <a:rPr sz="2600" lang="en-US">
                <a:solidFill>
                  <a:srgbClr val="1A1A1A"/>
                </a:solidFill>
                <a:latin typeface="Arial"/>
              </a:rPr>
              <a:t>28 min: Cook</a:t>
            </a:r>
          </a:p>
          <a:p>
            <a:pPr>
              <a:spcAft>
                <a:spcPts val="1000"/>
              </a:spcAft>
            </a:pPr>
            <a:r>
              <a:rPr sz="2600" lang="en-US">
                <a:solidFill>
                  <a:srgbClr val="1A1A1A"/>
                </a:solidFill>
                <a:latin typeface="Arial"/>
              </a:rPr>
              <a:t>7 min: Cleanup and station check</a:t>
            </a:r>
          </a:p>
          <a:p>
            <a:pPr>
              <a:spcAft>
                <a:spcPts val="1000"/>
              </a:spcAft>
            </a:pPr>
            <a:r>
              <a:rPr sz="2600" lang="en-US">
                <a:solidFill>
                  <a:srgbClr val="1A1A1A"/>
                </a:solidFill>
                <a:latin typeface="Arial"/>
              </a:rPr>
              <a:t>3 min: Exit ticket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cook a whole grain on the stove.</a:t>
            </a:r>
          </a:p>
          <a:p>
            <a:pPr>
              <a:spcAft>
                <a:spcPts val="1000"/>
              </a:spcAft>
            </a:pPr>
            <a:r>
              <a:rPr sz="2600" lang="en-US">
                <a:solidFill>
                  <a:srgbClr val="1A1A1A"/>
                </a:solidFill>
                <a:latin typeface="Arial"/>
              </a:rPr>
              <a:t>I can explain the carbohydrates and fiber in my dish.</a:t>
            </a:r>
          </a:p>
          <a:p>
            <a:pPr>
              <a:spcAft>
                <a:spcPts val="1000"/>
              </a:spcAft>
            </a:pPr>
            <a:r>
              <a:rPr sz="2600" lang="en-US">
                <a:solidFill>
                  <a:srgbClr val="1A1A1A"/>
                </a:solidFill>
                <a:latin typeface="Arial"/>
              </a:rPr>
              <a:t>I can apply stove and clean-cook-chill habits.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Carbohydrate: The body's main source of energy, found in sugars, starches, and fiber.</a:t>
            </a:r>
          </a:p>
          <a:p>
            <a:pPr>
              <a:spcAft>
                <a:spcPts val="1000"/>
              </a:spcAft>
            </a:pPr>
            <a:r>
              <a:rPr sz="2600" lang="en-US">
                <a:solidFill>
                  <a:srgbClr val="1A1A1A"/>
                </a:solidFill>
                <a:latin typeface="Arial"/>
              </a:rPr>
              <a:t>Fiber: A carbohydrate from plants that the body cannot digest; it helps digestion and helps you feel full.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What toppings add fiber to oatmeal? What toppings add mostly sugar? List two of each.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 Lab brief</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Safety focus: cook.</a:t>
            </a:r>
          </a:p>
          <a:p>
            <a:pPr>
              <a:spcAft>
                <a:spcPts val="1000"/>
              </a:spcAft>
            </a:pPr>
            <a:r>
              <a:rPr sz="2600" lang="en-US">
                <a:solidFill>
                  <a:srgbClr val="1A1A1A"/>
                </a:solidFill>
                <a:latin typeface="Arial"/>
              </a:rPr>
              <a:t>Handles inward, dry mitts, stir often so the oats do not stick.</a:t>
            </a:r>
          </a:p>
          <a:p>
            <a:pPr>
              <a:spcAft>
                <a:spcPts val="1000"/>
              </a:spcAft>
            </a:pPr>
            <a:r>
              <a:rPr sz="2600" lang="en-US">
                <a:solidFill>
                  <a:srgbClr val="1A1A1A"/>
                </a:solidFill>
                <a:latin typeface="Arial"/>
              </a:rPr>
              <a:t>Steam burns: lift the lid away from your face.</a:t>
            </a:r>
          </a:p>
          <a:p>
            <a:pPr>
              <a:spcAft>
                <a:spcPts val="1000"/>
              </a:spcAft>
            </a:pPr>
            <a:r>
              <a:rPr sz="2600" lang="en-US">
                <a:solidFill>
                  <a:srgbClr val="1A1A1A"/>
                </a:solidFill>
                <a:latin typeface="Arial"/>
              </a:rPr>
              <a:t>Wash hands, check labels for peanut-free.</a:t>
            </a:r>
          </a:p>
          <a:p>
            <a:pPr>
              <a:spcAft>
                <a:spcPts val="1000"/>
              </a:spcAft>
            </a:pPr>
            <a:r>
              <a:rPr sz="2600" lang="en-US">
                <a:solidFill>
                  <a:srgbClr val="1A1A1A"/>
                </a:solidFill>
                <a:latin typeface="Arial"/>
              </a:rPr>
              <a:t>After eating, name the carbohydrate and fiber in your bowl.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 Guided practice: Group Work Plan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Write who measures, who cooks, who prepares toppings, and who cleans.</a:t>
            </a:r>
          </a:p>
          <a:p>
            <a:pPr>
              <a:spcAft>
                <a:spcPts val="1000"/>
              </a:spcAft>
            </a:pPr>
            <a:r>
              <a:rPr sz="2600" lang="en-US">
                <a:solidFill>
                  <a:srgbClr val="1A1A1A"/>
                </a:solidFill>
                <a:latin typeface="Arial"/>
              </a:rPr>
              <a:t>2. Decide how each person will explain one nutrient in the bowl.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 Lab: Cook: Whole-Grain Oatmeal Bowls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the recipe card. Your Safety Officer signs off each safety checkpoint.</a:t>
            </a:r>
          </a:p>
          <a:p>
            <a:pPr>
              <a:spcAft>
                <a:spcPts val="1000"/>
              </a:spcAft>
            </a:pPr>
            <a:r>
              <a:rPr sz="2600" lang="en-US">
                <a:solidFill>
                  <a:srgbClr val="1A1A1A"/>
                </a:solidFill>
                <a:latin typeface="Arial"/>
              </a:rPr>
              <a:t>2. Fill in the nutrient chart: carbohydrate source, fiber source, and any protein or fat in your bowl.</a:t>
            </a:r>
          </a:p>
          <a:p>
            <a:pPr>
              <a:spcAft>
                <a:spcPts val="1000"/>
              </a:spcAft>
            </a:pPr>
            <a:r>
              <a:rPr sz="2600" lang="en-US">
                <a:solidFill>
                  <a:srgbClr val="1A1A1A"/>
                </a:solidFill>
                <a:latin typeface="Arial"/>
              </a:rPr>
              <a:t>3. Complete cleanup. Soak the pot right away because oats stick.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17 -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Name the carbohydrate and the fiber source in your bowl.</a:t>
            </a:r>
          </a:p>
          <a:p>
            <a:pPr>
              <a:spcAft>
                <a:spcPts val="1000"/>
              </a:spcAft>
            </a:pPr>
            <a:r>
              <a:rPr sz="2600" lang="en-US">
                <a:solidFill>
                  <a:srgbClr val="1A1A1A"/>
                </a:solidFill>
                <a:latin typeface="Arial"/>
              </a:rPr>
              <a:t>2. What would you add or change to make it more nutrient-dense?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Proteins and Fats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explain what protein does and name animal and plant sources.</a:t>
            </a:r>
          </a:p>
          <a:p>
            <a:pPr>
              <a:spcAft>
                <a:spcPts val="1000"/>
              </a:spcAft>
            </a:pPr>
            <a:r>
              <a:rPr sz="2600" lang="en-US">
                <a:solidFill>
                  <a:srgbClr val="1A1A1A"/>
                </a:solidFill>
                <a:latin typeface="Arial"/>
              </a:rPr>
              <a:t>I can tell unsaturated, saturated, and trans fats apart and name sources.</a:t>
            </a:r>
          </a:p>
          <a:p>
            <a:pPr>
              <a:spcAft>
                <a:spcPts val="1000"/>
              </a:spcAft>
            </a:pPr>
            <a:r>
              <a:rPr sz="2600" lang="en-US">
                <a:solidFill>
                  <a:srgbClr val="1A1A1A"/>
                </a:solidFill>
                <a:latin typeface="Arial"/>
              </a:rPr>
              <a:t>I can explain why the body needs some fat.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Protein: A nutrient made of amino acids that builds and repairs body tissue.</a:t>
            </a:r>
          </a:p>
          <a:p>
            <a:pPr>
              <a:spcAft>
                <a:spcPts val="1000"/>
              </a:spcAft>
            </a:pPr>
            <a:r>
              <a:rPr sz="2600" lang="en-US">
                <a:solidFill>
                  <a:srgbClr val="1A1A1A"/>
                </a:solidFill>
                <a:latin typeface="Arial"/>
              </a:rPr>
              <a:t>Unsaturated fat: A fat, usually liquid at room temperature, found in oils, nuts, seeds, avocado, and fish.</a:t>
            </a:r>
          </a:p>
          <a:p>
            <a:pPr>
              <a:spcAft>
                <a:spcPts val="1000"/>
              </a:spcAft>
            </a:pPr>
            <a:r>
              <a:rPr sz="2600" lang="en-US">
                <a:solidFill>
                  <a:srgbClr val="1A1A1A"/>
                </a:solidFill>
                <a:latin typeface="Arial"/>
              </a:rPr>
              <a:t>Calorie: A unit that measures the energy in food. Carbohydrates and protein have 4 calories per gram; fat has 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Name three foods that are high in protein. Then name three foods that are high in fat. Do any appear on both lists?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What protein does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Protein is made of building blocks called amino acids.</a:t>
            </a:r>
          </a:p>
          <a:p>
            <a:pPr>
              <a:spcAft>
                <a:spcPts val="1000"/>
              </a:spcAft>
            </a:pPr>
            <a:r>
              <a:rPr sz="2600" lang="en-US">
                <a:solidFill>
                  <a:srgbClr val="1A1A1A"/>
                </a:solidFill>
                <a:latin typeface="Arial"/>
              </a:rPr>
              <a:t>It builds and repairs muscles, skin, and organs, and helps make enzymes and hormones.</a:t>
            </a:r>
          </a:p>
          <a:p>
            <a:pPr>
              <a:spcAft>
                <a:spcPts val="1000"/>
              </a:spcAft>
            </a:pPr>
            <a:r>
              <a:rPr sz="2600" lang="en-US">
                <a:solidFill>
                  <a:srgbClr val="1A1A1A"/>
                </a:solidFill>
                <a:latin typeface="Arial"/>
              </a:rPr>
              <a:t>Protein provides 4 calories per gram.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Sources of protein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Animal sources include meat, poultry, fish, eggs, and dairy.</a:t>
            </a:r>
          </a:p>
          <a:p>
            <a:pPr>
              <a:spcAft>
                <a:spcPts val="1000"/>
              </a:spcAft>
            </a:pPr>
            <a:r>
              <a:rPr sz="2600" lang="en-US">
                <a:solidFill>
                  <a:srgbClr val="1A1A1A"/>
                </a:solidFill>
                <a:latin typeface="Arial"/>
              </a:rPr>
              <a:t>Plant sources include beans, lentils, tofu, nuts, seeds, and whole grains.</a:t>
            </a:r>
          </a:p>
          <a:p>
            <a:pPr>
              <a:spcAft>
                <a:spcPts val="1000"/>
              </a:spcAft>
            </a:pPr>
            <a:r>
              <a:rPr sz="2600" lang="en-US">
                <a:solidFill>
                  <a:srgbClr val="1A1A1A"/>
                </a:solidFill>
                <a:latin typeface="Arial"/>
              </a:rPr>
              <a:t>Animal proteins supply all nine essential amino acids.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Sources of protein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Most plant proteins are missing one or more, but eating a variety of plant foods over the day provides them all.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What fat does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Fat stores energy at 9 calories per gram, protects organs, helps cells work, and helps the body absorb vitamins A, D, E, and K.</a:t>
            </a:r>
          </a:p>
          <a:p>
            <a:pPr>
              <a:spcAft>
                <a:spcPts val="1000"/>
              </a:spcAft>
            </a:pPr>
            <a:r>
              <a:rPr sz="2600" lang="en-US">
                <a:solidFill>
                  <a:srgbClr val="1A1A1A"/>
                </a:solidFill>
                <a:latin typeface="Arial"/>
              </a:rPr>
              <a:t>Your body needs some fat, but the type and amount matter.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Types of fat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Unsaturated fats, in oils, nuts, seeds, avocado, and fish, are the better choices.</a:t>
            </a:r>
          </a:p>
          <a:p>
            <a:pPr>
              <a:spcAft>
                <a:spcPts val="1000"/>
              </a:spcAft>
            </a:pPr>
            <a:r>
              <a:rPr sz="2600" lang="en-US">
                <a:solidFill>
                  <a:srgbClr val="1A1A1A"/>
                </a:solidFill>
                <a:latin typeface="Arial"/>
              </a:rPr>
              <a:t>Saturated fats, in butter, cheese, fatty meats, and coconut oil, should be limited to less than 10 percent of daily calories.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Types of fat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Artificial trans fats were largely removed from the U.S. food supply and should be avoided.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Guided practice: Protein or Fat?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As a class, sort ten foods: mostly protein, mostly fat, or both. Discuss foods that are both, like eggs and cheese.</a:t>
            </a:r>
          </a:p>
          <a:p>
            <a:pPr>
              <a:spcAft>
                <a:spcPts val="1000"/>
              </a:spcAft>
            </a:pPr>
            <a:r>
              <a:rPr sz="2600" lang="en-US">
                <a:solidFill>
                  <a:srgbClr val="1A1A1A"/>
                </a:solidFill>
                <a:latin typeface="Arial"/>
              </a:rPr>
              <a:t>2. Pick one plant protein and one animal protein and write the amino-acid fact about each.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Independent practice: Plan a Protein-Rich Meal</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Plan a meal with a plant protein and an unsaturated fat for tomorrow's lab.</a:t>
            </a:r>
          </a:p>
          <a:p>
            <a:pPr>
              <a:spcAft>
                <a:spcPts val="1000"/>
              </a:spcAft>
            </a:pPr>
            <a:r>
              <a:rPr sz="2600" lang="en-US">
                <a:solidFill>
                  <a:srgbClr val="1A1A1A"/>
                </a:solidFill>
                <a:latin typeface="Arial"/>
              </a:rPr>
              <a:t>2. Make a chart: protein source, fat source, and the job each nutrient does for your body.</a:t>
            </a:r>
          </a:p>
          <a:p>
            <a:pPr>
              <a:spcAft>
                <a:spcPts val="1000"/>
              </a:spcAft>
            </a:pPr>
            <a:r>
              <a:rPr sz="2600" lang="en-US">
                <a:solidFill>
                  <a:srgbClr val="1A1A1A"/>
                </a:solidFill>
                <a:latin typeface="Arial"/>
              </a:rPr>
              <a:t>3. Write one question you still have about protein or fat.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18 -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What is one job protein does in the body?</a:t>
            </a:r>
          </a:p>
          <a:p>
            <a:pPr>
              <a:spcAft>
                <a:spcPts val="1000"/>
              </a:spcAft>
            </a:pPr>
            <a:r>
              <a:rPr sz="2600" lang="en-US">
                <a:solidFill>
                  <a:srgbClr val="1A1A1A"/>
                </a:solidFill>
                <a:latin typeface="Arial"/>
              </a:rPr>
              <a:t>2. Name one unsaturated fat source.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Lab 8: White Bean Dip and Pita (Plant Protein)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 and group roles</a:t>
            </a:r>
          </a:p>
          <a:p>
            <a:pPr>
              <a:spcAft>
                <a:spcPts val="1000"/>
              </a:spcAft>
            </a:pPr>
            <a:r>
              <a:rPr sz="2600" lang="en-US">
                <a:solidFill>
                  <a:srgbClr val="1A1A1A"/>
                </a:solidFill>
                <a:latin typeface="Arial"/>
              </a:rPr>
              <a:t>5 min: Lab brief: safety focus and work plan</a:t>
            </a:r>
          </a:p>
          <a:p>
            <a:pPr>
              <a:spcAft>
                <a:spcPts val="1000"/>
              </a:spcAft>
            </a:pPr>
            <a:r>
              <a:rPr sz="2600" lang="en-US">
                <a:solidFill>
                  <a:srgbClr val="1A1A1A"/>
                </a:solidFill>
                <a:latin typeface="Arial"/>
              </a:rPr>
              <a:t>28 min: Cook</a:t>
            </a:r>
          </a:p>
          <a:p>
            <a:pPr>
              <a:spcAft>
                <a:spcPts val="1000"/>
              </a:spcAft>
            </a:pPr>
            <a:r>
              <a:rPr sz="2600" lang="en-US">
                <a:solidFill>
                  <a:srgbClr val="1A1A1A"/>
                </a:solidFill>
                <a:latin typeface="Arial"/>
              </a:rPr>
              <a:t>7 min: Cleanup and station check</a:t>
            </a:r>
          </a:p>
          <a:p>
            <a:pPr>
              <a:spcAft>
                <a:spcPts val="1000"/>
              </a:spcAft>
            </a:pPr>
            <a:r>
              <a:rPr sz="2600" lang="en-US">
                <a:solidFill>
                  <a:srgbClr val="1A1A1A"/>
                </a:solidFill>
                <a:latin typeface="Arial"/>
              </a:rPr>
              <a:t>3 min: Exit ticket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prepare a plant-protein dish with an unsaturated fat.</a:t>
            </a:r>
          </a:p>
          <a:p>
            <a:pPr>
              <a:spcAft>
                <a:spcPts val="1000"/>
              </a:spcAft>
            </a:pPr>
            <a:r>
              <a:rPr sz="2600" lang="en-US">
                <a:solidFill>
                  <a:srgbClr val="1A1A1A"/>
                </a:solidFill>
                <a:latin typeface="Arial"/>
              </a:rPr>
              <a:t>I can use a fork or blender to mash and blend safely.</a:t>
            </a:r>
          </a:p>
          <a:p>
            <a:pPr>
              <a:spcAft>
                <a:spcPts val="1000"/>
              </a:spcAft>
            </a:pPr>
            <a:r>
              <a:rPr sz="2600" lang="en-US">
                <a:solidFill>
                  <a:srgbClr val="1A1A1A"/>
                </a:solidFill>
                <a:latin typeface="Arial"/>
              </a:rPr>
              <a:t>I can explain the protein and fat in my dish.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Protein: A nutrient made of amino acids that builds and repairs body tissue.</a:t>
            </a:r>
          </a:p>
          <a:p>
            <a:pPr>
              <a:spcAft>
                <a:spcPts val="1000"/>
              </a:spcAft>
            </a:pPr>
            <a:r>
              <a:rPr sz="2600" lang="en-US">
                <a:solidFill>
                  <a:srgbClr val="1A1A1A"/>
                </a:solidFill>
                <a:latin typeface="Arial"/>
              </a:rPr>
              <a:t>Unsaturated fat: A fat, usually liquid at room temperature, found in oils, nuts, seeds, avocado, and fish.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Which ingredient in today's recipe is the protein? Which is the unsaturated fat?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 Lab brief</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Safety focus: separate and clean.</a:t>
            </a:r>
          </a:p>
          <a:p>
            <a:pPr>
              <a:spcAft>
                <a:spcPts val="1000"/>
              </a:spcAft>
            </a:pPr>
            <a:r>
              <a:rPr sz="2600" lang="en-US">
                <a:solidFill>
                  <a:srgbClr val="1A1A1A"/>
                </a:solidFill>
                <a:latin typeface="Arial"/>
              </a:rPr>
              <a:t>Drain and rinse the beans.</a:t>
            </a:r>
          </a:p>
          <a:p>
            <a:pPr>
              <a:spcAft>
                <a:spcPts val="1000"/>
              </a:spcAft>
            </a:pPr>
            <a:r>
              <a:rPr sz="2600" lang="en-US">
                <a:solidFill>
                  <a:srgbClr val="1A1A1A"/>
                </a:solidFill>
                <a:latin typeface="Arial"/>
              </a:rPr>
              <a:t>Use a clean spoon for tasting and never double-dip.</a:t>
            </a:r>
          </a:p>
          <a:p>
            <a:pPr>
              <a:spcAft>
                <a:spcPts val="1000"/>
              </a:spcAft>
            </a:pPr>
            <a:r>
              <a:rPr sz="2600" lang="en-US">
                <a:solidFill>
                  <a:srgbClr val="1A1A1A"/>
                </a:solidFill>
                <a:latin typeface="Arial"/>
              </a:rPr>
              <a:t>If you use the blender, lid on and unplug before cleaning.</a:t>
            </a:r>
          </a:p>
          <a:p>
            <a:pPr>
              <a:spcAft>
                <a:spcPts val="1000"/>
              </a:spcAft>
            </a:pPr>
            <a:r>
              <a:rPr sz="2600" lang="en-US">
                <a:solidFill>
                  <a:srgbClr val="1A1A1A"/>
                </a:solidFill>
                <a:latin typeface="Arial"/>
              </a:rPr>
              <a:t>Keep the dip cold until serving.</a:t>
            </a:r>
          </a:p>
          <a:p>
            <a:pPr>
              <a:spcAft>
                <a:spcPts val="1000"/>
              </a:spcAft>
            </a:pPr>
            <a:r>
              <a:rPr sz="2600" lang="en-US">
                <a:solidFill>
                  <a:srgbClr val="1A1A1A"/>
                </a:solidFill>
                <a:latin typeface="Arial"/>
              </a:rPr>
              <a:t>Check labels for peanut-free.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 Guided practice: Group Work Plan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Decide whether your group will mash by fork or blend. Write why.</a:t>
            </a:r>
          </a:p>
          <a:p>
            <a:pPr>
              <a:spcAft>
                <a:spcPts val="1000"/>
              </a:spcAft>
            </a:pPr>
            <a:r>
              <a:rPr sz="2600" lang="en-US">
                <a:solidFill>
                  <a:srgbClr val="1A1A1A"/>
                </a:solidFill>
                <a:latin typeface="Arial"/>
              </a:rPr>
              <a:t>2. Assign who tastes and adjusts the lemon and salt.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 Lab: Cook: White Bean Dip and Pita</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the recipe card. Your Safety Officer signs off each safety checkpoint.</a:t>
            </a:r>
          </a:p>
          <a:p>
            <a:pPr>
              <a:spcAft>
                <a:spcPts val="1000"/>
              </a:spcAft>
            </a:pPr>
            <a:r>
              <a:rPr sz="2600" lang="en-US">
                <a:solidFill>
                  <a:srgbClr val="1A1A1A"/>
                </a:solidFill>
                <a:latin typeface="Arial"/>
              </a:rPr>
              <a:t>2. Taste, then write one thing you would change.</a:t>
            </a:r>
          </a:p>
          <a:p>
            <a:pPr>
              <a:spcAft>
                <a:spcPts val="1000"/>
              </a:spcAft>
            </a:pPr>
            <a:r>
              <a:rPr sz="2600" lang="en-US">
                <a:solidFill>
                  <a:srgbClr val="1A1A1A"/>
                </a:solidFill>
                <a:latin typeface="Arial"/>
              </a:rPr>
              <a:t>3. Complete cleanup and the station check.</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19 -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Which ingredient provides protein, and which provides unsaturated fat?</a:t>
            </a:r>
          </a:p>
          <a:p>
            <a:pPr>
              <a:spcAft>
                <a:spcPts val="1000"/>
              </a:spcAft>
            </a:pPr>
            <a:r>
              <a:rPr sz="2600" lang="en-US">
                <a:solidFill>
                  <a:srgbClr val="1A1A1A"/>
                </a:solidFill>
                <a:latin typeface="Arial"/>
              </a:rPr>
              <a:t>2. Why is it a good idea to pair beans with whole grain pita?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Vitamins, Minerals, and Water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name key vitamins and minerals, their jobs, and food sources.</a:t>
            </a:r>
          </a:p>
          <a:p>
            <a:pPr>
              <a:spcAft>
                <a:spcPts val="1000"/>
              </a:spcAft>
            </a:pPr>
            <a:r>
              <a:rPr sz="2600" lang="en-US">
                <a:solidFill>
                  <a:srgbClr val="1A1A1A"/>
                </a:solidFill>
                <a:latin typeface="Arial"/>
              </a:rPr>
              <a:t>I can explain fat-soluble versus water-soluble vitamins.</a:t>
            </a:r>
          </a:p>
          <a:p>
            <a:pPr>
              <a:spcAft>
                <a:spcPts val="1000"/>
              </a:spcAft>
            </a:pPr>
            <a:r>
              <a:rPr sz="2600" lang="en-US">
                <a:solidFill>
                  <a:srgbClr val="1A1A1A"/>
                </a:solidFill>
                <a:latin typeface="Arial"/>
              </a:rPr>
              <a:t>I can explain why water matters and how much we need.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Vitamin: An organic nutrient needed in small amounts to help the body work.</a:t>
            </a:r>
          </a:p>
          <a:p>
            <a:pPr>
              <a:spcAft>
                <a:spcPts val="1000"/>
              </a:spcAft>
            </a:pPr>
            <a:r>
              <a:rPr sz="2600" lang="en-US">
                <a:solidFill>
                  <a:srgbClr val="1A1A1A"/>
                </a:solidFill>
                <a:latin typeface="Arial"/>
              </a:rPr>
              <a:t>Mineral: A nutrient from the earth, such as calcium or iron, needed for bones, blood, and many body jobs.</a:t>
            </a:r>
          </a:p>
          <a:p>
            <a:pPr>
              <a:spcAft>
                <a:spcPts val="1000"/>
              </a:spcAft>
            </a:pPr>
            <a:r>
              <a:rPr sz="2600" lang="en-US">
                <a:solidFill>
                  <a:srgbClr val="1A1A1A"/>
                </a:solidFill>
                <a:latin typeface="Arial"/>
              </a:rPr>
              <a:t>Nutrient density: The amount of nutrients a food gives compared with its calories.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What are some signs your body needs water? Write two. What do you usually drink in a day?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Vitamins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Vitamins are needed in small amounts.</a:t>
            </a:r>
          </a:p>
          <a:p>
            <a:pPr>
              <a:spcAft>
                <a:spcPts val="1000"/>
              </a:spcAft>
            </a:pPr>
            <a:r>
              <a:rPr sz="2600" lang="en-US">
                <a:solidFill>
                  <a:srgbClr val="1A1A1A"/>
                </a:solidFill>
                <a:latin typeface="Arial"/>
              </a:rPr>
              <a:t>Fat-soluble vitamins (A, D, E, K) can be stored in the body.</a:t>
            </a:r>
          </a:p>
          <a:p>
            <a:pPr>
              <a:spcAft>
                <a:spcPts val="1000"/>
              </a:spcAft>
            </a:pPr>
            <a:r>
              <a:rPr sz="2600" lang="en-US">
                <a:solidFill>
                  <a:srgbClr val="1A1A1A"/>
                </a:solidFill>
                <a:latin typeface="Arial"/>
              </a:rPr>
              <a:t>Water-soluble vitamins (C and the B vitamins) are not stored much, so you need them regularly.</a:t>
            </a:r>
          </a:p>
          <a:p>
            <a:pPr>
              <a:spcAft>
                <a:spcPts val="1000"/>
              </a:spcAft>
            </a:pPr>
            <a:r>
              <a:rPr sz="2600" lang="en-US">
                <a:solidFill>
                  <a:srgbClr val="1A1A1A"/>
                </a:solidFill>
                <a:latin typeface="Arial"/>
              </a:rPr>
              <a:t>Vitamin A helps vision and skin.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Vitamins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Vitamin C helps healing and the immune system.</a:t>
            </a:r>
          </a:p>
          <a:p>
            <a:pPr>
              <a:spcAft>
                <a:spcPts val="1000"/>
              </a:spcAft>
            </a:pPr>
            <a:r>
              <a:rPr sz="2600" lang="en-US">
                <a:solidFill>
                  <a:srgbClr val="1A1A1A"/>
                </a:solidFill>
                <a:latin typeface="Arial"/>
              </a:rPr>
              <a:t>Vitamin D helps the body use calcium.</a:t>
            </a:r>
          </a:p>
          <a:p>
            <a:pPr>
              <a:spcAft>
                <a:spcPts val="1000"/>
              </a:spcAft>
            </a:pPr>
            <a:r>
              <a:rPr sz="2600" lang="en-US">
                <a:solidFill>
                  <a:srgbClr val="1A1A1A"/>
                </a:solidFill>
                <a:latin typeface="Arial"/>
              </a:rPr>
              <a:t>Vitamin K helps blood clot.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Minerals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Calcium builds bones and teeth (milk, yogurt, fortified soy, leafy greens).</a:t>
            </a:r>
          </a:p>
          <a:p>
            <a:pPr>
              <a:spcAft>
                <a:spcPts val="1000"/>
              </a:spcAft>
            </a:pPr>
            <a:r>
              <a:rPr sz="2600" lang="en-US">
                <a:solidFill>
                  <a:srgbClr val="1A1A1A"/>
                </a:solidFill>
                <a:latin typeface="Arial"/>
              </a:rPr>
              <a:t>Iron carries oxygen in the blood (beans, meat, fortified cereal); teens, especially girls, need plenty.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Minerals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Potassium helps muscles and blood pressure (bananas, beans, potatoes).</a:t>
            </a:r>
          </a:p>
          <a:p>
            <a:pPr>
              <a:spcAft>
                <a:spcPts val="1000"/>
              </a:spcAft>
            </a:pPr>
            <a:r>
              <a:rPr sz="2600" lang="en-US">
                <a:solidFill>
                  <a:srgbClr val="1A1A1A"/>
                </a:solidFill>
                <a:latin typeface="Arial"/>
              </a:rPr>
              <a:t>Sodium balances fluids, but most people eat too much from packaged foods; the guideline is under 2,300 mg a day.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Water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Water makes up much of your body.</a:t>
            </a:r>
          </a:p>
          <a:p>
            <a:pPr>
              <a:spcAft>
                <a:spcPts val="1000"/>
              </a:spcAft>
            </a:pPr>
            <a:r>
              <a:rPr sz="2600" lang="en-US">
                <a:solidFill>
                  <a:srgbClr val="1A1A1A"/>
                </a:solidFill>
                <a:latin typeface="Arial"/>
              </a:rPr>
              <a:t>It carries nutrients, controls temperature, cushions joints, and removes waste.</a:t>
            </a:r>
          </a:p>
          <a:p>
            <a:pPr>
              <a:spcAft>
                <a:spcPts val="1000"/>
              </a:spcAft>
            </a:pPr>
            <a:r>
              <a:rPr sz="2600" lang="en-US">
                <a:solidFill>
                  <a:srgbClr val="1A1A1A"/>
                </a:solidFill>
                <a:latin typeface="Arial"/>
              </a:rPr>
              <a:t>Needs vary with size, activity, and heat.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Water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The National Academies estimate total water of about 2.3 liters a day for teen girls and 3.3 liters for teen boys, from drinks and foods together.</a:t>
            </a:r>
          </a:p>
          <a:p>
            <a:pPr>
              <a:spcAft>
                <a:spcPts val="1000"/>
              </a:spcAft>
            </a:pPr>
            <a:r>
              <a:rPr sz="2600" lang="en-US">
                <a:solidFill>
                  <a:srgbClr val="1A1A1A"/>
                </a:solidFill>
                <a:latin typeface="Arial"/>
              </a:rPr>
              <a:t>Pale yellow urine is a rough sign you are drinking enough.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Food first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Most healthy teens can get the vitamins and minerals they need from a varied diet.</a:t>
            </a:r>
          </a:p>
          <a:p>
            <a:pPr>
              <a:spcAft>
                <a:spcPts val="1000"/>
              </a:spcAft>
            </a:pPr>
            <a:r>
              <a:rPr sz="2600" lang="en-US">
                <a:solidFill>
                  <a:srgbClr val="1A1A1A"/>
                </a:solidFill>
                <a:latin typeface="Arial"/>
              </a:rPr>
              <a:t>Colorful fruits and vegetables are good sources.</a:t>
            </a:r>
          </a:p>
          <a:p>
            <a:pPr>
              <a:spcAft>
                <a:spcPts val="1000"/>
              </a:spcAft>
            </a:pPr>
            <a:r>
              <a:rPr sz="2600" lang="en-US">
                <a:solidFill>
                  <a:srgbClr val="1A1A1A"/>
                </a:solidFill>
                <a:latin typeface="Arial"/>
              </a:rPr>
              <a:t>Supplements are not a substitute for food, and a doctor or dietitian should guide any supplement.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Guided practice: Match Nutrient to Job</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Match each vitamin or mineral to its job and a food source on the card sort.</a:t>
            </a:r>
          </a:p>
          <a:p>
            <a:pPr>
              <a:spcAft>
                <a:spcPts val="1000"/>
              </a:spcAft>
            </a:pPr>
            <a:r>
              <a:rPr sz="2600" lang="en-US">
                <a:solidFill>
                  <a:srgbClr val="1A1A1A"/>
                </a:solidFill>
                <a:latin typeface="Arial"/>
              </a:rPr>
              <a:t>2. Pick the three nutrients you think teens most often miss and explain your pick.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Independent practice: Case Studies and Rainbow Plate</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Read three short case studies of deficiency (for example low iron or low vitamin D). Name the nutrient and suggest foods.</a:t>
            </a:r>
          </a:p>
          <a:p>
            <a:pPr>
              <a:spcAft>
                <a:spcPts val="1000"/>
              </a:spcAft>
            </a:pPr>
            <a:r>
              <a:rPr sz="2600" lang="en-US">
                <a:solidFill>
                  <a:srgbClr val="1A1A1A"/>
                </a:solidFill>
                <a:latin typeface="Arial"/>
              </a:rPr>
              <a:t>2. Draw a rainbow plate: one fruit or vegetable for each color and the vitamin or mineral it provides.</a:t>
            </a:r>
          </a:p>
          <a:p>
            <a:pPr>
              <a:spcAft>
                <a:spcPts val="1000"/>
              </a:spcAft>
            </a:pPr>
            <a:r>
              <a:rPr sz="2600" lang="en-US">
                <a:solidFill>
                  <a:srgbClr val="1A1A1A"/>
                </a:solidFill>
                <a:latin typeface="Arial"/>
              </a:rPr>
              <a:t>3. Track your water in one day tomorrow and bring the results.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20 -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Name one fat-soluble vitamin and one water-soluble vitamin.</a:t>
            </a:r>
          </a:p>
          <a:p>
            <a:pPr>
              <a:spcAft>
                <a:spcPts val="1000"/>
              </a:spcAft>
            </a:pPr>
            <a:r>
              <a:rPr sz="2600" lang="en-US">
                <a:solidFill>
                  <a:srgbClr val="1A1A1A"/>
                </a:solidFill>
                <a:latin typeface="Arial"/>
              </a:rPr>
              <a:t>2. Which mineral builds bones, and what is one source?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Lab 9: Rainbow Fruit Salad (Vitamins and Minerals)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 and group roles</a:t>
            </a:r>
          </a:p>
          <a:p>
            <a:pPr>
              <a:spcAft>
                <a:spcPts val="1000"/>
              </a:spcAft>
            </a:pPr>
            <a:r>
              <a:rPr sz="2600" lang="en-US">
                <a:solidFill>
                  <a:srgbClr val="1A1A1A"/>
                </a:solidFill>
                <a:latin typeface="Arial"/>
              </a:rPr>
              <a:t>5 min: Lab brief: safety focus and work plan</a:t>
            </a:r>
          </a:p>
          <a:p>
            <a:pPr>
              <a:spcAft>
                <a:spcPts val="1000"/>
              </a:spcAft>
            </a:pPr>
            <a:r>
              <a:rPr sz="2600" lang="en-US">
                <a:solidFill>
                  <a:srgbClr val="1A1A1A"/>
                </a:solidFill>
                <a:latin typeface="Arial"/>
              </a:rPr>
              <a:t>28 min: Cook</a:t>
            </a:r>
          </a:p>
          <a:p>
            <a:pPr>
              <a:spcAft>
                <a:spcPts val="1000"/>
              </a:spcAft>
            </a:pPr>
            <a:r>
              <a:rPr sz="2600" lang="en-US">
                <a:solidFill>
                  <a:srgbClr val="1A1A1A"/>
                </a:solidFill>
                <a:latin typeface="Arial"/>
              </a:rPr>
              <a:t>7 min: Cleanup and station check</a:t>
            </a:r>
          </a:p>
          <a:p>
            <a:pPr>
              <a:spcAft>
                <a:spcPts val="1000"/>
              </a:spcAft>
            </a:pPr>
            <a:r>
              <a:rPr sz="2600" lang="en-US">
                <a:solidFill>
                  <a:srgbClr val="1A1A1A"/>
                </a:solidFill>
                <a:latin typeface="Arial"/>
              </a:rPr>
              <a:t>3 min: Exit ticket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wash, cut, and prepare fruit safely.</a:t>
            </a:r>
          </a:p>
          <a:p>
            <a:pPr>
              <a:spcAft>
                <a:spcPts val="1000"/>
              </a:spcAft>
            </a:pPr>
            <a:r>
              <a:rPr sz="2600" lang="en-US">
                <a:solidFill>
                  <a:srgbClr val="1A1A1A"/>
                </a:solidFill>
                <a:latin typeface="Arial"/>
              </a:rPr>
              <a:t>I can name the vitamins and minerals in the fruits I used.</a:t>
            </a:r>
          </a:p>
          <a:p>
            <a:pPr>
              <a:spcAft>
                <a:spcPts val="1000"/>
              </a:spcAft>
            </a:pPr>
            <a:r>
              <a:rPr sz="2600" lang="en-US">
                <a:solidFill>
                  <a:srgbClr val="1A1A1A"/>
                </a:solidFill>
                <a:latin typeface="Arial"/>
              </a:rPr>
              <a:t>I can explain one nutrient to a classmate in plain language.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Vitamin: An organic nutrient needed in small amounts to help the body work.</a:t>
            </a:r>
          </a:p>
          <a:p>
            <a:pPr>
              <a:spcAft>
                <a:spcPts val="1000"/>
              </a:spcAft>
            </a:pPr>
            <a:r>
              <a:rPr sz="2600" lang="en-US">
                <a:solidFill>
                  <a:srgbClr val="1A1A1A"/>
                </a:solidFill>
                <a:latin typeface="Arial"/>
              </a:rPr>
              <a:t>Mineral: A nutrient from the earth, such as calcium or iron, needed for bones, blood, and many body jobs.</a:t>
            </a:r>
          </a:p>
          <a:p>
            <a:pPr>
              <a:spcAft>
                <a:spcPts val="1000"/>
              </a:spcAft>
            </a:pPr>
            <a:r>
              <a:rPr sz="2600" lang="en-US">
                <a:solidFill>
                  <a:srgbClr val="1A1A1A"/>
                </a:solidFill>
                <a:latin typeface="Arial"/>
              </a:rPr>
              <a:t>Nutrient density: The amount of nutrients a food gives compared with its calories.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Pick one fruit in today's recipe. Predict one vitamin or mineral it contains.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Lab brief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Safety focus: knives and clean.</a:t>
            </a:r>
          </a:p>
          <a:p>
            <a:pPr>
              <a:spcAft>
                <a:spcPts val="1000"/>
              </a:spcAft>
            </a:pPr>
            <a:r>
              <a:rPr sz="2600" lang="en-US">
                <a:solidFill>
                  <a:srgbClr val="1A1A1A"/>
                </a:solidFill>
                <a:latin typeface="Arial"/>
              </a:rPr>
              <a:t>Damp towel, claw grip, one cutter at a time.</a:t>
            </a:r>
          </a:p>
          <a:p>
            <a:pPr>
              <a:spcAft>
                <a:spcPts val="1000"/>
              </a:spcAft>
            </a:pPr>
            <a:r>
              <a:rPr sz="2600" lang="en-US">
                <a:solidFill>
                  <a:srgbClr val="1A1A1A"/>
                </a:solidFill>
                <a:latin typeface="Arial"/>
              </a:rPr>
              <a:t>Wash fruit under running water.</a:t>
            </a:r>
          </a:p>
          <a:p>
            <a:pPr>
              <a:spcAft>
                <a:spcPts val="1000"/>
              </a:spcAft>
            </a:pPr>
            <a:r>
              <a:rPr sz="2600" lang="en-US">
                <a:solidFill>
                  <a:srgbClr val="1A1A1A"/>
                </a:solidFill>
                <a:latin typeface="Arial"/>
              </a:rPr>
              <a:t>Citrus juice keeps cut apples from browning because of vitamin C.</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Lab brief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After eating, each person explains one nutrient in the salad to a partner using plain language, which is the Unit 4 practical.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Guided practice: Group Work Plan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Write who cuts which fruit and who makes the dressing.</a:t>
            </a:r>
          </a:p>
          <a:p>
            <a:pPr>
              <a:spcAft>
                <a:spcPts val="1000"/>
              </a:spcAft>
            </a:pPr>
            <a:r>
              <a:rPr sz="2600" lang="en-US">
                <a:solidFill>
                  <a:srgbClr val="1A1A1A"/>
                </a:solidFill>
                <a:latin typeface="Arial"/>
              </a:rPr>
              <a:t>2. Pick the nutrient you will explain and write it in your own words in two sentences.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Lab: Cook: Rainbow Fruit Salad</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the recipe card. Your Safety Officer signs off each safety checkpoint.</a:t>
            </a:r>
          </a:p>
          <a:p>
            <a:pPr>
              <a:spcAft>
                <a:spcPts val="1000"/>
              </a:spcAft>
            </a:pPr>
            <a:r>
              <a:rPr sz="2600" lang="en-US">
                <a:solidFill>
                  <a:srgbClr val="1A1A1A"/>
                </a:solidFill>
                <a:latin typeface="Arial"/>
              </a:rPr>
              <a:t>2. Explain one nutrient in the salad to a partner. Your partner scores accuracy and clarity on the Unit 4 rubric.</a:t>
            </a:r>
          </a:p>
          <a:p>
            <a:pPr>
              <a:spcAft>
                <a:spcPts val="1000"/>
              </a:spcAft>
            </a:pPr>
            <a:r>
              <a:rPr sz="2600" lang="en-US">
                <a:solidFill>
                  <a:srgbClr val="1A1A1A"/>
                </a:solidFill>
                <a:latin typeface="Arial"/>
              </a:rPr>
              <a:t>3. Complete cleanup and the station check.</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21 -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Which fruit gave the most vitamin C, and why does that matter?</a:t>
            </a:r>
          </a:p>
          <a:p>
            <a:pPr>
              <a:spcAft>
                <a:spcPts val="1000"/>
              </a:spcAft>
            </a:pPr>
            <a:r>
              <a:rPr sz="2600" lang="en-US">
                <a:solidFill>
                  <a:srgbClr val="1A1A1A"/>
                </a:solidFill>
                <a:latin typeface="Arial"/>
              </a:rPr>
              <a:t>2. What did you notice about how to explain nutrition to a classmate?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Recipe: Whole-Grain Oatmeal Bowls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3 cups water</a:t>
            </a:r>
          </a:p>
          <a:p>
            <a:pPr>
              <a:spcAft>
                <a:spcPts val="1000"/>
              </a:spcAft>
            </a:pPr>
            <a:r>
              <a:rPr sz="2600" lang="en-US">
                <a:solidFill>
                  <a:srgbClr val="1A1A1A"/>
                </a:solidFill>
                <a:latin typeface="Arial"/>
              </a:rPr>
              <a:t>1 1/2 cups old-fashioned rolled oats</a:t>
            </a:r>
          </a:p>
          <a:p>
            <a:pPr>
              <a:spcAft>
                <a:spcPts val="1000"/>
              </a:spcAft>
            </a:pPr>
            <a:r>
              <a:rPr sz="2600" lang="en-US">
                <a:solidFill>
                  <a:srgbClr val="1A1A1A"/>
                </a:solidFill>
                <a:latin typeface="Arial"/>
              </a:rPr>
              <a:t>1/4 teaspoon salt</a:t>
            </a:r>
          </a:p>
          <a:p>
            <a:pPr>
              <a:spcAft>
                <a:spcPts val="1000"/>
              </a:spcAft>
            </a:pPr>
            <a:r>
              <a:rPr sz="2600" lang="en-US">
                <a:solidFill>
                  <a:srgbClr val="1A1A1A"/>
                </a:solidFill>
                <a:latin typeface="Arial"/>
              </a:rPr>
              <a:t>2 medium bananas, sliced</a:t>
            </a:r>
          </a:p>
          <a:p>
            <a:pPr>
              <a:spcAft>
                <a:spcPts val="1000"/>
              </a:spcAft>
            </a:pPr>
            <a:r>
              <a:rPr sz="2600" lang="en-US">
                <a:solidFill>
                  <a:srgbClr val="1A1A1A"/>
                </a:solidFill>
                <a:latin typeface="Arial"/>
              </a:rPr>
              <a:t>1/4 cup raisins</a:t>
            </a:r>
          </a:p>
          <a:p>
            <a:pPr>
              <a:spcAft>
                <a:spcPts val="1000"/>
              </a:spcAft>
            </a:pPr>
            <a:r>
              <a:rPr sz="2600" lang="en-US">
                <a:solidFill>
                  <a:srgbClr val="1A1A1A"/>
                </a:solidFill>
                <a:latin typeface="Arial"/>
              </a:rPr>
              <a:t>1 teaspoon cinnamon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Recipe: White Bean Dip and Pita</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can (15 oz) white beans, drained and rinsed</a:t>
            </a:r>
          </a:p>
          <a:p>
            <a:pPr>
              <a:spcAft>
                <a:spcPts val="1000"/>
              </a:spcAft>
            </a:pPr>
            <a:r>
              <a:rPr sz="2600" lang="en-US">
                <a:solidFill>
                  <a:srgbClr val="1A1A1A"/>
                </a:solidFill>
                <a:latin typeface="Arial"/>
              </a:rPr>
              <a:t>2 tablespoons olive oil</a:t>
            </a:r>
          </a:p>
          <a:p>
            <a:pPr>
              <a:spcAft>
                <a:spcPts val="1000"/>
              </a:spcAft>
            </a:pPr>
            <a:r>
              <a:rPr sz="2600" lang="en-US">
                <a:solidFill>
                  <a:srgbClr val="1A1A1A"/>
                </a:solidFill>
                <a:latin typeface="Arial"/>
              </a:rPr>
              <a:t>2 tablespoons lemon juice</a:t>
            </a:r>
          </a:p>
          <a:p>
            <a:pPr>
              <a:spcAft>
                <a:spcPts val="1000"/>
              </a:spcAft>
            </a:pPr>
            <a:r>
              <a:rPr sz="2600" lang="en-US">
                <a:solidFill>
                  <a:srgbClr val="1A1A1A"/>
                </a:solidFill>
                <a:latin typeface="Arial"/>
              </a:rPr>
              <a:t>1/2 teaspoon garlic powder</a:t>
            </a:r>
          </a:p>
          <a:p>
            <a:pPr>
              <a:spcAft>
                <a:spcPts val="1000"/>
              </a:spcAft>
            </a:pPr>
            <a:r>
              <a:rPr sz="2600" lang="en-US">
                <a:solidFill>
                  <a:srgbClr val="1A1A1A"/>
                </a:solidFill>
                <a:latin typeface="Arial"/>
              </a:rPr>
              <a:t>1/4 teaspoon salt</a:t>
            </a:r>
          </a:p>
          <a:p>
            <a:pPr>
              <a:spcAft>
                <a:spcPts val="1000"/>
              </a:spcAft>
            </a:pPr>
            <a:r>
              <a:rPr sz="2600" lang="en-US">
                <a:solidFill>
                  <a:srgbClr val="1A1A1A"/>
                </a:solidFill>
                <a:latin typeface="Arial"/>
              </a:rPr>
              <a:t>2 whole-wheat pita breads, cut into wedges</a:t>
            </a:r>
          </a:p>
          <a:p>
            <a:pPr>
              <a:spcAft>
                <a:spcPts val="1000"/>
              </a:spcAft>
            </a:pPr>
            <a:r>
              <a:rPr sz="2600" lang="en-US">
                <a:solidFill>
                  <a:srgbClr val="1A1A1A"/>
                </a:solidFill>
                <a:latin typeface="Arial"/>
              </a:rPr>
              <a:t>2 medium carrots, cut into sticks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Recipe: Rainbow Fruit Salad</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2 medium apples (red and green if possible)</a:t>
            </a:r>
          </a:p>
          <a:p>
            <a:pPr>
              <a:spcAft>
                <a:spcPts val="1000"/>
              </a:spcAft>
            </a:pPr>
            <a:r>
              <a:rPr sz="2600" lang="en-US">
                <a:solidFill>
                  <a:srgbClr val="1A1A1A"/>
                </a:solidFill>
                <a:latin typeface="Arial"/>
              </a:rPr>
              <a:t>2 medium oranges</a:t>
            </a:r>
          </a:p>
          <a:p>
            <a:pPr>
              <a:spcAft>
                <a:spcPts val="1000"/>
              </a:spcAft>
            </a:pPr>
            <a:r>
              <a:rPr sz="2600" lang="en-US">
                <a:solidFill>
                  <a:srgbClr val="1A1A1A"/>
                </a:solidFill>
                <a:latin typeface="Arial"/>
              </a:rPr>
              <a:t>2 medium bananas</a:t>
            </a:r>
          </a:p>
          <a:p>
            <a:pPr>
              <a:spcAft>
                <a:spcPts val="1000"/>
              </a:spcAft>
            </a:pPr>
            <a:r>
              <a:rPr sz="2600" lang="en-US">
                <a:solidFill>
                  <a:srgbClr val="1A1A1A"/>
                </a:solidFill>
                <a:latin typeface="Arial"/>
              </a:rPr>
              <a:t>1 cup grapes or berries</a:t>
            </a:r>
          </a:p>
          <a:p>
            <a:pPr>
              <a:spcAft>
                <a:spcPts val="1000"/>
              </a:spcAft>
            </a:pPr>
            <a:r>
              <a:rPr sz="2600" lang="en-US">
                <a:solidFill>
                  <a:srgbClr val="1A1A1A"/>
                </a:solidFill>
                <a:latin typeface="Arial"/>
              </a:rPr>
              <a:t>1/2 cup plain yogurt (kept cold)</a:t>
            </a:r>
          </a:p>
          <a:p>
            <a:pPr>
              <a:spcAft>
                <a:spcPts val="1000"/>
              </a:spcAft>
            </a:pPr>
            <a:r>
              <a:rPr sz="2600" lang="en-US">
                <a:solidFill>
                  <a:srgbClr val="1A1A1A"/>
                </a:solidFill>
                <a:latin typeface="Arial"/>
              </a:rPr>
              <a:t>2 tablespoons orange juice (from one orange)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Whole Foods and Nutrition - Unit 4: The Six Nutrient Classes</dc:title>
  <dc:subject/>
  <dc:creator>ISD 197 Family and Consumer Science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